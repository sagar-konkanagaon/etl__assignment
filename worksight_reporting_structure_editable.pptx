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960120"/>
            <a:ext cx="10698480" cy="658368"/>
          </a:xfrm>
          <a:prstGeom prst="roundRect">
            <a:avLst/>
          </a:prstGeom>
          <a:solidFill>
            <a:srgbClr val="142B49"/>
          </a:solidFill>
          <a:ln w="13970">
            <a:solidFill>
              <a:srgbClr val="14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3200" b="1">
                <a:solidFill>
                  <a:srgbClr val="FFFFFF"/>
                </a:solidFill>
                <a:latin typeface="Aptos"/>
              </a:rPr>
              <a:t>Worksight Reporting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1234440" y="1810512"/>
            <a:ext cx="973836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500" b="0">
                <a:solidFill>
                  <a:srgbClr val="142B49"/>
                </a:solidFill>
                <a:latin typeface="Aptos"/>
              </a:rPr>
              <a:t>Editable PPT revision based on requested layout and content corrections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2834640"/>
            <a:ext cx="192024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600" b="1">
                <a:solidFill>
                  <a:srgbClr val="2463B4"/>
                </a:solidFill>
                <a:latin typeface="Aptos"/>
              </a:rPr>
              <a:t>Key updates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3273552"/>
            <a:ext cx="292608" cy="256032"/>
          </a:xfrm>
          <a:prstGeom prst="roundRect">
            <a:avLst/>
          </a:prstGeom>
          <a:solidFill>
            <a:srgbClr val="2463B4"/>
          </a:solidFill>
          <a:ln w="13970">
            <a:solidFill>
              <a:srgbClr val="2463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1572768" y="3255264"/>
            <a:ext cx="905256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300" b="0">
                <a:solidFill>
                  <a:srgbClr val="142B49"/>
                </a:solidFill>
                <a:latin typeface="Aptos"/>
              </a:rPr>
              <a:t>Service moved under Worksight only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3685032"/>
            <a:ext cx="292608" cy="256032"/>
          </a:xfrm>
          <a:prstGeom prst="roundRect">
            <a:avLst/>
          </a:prstGeom>
          <a:solidFill>
            <a:srgbClr val="2463B4"/>
          </a:solidFill>
          <a:ln w="13970">
            <a:solidFill>
              <a:srgbClr val="2463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1572768" y="3666744"/>
            <a:ext cx="905256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300" b="0">
                <a:solidFill>
                  <a:srgbClr val="142B49"/>
                </a:solidFill>
                <a:latin typeface="Aptos"/>
              </a:rPr>
              <a:t>Reporting chart divided under Ramesh into Worksight and TDA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4096512"/>
            <a:ext cx="292608" cy="256032"/>
          </a:xfrm>
          <a:prstGeom prst="roundRect">
            <a:avLst/>
          </a:prstGeom>
          <a:solidFill>
            <a:srgbClr val="2463B4"/>
          </a:solidFill>
          <a:ln w="13970">
            <a:solidFill>
              <a:srgbClr val="2463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72768" y="4078224"/>
            <a:ext cx="905256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300" b="0">
                <a:solidFill>
                  <a:srgbClr val="142B49"/>
                </a:solidFill>
                <a:latin typeface="Aptos"/>
              </a:rPr>
              <a:t>Slides 5-10 reformatted with tighter spacing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4507992"/>
            <a:ext cx="292608" cy="256032"/>
          </a:xfrm>
          <a:prstGeom prst="roundRect">
            <a:avLst/>
          </a:prstGeom>
          <a:solidFill>
            <a:srgbClr val="2463B4"/>
          </a:solidFill>
          <a:ln w="13970">
            <a:solidFill>
              <a:srgbClr val="2463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72768" y="4489704"/>
            <a:ext cx="905256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300" b="0">
                <a:solidFill>
                  <a:srgbClr val="142B49"/>
                </a:solidFill>
                <a:latin typeface="Aptos"/>
              </a:rPr>
              <a:t>Slide 9 content consolidated into Slide 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19472"/>
            <a:ext cx="292608" cy="256032"/>
          </a:xfrm>
          <a:prstGeom prst="roundRect">
            <a:avLst/>
          </a:prstGeom>
          <a:solidFill>
            <a:srgbClr val="2463B4"/>
          </a:solidFill>
          <a:ln w="13970">
            <a:solidFill>
              <a:srgbClr val="2463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72768" y="4901184"/>
            <a:ext cx="905256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300" b="0">
                <a:solidFill>
                  <a:srgbClr val="142B49"/>
                </a:solidFill>
                <a:latin typeface="Aptos"/>
              </a:rPr>
              <a:t>Equipment owner updated to Brinds 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66960" y="6446520"/>
            <a:ext cx="178308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r"/>
            <a:r>
              <a:rPr sz="700" b="0">
                <a:solidFill>
                  <a:srgbClr val="5C6670"/>
                </a:solidFill>
                <a:latin typeface="Aptos"/>
              </a:rPr>
              <a:t>Editable PPT revision |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11201400" cy="4754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2400" b="1">
                <a:solidFill>
                  <a:srgbClr val="142B49"/>
                </a:solidFill>
                <a:latin typeface="Aptos"/>
              </a:rPr>
              <a:t>Revision 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201400" cy="27432"/>
          </a:xfrm>
          <a:prstGeom prst="rect">
            <a:avLst/>
          </a:prstGeom>
          <a:solidFill>
            <a:srgbClr val="246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0352" y="896112"/>
            <a:ext cx="11109960" cy="3017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000" b="0">
                <a:solidFill>
                  <a:srgbClr val="5C6670"/>
                </a:solidFill>
                <a:latin typeface="Aptos"/>
              </a:rPr>
              <a:t>The deck keeps the requested slide references and uses editable shapes throughout.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1234440" cy="384048"/>
          </a:xfrm>
          <a:prstGeom prst="roundRect">
            <a:avLst/>
          </a:prstGeom>
          <a:solidFill>
            <a:srgbClr val="2463B4"/>
          </a:solidFill>
          <a:ln w="13970">
            <a:solidFill>
              <a:srgbClr val="2463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Slide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94560" y="1417320"/>
            <a:ext cx="3840480" cy="384048"/>
          </a:xfrm>
          <a:prstGeom prst="roundRect">
            <a:avLst/>
          </a:prstGeom>
          <a:solidFill>
            <a:srgbClr val="F4F7FA"/>
          </a:solidFill>
          <a:ln w="13970"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200" b="0">
                <a:solidFill>
                  <a:srgbClr val="142B49"/>
                </a:solidFill>
                <a:latin typeface="Aptos"/>
              </a:rPr>
              <a:t>Worksight-only service placement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79" y="1417320"/>
            <a:ext cx="1234440" cy="384048"/>
          </a:xfrm>
          <a:prstGeom prst="roundRect">
            <a:avLst/>
          </a:prstGeom>
          <a:solidFill>
            <a:srgbClr val="0F8480"/>
          </a:solidFill>
          <a:ln w="13970">
            <a:solidFill>
              <a:srgbClr val="0F84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Slide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417320"/>
            <a:ext cx="3840480" cy="384048"/>
          </a:xfrm>
          <a:prstGeom prst="roundRect">
            <a:avLst/>
          </a:prstGeom>
          <a:solidFill>
            <a:srgbClr val="F4F7FA"/>
          </a:solidFill>
          <a:ln w="13970"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200" b="0">
                <a:solidFill>
                  <a:srgbClr val="142B49"/>
                </a:solidFill>
                <a:latin typeface="Aptos"/>
              </a:rPr>
              <a:t>Reporting structure flow chart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468880"/>
            <a:ext cx="1234440" cy="384048"/>
          </a:xfrm>
          <a:prstGeom prst="roundRect">
            <a:avLst/>
          </a:prstGeom>
          <a:solidFill>
            <a:srgbClr val="2463B4"/>
          </a:solidFill>
          <a:ln w="13970">
            <a:solidFill>
              <a:srgbClr val="2463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Slide 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94560" y="2468880"/>
            <a:ext cx="3840480" cy="384048"/>
          </a:xfrm>
          <a:prstGeom prst="roundRect">
            <a:avLst/>
          </a:prstGeom>
          <a:solidFill>
            <a:srgbClr val="F4F7FA"/>
          </a:solidFill>
          <a:ln w="13970"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200" b="0">
                <a:solidFill>
                  <a:srgbClr val="142B49"/>
                </a:solidFill>
                <a:latin typeface="Aptos"/>
              </a:rPr>
              <a:t>Gap removed after Blessing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79" y="2468880"/>
            <a:ext cx="1234440" cy="384048"/>
          </a:xfrm>
          <a:prstGeom prst="roundRect">
            <a:avLst/>
          </a:prstGeom>
          <a:solidFill>
            <a:srgbClr val="0F8480"/>
          </a:solidFill>
          <a:ln w="13970">
            <a:solidFill>
              <a:srgbClr val="0F84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Slide 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2468880"/>
            <a:ext cx="3840480" cy="384048"/>
          </a:xfrm>
          <a:prstGeom prst="roundRect">
            <a:avLst/>
          </a:prstGeom>
          <a:solidFill>
            <a:srgbClr val="F4F7FA"/>
          </a:solidFill>
          <a:ln w="13970"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200" b="0">
                <a:solidFill>
                  <a:srgbClr val="142B49"/>
                </a:solidFill>
                <a:latin typeface="Aptos"/>
              </a:rPr>
              <a:t>DMC/MDP filled and Slide 9 content merged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520439"/>
            <a:ext cx="1234440" cy="384048"/>
          </a:xfrm>
          <a:prstGeom prst="roundRect">
            <a:avLst/>
          </a:prstGeom>
          <a:solidFill>
            <a:srgbClr val="2463B4"/>
          </a:solidFill>
          <a:ln w="13970">
            <a:solidFill>
              <a:srgbClr val="2463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Slide 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94560" y="3520439"/>
            <a:ext cx="3840480" cy="384048"/>
          </a:xfrm>
          <a:prstGeom prst="roundRect">
            <a:avLst/>
          </a:prstGeom>
          <a:solidFill>
            <a:srgbClr val="F4F7FA"/>
          </a:solidFill>
          <a:ln w="13970"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200" b="0">
                <a:solidFill>
                  <a:srgbClr val="142B49"/>
                </a:solidFill>
                <a:latin typeface="Aptos"/>
              </a:rPr>
              <a:t>Arrangement cleaned up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79" y="3520439"/>
            <a:ext cx="1234440" cy="384048"/>
          </a:xfrm>
          <a:prstGeom prst="roundRect">
            <a:avLst/>
          </a:prstGeom>
          <a:solidFill>
            <a:srgbClr val="0F8480"/>
          </a:solidFill>
          <a:ln w="13970">
            <a:solidFill>
              <a:srgbClr val="0F84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Slide 10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520439"/>
            <a:ext cx="3840480" cy="384048"/>
          </a:xfrm>
          <a:prstGeom prst="roundRect">
            <a:avLst/>
          </a:prstGeom>
          <a:solidFill>
            <a:srgbClr val="F4F7FA"/>
          </a:solidFill>
          <a:ln w="13970"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200" b="0">
                <a:solidFill>
                  <a:srgbClr val="142B49"/>
                </a:solidFill>
                <a:latin typeface="Aptos"/>
              </a:rPr>
              <a:t>Other teams arranged cleanly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572000"/>
            <a:ext cx="1234440" cy="384048"/>
          </a:xfrm>
          <a:prstGeom prst="roundRect">
            <a:avLst/>
          </a:prstGeom>
          <a:solidFill>
            <a:srgbClr val="2463B4"/>
          </a:solidFill>
          <a:ln w="13970">
            <a:solidFill>
              <a:srgbClr val="2463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Slide 12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94560" y="4572000"/>
            <a:ext cx="3840480" cy="384048"/>
          </a:xfrm>
          <a:prstGeom prst="roundRect">
            <a:avLst/>
          </a:prstGeom>
          <a:solidFill>
            <a:srgbClr val="F4F7FA"/>
          </a:solidFill>
          <a:ln w="13970"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200" b="0">
                <a:solidFill>
                  <a:srgbClr val="142B49"/>
                </a:solidFill>
                <a:latin typeface="Aptos"/>
              </a:rPr>
              <a:t>Layout reset with balanced spacing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79" y="4572000"/>
            <a:ext cx="1234440" cy="384048"/>
          </a:xfrm>
          <a:prstGeom prst="roundRect">
            <a:avLst/>
          </a:prstGeom>
          <a:solidFill>
            <a:srgbClr val="0F8480"/>
          </a:solidFill>
          <a:ln w="13970">
            <a:solidFill>
              <a:srgbClr val="0F84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Slide 13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4572000"/>
            <a:ext cx="3840480" cy="384048"/>
          </a:xfrm>
          <a:prstGeom prst="roundRect">
            <a:avLst/>
          </a:prstGeom>
          <a:solidFill>
            <a:srgbClr val="F4F7FA"/>
          </a:solidFill>
          <a:ln w="13970"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200" b="0">
                <a:solidFill>
                  <a:srgbClr val="142B49"/>
                </a:solidFill>
                <a:latin typeface="Aptos"/>
              </a:rPr>
              <a:t>Equipment owner changed to Brinds 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66960" y="6446520"/>
            <a:ext cx="178308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r"/>
            <a:r>
              <a:rPr sz="700" b="0">
                <a:solidFill>
                  <a:srgbClr val="5C6670"/>
                </a:solidFill>
                <a:latin typeface="Aptos"/>
              </a:rPr>
              <a:t>Editable PPT revision |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11201400" cy="4754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2400" b="1">
                <a:solidFill>
                  <a:srgbClr val="142B49"/>
                </a:solidFill>
                <a:latin typeface="Aptos"/>
              </a:rPr>
              <a:t>Other Project / Service Placement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201400" cy="27432"/>
          </a:xfrm>
          <a:prstGeom prst="rect">
            <a:avLst/>
          </a:prstGeom>
          <a:solidFill>
            <a:srgbClr val="246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0352" y="896112"/>
            <a:ext cx="11109960" cy="3017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000" b="0">
                <a:solidFill>
                  <a:srgbClr val="5C6670"/>
                </a:solidFill>
                <a:latin typeface="Aptos"/>
              </a:rPr>
              <a:t>Service is shown under Worksight only, as requested.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" y="1737360"/>
            <a:ext cx="2743200" cy="713232"/>
          </a:xfrm>
          <a:prstGeom prst="roundRect">
            <a:avLst/>
          </a:prstGeom>
          <a:solidFill>
            <a:srgbClr val="DCEBFC"/>
          </a:solidFill>
          <a:ln w="13970">
            <a:solidFill>
              <a:srgbClr val="2463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800" b="1">
                <a:solidFill>
                  <a:srgbClr val="142B49"/>
                </a:solidFill>
                <a:latin typeface="Aptos"/>
              </a:rPr>
              <a:t>Worksight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25880" y="2971800"/>
            <a:ext cx="2194560" cy="603504"/>
          </a:xfrm>
          <a:prstGeom prst="roundRect">
            <a:avLst/>
          </a:prstGeom>
          <a:solidFill>
            <a:srgbClr val="E1F5E8"/>
          </a:solidFill>
          <a:ln w="13970">
            <a:solidFill>
              <a:srgbClr val="2EA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500" b="1">
                <a:solidFill>
                  <a:srgbClr val="142B49"/>
                </a:solidFill>
                <a:latin typeface="Aptos"/>
              </a:rPr>
              <a:t>Service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423160" y="2450592"/>
            <a:ext cx="0" cy="521208"/>
          </a:xfrm>
          <a:prstGeom prst="line">
            <a:avLst/>
          </a:prstGeom>
          <a:ln w="25400">
            <a:solidFill>
              <a:srgbClr val="2463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8138160" y="1737360"/>
            <a:ext cx="2743200" cy="713232"/>
          </a:xfrm>
          <a:prstGeom prst="roundRect">
            <a:avLst/>
          </a:prstGeom>
          <a:solidFill>
            <a:srgbClr val="F4F7FA"/>
          </a:solidFill>
          <a:ln w="13970">
            <a:solidFill>
              <a:srgbClr val="B8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800" b="1">
                <a:solidFill>
                  <a:srgbClr val="142B49"/>
                </a:solidFill>
                <a:latin typeface="Aptos"/>
              </a:rPr>
              <a:t>Other Project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2971800"/>
            <a:ext cx="2103120" cy="5303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8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400" b="1">
                <a:solidFill>
                  <a:srgbClr val="5C6670"/>
                </a:solidFill>
                <a:latin typeface="Aptos"/>
              </a:rPr>
              <a:t>No Service here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886200" y="2084831"/>
            <a:ext cx="4114800" cy="0"/>
          </a:xfrm>
          <a:prstGeom prst="line">
            <a:avLst/>
          </a:prstGeom>
          <a:ln w="15240">
            <a:solidFill>
              <a:srgbClr val="D2DA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663440" y="4343400"/>
            <a:ext cx="2926080" cy="3291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500" b="1">
                <a:solidFill>
                  <a:srgbClr val="0F8480"/>
                </a:solidFill>
                <a:latin typeface="Aptos"/>
              </a:rPr>
              <a:t>Clarified ownership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65960" y="4736592"/>
            <a:ext cx="8321040" cy="493776"/>
          </a:xfrm>
          <a:prstGeom prst="roundRect">
            <a:avLst/>
          </a:prstGeom>
          <a:solidFill>
            <a:srgbClr val="DDF5F2"/>
          </a:solidFill>
          <a:ln w="13970">
            <a:solidFill>
              <a:srgbClr val="0F84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400" b="0">
                <a:solidFill>
                  <a:srgbClr val="142B49"/>
                </a:solidFill>
                <a:latin typeface="Aptos"/>
              </a:rPr>
              <a:t>Service belongs to Worksight and should not be duplicated under Other Project.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66960" y="6446520"/>
            <a:ext cx="178308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r"/>
            <a:r>
              <a:rPr sz="700" b="0">
                <a:solidFill>
                  <a:srgbClr val="5C6670"/>
                </a:solidFill>
                <a:latin typeface="Aptos"/>
              </a:rPr>
              <a:t>Editable PPT revision |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11201400" cy="4754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2400" b="1">
                <a:solidFill>
                  <a:srgbClr val="142B49"/>
                </a:solidFill>
                <a:latin typeface="Aptos"/>
              </a:rPr>
              <a:t>Reporting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201400" cy="27432"/>
          </a:xfrm>
          <a:prstGeom prst="rect">
            <a:avLst/>
          </a:prstGeom>
          <a:solidFill>
            <a:srgbClr val="246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0352" y="896112"/>
            <a:ext cx="11109960" cy="3017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000" b="0">
                <a:solidFill>
                  <a:srgbClr val="5C6670"/>
                </a:solidFill>
                <a:latin typeface="Aptos"/>
              </a:rPr>
              <a:t>Divided cleanly under Ramesh into Worksight and TDA.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09160" y="1143000"/>
            <a:ext cx="2788920" cy="658368"/>
          </a:xfrm>
          <a:prstGeom prst="roundRect">
            <a:avLst/>
          </a:prstGeom>
          <a:solidFill>
            <a:srgbClr val="FFEBD6"/>
          </a:solidFill>
          <a:ln w="1397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800" b="1">
                <a:solidFill>
                  <a:srgbClr val="142B49"/>
                </a:solidFill>
                <a:latin typeface="Aptos"/>
              </a:rPr>
              <a:t>Ramesh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108192" y="1801368"/>
            <a:ext cx="0" cy="347472"/>
          </a:xfrm>
          <a:prstGeom prst="line">
            <a:avLst/>
          </a:prstGeom>
          <a:ln w="2540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697480" y="2148840"/>
            <a:ext cx="6812280" cy="0"/>
          </a:xfrm>
          <a:prstGeom prst="line">
            <a:avLst/>
          </a:prstGeom>
          <a:ln w="2540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697480" y="2148840"/>
            <a:ext cx="0" cy="365760"/>
          </a:xfrm>
          <a:prstGeom prst="line">
            <a:avLst/>
          </a:prstGeom>
          <a:ln w="2540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509760" y="2148840"/>
            <a:ext cx="0" cy="365760"/>
          </a:xfrm>
          <a:prstGeom prst="line">
            <a:avLst/>
          </a:prstGeom>
          <a:ln w="2540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280160" y="2514600"/>
            <a:ext cx="2834640" cy="594360"/>
          </a:xfrm>
          <a:prstGeom prst="roundRect">
            <a:avLst/>
          </a:prstGeom>
          <a:solidFill>
            <a:srgbClr val="DCEBFC"/>
          </a:solidFill>
          <a:ln w="13970">
            <a:solidFill>
              <a:srgbClr val="2463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500" b="1">
                <a:solidFill>
                  <a:srgbClr val="142B49"/>
                </a:solidFill>
                <a:latin typeface="Aptos"/>
              </a:rPr>
              <a:t>Worksight Session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2514600"/>
            <a:ext cx="2834640" cy="594360"/>
          </a:xfrm>
          <a:prstGeom prst="roundRect">
            <a:avLst/>
          </a:prstGeom>
          <a:solidFill>
            <a:srgbClr val="DDF5F2"/>
          </a:solidFill>
          <a:ln w="13970">
            <a:solidFill>
              <a:srgbClr val="0F84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500" b="1">
                <a:solidFill>
                  <a:srgbClr val="142B49"/>
                </a:solidFill>
                <a:latin typeface="Aptos"/>
              </a:rPr>
              <a:t>TDA Session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97480" y="3108960"/>
            <a:ext cx="0" cy="320040"/>
          </a:xfrm>
          <a:prstGeom prst="line">
            <a:avLst/>
          </a:prstGeom>
          <a:ln w="13970">
            <a:solidFill>
              <a:srgbClr val="2463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508760" y="3429000"/>
            <a:ext cx="2377440" cy="31089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463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000" b="0">
                <a:solidFill>
                  <a:srgbClr val="142B49"/>
                </a:solidFill>
                <a:latin typeface="Aptos"/>
              </a:rPr>
              <a:t>Operations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97480" y="3108960"/>
            <a:ext cx="0" cy="749808"/>
          </a:xfrm>
          <a:prstGeom prst="line">
            <a:avLst/>
          </a:prstGeom>
          <a:ln w="13970">
            <a:solidFill>
              <a:srgbClr val="2463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508760" y="3858768"/>
            <a:ext cx="2377440" cy="31089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463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000" b="0">
                <a:solidFill>
                  <a:srgbClr val="142B49"/>
                </a:solidFill>
                <a:latin typeface="Aptos"/>
              </a:rPr>
              <a:t>Service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97480" y="3108960"/>
            <a:ext cx="0" cy="1179576"/>
          </a:xfrm>
          <a:prstGeom prst="line">
            <a:avLst/>
          </a:prstGeom>
          <a:ln w="13970">
            <a:solidFill>
              <a:srgbClr val="2463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508760" y="4288536"/>
            <a:ext cx="2377440" cy="31089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463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000" b="0">
                <a:solidFill>
                  <a:srgbClr val="142B49"/>
                </a:solidFill>
                <a:latin typeface="Aptos"/>
              </a:rPr>
              <a:t>DMC / MDP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697480" y="3108960"/>
            <a:ext cx="0" cy="1609344"/>
          </a:xfrm>
          <a:prstGeom prst="line">
            <a:avLst/>
          </a:prstGeom>
          <a:ln w="13970">
            <a:solidFill>
              <a:srgbClr val="2463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508760" y="4718304"/>
            <a:ext cx="2377440" cy="31089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463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000" b="0">
                <a:solidFill>
                  <a:srgbClr val="142B49"/>
                </a:solidFill>
                <a:latin typeface="Aptos"/>
              </a:rPr>
              <a:t>Equipment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697480" y="3108960"/>
            <a:ext cx="0" cy="2039112"/>
          </a:xfrm>
          <a:prstGeom prst="line">
            <a:avLst/>
          </a:prstGeom>
          <a:ln w="13970">
            <a:solidFill>
              <a:srgbClr val="2463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508760" y="5148072"/>
            <a:ext cx="2377440" cy="31089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463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000" b="0">
                <a:solidFill>
                  <a:srgbClr val="142B49"/>
                </a:solidFill>
                <a:latin typeface="Aptos"/>
              </a:rPr>
              <a:t>Support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509760" y="3108960"/>
            <a:ext cx="0" cy="320040"/>
          </a:xfrm>
          <a:prstGeom prst="line">
            <a:avLst/>
          </a:prstGeom>
          <a:ln w="13970">
            <a:solidFill>
              <a:srgbClr val="0F84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321040" y="3429000"/>
            <a:ext cx="2377440" cy="31089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84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000" b="0">
                <a:solidFill>
                  <a:srgbClr val="142B49"/>
                </a:solidFill>
                <a:latin typeface="Aptos"/>
              </a:rPr>
              <a:t>TDA Lead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509760" y="3108960"/>
            <a:ext cx="0" cy="749808"/>
          </a:xfrm>
          <a:prstGeom prst="line">
            <a:avLst/>
          </a:prstGeom>
          <a:ln w="13970">
            <a:solidFill>
              <a:srgbClr val="0F84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321040" y="3858768"/>
            <a:ext cx="2377440" cy="31089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84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000" b="0">
                <a:solidFill>
                  <a:srgbClr val="142B49"/>
                </a:solidFill>
                <a:latin typeface="Aptos"/>
              </a:rPr>
              <a:t>Tracking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509760" y="3108960"/>
            <a:ext cx="0" cy="1179576"/>
          </a:xfrm>
          <a:prstGeom prst="line">
            <a:avLst/>
          </a:prstGeom>
          <a:ln w="13970">
            <a:solidFill>
              <a:srgbClr val="0F84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321040" y="4288536"/>
            <a:ext cx="2377440" cy="31089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84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000" b="0">
                <a:solidFill>
                  <a:srgbClr val="142B49"/>
                </a:solidFill>
                <a:latin typeface="Aptos"/>
              </a:rPr>
              <a:t>Delivery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509760" y="3108960"/>
            <a:ext cx="0" cy="1609344"/>
          </a:xfrm>
          <a:prstGeom prst="line">
            <a:avLst/>
          </a:prstGeom>
          <a:ln w="13970">
            <a:solidFill>
              <a:srgbClr val="0F84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321040" y="4718304"/>
            <a:ext cx="2377440" cy="31089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84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000" b="0">
                <a:solidFill>
                  <a:srgbClr val="142B49"/>
                </a:solidFill>
                <a:latin typeface="Aptos"/>
              </a:rPr>
              <a:t>Audit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509760" y="3108960"/>
            <a:ext cx="0" cy="2039112"/>
          </a:xfrm>
          <a:prstGeom prst="line">
            <a:avLst/>
          </a:prstGeom>
          <a:ln w="13970">
            <a:solidFill>
              <a:srgbClr val="0F84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321040" y="5148072"/>
            <a:ext cx="2377440" cy="31089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84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000" b="0">
                <a:solidFill>
                  <a:srgbClr val="142B49"/>
                </a:solidFill>
                <a:latin typeface="Aptos"/>
              </a:rPr>
              <a:t>Escalations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920240" y="5806440"/>
            <a:ext cx="8366760" cy="384048"/>
          </a:xfrm>
          <a:prstGeom prst="roundRect">
            <a:avLst/>
          </a:prstGeom>
          <a:solidFill>
            <a:srgbClr val="F4F7FA"/>
          </a:solidFill>
          <a:ln w="13970"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200" b="0">
                <a:solidFill>
                  <a:srgbClr val="142B49"/>
                </a:solidFill>
                <a:latin typeface="Aptos"/>
              </a:rPr>
              <a:t>Two parallel sessions are visually separated so the hierarchy is easier to read.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966960" y="6446520"/>
            <a:ext cx="178308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r"/>
            <a:r>
              <a:rPr sz="700" b="0">
                <a:solidFill>
                  <a:srgbClr val="5C6670"/>
                </a:solidFill>
                <a:latin typeface="Aptos"/>
              </a:rPr>
              <a:t>Editable PPT revision |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11201400" cy="4754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2400" b="1">
                <a:solidFill>
                  <a:srgbClr val="142B49"/>
                </a:solidFill>
                <a:latin typeface="Aptos"/>
              </a:rPr>
              <a:t>Slide 5 - Blessing Section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201400" cy="27432"/>
          </a:xfrm>
          <a:prstGeom prst="rect">
            <a:avLst/>
          </a:prstGeom>
          <a:solidFill>
            <a:srgbClr val="246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0352" y="896112"/>
            <a:ext cx="11109960" cy="3017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000" b="0">
                <a:solidFill>
                  <a:srgbClr val="5C6670"/>
                </a:solidFill>
                <a:latin typeface="Aptos"/>
              </a:rPr>
              <a:t>Gap after Blessing removed; content is compact and balanced.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2194560" cy="512064"/>
          </a:xfrm>
          <a:prstGeom prst="roundRect">
            <a:avLst/>
          </a:prstGeom>
          <a:solidFill>
            <a:srgbClr val="7555B4"/>
          </a:solidFill>
          <a:ln w="13970">
            <a:solidFill>
              <a:srgbClr val="755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Blessing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29968"/>
            <a:ext cx="3246120" cy="1115568"/>
          </a:xfrm>
          <a:prstGeom prst="roundRect">
            <a:avLst/>
          </a:prstGeom>
          <a:solidFill>
            <a:srgbClr val="EEE7FC"/>
          </a:solidFill>
          <a:ln w="1397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800" b="0">
                <a:solidFill>
                  <a:srgbClr val="142B49"/>
                </a:solidFill>
                <a:latin typeface="Aptos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886968" y="2139696"/>
            <a:ext cx="3026663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300" b="1">
                <a:solidFill>
                  <a:srgbClr val="7555B4"/>
                </a:solidFill>
                <a:latin typeface="Aptos"/>
              </a:rPr>
              <a:t>Daily alignment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2532888"/>
            <a:ext cx="2953512" cy="493775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42B49"/>
                </a:solidFill>
                <a:latin typeface="Aptos"/>
              </a:defRPr>
            </a:pPr>
            <a:r>
              <a:t>Quick check-ins and open action points</a:t>
            </a:r>
          </a:p>
          <a:p>
            <a:pPr>
              <a:spcAft>
                <a:spcPts val="200"/>
              </a:spcAft>
              <a:defRPr sz="1000">
                <a:solidFill>
                  <a:srgbClr val="142B49"/>
                </a:solidFill>
                <a:latin typeface="Aptos"/>
              </a:defRPr>
            </a:pPr>
            <a:r>
              <a:t>No extra blank gap below this row.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79" y="2029968"/>
            <a:ext cx="3246120" cy="1115568"/>
          </a:xfrm>
          <a:prstGeom prst="roundRect">
            <a:avLst/>
          </a:prstGeom>
          <a:solidFill>
            <a:srgbClr val="EEE7FC"/>
          </a:solidFill>
          <a:ln w="1397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800" b="0">
                <a:solidFill>
                  <a:srgbClr val="142B49"/>
                </a:solidFill>
                <a:latin typeface="Aptos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4636007" y="2139696"/>
            <a:ext cx="3026663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300" b="1">
                <a:solidFill>
                  <a:srgbClr val="7555B4"/>
                </a:solidFill>
                <a:latin typeface="Aptos"/>
              </a:rPr>
              <a:t>Pending follow-up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2583" y="2532888"/>
            <a:ext cx="2953512" cy="493775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42B49"/>
                </a:solidFill>
                <a:latin typeface="Aptos"/>
              </a:defRPr>
            </a:pPr>
            <a:r>
              <a:t>Track blockers in one visible place</a:t>
            </a:r>
          </a:p>
          <a:p>
            <a:pPr>
              <a:spcAft>
                <a:spcPts val="200"/>
              </a:spcAft>
              <a:defRPr sz="1000">
                <a:solidFill>
                  <a:srgbClr val="142B49"/>
                </a:solidFill>
                <a:latin typeface="Aptos"/>
              </a:defRPr>
            </a:pPr>
            <a:r>
              <a:t>No extra blank gap below this row.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19" y="2029968"/>
            <a:ext cx="3246120" cy="1115568"/>
          </a:xfrm>
          <a:prstGeom prst="roundRect">
            <a:avLst/>
          </a:prstGeom>
          <a:solidFill>
            <a:srgbClr val="EEE7FC"/>
          </a:solidFill>
          <a:ln w="1397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800" b="0">
                <a:solidFill>
                  <a:srgbClr val="142B49"/>
                </a:solidFill>
                <a:latin typeface="Aptos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8385047" y="2139696"/>
            <a:ext cx="3026663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300" b="1">
                <a:solidFill>
                  <a:srgbClr val="7555B4"/>
                </a:solidFill>
                <a:latin typeface="Aptos"/>
              </a:rPr>
              <a:t>Closure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1624" y="2532888"/>
            <a:ext cx="2953512" cy="493775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42B49"/>
                </a:solidFill>
                <a:latin typeface="Aptos"/>
              </a:defRPr>
            </a:pPr>
            <a:r>
              <a:t>Confirm owner and next action before handoff</a:t>
            </a:r>
          </a:p>
          <a:p>
            <a:pPr>
              <a:spcAft>
                <a:spcPts val="200"/>
              </a:spcAft>
              <a:defRPr sz="1000">
                <a:solidFill>
                  <a:srgbClr val="142B49"/>
                </a:solidFill>
                <a:latin typeface="Aptos"/>
              </a:defRPr>
            </a:pPr>
            <a:r>
              <a:t>No extra blank gap below this row.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3794760"/>
            <a:ext cx="2148840" cy="3291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500" b="1">
                <a:solidFill>
                  <a:srgbClr val="2463B4"/>
                </a:solidFill>
                <a:latin typeface="Aptos"/>
              </a:rPr>
              <a:t>Tightened layout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7552" y="4251960"/>
            <a:ext cx="256032" cy="228600"/>
          </a:xfrm>
          <a:prstGeom prst="roundRect">
            <a:avLst/>
          </a:prstGeom>
          <a:solidFill>
            <a:srgbClr val="2463B4"/>
          </a:solidFill>
          <a:ln w="13970">
            <a:solidFill>
              <a:srgbClr val="2463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89888" y="4224528"/>
            <a:ext cx="89611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200" b="0">
                <a:solidFill>
                  <a:srgbClr val="142B49"/>
                </a:solidFill>
                <a:latin typeface="Aptos"/>
              </a:rPr>
              <a:t>Removed visual gap after Blessing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7552" y="4636008"/>
            <a:ext cx="256032" cy="228600"/>
          </a:xfrm>
          <a:prstGeom prst="roundRect">
            <a:avLst/>
          </a:prstGeom>
          <a:solidFill>
            <a:srgbClr val="2463B4"/>
          </a:solidFill>
          <a:ln w="13970">
            <a:solidFill>
              <a:srgbClr val="2463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89888" y="4608576"/>
            <a:ext cx="89611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200" b="0">
                <a:solidFill>
                  <a:srgbClr val="142B49"/>
                </a:solidFill>
                <a:latin typeface="Aptos"/>
              </a:rPr>
              <a:t>Aligned three cards to the same baseline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7552" y="5020056"/>
            <a:ext cx="256032" cy="228600"/>
          </a:xfrm>
          <a:prstGeom prst="roundRect">
            <a:avLst/>
          </a:prstGeom>
          <a:solidFill>
            <a:srgbClr val="2463B4"/>
          </a:solidFill>
          <a:ln w="13970">
            <a:solidFill>
              <a:srgbClr val="2463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89888" y="4992624"/>
            <a:ext cx="89611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200" b="0">
                <a:solidFill>
                  <a:srgbClr val="142B49"/>
                </a:solidFill>
                <a:latin typeface="Aptos"/>
              </a:rPr>
              <a:t>Used the lower slide area for notes instead of empty space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7552" y="5404104"/>
            <a:ext cx="256032" cy="228600"/>
          </a:xfrm>
          <a:prstGeom prst="roundRect">
            <a:avLst/>
          </a:prstGeom>
          <a:solidFill>
            <a:srgbClr val="2463B4"/>
          </a:solidFill>
          <a:ln w="13970">
            <a:solidFill>
              <a:srgbClr val="2463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89888" y="5376672"/>
            <a:ext cx="896112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200" b="0">
                <a:solidFill>
                  <a:srgbClr val="142B49"/>
                </a:solidFill>
                <a:latin typeface="Aptos"/>
              </a:rPr>
              <a:t>Kept all elements editable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66960" y="6446520"/>
            <a:ext cx="178308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r"/>
            <a:r>
              <a:rPr sz="700" b="0">
                <a:solidFill>
                  <a:srgbClr val="5C6670"/>
                </a:solidFill>
                <a:latin typeface="Aptos"/>
              </a:rPr>
              <a:t>Editable PPT revision |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11201400" cy="4754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2400" b="1">
                <a:solidFill>
                  <a:srgbClr val="142B49"/>
                </a:solidFill>
                <a:latin typeface="Aptos"/>
              </a:rPr>
              <a:t>Slide 6 - DMC / MDP and Consolidated Slide 9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201400" cy="27432"/>
          </a:xfrm>
          <a:prstGeom prst="rect">
            <a:avLst/>
          </a:prstGeom>
          <a:solidFill>
            <a:srgbClr val="246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0352" y="896112"/>
            <a:ext cx="11109960" cy="3017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000" b="0">
                <a:solidFill>
                  <a:srgbClr val="5C6670"/>
                </a:solidFill>
                <a:latin typeface="Aptos"/>
              </a:rPr>
              <a:t>Filled open space and moved Slide 9 content here.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1325880" cy="384048"/>
          </a:xfrm>
          <a:prstGeom prst="roundRect">
            <a:avLst/>
          </a:prstGeom>
          <a:solidFill>
            <a:srgbClr val="2463B4"/>
          </a:solidFill>
          <a:ln w="13970">
            <a:solidFill>
              <a:srgbClr val="2463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DMC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234440"/>
            <a:ext cx="1325880" cy="384048"/>
          </a:xfrm>
          <a:prstGeom prst="roundRect">
            <a:avLst/>
          </a:prstGeom>
          <a:solidFill>
            <a:srgbClr val="0F8480"/>
          </a:solidFill>
          <a:ln w="13970">
            <a:solidFill>
              <a:srgbClr val="0F84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MDP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4983480" cy="2011680"/>
          </a:xfrm>
          <a:prstGeom prst="roundRect">
            <a:avLst/>
          </a:prstGeom>
          <a:solidFill>
            <a:srgbClr val="DCEBFC"/>
          </a:solidFill>
          <a:ln w="1397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800" b="0">
                <a:solidFill>
                  <a:srgbClr val="142B49"/>
                </a:solidFill>
                <a:latin typeface="Aptos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795528" y="1892807"/>
            <a:ext cx="4764024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300" b="1">
                <a:solidFill>
                  <a:srgbClr val="2463B4"/>
                </a:solidFill>
                <a:latin typeface="Aptos"/>
              </a:rPr>
              <a:t>DMC responsibilities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2286000"/>
            <a:ext cx="4690872" cy="1389888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42B49"/>
                </a:solidFill>
                <a:latin typeface="Aptos"/>
              </a:defRPr>
            </a:pPr>
            <a:r>
              <a:t>Plan daily activities</a:t>
            </a:r>
          </a:p>
          <a:p>
            <a:pPr>
              <a:spcAft>
                <a:spcPts val="200"/>
              </a:spcAft>
              <a:defRPr sz="1000">
                <a:solidFill>
                  <a:srgbClr val="142B49"/>
                </a:solidFill>
                <a:latin typeface="Aptos"/>
              </a:defRPr>
            </a:pPr>
            <a:r>
              <a:t>Validate dependencies</a:t>
            </a:r>
          </a:p>
          <a:p>
            <a:pPr>
              <a:spcAft>
                <a:spcPts val="200"/>
              </a:spcAft>
              <a:defRPr sz="1000">
                <a:solidFill>
                  <a:srgbClr val="142B49"/>
                </a:solidFill>
                <a:latin typeface="Aptos"/>
              </a:defRPr>
            </a:pPr>
            <a:r>
              <a:t>Coordinate handoff</a:t>
            </a:r>
          </a:p>
          <a:p>
            <a:pPr>
              <a:spcAft>
                <a:spcPts val="200"/>
              </a:spcAft>
              <a:defRPr sz="1000">
                <a:solidFill>
                  <a:srgbClr val="142B49"/>
                </a:solidFill>
                <a:latin typeface="Aptos"/>
              </a:defRPr>
            </a:pPr>
            <a:r>
              <a:t>Escalate risks early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783080"/>
            <a:ext cx="4983480" cy="2011680"/>
          </a:xfrm>
          <a:prstGeom prst="roundRect">
            <a:avLst/>
          </a:prstGeom>
          <a:solidFill>
            <a:srgbClr val="DDF5F2"/>
          </a:solidFill>
          <a:ln w="1397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800" b="0">
                <a:solidFill>
                  <a:srgbClr val="142B49"/>
                </a:solidFill>
                <a:latin typeface="Aptos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6373368" y="1892807"/>
            <a:ext cx="4764024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300" b="1">
                <a:solidFill>
                  <a:srgbClr val="0F8480"/>
                </a:solidFill>
                <a:latin typeface="Aptos"/>
              </a:rPr>
              <a:t>MDP responsibilities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9944" y="2286000"/>
            <a:ext cx="4690872" cy="1389888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42B49"/>
                </a:solidFill>
                <a:latin typeface="Aptos"/>
              </a:defRPr>
            </a:pPr>
            <a:r>
              <a:t>Monitor deliverables</a:t>
            </a:r>
          </a:p>
          <a:p>
            <a:pPr>
              <a:spcAft>
                <a:spcPts val="200"/>
              </a:spcAft>
              <a:defRPr sz="1000">
                <a:solidFill>
                  <a:srgbClr val="142B49"/>
                </a:solidFill>
                <a:latin typeface="Aptos"/>
              </a:defRPr>
            </a:pPr>
            <a:r>
              <a:t>Prepare status update</a:t>
            </a:r>
          </a:p>
          <a:p>
            <a:pPr>
              <a:spcAft>
                <a:spcPts val="200"/>
              </a:spcAft>
              <a:defRPr sz="1000">
                <a:solidFill>
                  <a:srgbClr val="142B49"/>
                </a:solidFill>
                <a:latin typeface="Aptos"/>
              </a:defRPr>
            </a:pPr>
            <a:r>
              <a:t>Close pending items</a:t>
            </a:r>
          </a:p>
          <a:p>
            <a:pPr>
              <a:spcAft>
                <a:spcPts val="200"/>
              </a:spcAft>
              <a:defRPr sz="1000">
                <a:solidFill>
                  <a:srgbClr val="142B49"/>
                </a:solidFill>
                <a:latin typeface="Aptos"/>
              </a:defRPr>
            </a:pPr>
            <a:r>
              <a:t>Share action tracker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160520"/>
            <a:ext cx="256032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400" b="1">
                <a:solidFill>
                  <a:srgbClr val="E67E22"/>
                </a:solidFill>
                <a:latin typeface="Aptos"/>
              </a:rPr>
              <a:t>Content merged from Slide 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663440"/>
            <a:ext cx="2286000" cy="594360"/>
          </a:xfrm>
          <a:prstGeom prst="roundRect">
            <a:avLst/>
          </a:prstGeom>
          <a:solidFill>
            <a:srgbClr val="FFEBD6"/>
          </a:solidFill>
          <a:ln w="1397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200" b="1">
                <a:solidFill>
                  <a:srgbClr val="142B49"/>
                </a:solidFill>
                <a:latin typeface="Aptos"/>
              </a:rPr>
              <a:t>Cross-team tracker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4663440"/>
            <a:ext cx="2286000" cy="594360"/>
          </a:xfrm>
          <a:prstGeom prst="roundRect">
            <a:avLst/>
          </a:prstGeom>
          <a:solidFill>
            <a:srgbClr val="FFEBD6"/>
          </a:solidFill>
          <a:ln w="1397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200" b="1">
                <a:solidFill>
                  <a:srgbClr val="142B49"/>
                </a:solidFill>
                <a:latin typeface="Aptos"/>
              </a:rPr>
              <a:t>Issue aging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4663440"/>
            <a:ext cx="2286000" cy="594360"/>
          </a:xfrm>
          <a:prstGeom prst="roundRect">
            <a:avLst/>
          </a:prstGeom>
          <a:solidFill>
            <a:srgbClr val="FFEBD6"/>
          </a:solidFill>
          <a:ln w="1397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200" b="1">
                <a:solidFill>
                  <a:srgbClr val="142B49"/>
                </a:solidFill>
                <a:latin typeface="Aptos"/>
              </a:rPr>
              <a:t>Owner follow-up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59" y="4663440"/>
            <a:ext cx="2286000" cy="594360"/>
          </a:xfrm>
          <a:prstGeom prst="roundRect">
            <a:avLst/>
          </a:prstGeom>
          <a:solidFill>
            <a:srgbClr val="FFEBD6"/>
          </a:solidFill>
          <a:ln w="1397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200" b="1">
                <a:solidFill>
                  <a:srgbClr val="142B49"/>
                </a:solidFill>
                <a:latin typeface="Aptos"/>
              </a:rPr>
              <a:t>Next-step confirmation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5715000"/>
            <a:ext cx="9509760" cy="384048"/>
          </a:xfrm>
          <a:prstGeom prst="roundRect">
            <a:avLst/>
          </a:prstGeom>
          <a:solidFill>
            <a:srgbClr val="F4F7FA"/>
          </a:solidFill>
          <a:ln w="13970"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200" b="0">
                <a:solidFill>
                  <a:srgbClr val="142B49"/>
                </a:solidFill>
                <a:latin typeface="Aptos"/>
              </a:rPr>
              <a:t>The previous Slide 9 material is consolidated above so there is no separate crowded slide.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66960" y="6446520"/>
            <a:ext cx="178308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r"/>
            <a:r>
              <a:rPr sz="700" b="0">
                <a:solidFill>
                  <a:srgbClr val="5C6670"/>
                </a:solidFill>
                <a:latin typeface="Aptos"/>
              </a:rPr>
              <a:t>Editable PPT revision |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11201400" cy="4754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2400" b="1">
                <a:solidFill>
                  <a:srgbClr val="142B49"/>
                </a:solidFill>
                <a:latin typeface="Aptos"/>
              </a:rPr>
              <a:t>Slide 7 - Worksight Session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201400" cy="27432"/>
          </a:xfrm>
          <a:prstGeom prst="rect">
            <a:avLst/>
          </a:prstGeom>
          <a:solidFill>
            <a:srgbClr val="246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0352" y="896112"/>
            <a:ext cx="11109960" cy="3017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000" b="0">
                <a:solidFill>
                  <a:srgbClr val="5C6670"/>
                </a:solidFill>
                <a:latin typeface="Aptos"/>
              </a:rPr>
              <a:t>Clean sequence view with even spacing.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438912" cy="438912"/>
          </a:xfrm>
          <a:prstGeom prst="roundRect">
            <a:avLst/>
          </a:prstGeom>
          <a:solidFill>
            <a:srgbClr val="2463B4"/>
          </a:solidFill>
          <a:ln w="13970">
            <a:solidFill>
              <a:srgbClr val="2463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514600"/>
            <a:ext cx="2331720" cy="13258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800" b="0">
                <a:solidFill>
                  <a:srgbClr val="142B49"/>
                </a:solidFill>
                <a:latin typeface="Aptos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886968" y="2624328"/>
            <a:ext cx="2112263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300" b="1">
                <a:solidFill>
                  <a:srgbClr val="2463B4"/>
                </a:solidFill>
                <a:latin typeface="Aptos"/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017520"/>
            <a:ext cx="2039112" cy="704087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42B49"/>
                </a:solidFill>
                <a:latin typeface="Aptos"/>
              </a:defRPr>
            </a:pPr>
            <a:r>
              <a:t>Requests, status, and blockers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08960" y="3154680"/>
            <a:ext cx="429768" cy="0"/>
          </a:xfrm>
          <a:prstGeom prst="line">
            <a:avLst/>
          </a:prstGeom>
          <a:ln w="22860">
            <a:solidFill>
              <a:srgbClr val="2463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611880" y="1828800"/>
            <a:ext cx="438912" cy="438912"/>
          </a:xfrm>
          <a:prstGeom prst="roundRect">
            <a:avLst/>
          </a:prstGeom>
          <a:solidFill>
            <a:srgbClr val="2463B4"/>
          </a:solidFill>
          <a:ln w="13970">
            <a:solidFill>
              <a:srgbClr val="2463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2514600"/>
            <a:ext cx="2331720" cy="13258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800" b="0">
                <a:solidFill>
                  <a:srgbClr val="142B49"/>
                </a:solidFill>
                <a:latin typeface="Aptos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3721608" y="2624328"/>
            <a:ext cx="2112263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300" b="1">
                <a:solidFill>
                  <a:srgbClr val="2463B4"/>
                </a:solidFill>
                <a:latin typeface="Aptos"/>
              </a:rPr>
              <a:t>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58184" y="3017520"/>
            <a:ext cx="2039112" cy="704087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42B49"/>
                </a:solidFill>
                <a:latin typeface="Aptos"/>
              </a:defRPr>
            </a:pPr>
            <a:r>
              <a:t>Validate owner and priority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43600" y="3154680"/>
            <a:ext cx="429768" cy="0"/>
          </a:xfrm>
          <a:prstGeom prst="line">
            <a:avLst/>
          </a:prstGeom>
          <a:ln w="22860">
            <a:solidFill>
              <a:srgbClr val="2463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446520" y="1828800"/>
            <a:ext cx="438912" cy="438912"/>
          </a:xfrm>
          <a:prstGeom prst="roundRect">
            <a:avLst/>
          </a:prstGeom>
          <a:solidFill>
            <a:srgbClr val="2463B4"/>
          </a:solidFill>
          <a:ln w="13970">
            <a:solidFill>
              <a:srgbClr val="2463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2514600"/>
            <a:ext cx="2331720" cy="13258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800" b="0">
                <a:solidFill>
                  <a:srgbClr val="142B49"/>
                </a:solidFill>
                <a:latin typeface="Aptos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6556248" y="2624328"/>
            <a:ext cx="2112263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300" b="1">
                <a:solidFill>
                  <a:srgbClr val="2463B4"/>
                </a:solidFill>
                <a:latin typeface="Aptos"/>
              </a:rPr>
              <a:t>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92824" y="3017520"/>
            <a:ext cx="2039112" cy="704087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42B49"/>
                </a:solidFill>
                <a:latin typeface="Aptos"/>
              </a:defRPr>
            </a:pPr>
            <a:r>
              <a:t>Assign next step and timeline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778240" y="3154680"/>
            <a:ext cx="429768" cy="0"/>
          </a:xfrm>
          <a:prstGeom prst="line">
            <a:avLst/>
          </a:prstGeom>
          <a:ln w="22860">
            <a:solidFill>
              <a:srgbClr val="2463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281160" y="1828800"/>
            <a:ext cx="438912" cy="438912"/>
          </a:xfrm>
          <a:prstGeom prst="roundRect">
            <a:avLst/>
          </a:prstGeom>
          <a:solidFill>
            <a:srgbClr val="2463B4"/>
          </a:solidFill>
          <a:ln w="13970">
            <a:solidFill>
              <a:srgbClr val="2463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81160" y="2514600"/>
            <a:ext cx="2331720" cy="13258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800" b="0">
                <a:solidFill>
                  <a:srgbClr val="142B49"/>
                </a:solidFill>
                <a:latin typeface="Aptos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9390888" y="2624328"/>
            <a:ext cx="2112263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300" b="1">
                <a:solidFill>
                  <a:srgbClr val="2463B4"/>
                </a:solidFill>
                <a:latin typeface="Aptos"/>
              </a:rPr>
              <a:t>Close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27464" y="3017520"/>
            <a:ext cx="2039112" cy="704087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42B49"/>
                </a:solidFill>
                <a:latin typeface="Aptos"/>
              </a:defRPr>
            </a:pPr>
            <a:r>
              <a:t>Confirm completion and update tracker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20240" y="5074920"/>
            <a:ext cx="8366760" cy="457200"/>
          </a:xfrm>
          <a:prstGeom prst="roundRect">
            <a:avLst/>
          </a:prstGeom>
          <a:solidFill>
            <a:srgbClr val="DCEBFC"/>
          </a:solidFill>
          <a:ln w="13970">
            <a:solidFill>
              <a:srgbClr val="2463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300" b="0">
                <a:solidFill>
                  <a:srgbClr val="142B49"/>
                </a:solidFill>
                <a:latin typeface="Aptos"/>
              </a:rPr>
              <a:t>Result: the session flow is readable without leaving unused gaps.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66960" y="6446520"/>
            <a:ext cx="178308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r"/>
            <a:r>
              <a:rPr sz="700" b="0">
                <a:solidFill>
                  <a:srgbClr val="5C6670"/>
                </a:solidFill>
                <a:latin typeface="Aptos"/>
              </a:rPr>
              <a:t>Editable PPT revision |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11201400" cy="4754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2400" b="1">
                <a:solidFill>
                  <a:srgbClr val="142B49"/>
                </a:solidFill>
                <a:latin typeface="Aptos"/>
              </a:rPr>
              <a:t>Slide 8 - Proper Arrangement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201400" cy="27432"/>
          </a:xfrm>
          <a:prstGeom prst="rect">
            <a:avLst/>
          </a:prstGeom>
          <a:solidFill>
            <a:srgbClr val="246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0352" y="896112"/>
            <a:ext cx="11109960" cy="3017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000" b="0">
                <a:solidFill>
                  <a:srgbClr val="5C6670"/>
                </a:solidFill>
                <a:latin typeface="Aptos"/>
              </a:rPr>
              <a:t>Rebalanced the slide to remove excess gaps.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5029200" cy="1691640"/>
          </a:xfrm>
          <a:prstGeom prst="roundRect">
            <a:avLst/>
          </a:prstGeom>
          <a:solidFill>
            <a:srgbClr val="DCEBFC"/>
          </a:solidFill>
          <a:ln w="1397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800" b="0">
                <a:solidFill>
                  <a:srgbClr val="142B49"/>
                </a:solidFill>
                <a:latin typeface="Aptos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886968" y="1527048"/>
            <a:ext cx="4809744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300" b="1">
                <a:solidFill>
                  <a:srgbClr val="2463B4"/>
                </a:solidFill>
                <a:latin typeface="Aptos"/>
              </a:rPr>
              <a:t>People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" y="1920240"/>
            <a:ext cx="4736592" cy="1069848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42B49"/>
                </a:solidFill>
                <a:latin typeface="Aptos"/>
              </a:defRPr>
            </a:pPr>
            <a:r>
              <a:t>Clear owner</a:t>
            </a:r>
          </a:p>
          <a:p>
            <a:pPr>
              <a:spcAft>
                <a:spcPts val="200"/>
              </a:spcAft>
              <a:defRPr sz="1000">
                <a:solidFill>
                  <a:srgbClr val="142B49"/>
                </a:solidFill>
                <a:latin typeface="Aptos"/>
              </a:defRPr>
            </a:pPr>
            <a:r>
              <a:t>Backup owner</a:t>
            </a:r>
          </a:p>
          <a:p>
            <a:pPr>
              <a:spcAft>
                <a:spcPts val="200"/>
              </a:spcAft>
              <a:defRPr sz="1000">
                <a:solidFill>
                  <a:srgbClr val="142B49"/>
                </a:solidFill>
                <a:latin typeface="Aptos"/>
              </a:defRPr>
            </a:pPr>
            <a:r>
              <a:t>Escalation path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417320"/>
            <a:ext cx="5029200" cy="1691640"/>
          </a:xfrm>
          <a:prstGeom prst="roundRect">
            <a:avLst/>
          </a:prstGeom>
          <a:solidFill>
            <a:srgbClr val="DDF5F2"/>
          </a:solidFill>
          <a:ln w="1397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800" b="0">
                <a:solidFill>
                  <a:srgbClr val="142B49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464808" y="1527048"/>
            <a:ext cx="4809744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300" b="1">
                <a:solidFill>
                  <a:srgbClr val="0F8480"/>
                </a:solidFill>
                <a:latin typeface="Aptos"/>
              </a:rPr>
              <a:t>Process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1384" y="1920240"/>
            <a:ext cx="4736592" cy="1069848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42B49"/>
                </a:solidFill>
                <a:latin typeface="Aptos"/>
              </a:defRPr>
            </a:pPr>
            <a:r>
              <a:t>Daily review</a:t>
            </a:r>
          </a:p>
          <a:p>
            <a:pPr>
              <a:spcAft>
                <a:spcPts val="200"/>
              </a:spcAft>
              <a:defRPr sz="1000">
                <a:solidFill>
                  <a:srgbClr val="142B49"/>
                </a:solidFill>
                <a:latin typeface="Aptos"/>
              </a:defRPr>
            </a:pPr>
            <a:r>
              <a:t>Tracker update</a:t>
            </a:r>
          </a:p>
          <a:p>
            <a:pPr>
              <a:spcAft>
                <a:spcPts val="200"/>
              </a:spcAft>
              <a:defRPr sz="1000">
                <a:solidFill>
                  <a:srgbClr val="142B49"/>
                </a:solidFill>
                <a:latin typeface="Aptos"/>
              </a:defRPr>
            </a:pPr>
            <a:r>
              <a:t>Closure check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794760"/>
            <a:ext cx="5029200" cy="1691640"/>
          </a:xfrm>
          <a:prstGeom prst="roundRect">
            <a:avLst/>
          </a:prstGeom>
          <a:solidFill>
            <a:srgbClr val="FFEBD6"/>
          </a:solidFill>
          <a:ln w="1397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800" b="0">
                <a:solidFill>
                  <a:srgbClr val="142B49"/>
                </a:solidFill>
                <a:latin typeface="Aptos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886968" y="3904488"/>
            <a:ext cx="4809744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300" b="1">
                <a:solidFill>
                  <a:srgbClr val="E67E22"/>
                </a:solidFill>
                <a:latin typeface="Aptos"/>
              </a:rPr>
              <a:t>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4297680"/>
            <a:ext cx="4736592" cy="1069848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42B49"/>
                </a:solidFill>
                <a:latin typeface="Aptos"/>
              </a:defRPr>
            </a:pPr>
            <a:r>
              <a:t>Shared sheet</a:t>
            </a:r>
          </a:p>
          <a:p>
            <a:pPr>
              <a:spcAft>
                <a:spcPts val="200"/>
              </a:spcAft>
              <a:defRPr sz="1000">
                <a:solidFill>
                  <a:srgbClr val="142B49"/>
                </a:solidFill>
                <a:latin typeface="Aptos"/>
              </a:defRPr>
            </a:pPr>
            <a:r>
              <a:t>Dashboard</a:t>
            </a:r>
          </a:p>
          <a:p>
            <a:pPr>
              <a:spcAft>
                <a:spcPts val="200"/>
              </a:spcAft>
              <a:defRPr sz="1000">
                <a:solidFill>
                  <a:srgbClr val="142B49"/>
                </a:solidFill>
                <a:latin typeface="Aptos"/>
              </a:defRPr>
            </a:pPr>
            <a:r>
              <a:t>Evidence folder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3794760"/>
            <a:ext cx="5029200" cy="1691640"/>
          </a:xfrm>
          <a:prstGeom prst="roundRect">
            <a:avLst/>
          </a:prstGeom>
          <a:solidFill>
            <a:srgbClr val="E1F5E8"/>
          </a:solidFill>
          <a:ln w="1397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800" b="0">
                <a:solidFill>
                  <a:srgbClr val="142B49"/>
                </a:solidFill>
                <a:latin typeface="Aptos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6464808" y="3904488"/>
            <a:ext cx="4809744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300" b="1">
                <a:solidFill>
                  <a:srgbClr val="2EA05A"/>
                </a:solidFill>
                <a:latin typeface="Aptos"/>
              </a:rPr>
              <a:t>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4297680"/>
            <a:ext cx="4736592" cy="1069848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42B49"/>
                </a:solidFill>
                <a:latin typeface="Aptos"/>
              </a:defRPr>
            </a:pPr>
            <a:r>
              <a:t>Status</a:t>
            </a:r>
          </a:p>
          <a:p>
            <a:pPr>
              <a:spcAft>
                <a:spcPts val="200"/>
              </a:spcAft>
              <a:defRPr sz="1000">
                <a:solidFill>
                  <a:srgbClr val="142B49"/>
                </a:solidFill>
                <a:latin typeface="Aptos"/>
              </a:defRPr>
            </a:pPr>
            <a:r>
              <a:t>Actions</a:t>
            </a:r>
          </a:p>
          <a:p>
            <a:pPr>
              <a:spcAft>
                <a:spcPts val="200"/>
              </a:spcAft>
              <a:defRPr sz="1000">
                <a:solidFill>
                  <a:srgbClr val="142B49"/>
                </a:solidFill>
                <a:latin typeface="Aptos"/>
              </a:defRPr>
            </a:pPr>
            <a:r>
              <a:t>Closure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06440" y="2240280"/>
            <a:ext cx="457200" cy="0"/>
          </a:xfrm>
          <a:prstGeom prst="line">
            <a:avLst/>
          </a:prstGeom>
          <a:ln w="19050">
            <a:solidFill>
              <a:srgbClr val="2463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291840" y="3154680"/>
            <a:ext cx="0" cy="548640"/>
          </a:xfrm>
          <a:prstGeom prst="line">
            <a:avLst/>
          </a:prstGeom>
          <a:ln w="1905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869680" y="3154680"/>
            <a:ext cx="0" cy="548640"/>
          </a:xfrm>
          <a:prstGeom prst="line">
            <a:avLst/>
          </a:prstGeom>
          <a:ln w="19050">
            <a:solidFill>
              <a:srgbClr val="2EA0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9966960" y="6446520"/>
            <a:ext cx="178308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r"/>
            <a:r>
              <a:rPr sz="700" b="0">
                <a:solidFill>
                  <a:srgbClr val="5C6670"/>
                </a:solidFill>
                <a:latin typeface="Aptos"/>
              </a:rPr>
              <a:t>Editable PPT revision |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11201400" cy="4754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2400" b="1">
                <a:solidFill>
                  <a:srgbClr val="142B49"/>
                </a:solidFill>
                <a:latin typeface="Aptos"/>
              </a:rPr>
              <a:t>Slide 9 - Consolidated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201400" cy="27432"/>
          </a:xfrm>
          <a:prstGeom prst="rect">
            <a:avLst/>
          </a:prstGeom>
          <a:solidFill>
            <a:srgbClr val="246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0352" y="896112"/>
            <a:ext cx="11109960" cy="3017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000" b="0">
                <a:solidFill>
                  <a:srgbClr val="5C6670"/>
                </a:solidFill>
                <a:latin typeface="Aptos"/>
              </a:rPr>
              <a:t>This page confirms the old Slide 9 content has been added to Slide 6 only.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40" y="2148840"/>
            <a:ext cx="6537960" cy="713232"/>
          </a:xfrm>
          <a:prstGeom prst="roundRect">
            <a:avLst/>
          </a:prstGeom>
          <a:solidFill>
            <a:srgbClr val="E67E22"/>
          </a:solidFill>
          <a:ln w="1397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2600" b="1">
                <a:solidFill>
                  <a:srgbClr val="FFFFFF"/>
                </a:solidFill>
                <a:latin typeface="Aptos"/>
              </a:rPr>
              <a:t>Merged into Slide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57400" y="3246120"/>
            <a:ext cx="8092440" cy="502920"/>
          </a:xfrm>
          <a:prstGeom prst="roundRect">
            <a:avLst/>
          </a:prstGeom>
          <a:solidFill>
            <a:srgbClr val="FFEBD6"/>
          </a:solidFill>
          <a:ln w="1397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400" b="0">
                <a:solidFill>
                  <a:srgbClr val="142B49"/>
                </a:solidFill>
                <a:latin typeface="Aptos"/>
              </a:rPr>
              <a:t>If the final deck should remove this placeholder completely, delete this editable slide.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9966960" y="6446520"/>
            <a:ext cx="178308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r"/>
            <a:r>
              <a:rPr sz="700" b="0">
                <a:solidFill>
                  <a:srgbClr val="5C6670"/>
                </a:solidFill>
                <a:latin typeface="Aptos"/>
              </a:rPr>
              <a:t>Editable PPT revision |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11201400" cy="4754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2400" b="1">
                <a:solidFill>
                  <a:srgbClr val="142B49"/>
                </a:solidFill>
                <a:latin typeface="Aptos"/>
              </a:rPr>
              <a:t>Slide 10 - Other Teams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201400" cy="27432"/>
          </a:xfrm>
          <a:prstGeom prst="rect">
            <a:avLst/>
          </a:prstGeom>
          <a:solidFill>
            <a:srgbClr val="246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0352" y="896112"/>
            <a:ext cx="11109960" cy="3017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000" b="0">
                <a:solidFill>
                  <a:srgbClr val="5C6670"/>
                </a:solidFill>
                <a:latin typeface="Aptos"/>
              </a:rPr>
              <a:t>Clean, non-messy arrangement with equal-width sections.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2514600" cy="347472"/>
          </a:xfrm>
          <a:prstGeom prst="roundRect">
            <a:avLst/>
          </a:prstGeom>
          <a:solidFill>
            <a:srgbClr val="2463B4"/>
          </a:solidFill>
          <a:ln w="13970">
            <a:solidFill>
              <a:srgbClr val="2463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Operations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19656"/>
            <a:ext cx="2514600" cy="2980944"/>
          </a:xfrm>
          <a:prstGeom prst="roundRect">
            <a:avLst/>
          </a:prstGeom>
          <a:solidFill>
            <a:srgbClr val="DCEBFC"/>
          </a:solidFill>
          <a:ln w="13970">
            <a:solidFill>
              <a:srgbClr val="2463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0584" rIns="100584" tIns="73152" bIns="36576"/>
          <a:lstStyle/>
          <a:p>
            <a:pPr algn="l">
              <a:spcAft>
                <a:spcPts val="400"/>
              </a:spcAft>
              <a:defRPr sz="1000">
                <a:solidFill>
                  <a:srgbClr val="142B49"/>
                </a:solidFill>
                <a:latin typeface="Aptos"/>
              </a:defRPr>
            </a:pPr>
            <a:r>
              <a:t>Owner: Worksight Ops</a:t>
            </a:r>
          </a:p>
          <a:p>
            <a:pPr>
              <a:spcAft>
                <a:spcPts val="400"/>
              </a:spcAft>
              <a:defRPr sz="1000">
                <a:solidFill>
                  <a:srgbClr val="142B49"/>
                </a:solidFill>
                <a:latin typeface="Aptos"/>
              </a:defRPr>
            </a:pPr>
            <a:r>
              <a:t>Daily status</a:t>
            </a:r>
          </a:p>
          <a:p>
            <a:pPr>
              <a:spcAft>
                <a:spcPts val="400"/>
              </a:spcAft>
              <a:defRPr sz="1000">
                <a:solidFill>
                  <a:srgbClr val="142B49"/>
                </a:solidFill>
                <a:latin typeface="Aptos"/>
              </a:defRPr>
            </a:pPr>
            <a:r>
              <a:t>Escalation support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417320"/>
            <a:ext cx="2514600" cy="347472"/>
          </a:xfrm>
          <a:prstGeom prst="roundRect">
            <a:avLst/>
          </a:prstGeom>
          <a:solidFill>
            <a:srgbClr val="2EA05A"/>
          </a:solidFill>
          <a:ln w="13970">
            <a:solidFill>
              <a:srgbClr val="2EA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Service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819656"/>
            <a:ext cx="2514600" cy="2980944"/>
          </a:xfrm>
          <a:prstGeom prst="roundRect">
            <a:avLst/>
          </a:prstGeom>
          <a:solidFill>
            <a:srgbClr val="E1F5E8"/>
          </a:solidFill>
          <a:ln w="13970">
            <a:solidFill>
              <a:srgbClr val="2EA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0584" rIns="100584" tIns="73152" bIns="36576"/>
          <a:lstStyle/>
          <a:p>
            <a:pPr algn="l">
              <a:spcAft>
                <a:spcPts val="400"/>
              </a:spcAft>
              <a:defRPr sz="1000">
                <a:solidFill>
                  <a:srgbClr val="142B49"/>
                </a:solidFill>
                <a:latin typeface="Aptos"/>
              </a:defRPr>
            </a:pPr>
            <a:r>
              <a:t>Owner: Worksight</a:t>
            </a:r>
          </a:p>
          <a:p>
            <a:pPr>
              <a:spcAft>
                <a:spcPts val="400"/>
              </a:spcAft>
              <a:defRPr sz="1000">
                <a:solidFill>
                  <a:srgbClr val="142B49"/>
                </a:solidFill>
                <a:latin typeface="Aptos"/>
              </a:defRPr>
            </a:pPr>
            <a:r>
              <a:t>Ticket closure</a:t>
            </a:r>
          </a:p>
          <a:p>
            <a:pPr>
              <a:spcAft>
                <a:spcPts val="400"/>
              </a:spcAft>
              <a:defRPr sz="1000">
                <a:solidFill>
                  <a:srgbClr val="142B49"/>
                </a:solidFill>
                <a:latin typeface="Aptos"/>
              </a:defRPr>
            </a:pPr>
            <a:r>
              <a:t>User support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417320"/>
            <a:ext cx="2514600" cy="347472"/>
          </a:xfrm>
          <a:prstGeom prst="roundRect">
            <a:avLst/>
          </a:prstGeom>
          <a:solidFill>
            <a:srgbClr val="0F8480"/>
          </a:solidFill>
          <a:ln w="13970">
            <a:solidFill>
              <a:srgbClr val="0F84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TDA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819656"/>
            <a:ext cx="2514600" cy="2980944"/>
          </a:xfrm>
          <a:prstGeom prst="roundRect">
            <a:avLst/>
          </a:prstGeom>
          <a:solidFill>
            <a:srgbClr val="DDF5F2"/>
          </a:solidFill>
          <a:ln w="13970">
            <a:solidFill>
              <a:srgbClr val="0F84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0584" rIns="100584" tIns="73152" bIns="36576"/>
          <a:lstStyle/>
          <a:p>
            <a:pPr algn="l">
              <a:spcAft>
                <a:spcPts val="400"/>
              </a:spcAft>
              <a:defRPr sz="1000">
                <a:solidFill>
                  <a:srgbClr val="142B49"/>
                </a:solidFill>
                <a:latin typeface="Aptos"/>
              </a:defRPr>
            </a:pPr>
            <a:r>
              <a:t>Owner: TDA Lead</a:t>
            </a:r>
          </a:p>
          <a:p>
            <a:pPr>
              <a:spcAft>
                <a:spcPts val="400"/>
              </a:spcAft>
              <a:defRPr sz="1000">
                <a:solidFill>
                  <a:srgbClr val="142B49"/>
                </a:solidFill>
                <a:latin typeface="Aptos"/>
              </a:defRPr>
            </a:pPr>
            <a:r>
              <a:t>Tracking</a:t>
            </a:r>
          </a:p>
          <a:p>
            <a:pPr>
              <a:spcAft>
                <a:spcPts val="400"/>
              </a:spcAft>
              <a:defRPr sz="1000">
                <a:solidFill>
                  <a:srgbClr val="142B49"/>
                </a:solidFill>
                <a:latin typeface="Aptos"/>
              </a:defRPr>
            </a:pPr>
            <a:r>
              <a:t>Audit inputs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35440" y="1417320"/>
            <a:ext cx="2514600" cy="347472"/>
          </a:xfrm>
          <a:prstGeom prst="roundRect">
            <a:avLst/>
          </a:prstGeom>
          <a:solidFill>
            <a:srgbClr val="E67E22"/>
          </a:solidFill>
          <a:ln w="1397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Equipment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1819656"/>
            <a:ext cx="2514600" cy="2980944"/>
          </a:xfrm>
          <a:prstGeom prst="roundRect">
            <a:avLst/>
          </a:prstGeom>
          <a:solidFill>
            <a:srgbClr val="FFEBD6"/>
          </a:solidFill>
          <a:ln w="1397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0584" rIns="100584" tIns="73152" bIns="36576"/>
          <a:lstStyle/>
          <a:p>
            <a:pPr algn="l">
              <a:spcAft>
                <a:spcPts val="400"/>
              </a:spcAft>
              <a:defRPr sz="1000">
                <a:solidFill>
                  <a:srgbClr val="142B49"/>
                </a:solidFill>
                <a:latin typeface="Aptos"/>
              </a:defRPr>
            </a:pPr>
            <a:r>
              <a:t>Owner: Brinds S</a:t>
            </a:r>
          </a:p>
          <a:p>
            <a:pPr>
              <a:spcAft>
                <a:spcPts val="400"/>
              </a:spcAft>
              <a:defRPr sz="1000">
                <a:solidFill>
                  <a:srgbClr val="142B49"/>
                </a:solidFill>
                <a:latin typeface="Aptos"/>
              </a:defRPr>
            </a:pPr>
            <a:r>
              <a:t>Asset readiness</a:t>
            </a:r>
          </a:p>
          <a:p>
            <a:pPr>
              <a:spcAft>
                <a:spcPts val="400"/>
              </a:spcAft>
              <a:defRPr sz="1000">
                <a:solidFill>
                  <a:srgbClr val="142B49"/>
                </a:solidFill>
                <a:latin typeface="Aptos"/>
              </a:defRPr>
            </a:pPr>
            <a:r>
              <a:t>Issue follow-up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08760" y="5486400"/>
            <a:ext cx="9235440" cy="384048"/>
          </a:xfrm>
          <a:prstGeom prst="roundRect">
            <a:avLst/>
          </a:prstGeom>
          <a:solidFill>
            <a:srgbClr val="F4F7FA"/>
          </a:solidFill>
          <a:ln w="13970"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200" b="0">
                <a:solidFill>
                  <a:srgbClr val="142B49"/>
                </a:solidFill>
                <a:latin typeface="Aptos"/>
              </a:rPr>
              <a:t>All teams use the same height, spacing, and hierarchy to avoid clutter.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66960" y="6446520"/>
            <a:ext cx="178308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r"/>
            <a:r>
              <a:rPr sz="700" b="0">
                <a:solidFill>
                  <a:srgbClr val="5C6670"/>
                </a:solidFill>
                <a:latin typeface="Aptos"/>
              </a:rPr>
              <a:t>Editable PPT revision |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11201400" cy="4754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2400" b="1">
                <a:solidFill>
                  <a:srgbClr val="142B49"/>
                </a:solidFill>
                <a:latin typeface="Aptos"/>
              </a:rPr>
              <a:t>Slide 11 - Action Tracker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201400" cy="27432"/>
          </a:xfrm>
          <a:prstGeom prst="rect">
            <a:avLst/>
          </a:prstGeom>
          <a:solidFill>
            <a:srgbClr val="246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0352" y="896112"/>
            <a:ext cx="11109960" cy="3017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000" b="0">
                <a:solidFill>
                  <a:srgbClr val="5C6670"/>
                </a:solidFill>
                <a:latin typeface="Aptos"/>
              </a:rPr>
              <a:t>Readable table-style layout using editable text boxes.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417320"/>
            <a:ext cx="1920240" cy="384048"/>
          </a:xfrm>
          <a:prstGeom prst="rect">
            <a:avLst/>
          </a:prstGeom>
          <a:solidFill>
            <a:srgbClr val="142B49"/>
          </a:solidFill>
          <a:ln w="13970">
            <a:solidFill>
              <a:srgbClr val="14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Area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1417320"/>
            <a:ext cx="2011680" cy="384048"/>
          </a:xfrm>
          <a:prstGeom prst="rect">
            <a:avLst/>
          </a:prstGeom>
          <a:solidFill>
            <a:srgbClr val="142B49"/>
          </a:solidFill>
          <a:ln w="13970">
            <a:solidFill>
              <a:srgbClr val="14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Owner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0" y="1417320"/>
            <a:ext cx="4709160" cy="384048"/>
          </a:xfrm>
          <a:prstGeom prst="rect">
            <a:avLst/>
          </a:prstGeom>
          <a:solidFill>
            <a:srgbClr val="142B49"/>
          </a:solidFill>
          <a:ln w="13970">
            <a:solidFill>
              <a:srgbClr val="14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9646920" y="1417320"/>
            <a:ext cx="1508760" cy="384048"/>
          </a:xfrm>
          <a:prstGeom prst="rect">
            <a:avLst/>
          </a:prstGeom>
          <a:solidFill>
            <a:srgbClr val="142B49"/>
          </a:solidFill>
          <a:ln w="13970">
            <a:solidFill>
              <a:srgbClr val="14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Status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1801368"/>
            <a:ext cx="1920240" cy="530352"/>
          </a:xfrm>
          <a:prstGeom prst="rect">
            <a:avLst/>
          </a:prstGeom>
          <a:solidFill>
            <a:srgbClr val="FFFFFF"/>
          </a:solidFill>
          <a:ln w="1397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000" b="1">
                <a:solidFill>
                  <a:srgbClr val="142B49"/>
                </a:solidFill>
                <a:latin typeface="Aptos"/>
              </a:rPr>
              <a:t>Worksight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1801368"/>
            <a:ext cx="2011680" cy="530352"/>
          </a:xfrm>
          <a:prstGeom prst="rect">
            <a:avLst/>
          </a:prstGeom>
          <a:solidFill>
            <a:srgbClr val="FFFFFF"/>
          </a:solidFill>
          <a:ln w="1397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000" b="0">
                <a:solidFill>
                  <a:srgbClr val="142B49"/>
                </a:solidFill>
                <a:latin typeface="Aptos"/>
              </a:rPr>
              <a:t>Ramesh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0" y="1801368"/>
            <a:ext cx="4709160" cy="530352"/>
          </a:xfrm>
          <a:prstGeom prst="rect">
            <a:avLst/>
          </a:prstGeom>
          <a:solidFill>
            <a:srgbClr val="FFFFFF"/>
          </a:solidFill>
          <a:ln w="1397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000" b="0">
                <a:solidFill>
                  <a:srgbClr val="142B49"/>
                </a:solidFill>
                <a:latin typeface="Aptos"/>
              </a:rPr>
              <a:t>Review session outputs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46920" y="1801368"/>
            <a:ext cx="1508760" cy="530352"/>
          </a:xfrm>
          <a:prstGeom prst="rect">
            <a:avLst/>
          </a:prstGeom>
          <a:solidFill>
            <a:srgbClr val="FFFFFF"/>
          </a:solidFill>
          <a:ln w="1397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000" b="0">
                <a:solidFill>
                  <a:srgbClr val="142B49"/>
                </a:solidFill>
                <a:latin typeface="Aptos"/>
              </a:rPr>
              <a:t>Open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2331720"/>
            <a:ext cx="1920240" cy="530352"/>
          </a:xfrm>
          <a:prstGeom prst="rect">
            <a:avLst/>
          </a:prstGeom>
          <a:solidFill>
            <a:srgbClr val="F4F7FA"/>
          </a:solidFill>
          <a:ln w="1397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000" b="1">
                <a:solidFill>
                  <a:srgbClr val="142B49"/>
                </a:solidFill>
                <a:latin typeface="Aptos"/>
              </a:rPr>
              <a:t>Service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2331720"/>
            <a:ext cx="2011680" cy="530352"/>
          </a:xfrm>
          <a:prstGeom prst="rect">
            <a:avLst/>
          </a:prstGeom>
          <a:solidFill>
            <a:srgbClr val="F4F7FA"/>
          </a:solidFill>
          <a:ln w="1397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000" b="0">
                <a:solidFill>
                  <a:srgbClr val="142B49"/>
                </a:solidFill>
                <a:latin typeface="Aptos"/>
              </a:rPr>
              <a:t>Worksight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0" y="2331720"/>
            <a:ext cx="4709160" cy="530352"/>
          </a:xfrm>
          <a:prstGeom prst="rect">
            <a:avLst/>
          </a:prstGeom>
          <a:solidFill>
            <a:srgbClr val="F4F7FA"/>
          </a:solidFill>
          <a:ln w="1397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000" b="0">
                <a:solidFill>
                  <a:srgbClr val="142B49"/>
                </a:solidFill>
                <a:latin typeface="Aptos"/>
              </a:rPr>
              <a:t>Track all service items under Worksight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46920" y="2331720"/>
            <a:ext cx="1508760" cy="530352"/>
          </a:xfrm>
          <a:prstGeom prst="rect">
            <a:avLst/>
          </a:prstGeom>
          <a:solidFill>
            <a:srgbClr val="F4F7FA"/>
          </a:solidFill>
          <a:ln w="1397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000" b="0">
                <a:solidFill>
                  <a:srgbClr val="142B49"/>
                </a:solidFill>
                <a:latin typeface="Aptos"/>
              </a:rPr>
              <a:t>Active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2862072"/>
            <a:ext cx="1920240" cy="530352"/>
          </a:xfrm>
          <a:prstGeom prst="rect">
            <a:avLst/>
          </a:prstGeom>
          <a:solidFill>
            <a:srgbClr val="FFFFFF"/>
          </a:solidFill>
          <a:ln w="1397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000" b="1">
                <a:solidFill>
                  <a:srgbClr val="142B49"/>
                </a:solidFill>
                <a:latin typeface="Aptos"/>
              </a:rPr>
              <a:t>DMC / MDP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0" y="2862072"/>
            <a:ext cx="2011680" cy="530352"/>
          </a:xfrm>
          <a:prstGeom prst="rect">
            <a:avLst/>
          </a:prstGeom>
          <a:solidFill>
            <a:srgbClr val="FFFFFF"/>
          </a:solidFill>
          <a:ln w="1397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000" b="0">
                <a:solidFill>
                  <a:srgbClr val="142B49"/>
                </a:solidFill>
                <a:latin typeface="Aptos"/>
              </a:rPr>
              <a:t>Team Lead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0" y="2862072"/>
            <a:ext cx="4709160" cy="530352"/>
          </a:xfrm>
          <a:prstGeom prst="rect">
            <a:avLst/>
          </a:prstGeom>
          <a:solidFill>
            <a:srgbClr val="FFFFFF"/>
          </a:solidFill>
          <a:ln w="1397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000" b="0">
                <a:solidFill>
                  <a:srgbClr val="142B49"/>
                </a:solidFill>
                <a:latin typeface="Aptos"/>
              </a:rPr>
              <a:t>Update merged tracker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46920" y="2862072"/>
            <a:ext cx="1508760" cy="530352"/>
          </a:xfrm>
          <a:prstGeom prst="rect">
            <a:avLst/>
          </a:prstGeom>
          <a:solidFill>
            <a:srgbClr val="FFFFFF"/>
          </a:solidFill>
          <a:ln w="1397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000" b="0">
                <a:solidFill>
                  <a:srgbClr val="142B49"/>
                </a:solidFill>
                <a:latin typeface="Aptos"/>
              </a:rPr>
              <a:t>Active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3392424"/>
            <a:ext cx="1920240" cy="530352"/>
          </a:xfrm>
          <a:prstGeom prst="rect">
            <a:avLst/>
          </a:prstGeom>
          <a:solidFill>
            <a:srgbClr val="F4F7FA"/>
          </a:solidFill>
          <a:ln w="1397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000" b="1">
                <a:solidFill>
                  <a:srgbClr val="142B49"/>
                </a:solidFill>
                <a:latin typeface="Aptos"/>
              </a:rPr>
              <a:t>Equipment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0" y="3392424"/>
            <a:ext cx="2011680" cy="530352"/>
          </a:xfrm>
          <a:prstGeom prst="rect">
            <a:avLst/>
          </a:prstGeom>
          <a:solidFill>
            <a:srgbClr val="F4F7FA"/>
          </a:solidFill>
          <a:ln w="1397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000" b="0">
                <a:solidFill>
                  <a:srgbClr val="142B49"/>
                </a:solidFill>
                <a:latin typeface="Aptos"/>
              </a:rPr>
              <a:t>Brinds 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37760" y="3392424"/>
            <a:ext cx="4709160" cy="530352"/>
          </a:xfrm>
          <a:prstGeom prst="rect">
            <a:avLst/>
          </a:prstGeom>
          <a:solidFill>
            <a:srgbClr val="F4F7FA"/>
          </a:solidFill>
          <a:ln w="1397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000" b="0">
                <a:solidFill>
                  <a:srgbClr val="142B49"/>
                </a:solidFill>
                <a:latin typeface="Aptos"/>
              </a:rPr>
              <a:t>Confirm asset readiness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46920" y="3392424"/>
            <a:ext cx="1508760" cy="530352"/>
          </a:xfrm>
          <a:prstGeom prst="rect">
            <a:avLst/>
          </a:prstGeom>
          <a:solidFill>
            <a:srgbClr val="F4F7FA"/>
          </a:solidFill>
          <a:ln w="1397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000" b="0">
                <a:solidFill>
                  <a:srgbClr val="142B49"/>
                </a:solidFill>
                <a:latin typeface="Aptos"/>
              </a:rPr>
              <a:t>Open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3922776"/>
            <a:ext cx="1920240" cy="530352"/>
          </a:xfrm>
          <a:prstGeom prst="rect">
            <a:avLst/>
          </a:prstGeom>
          <a:solidFill>
            <a:srgbClr val="FFFFFF"/>
          </a:solidFill>
          <a:ln w="1397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000" b="1">
                <a:solidFill>
                  <a:srgbClr val="142B49"/>
                </a:solidFill>
                <a:latin typeface="Aptos"/>
              </a:rPr>
              <a:t>Other Teams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0" y="3922776"/>
            <a:ext cx="2011680" cy="530352"/>
          </a:xfrm>
          <a:prstGeom prst="rect">
            <a:avLst/>
          </a:prstGeom>
          <a:solidFill>
            <a:srgbClr val="FFFFFF"/>
          </a:solidFill>
          <a:ln w="1397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000" b="0">
                <a:solidFill>
                  <a:srgbClr val="142B49"/>
                </a:solidFill>
                <a:latin typeface="Aptos"/>
              </a:rPr>
              <a:t>Leads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37760" y="3922776"/>
            <a:ext cx="4709160" cy="530352"/>
          </a:xfrm>
          <a:prstGeom prst="rect">
            <a:avLst/>
          </a:prstGeom>
          <a:solidFill>
            <a:srgbClr val="FFFFFF"/>
          </a:solidFill>
          <a:ln w="1397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000" b="0">
                <a:solidFill>
                  <a:srgbClr val="142B49"/>
                </a:solidFill>
                <a:latin typeface="Aptos"/>
              </a:rPr>
              <a:t>Clean handoff and escalation path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46920" y="3922776"/>
            <a:ext cx="1508760" cy="530352"/>
          </a:xfrm>
          <a:prstGeom prst="rect">
            <a:avLst/>
          </a:prstGeom>
          <a:solidFill>
            <a:srgbClr val="FFFFFF"/>
          </a:solidFill>
          <a:ln w="1397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000" b="0">
                <a:solidFill>
                  <a:srgbClr val="142B49"/>
                </a:solidFill>
                <a:latin typeface="Aptos"/>
              </a:rPr>
              <a:t>Open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966960" y="6446520"/>
            <a:ext cx="178308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r"/>
            <a:r>
              <a:rPr sz="700" b="0">
                <a:solidFill>
                  <a:srgbClr val="5C6670"/>
                </a:solidFill>
                <a:latin typeface="Aptos"/>
              </a:rPr>
              <a:t>Editable PPT revision |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11201400" cy="4754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2400" b="1">
                <a:solidFill>
                  <a:srgbClr val="142B49"/>
                </a:solidFill>
                <a:latin typeface="Aptos"/>
              </a:rPr>
              <a:t>Slide 12 - Properly Set Layout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201400" cy="27432"/>
          </a:xfrm>
          <a:prstGeom prst="rect">
            <a:avLst/>
          </a:prstGeom>
          <a:solidFill>
            <a:srgbClr val="246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0352" y="896112"/>
            <a:ext cx="11109960" cy="3017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000" b="0">
                <a:solidFill>
                  <a:srgbClr val="5C6670"/>
                </a:solidFill>
                <a:latin typeface="Aptos"/>
              </a:rPr>
              <a:t>Rearranged into a balanced three-column slide.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3429000" cy="3337560"/>
          </a:xfrm>
          <a:prstGeom prst="roundRect">
            <a:avLst/>
          </a:prstGeom>
          <a:solidFill>
            <a:srgbClr val="DCEBFC"/>
          </a:solidFill>
          <a:ln w="1397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800" b="0">
                <a:solidFill>
                  <a:srgbClr val="142B49"/>
                </a:solidFill>
                <a:latin typeface="Aptos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886968" y="1435607"/>
            <a:ext cx="3209544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300" b="1">
                <a:solidFill>
                  <a:srgbClr val="2463B4"/>
                </a:solidFill>
                <a:latin typeface="Aptos"/>
              </a:rPr>
              <a:t>What changed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" y="1828800"/>
            <a:ext cx="3136392" cy="2715768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42B49"/>
                </a:solidFill>
                <a:latin typeface="Aptos"/>
              </a:defRPr>
            </a:pPr>
            <a:r>
              <a:t>Aligned content to a clear grid</a:t>
            </a:r>
          </a:p>
          <a:p>
            <a:pPr>
              <a:spcAft>
                <a:spcPts val="200"/>
              </a:spcAft>
              <a:defRPr sz="1000">
                <a:solidFill>
                  <a:srgbClr val="142B49"/>
                </a:solidFill>
                <a:latin typeface="Aptos"/>
              </a:defRPr>
            </a:pPr>
            <a:r>
              <a:t>Reduced unused whitespace</a:t>
            </a:r>
          </a:p>
          <a:p>
            <a:pPr>
              <a:spcAft>
                <a:spcPts val="200"/>
              </a:spcAft>
              <a:defRPr sz="1000">
                <a:solidFill>
                  <a:srgbClr val="142B49"/>
                </a:solidFill>
                <a:latin typeface="Aptos"/>
              </a:defRPr>
            </a:pPr>
            <a:r>
              <a:t>Kept labels and values readable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429000" cy="3337560"/>
          </a:xfrm>
          <a:prstGeom prst="roundRect">
            <a:avLst/>
          </a:prstGeom>
          <a:solidFill>
            <a:srgbClr val="DDF5F2"/>
          </a:solidFill>
          <a:ln w="1397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800" b="0">
                <a:solidFill>
                  <a:srgbClr val="142B49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4498848" y="1435607"/>
            <a:ext cx="3209544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300" b="1">
                <a:solidFill>
                  <a:srgbClr val="0F8480"/>
                </a:solidFill>
                <a:latin typeface="Aptos"/>
              </a:rPr>
              <a:t>Current focus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5424" y="1828800"/>
            <a:ext cx="3136392" cy="2715768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42B49"/>
                </a:solidFill>
                <a:latin typeface="Aptos"/>
              </a:defRPr>
            </a:pPr>
            <a:r>
              <a:t>Worksight and TDA sessions</a:t>
            </a:r>
          </a:p>
          <a:p>
            <a:pPr>
              <a:spcAft>
                <a:spcPts val="200"/>
              </a:spcAft>
              <a:defRPr sz="1000">
                <a:solidFill>
                  <a:srgbClr val="142B49"/>
                </a:solidFill>
                <a:latin typeface="Aptos"/>
              </a:defRPr>
            </a:pPr>
            <a:r>
              <a:t>DMC / MDP tracker</a:t>
            </a:r>
          </a:p>
          <a:p>
            <a:pPr>
              <a:spcAft>
                <a:spcPts val="200"/>
              </a:spcAft>
              <a:defRPr sz="1000">
                <a:solidFill>
                  <a:srgbClr val="142B49"/>
                </a:solidFill>
                <a:latin typeface="Aptos"/>
              </a:defRPr>
            </a:pPr>
            <a:r>
              <a:t>Other teams follow-up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325880"/>
            <a:ext cx="3429000" cy="3337560"/>
          </a:xfrm>
          <a:prstGeom prst="roundRect">
            <a:avLst/>
          </a:prstGeom>
          <a:solidFill>
            <a:srgbClr val="E1F5E8"/>
          </a:solidFill>
          <a:ln w="1397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800" b="0">
                <a:solidFill>
                  <a:srgbClr val="142B49"/>
                </a:solidFill>
                <a:latin typeface="Aptos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8110727" y="1435607"/>
            <a:ext cx="3209544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300" b="1">
                <a:solidFill>
                  <a:srgbClr val="2EA05A"/>
                </a:solidFill>
                <a:latin typeface="Aptos"/>
              </a:rPr>
              <a:t>Next 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47304" y="1828800"/>
            <a:ext cx="3136392" cy="2715768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42B49"/>
                </a:solidFill>
                <a:latin typeface="Aptos"/>
              </a:defRPr>
            </a:pPr>
            <a:r>
              <a:t>Confirm reporting owners</a:t>
            </a:r>
          </a:p>
          <a:p>
            <a:pPr>
              <a:spcAft>
                <a:spcPts val="200"/>
              </a:spcAft>
              <a:defRPr sz="1000">
                <a:solidFill>
                  <a:srgbClr val="142B49"/>
                </a:solidFill>
                <a:latin typeface="Aptos"/>
              </a:defRPr>
            </a:pPr>
            <a:r>
              <a:t>Close pending gaps</a:t>
            </a:r>
          </a:p>
          <a:p>
            <a:pPr>
              <a:spcAft>
                <a:spcPts val="200"/>
              </a:spcAft>
              <a:defRPr sz="1000">
                <a:solidFill>
                  <a:srgbClr val="142B49"/>
                </a:solidFill>
                <a:latin typeface="Aptos"/>
              </a:defRPr>
            </a:pPr>
            <a:r>
              <a:t>Share editable PPT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65960" y="5257800"/>
            <a:ext cx="8275320" cy="438912"/>
          </a:xfrm>
          <a:prstGeom prst="roundRect">
            <a:avLst/>
          </a:prstGeom>
          <a:solidFill>
            <a:srgbClr val="F4F7FA"/>
          </a:solidFill>
          <a:ln w="13970"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300" b="1">
                <a:solidFill>
                  <a:srgbClr val="142B49"/>
                </a:solidFill>
                <a:latin typeface="Aptos"/>
              </a:rPr>
              <a:t>Slide is now centered, evenly spaced, and ready for editing.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66960" y="6446520"/>
            <a:ext cx="178308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r"/>
            <a:r>
              <a:rPr sz="700" b="0">
                <a:solidFill>
                  <a:srgbClr val="5C6670"/>
                </a:solidFill>
                <a:latin typeface="Aptos"/>
              </a:rPr>
              <a:t>Editable PPT revision | 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11201400" cy="4754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2400" b="1">
                <a:solidFill>
                  <a:srgbClr val="142B49"/>
                </a:solidFill>
                <a:latin typeface="Aptos"/>
              </a:rPr>
              <a:t>Slide 13 - Equipment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201400" cy="27432"/>
          </a:xfrm>
          <a:prstGeom prst="rect">
            <a:avLst/>
          </a:prstGeom>
          <a:solidFill>
            <a:srgbClr val="246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0352" y="896112"/>
            <a:ext cx="11109960" cy="3017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000" b="0">
                <a:solidFill>
                  <a:srgbClr val="5C6670"/>
                </a:solidFill>
                <a:latin typeface="Aptos"/>
              </a:rPr>
              <a:t>Owner updated and confirmed as Brinds 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2377440" cy="502920"/>
          </a:xfrm>
          <a:prstGeom prst="roundRect">
            <a:avLst/>
          </a:prstGeom>
          <a:solidFill>
            <a:srgbClr val="E67E22"/>
          </a:solidFill>
          <a:ln w="1397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Equipment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1417320"/>
            <a:ext cx="128016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300" b="1">
                <a:solidFill>
                  <a:srgbClr val="5C6670"/>
                </a:solidFill>
                <a:latin typeface="Aptos"/>
              </a:rPr>
              <a:t>Owner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57800" y="1261872"/>
            <a:ext cx="2286000" cy="658368"/>
          </a:xfrm>
          <a:prstGeom prst="roundRect">
            <a:avLst/>
          </a:prstGeom>
          <a:solidFill>
            <a:srgbClr val="FFEBD6"/>
          </a:solidFill>
          <a:ln w="1397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2200" b="1">
                <a:solidFill>
                  <a:srgbClr val="142B49"/>
                </a:solidFill>
                <a:latin typeface="Aptos"/>
              </a:rPr>
              <a:t>Brinds S</a:t>
            </a:r>
          </a:p>
        </p:txBody>
      </p:sp>
      <p:sp>
        <p:nvSpPr>
          <p:cNvPr id="8" name="Rectangle 7"/>
          <p:cNvSpPr/>
          <p:nvPr/>
        </p:nvSpPr>
        <p:spPr>
          <a:xfrm>
            <a:off x="7726679" y="1417320"/>
            <a:ext cx="237744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100" b="0">
                <a:solidFill>
                  <a:srgbClr val="5C6670"/>
                </a:solidFill>
                <a:latin typeface="Aptos"/>
              </a:rPr>
              <a:t>Equipment owner confirmed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514600"/>
            <a:ext cx="5120640" cy="2240280"/>
          </a:xfrm>
          <a:prstGeom prst="roundRect">
            <a:avLst/>
          </a:prstGeom>
          <a:solidFill>
            <a:srgbClr val="FFEBD6"/>
          </a:solidFill>
          <a:ln w="1397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800" b="0">
                <a:solidFill>
                  <a:srgbClr val="142B49"/>
                </a:solidFill>
                <a:latin typeface="Aptos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24328"/>
            <a:ext cx="4901183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300" b="1">
                <a:solidFill>
                  <a:srgbClr val="E67E22"/>
                </a:solidFill>
                <a:latin typeface="Aptos"/>
              </a:rPr>
              <a:t>Equipment responsibilities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3017520"/>
            <a:ext cx="4828031" cy="1618488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42B49"/>
                </a:solidFill>
                <a:latin typeface="Aptos"/>
              </a:defRPr>
            </a:pPr>
            <a:r>
              <a:t>Confirm equipment readiness</a:t>
            </a:r>
          </a:p>
          <a:p>
            <a:pPr>
              <a:spcAft>
                <a:spcPts val="200"/>
              </a:spcAft>
              <a:defRPr sz="1000">
                <a:solidFill>
                  <a:srgbClr val="142B49"/>
                </a:solidFill>
                <a:latin typeface="Aptos"/>
              </a:defRPr>
            </a:pPr>
            <a:r>
              <a:t>Maintain issue tracker</a:t>
            </a:r>
          </a:p>
          <a:p>
            <a:pPr>
              <a:spcAft>
                <a:spcPts val="200"/>
              </a:spcAft>
              <a:defRPr sz="1000">
                <a:solidFill>
                  <a:srgbClr val="142B49"/>
                </a:solidFill>
                <a:latin typeface="Aptos"/>
              </a:defRPr>
            </a:pPr>
            <a:r>
              <a:t>Coordinate support and closure</a:t>
            </a:r>
          </a:p>
          <a:p>
            <a:pPr>
              <a:spcAft>
                <a:spcPts val="200"/>
              </a:spcAft>
              <a:defRPr sz="1000">
                <a:solidFill>
                  <a:srgbClr val="142B49"/>
                </a:solidFill>
                <a:latin typeface="Aptos"/>
              </a:defRPr>
            </a:pPr>
            <a:r>
              <a:t>Share status in Worksight session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514600"/>
            <a:ext cx="5120640" cy="2240280"/>
          </a:xfrm>
          <a:prstGeom prst="roundRect">
            <a:avLst/>
          </a:prstGeom>
          <a:solidFill>
            <a:srgbClr val="DCEBFC"/>
          </a:solidFill>
          <a:ln w="1397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800" b="0">
                <a:solidFill>
                  <a:srgbClr val="142B49"/>
                </a:solidFill>
                <a:latin typeface="Aptos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6373368" y="2624328"/>
            <a:ext cx="4901183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300" b="1">
                <a:solidFill>
                  <a:srgbClr val="2463B4"/>
                </a:solidFill>
                <a:latin typeface="Aptos"/>
              </a:rPr>
              <a:t>Handoff checklist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3017520"/>
            <a:ext cx="4828031" cy="1618488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42B49"/>
                </a:solidFill>
                <a:latin typeface="Aptos"/>
              </a:defRPr>
            </a:pPr>
            <a:r>
              <a:t>Owner visible on tracker</a:t>
            </a:r>
          </a:p>
          <a:p>
            <a:pPr>
              <a:spcAft>
                <a:spcPts val="200"/>
              </a:spcAft>
              <a:defRPr sz="1000">
                <a:solidFill>
                  <a:srgbClr val="142B49"/>
                </a:solidFill>
                <a:latin typeface="Aptos"/>
              </a:defRPr>
            </a:pPr>
            <a:r>
              <a:t>Pending issues tagged</a:t>
            </a:r>
          </a:p>
          <a:p>
            <a:pPr>
              <a:spcAft>
                <a:spcPts val="200"/>
              </a:spcAft>
              <a:defRPr sz="1000">
                <a:solidFill>
                  <a:srgbClr val="142B49"/>
                </a:solidFill>
                <a:latin typeface="Aptos"/>
              </a:defRPr>
            </a:pPr>
            <a:r>
              <a:t>Escalation path confirmed</a:t>
            </a:r>
          </a:p>
          <a:p>
            <a:pPr>
              <a:spcAft>
                <a:spcPts val="200"/>
              </a:spcAft>
              <a:defRPr sz="1000">
                <a:solidFill>
                  <a:srgbClr val="142B49"/>
                </a:solidFill>
                <a:latin typeface="Aptos"/>
              </a:defRPr>
            </a:pPr>
            <a:r>
              <a:t>Final update shared in PPT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77440" y="5532120"/>
            <a:ext cx="7360920" cy="384048"/>
          </a:xfrm>
          <a:prstGeom prst="roundRect">
            <a:avLst/>
          </a:prstGeom>
          <a:solidFill>
            <a:srgbClr val="F4F7FA"/>
          </a:solidFill>
          <a:ln w="13970"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200" b="0">
                <a:solidFill>
                  <a:srgbClr val="142B49"/>
                </a:solidFill>
                <a:latin typeface="Aptos"/>
              </a:rPr>
              <a:t>All content is editable PowerPoint text and shapes.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66960" y="6446520"/>
            <a:ext cx="178308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r"/>
            <a:r>
              <a:rPr sz="700" b="0">
                <a:solidFill>
                  <a:srgbClr val="5C6670"/>
                </a:solidFill>
                <a:latin typeface="Aptos"/>
              </a:rPr>
              <a:t>Editable PPT revision | Slide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