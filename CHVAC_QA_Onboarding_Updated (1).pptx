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53693-15AB-4B33-9CF1-1FDE45C8B252}" v="58" dt="2026-05-07T16:17:56.785"/>
    <p1510:client id="{E1002C20-7C07-45EC-B056-14A9E7F205A7}" v="377" dt="2026-05-07T10:02:25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26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2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2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tranetis.jira.com/wiki/spaces/TSMT/pages/4088692861/Trane+Select+Assist+TSA" TargetMode="External"/><Relationship Id="rId4" Type="http://schemas.openxmlformats.org/officeDocument/2006/relationships/hyperlink" Target="https://tranetis.jira.com/wiki/spaces/TSMT/pages/4108681299/Equipment+Onboarding" TargetMode="External"/><Relationship Id="rId5" Type="http://schemas.openxmlformats.org/officeDocument/2006/relationships/hyperlink" Target="https://tranetis.jira.com/wiki/spaces/TSMT/pages/4089217110/Data+Maintenance+Center+Manufacturing+Data+Preparation+DMC+MDP" TargetMode="External"/><Relationship Id="rId6" Type="http://schemas.openxmlformats.org/officeDocument/2006/relationships/hyperlink" Target="https://tranetis.jira.com/wiki/spaces/TSMT/pages/4108517505/Jobs+Coordinated+Jobs+COJO" TargetMode="External"/><Relationship Id="rId7" Type="http://schemas.openxmlformats.org/officeDocument/2006/relationships/hyperlink" Target="https://tranetis.jira.com/wiki/spaces/TSMT/pages/4501078104/Contracting+Team" TargetMode="External"/><Relationship Id="rId8" Type="http://schemas.openxmlformats.org/officeDocument/2006/relationships/hyperlink" Target="https://tranetis.jira.com/wiki/spaces/TSMT/pages/4108812330/Trane+Design+Assist+TDA" TargetMode="External"/><Relationship Id="rId9" Type="http://schemas.openxmlformats.org/officeDocument/2006/relationships/hyperlink" Target="https://tranetis.jira.com/wiki/spaces/TSMT/pages/4108812415/Work+Package+Onboarding" TargetMode="External"/><Relationship Id="rId10" Type="http://schemas.openxmlformats.org/officeDocument/2006/relationships/hyperlink" Target="https://tranetis.jira.com/wiki/spaces/TSMT/pages/4501733404/Service" TargetMode="External"/><Relationship Id="rId11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6459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CHVAC QA Core team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deck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47472" y="658368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042416"/>
            <a:ext cx="5943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7472" y="113385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113385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we 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517904"/>
            <a:ext cx="5943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609344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" y="160934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you need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1993392"/>
            <a:ext cx="5943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" y="2084832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" y="208483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you need to 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5943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7472" y="256032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" y="25603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Plan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2944368"/>
            <a:ext cx="5943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" y="3035808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" y="303580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Contact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" y="3419856"/>
            <a:ext cx="5943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team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47472" y="5303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spans USA and India across multiple delivery tracks under the CHVAC IT OTC QA practice.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932688"/>
            <a:ext cx="5029200" cy="548640"/>
          </a:xfrm>
          <a:prstGeom prst="rect">
            <a:avLst/>
          </a:prstGeom>
          <a:solidFill>
            <a:srgbClr val="EDE7F6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64008" cy="54864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488" y="9692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Hegde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0700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Manager – QA Leader  ·  WorkSight QA Lead  ·  Trane-ITC  ·  Offshore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0" y="5303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at a Glance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804672"/>
            <a:ext cx="31089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724144" y="804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Analysts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89520" y="80467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1078992"/>
            <a:ext cx="3108960" cy="256032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24144" y="1078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89520" y="107899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1353312"/>
            <a:ext cx="31089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724144" y="1353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89520" y="135331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1627632"/>
            <a:ext cx="3108960" cy="256032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24144" y="1627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89520" y="16276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1901952"/>
            <a:ext cx="31089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724144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Func. Analysts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89520" y="190195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0" y="2176272"/>
            <a:ext cx="3108960" cy="256032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724144" y="2176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/ PAs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89520" y="217627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Rectangle 33"/>
          <p:cNvSpPr/>
          <p:nvPr/>
        </p:nvSpPr>
        <p:spPr>
          <a:xfrm>
            <a:off x="347472" y="1627632"/>
            <a:ext cx="5029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0" b="1">
                <a:solidFill>
                  <a:srgbClr val="1F2937"/>
                </a:solidFill>
                <a:latin typeface="Aptos"/>
              </a:rPr>
              <a:t>Delivery Tracks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1901952"/>
            <a:ext cx="5029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950" b="1">
                <a:solidFill>
                  <a:srgbClr val="1F2937"/>
                </a:solidFill>
                <a:latin typeface="Aptos"/>
              </a:rPr>
              <a:t>WorkSight Projects: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2157984"/>
            <a:ext cx="5029200" cy="1554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- TSA (Trane Select Assist)</a:t>
            </a:r>
          </a:p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- Equipment (R12)</a:t>
            </a:r>
          </a:p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- DMC / MDP</a:t>
            </a:r>
          </a:p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- Jobs &amp; CoJo</a:t>
            </a:r>
          </a:p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- Contracting (Team 1 &amp; 2)</a:t>
            </a:r>
          </a:p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- Work Package</a:t>
            </a:r>
          </a:p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- Documents (DocGen)</a:t>
            </a:r>
          </a:p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- Service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3950208"/>
            <a:ext cx="5029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950" b="1">
                <a:solidFill>
                  <a:srgbClr val="1F2937"/>
                </a:solidFill>
                <a:latin typeface="Aptos"/>
              </a:rPr>
              <a:t>Other Projects: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4206240"/>
            <a:ext cx="50292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- TDA (Trane Design Assist)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150" name="Text 147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151" name="Rectangle 150"/>
          <p:cNvSpPr/>
          <p:nvPr/>
        </p:nvSpPr>
        <p:spPr>
          <a:xfrm>
            <a:off x="347472" y="109728"/>
            <a:ext cx="8449056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WorkSight QA – Reporting Structure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47472" y="493776"/>
            <a:ext cx="8449056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900" b="0">
                <a:solidFill>
                  <a:srgbClr val="4B5563"/>
                </a:solidFill>
                <a:latin typeface="Aptos"/>
              </a:rPr>
              <a:t>Ramesh Hegde leads WorkSight and TDA sessions. QA leads and sub-items shown below.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063240" y="1005840"/>
            <a:ext cx="3017520" cy="402336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063240" y="1005840"/>
            <a:ext cx="301752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Ramesh Hegde · WorkSight QA Manager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828800" y="1901952"/>
            <a:ext cx="1234440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828800" y="190195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892807" y="1901952"/>
            <a:ext cx="1161288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WorkSight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828800" y="2432304"/>
            <a:ext cx="12344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Projects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080760" y="1901952"/>
            <a:ext cx="1234440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080760" y="190195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144768" y="1901952"/>
            <a:ext cx="1161288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TDA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80760" y="2432304"/>
            <a:ext cx="12344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Naveen H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4572000" y="1408176"/>
            <a:ext cx="0" cy="256032"/>
          </a:xfrm>
          <a:prstGeom prst="line">
            <a:avLst/>
          </a:prstGeom>
          <a:ln w="1143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2450592" y="1664208"/>
            <a:ext cx="4242816" cy="0"/>
          </a:xfrm>
          <a:prstGeom prst="line">
            <a:avLst/>
          </a:prstGeom>
          <a:ln w="1143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2450592" y="1664208"/>
            <a:ext cx="0" cy="237744"/>
          </a:xfrm>
          <a:prstGeom prst="line">
            <a:avLst/>
          </a:prstGeom>
          <a:ln w="1143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6693408" y="1664208"/>
            <a:ext cx="0" cy="237744"/>
          </a:xfrm>
          <a:prstGeom prst="line">
            <a:avLst/>
          </a:prstGeom>
          <a:ln w="1143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411480" y="2907792"/>
            <a:ext cx="950976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11480" y="290779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75488" y="2907792"/>
            <a:ext cx="87782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Trane Select Assist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11480" y="3438144"/>
            <a:ext cx="950976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Varsha 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417320" y="2907792"/>
            <a:ext cx="950976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417320" y="290779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481328" y="2907792"/>
            <a:ext cx="87782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Equipment (R12)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417320" y="3438144"/>
            <a:ext cx="950976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Brinda S/Harikrishnan, Aiswarya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23160" y="2907792"/>
            <a:ext cx="950976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423160" y="290779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487168" y="2907792"/>
            <a:ext cx="87782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DMC / MDP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423160" y="3438144"/>
            <a:ext cx="950976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Mahesh L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429000" y="2907792"/>
            <a:ext cx="950976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429000" y="290779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493008" y="2907792"/>
            <a:ext cx="87782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Jobs &amp; CoJo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429000" y="3438144"/>
            <a:ext cx="950976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Rashmi R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434840" y="2907792"/>
            <a:ext cx="987552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434840" y="290779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498848" y="2907792"/>
            <a:ext cx="91440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Contracting(Team 1 &amp; 2) (Tax)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434840" y="3438144"/>
            <a:ext cx="98755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Vignesh S/Preethi Khajji/Srinivasa R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440680" y="2907792"/>
            <a:ext cx="950976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40680" y="290779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504688" y="2907792"/>
            <a:ext cx="87782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Work Package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440680" y="3438144"/>
            <a:ext cx="950976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Likhith P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446520" y="2907792"/>
            <a:ext cx="950976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446520" y="290779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510528" y="2907792"/>
            <a:ext cx="87782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Documents (DocGen)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446520" y="3438144"/>
            <a:ext cx="950976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Sandhyarani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452360" y="2907792"/>
            <a:ext cx="950976" cy="438912"/>
          </a:xfrm>
          <a:prstGeom prst="rect">
            <a:avLst/>
          </a:prstGeom>
          <a:solidFill>
            <a:srgbClr val="F3F0FA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452360" y="2907792"/>
            <a:ext cx="45720" cy="438912"/>
          </a:xfrm>
          <a:prstGeom prst="rect">
            <a:avLst/>
          </a:prstGeom>
          <a:solidFill>
            <a:srgbClr val="6B21D4"/>
          </a:solidFill>
          <a:ln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516368" y="2907792"/>
            <a:ext cx="87782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Service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452360" y="3438144"/>
            <a:ext cx="950976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Frank 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Track – Teams A &amp; B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4169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(14 members)</a:t>
            </a:r>
            <a:endParaRPr lang="en-US" sz="950"/>
          </a:p>
        </p:txBody>
      </p:sp>
      <p:sp>
        <p:nvSpPr>
          <p:cNvPr id="4" name="Shape 2"/>
          <p:cNvSpPr/>
          <p:nvPr/>
        </p:nvSpPr>
        <p:spPr>
          <a:xfrm>
            <a:off x="347472" y="768096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768096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02336" y="768096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Jaimie Christianson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1986808" y="768096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700"/>
          </a:p>
        </p:txBody>
      </p:sp>
      <p:sp>
        <p:nvSpPr>
          <p:cNvPr id="8" name="Text 6"/>
          <p:cNvSpPr/>
          <p:nvPr/>
        </p:nvSpPr>
        <p:spPr>
          <a:xfrm>
            <a:off x="3446191" y="76809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/>
          </a:p>
        </p:txBody>
      </p:sp>
      <p:sp>
        <p:nvSpPr>
          <p:cNvPr id="9" name="Shape 7"/>
          <p:cNvSpPr/>
          <p:nvPr/>
        </p:nvSpPr>
        <p:spPr>
          <a:xfrm>
            <a:off x="347472" y="987552"/>
            <a:ext cx="4169664" cy="219456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" y="987552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02336" y="987552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Patti Reddy</a:t>
            </a:r>
            <a:endParaRPr lang="en-US" sz="750"/>
          </a:p>
        </p:txBody>
      </p:sp>
      <p:sp>
        <p:nvSpPr>
          <p:cNvPr id="12" name="Text 10"/>
          <p:cNvSpPr/>
          <p:nvPr/>
        </p:nvSpPr>
        <p:spPr>
          <a:xfrm>
            <a:off x="1986808" y="987552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Analyst</a:t>
            </a:r>
            <a:endParaRPr lang="en-US" sz="700"/>
          </a:p>
        </p:txBody>
      </p:sp>
      <p:sp>
        <p:nvSpPr>
          <p:cNvPr id="13" name="Text 11"/>
          <p:cNvSpPr/>
          <p:nvPr/>
        </p:nvSpPr>
        <p:spPr>
          <a:xfrm>
            <a:off x="3446191" y="98755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Cognizant</a:t>
            </a:r>
            <a:endParaRPr lang="en-US" sz="650"/>
          </a:p>
        </p:txBody>
      </p:sp>
      <p:sp>
        <p:nvSpPr>
          <p:cNvPr id="14" name="Shape 12"/>
          <p:cNvSpPr/>
          <p:nvPr/>
        </p:nvSpPr>
        <p:spPr>
          <a:xfrm>
            <a:off x="347472" y="1207008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7472" y="1207008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02336" y="1207008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Pradeesh Kumar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1986808" y="1207008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</a:t>
            </a:r>
            <a:endParaRPr lang="en-US" sz="700"/>
          </a:p>
        </p:txBody>
      </p:sp>
      <p:sp>
        <p:nvSpPr>
          <p:cNvPr id="18" name="Text 16"/>
          <p:cNvSpPr/>
          <p:nvPr/>
        </p:nvSpPr>
        <p:spPr>
          <a:xfrm>
            <a:off x="3446191" y="1207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Cognizant</a:t>
            </a:r>
            <a:endParaRPr lang="en-US" sz="650"/>
          </a:p>
        </p:txBody>
      </p:sp>
      <p:sp>
        <p:nvSpPr>
          <p:cNvPr id="54" name="Shape 52"/>
          <p:cNvSpPr/>
          <p:nvPr/>
        </p:nvSpPr>
        <p:spPr>
          <a:xfrm>
            <a:off x="347472" y="1453896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47472" y="1453896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02336" y="1453896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 S</a:t>
            </a:r>
            <a:endParaRPr lang="en-US" sz="750"/>
          </a:p>
        </p:txBody>
      </p:sp>
      <p:sp>
        <p:nvSpPr>
          <p:cNvPr id="57" name="Text 55"/>
          <p:cNvSpPr/>
          <p:nvPr/>
        </p:nvSpPr>
        <p:spPr>
          <a:xfrm>
            <a:off x="1986808" y="1453896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Func Lead</a:t>
            </a:r>
            <a:endParaRPr lang="en-US" sz="700"/>
          </a:p>
        </p:txBody>
      </p:sp>
      <p:sp>
        <p:nvSpPr>
          <p:cNvPr id="58" name="Text 56"/>
          <p:cNvSpPr/>
          <p:nvPr/>
        </p:nvSpPr>
        <p:spPr>
          <a:xfrm>
            <a:off x="3446191" y="145389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/>
          </a:p>
        </p:txBody>
      </p:sp>
      <p:sp>
        <p:nvSpPr>
          <p:cNvPr id="59" name="Shape 57"/>
          <p:cNvSpPr/>
          <p:nvPr/>
        </p:nvSpPr>
        <p:spPr>
          <a:xfrm>
            <a:off x="347472" y="1673352"/>
            <a:ext cx="4169664" cy="219456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347472" y="1673352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02336" y="1673352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Devendra E</a:t>
            </a:r>
            <a:endParaRPr lang="en-US" sz="750"/>
          </a:p>
        </p:txBody>
      </p:sp>
      <p:sp>
        <p:nvSpPr>
          <p:cNvPr id="62" name="Text 60"/>
          <p:cNvSpPr/>
          <p:nvPr/>
        </p:nvSpPr>
        <p:spPr>
          <a:xfrm>
            <a:off x="1986808" y="1673352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Func / Auto</a:t>
            </a:r>
            <a:endParaRPr lang="en-US" sz="700"/>
          </a:p>
        </p:txBody>
      </p:sp>
      <p:sp>
        <p:nvSpPr>
          <p:cNvPr id="63" name="Text 61"/>
          <p:cNvSpPr/>
          <p:nvPr/>
        </p:nvSpPr>
        <p:spPr>
          <a:xfrm>
            <a:off x="3446191" y="167335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/>
          </a:p>
        </p:txBody>
      </p:sp>
      <p:sp>
        <p:nvSpPr>
          <p:cNvPr id="64" name="Shape 62"/>
          <p:cNvSpPr/>
          <p:nvPr/>
        </p:nvSpPr>
        <p:spPr>
          <a:xfrm>
            <a:off x="347472" y="1892808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347472" y="1892808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02336" y="1892808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Nagaraj</a:t>
            </a:r>
            <a:endParaRPr lang="en-US" sz="750"/>
          </a:p>
        </p:txBody>
      </p:sp>
      <p:sp>
        <p:nvSpPr>
          <p:cNvPr id="67" name="Text 65"/>
          <p:cNvSpPr/>
          <p:nvPr/>
        </p:nvSpPr>
        <p:spPr>
          <a:xfrm>
            <a:off x="1986808" y="1892808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Functional</a:t>
            </a:r>
            <a:endParaRPr lang="en-US" sz="700"/>
          </a:p>
        </p:txBody>
      </p:sp>
      <p:sp>
        <p:nvSpPr>
          <p:cNvPr id="68" name="Text 66"/>
          <p:cNvSpPr/>
          <p:nvPr/>
        </p:nvSpPr>
        <p:spPr>
          <a:xfrm>
            <a:off x="3446191" y="18928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/>
          </a:p>
        </p:txBody>
      </p:sp>
      <p:sp>
        <p:nvSpPr>
          <p:cNvPr id="69" name="Shape 67"/>
          <p:cNvSpPr/>
          <p:nvPr/>
        </p:nvSpPr>
        <p:spPr>
          <a:xfrm>
            <a:off x="347472" y="2112264"/>
            <a:ext cx="4169664" cy="219456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347472" y="2112264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02336" y="2112264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Jashwanth Sai</a:t>
            </a:r>
            <a:endParaRPr lang="en-US" sz="750"/>
          </a:p>
        </p:txBody>
      </p:sp>
      <p:sp>
        <p:nvSpPr>
          <p:cNvPr id="72" name="Text 70"/>
          <p:cNvSpPr/>
          <p:nvPr/>
        </p:nvSpPr>
        <p:spPr>
          <a:xfrm>
            <a:off x="1986808" y="2112264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Func / Auto</a:t>
            </a:r>
            <a:endParaRPr lang="en-US" sz="700"/>
          </a:p>
        </p:txBody>
      </p:sp>
      <p:sp>
        <p:nvSpPr>
          <p:cNvPr id="73" name="Text 71"/>
          <p:cNvSpPr/>
          <p:nvPr/>
        </p:nvSpPr>
        <p:spPr>
          <a:xfrm>
            <a:off x="3446191" y="211226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/>
          </a:p>
        </p:txBody>
      </p:sp>
      <p:sp>
        <p:nvSpPr>
          <p:cNvPr id="74" name="Text 72"/>
          <p:cNvSpPr/>
          <p:nvPr/>
        </p:nvSpPr>
        <p:spPr>
          <a:xfrm>
            <a:off x="4626864" y="548640"/>
            <a:ext cx="4169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(17 members)</a:t>
            </a:r>
            <a:endParaRPr lang="en-US" sz="950"/>
          </a:p>
        </p:txBody>
      </p:sp>
      <p:sp>
        <p:nvSpPr>
          <p:cNvPr id="75" name="Shape 73"/>
          <p:cNvSpPr/>
          <p:nvPr/>
        </p:nvSpPr>
        <p:spPr>
          <a:xfrm>
            <a:off x="4626864" y="768096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4626864" y="768096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681728" y="768096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White</a:t>
            </a:r>
            <a:endParaRPr lang="en-US" sz="750"/>
          </a:p>
        </p:txBody>
      </p:sp>
      <p:sp>
        <p:nvSpPr>
          <p:cNvPr id="78" name="Text 76"/>
          <p:cNvSpPr/>
          <p:nvPr/>
        </p:nvSpPr>
        <p:spPr>
          <a:xfrm>
            <a:off x="6266200" y="768096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700"/>
          </a:p>
        </p:txBody>
      </p:sp>
      <p:sp>
        <p:nvSpPr>
          <p:cNvPr id="79" name="Text 77"/>
          <p:cNvSpPr/>
          <p:nvPr/>
        </p:nvSpPr>
        <p:spPr>
          <a:xfrm>
            <a:off x="7725583" y="76809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/>
          </a:p>
        </p:txBody>
      </p:sp>
      <p:sp>
        <p:nvSpPr>
          <p:cNvPr id="80" name="Shape 78"/>
          <p:cNvSpPr/>
          <p:nvPr/>
        </p:nvSpPr>
        <p:spPr>
          <a:xfrm>
            <a:off x="4626864" y="987552"/>
            <a:ext cx="4169664" cy="219456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626864" y="987552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81728" y="987552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Cassi Key</a:t>
            </a:r>
            <a:endParaRPr lang="en-US" sz="750"/>
          </a:p>
        </p:txBody>
      </p:sp>
      <p:sp>
        <p:nvSpPr>
          <p:cNvPr id="83" name="Text 81"/>
          <p:cNvSpPr/>
          <p:nvPr/>
        </p:nvSpPr>
        <p:spPr>
          <a:xfrm>
            <a:off x="6266200" y="987552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Business</a:t>
            </a:r>
            <a:endParaRPr lang="en-US" sz="700"/>
          </a:p>
        </p:txBody>
      </p:sp>
      <p:sp>
        <p:nvSpPr>
          <p:cNvPr id="84" name="Text 82"/>
          <p:cNvSpPr/>
          <p:nvPr/>
        </p:nvSpPr>
        <p:spPr>
          <a:xfrm>
            <a:off x="7725583" y="98755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/>
          </a:p>
        </p:txBody>
      </p:sp>
      <p:sp>
        <p:nvSpPr>
          <p:cNvPr id="85" name="Shape 83"/>
          <p:cNvSpPr/>
          <p:nvPr/>
        </p:nvSpPr>
        <p:spPr>
          <a:xfrm>
            <a:off x="4626864" y="1207008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4626864" y="1207008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4681728" y="1207008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Chintakuntla</a:t>
            </a:r>
            <a:endParaRPr lang="en-US" sz="750"/>
          </a:p>
        </p:txBody>
      </p:sp>
      <p:sp>
        <p:nvSpPr>
          <p:cNvPr id="88" name="Text 86"/>
          <p:cNvSpPr/>
          <p:nvPr/>
        </p:nvSpPr>
        <p:spPr>
          <a:xfrm>
            <a:off x="6266200" y="1207008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Analyst (R12)</a:t>
            </a:r>
            <a:endParaRPr lang="en-US" sz="700"/>
          </a:p>
        </p:txBody>
      </p:sp>
      <p:sp>
        <p:nvSpPr>
          <p:cNvPr id="89" name="Text 87"/>
          <p:cNvSpPr/>
          <p:nvPr/>
        </p:nvSpPr>
        <p:spPr>
          <a:xfrm>
            <a:off x="7725583" y="1207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/>
          </a:p>
        </p:txBody>
      </p:sp>
      <p:sp>
        <p:nvSpPr>
          <p:cNvPr id="90" name="Shape 88"/>
          <p:cNvSpPr/>
          <p:nvPr/>
        </p:nvSpPr>
        <p:spPr>
          <a:xfrm>
            <a:off x="4626864" y="1426464"/>
            <a:ext cx="4169664" cy="219456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4626864" y="1426464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681728" y="1426464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Gandhi</a:t>
            </a:r>
            <a:endParaRPr lang="en-US" sz="750"/>
          </a:p>
        </p:txBody>
      </p:sp>
      <p:sp>
        <p:nvSpPr>
          <p:cNvPr id="93" name="Text 91"/>
          <p:cNvSpPr/>
          <p:nvPr/>
        </p:nvSpPr>
        <p:spPr>
          <a:xfrm>
            <a:off x="6266200" y="1426464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Analyst (R12)</a:t>
            </a:r>
            <a:endParaRPr lang="en-US" sz="700"/>
          </a:p>
        </p:txBody>
      </p:sp>
      <p:sp>
        <p:nvSpPr>
          <p:cNvPr id="94" name="Text 92"/>
          <p:cNvSpPr/>
          <p:nvPr/>
        </p:nvSpPr>
        <p:spPr>
          <a:xfrm>
            <a:off x="7725583" y="142646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/>
          </a:p>
        </p:txBody>
      </p:sp>
      <p:sp>
        <p:nvSpPr>
          <p:cNvPr id="125" name="Shape 123"/>
          <p:cNvSpPr/>
          <p:nvPr/>
        </p:nvSpPr>
        <p:spPr>
          <a:xfrm>
            <a:off x="4626864" y="1673352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4626864" y="1673352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681728" y="1673352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Blessing</a:t>
            </a:r>
            <a:endParaRPr lang="en-US" sz="750"/>
          </a:p>
        </p:txBody>
      </p:sp>
      <p:sp>
        <p:nvSpPr>
          <p:cNvPr id="128" name="Text 126"/>
          <p:cNvSpPr/>
          <p:nvPr/>
        </p:nvSpPr>
        <p:spPr>
          <a:xfrm>
            <a:off x="6266200" y="1673352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700"/>
          </a:p>
        </p:txBody>
      </p:sp>
      <p:sp>
        <p:nvSpPr>
          <p:cNvPr id="129" name="Text 127"/>
          <p:cNvSpPr/>
          <p:nvPr/>
        </p:nvSpPr>
        <p:spPr>
          <a:xfrm>
            <a:off x="7725583" y="167335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/>
          </a:p>
        </p:txBody>
      </p:sp>
      <p:sp>
        <p:nvSpPr>
          <p:cNvPr id="135" name="Shape 133"/>
          <p:cNvSpPr/>
          <p:nvPr/>
        </p:nvSpPr>
        <p:spPr>
          <a:xfrm>
            <a:off x="4626864" y="1892808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Shape 134"/>
          <p:cNvSpPr/>
          <p:nvPr/>
        </p:nvSpPr>
        <p:spPr>
          <a:xfrm>
            <a:off x="4626864" y="1892808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4681728" y="1892808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Aiswarya H</a:t>
            </a:r>
            <a:endParaRPr lang="en-US" sz="750"/>
          </a:p>
        </p:txBody>
      </p:sp>
      <p:sp>
        <p:nvSpPr>
          <p:cNvPr id="138" name="Text 136"/>
          <p:cNvSpPr/>
          <p:nvPr/>
        </p:nvSpPr>
        <p:spPr>
          <a:xfrm>
            <a:off x="6266200" y="1892808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Func Lead</a:t>
            </a:r>
            <a:endParaRPr lang="en-US" sz="700"/>
          </a:p>
        </p:txBody>
      </p:sp>
      <p:sp>
        <p:nvSpPr>
          <p:cNvPr id="139" name="Text 137"/>
          <p:cNvSpPr/>
          <p:nvPr/>
        </p:nvSpPr>
        <p:spPr>
          <a:xfrm>
            <a:off x="7725583" y="18928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/>
          </a:p>
        </p:txBody>
      </p:sp>
      <p:sp>
        <p:nvSpPr>
          <p:cNvPr id="140" name="Shape 138"/>
          <p:cNvSpPr/>
          <p:nvPr/>
        </p:nvSpPr>
        <p:spPr>
          <a:xfrm>
            <a:off x="4626864" y="2112264"/>
            <a:ext cx="4169664" cy="219456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Shape 139"/>
          <p:cNvSpPr/>
          <p:nvPr/>
        </p:nvSpPr>
        <p:spPr>
          <a:xfrm>
            <a:off x="4626864" y="2112264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681728" y="2112264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Sowmya Shetty</a:t>
            </a:r>
            <a:endParaRPr lang="en-US" sz="750"/>
          </a:p>
        </p:txBody>
      </p:sp>
      <p:sp>
        <p:nvSpPr>
          <p:cNvPr id="143" name="Text 141"/>
          <p:cNvSpPr/>
          <p:nvPr/>
        </p:nvSpPr>
        <p:spPr>
          <a:xfrm>
            <a:off x="6266200" y="2112264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Func / R12</a:t>
            </a:r>
            <a:endParaRPr lang="en-US" sz="700"/>
          </a:p>
        </p:txBody>
      </p:sp>
      <p:sp>
        <p:nvSpPr>
          <p:cNvPr id="144" name="Text 142"/>
          <p:cNvSpPr/>
          <p:nvPr/>
        </p:nvSpPr>
        <p:spPr>
          <a:xfrm>
            <a:off x="7725583" y="211226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/>
          </a:p>
        </p:txBody>
      </p:sp>
      <p:sp>
        <p:nvSpPr>
          <p:cNvPr id="145" name="Shape 143"/>
          <p:cNvSpPr/>
          <p:nvPr/>
        </p:nvSpPr>
        <p:spPr>
          <a:xfrm>
            <a:off x="4626864" y="2331720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4626864" y="2331720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4681728" y="2331720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Greeshma Balan</a:t>
            </a:r>
            <a:endParaRPr lang="en-US" sz="750"/>
          </a:p>
        </p:txBody>
      </p:sp>
      <p:sp>
        <p:nvSpPr>
          <p:cNvPr id="148" name="Text 146"/>
          <p:cNvSpPr/>
          <p:nvPr/>
        </p:nvSpPr>
        <p:spPr>
          <a:xfrm>
            <a:off x="6266200" y="2331720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Functional</a:t>
            </a:r>
            <a:endParaRPr lang="en-US" sz="700"/>
          </a:p>
        </p:txBody>
      </p:sp>
      <p:sp>
        <p:nvSpPr>
          <p:cNvPr id="149" name="Text 147"/>
          <p:cNvSpPr/>
          <p:nvPr/>
        </p:nvSpPr>
        <p:spPr>
          <a:xfrm>
            <a:off x="7725583" y="233172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/>
          </a:p>
        </p:txBody>
      </p:sp>
      <p:sp>
        <p:nvSpPr>
          <p:cNvPr id="150" name="Shape 148"/>
          <p:cNvSpPr/>
          <p:nvPr/>
        </p:nvSpPr>
        <p:spPr>
          <a:xfrm>
            <a:off x="4626864" y="2551176"/>
            <a:ext cx="4169664" cy="219456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hape 149"/>
          <p:cNvSpPr/>
          <p:nvPr/>
        </p:nvSpPr>
        <p:spPr>
          <a:xfrm>
            <a:off x="4626864" y="2551176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Text 150"/>
          <p:cNvSpPr/>
          <p:nvPr/>
        </p:nvSpPr>
        <p:spPr>
          <a:xfrm>
            <a:off x="4681728" y="2551176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Brahmananda R</a:t>
            </a:r>
            <a:endParaRPr lang="en-US" sz="750"/>
          </a:p>
        </p:txBody>
      </p:sp>
      <p:sp>
        <p:nvSpPr>
          <p:cNvPr id="153" name="Text 151"/>
          <p:cNvSpPr/>
          <p:nvPr/>
        </p:nvSpPr>
        <p:spPr>
          <a:xfrm>
            <a:off x="6266200" y="2551176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Functional</a:t>
            </a:r>
            <a:endParaRPr lang="en-US" sz="700"/>
          </a:p>
        </p:txBody>
      </p:sp>
      <p:sp>
        <p:nvSpPr>
          <p:cNvPr id="154" name="Text 152"/>
          <p:cNvSpPr/>
          <p:nvPr/>
        </p:nvSpPr>
        <p:spPr>
          <a:xfrm>
            <a:off x="7725583" y="255117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/>
          </a:p>
        </p:txBody>
      </p:sp>
      <p:sp>
        <p:nvSpPr>
          <p:cNvPr id="155" name="Shape 153"/>
          <p:cNvSpPr/>
          <p:nvPr/>
        </p:nvSpPr>
        <p:spPr>
          <a:xfrm>
            <a:off x="4626864" y="2770632"/>
            <a:ext cx="4169664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4626864" y="2770632"/>
            <a:ext cx="36576" cy="219456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681728" y="2770632"/>
            <a:ext cx="158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 B N</a:t>
            </a:r>
            <a:endParaRPr lang="en-US" sz="750"/>
          </a:p>
        </p:txBody>
      </p:sp>
      <p:sp>
        <p:nvSpPr>
          <p:cNvPr id="158" name="Text 156"/>
          <p:cNvSpPr/>
          <p:nvPr/>
        </p:nvSpPr>
        <p:spPr>
          <a:xfrm>
            <a:off x="6266200" y="2770632"/>
            <a:ext cx="1459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Automation</a:t>
            </a:r>
            <a:endParaRPr lang="en-US" sz="700"/>
          </a:p>
        </p:txBody>
      </p:sp>
      <p:sp>
        <p:nvSpPr>
          <p:cNvPr id="159" name="Text 157"/>
          <p:cNvSpPr/>
          <p:nvPr/>
        </p:nvSpPr>
        <p:spPr>
          <a:xfrm>
            <a:off x="7725583" y="277063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/>
          </a:p>
        </p:txBody>
      </p:sp>
      <p:pic>
        <p:nvPicPr>
          <p:cNvPr id="1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108960"/>
            <a:ext cx="1097280" cy="475488"/>
          </a:xfrm>
          <a:prstGeom prst="rect">
            <a:avLst/>
          </a:prstGeom>
        </p:spPr>
      </p:pic>
      <p:sp>
        <p:nvSpPr>
          <p:cNvPr id="161" name="Text 158"/>
          <p:cNvSpPr/>
          <p:nvPr/>
        </p:nvSpPr>
        <p:spPr>
          <a:xfrm>
            <a:off x="347472" y="32918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74" name="Text 71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  <p:sp>
        <p:nvSpPr>
          <p:cNvPr id="75" name="Rectangle 74"/>
          <p:cNvSpPr/>
          <p:nvPr/>
        </p:nvSpPr>
        <p:spPr>
          <a:xfrm>
            <a:off x="347472" y="109728"/>
            <a:ext cx="8449056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DMC / MDP Track – Full Team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47472" y="548640"/>
            <a:ext cx="8449056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DMC / MDP Team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7472" y="786384"/>
            <a:ext cx="844905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7472" y="786384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2336" y="786384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Brian Brockman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79776" y="786384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Product Owner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51576" y="786384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" y="1005840"/>
            <a:ext cx="8449056" cy="21945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47472" y="1005840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02336" y="1005840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Bryan Lainhart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79776" y="1005840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Product Owner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51576" y="1005840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1225295"/>
            <a:ext cx="844905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47472" y="1225295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02336" y="1225295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Vipin Saroha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79776" y="1225295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Product Analyst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51576" y="1225295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47472" y="1444752"/>
            <a:ext cx="8449056" cy="21945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47472" y="1444752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2336" y="1444752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Praveen Gopal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79776" y="1444752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Business Analyst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51576" y="1444752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Cognizant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" y="1664207"/>
            <a:ext cx="844905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7472" y="1664207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02336" y="1664207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Snehalata Shidling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79776" y="1664207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Scrum Master / Dev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51576" y="1664207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7472" y="1883664"/>
            <a:ext cx="8449056" cy="21945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47472" y="1883664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02336" y="1883664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Mahesh Laddi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79776" y="1883664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Functional / Automation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751576" y="1883664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7472" y="2103120"/>
            <a:ext cx="844905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47472" y="2103120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02336" y="2103120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Anusha Gadade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79776" y="2103120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Functional / Automation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51576" y="2103120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47472" y="2322576"/>
            <a:ext cx="8449056" cy="21945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47472" y="2322576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02336" y="2322576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Sarala V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79776" y="2322576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Functional / R12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751576" y="2322576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47472" y="2788920"/>
            <a:ext cx="8449056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S&amp;C Contracting – Team 1 (WorkSight &amp; R12 Devs / FAs)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47472" y="3026664"/>
            <a:ext cx="844905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47472" y="3026664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02336" y="3026664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Albin Xavier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79776" y="3026664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WorkSight FA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751576" y="3026664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Cognizant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7472" y="3246120"/>
            <a:ext cx="8449056" cy="21945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47472" y="3246120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2336" y="3246120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Narayan Kapali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79776" y="3246120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WorkSight FA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751576" y="3246120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Cognizant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47472" y="3465576"/>
            <a:ext cx="844905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47472" y="3465576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2336" y="3465576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Sachin Salvi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79776" y="3465576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R12 FA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751576" y="3465576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Contractor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7472" y="3685032"/>
            <a:ext cx="8449056" cy="21945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47472" y="3685032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02336" y="3685032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Elizabeth Garcia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79776" y="3685032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R12 FA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51576" y="3685032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47472" y="3904487"/>
            <a:ext cx="844905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47472" y="3904487"/>
            <a:ext cx="36576" cy="21945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02336" y="3904487"/>
            <a:ext cx="23774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Krishna Kumar G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79776" y="3904487"/>
            <a:ext cx="2971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R12 FA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751576" y="3904487"/>
            <a:ext cx="283464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Contractor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Contracting – QA Team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47472" y="502920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Teams 1 &amp; 2 </a:t>
            </a:r>
            <a:endParaRPr lang="en-US" sz="900" b="1" dirty="0">
              <a:solidFill>
                <a:srgbClr val="7030A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02336" y="749808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Sheshababu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86808" y="749808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· T1,2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446191" y="74980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Cognizant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626864" y="749808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26864" y="749808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81728" y="749808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Preeti Khajji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266200" y="749808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Func/Auto · T2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725583" y="74980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47472" y="987552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7472" y="987552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02336" y="987552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986808" y="987552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Func/Auto/Perf · T2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46191" y="98755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626864" y="987552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26864" y="987552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81728" y="987552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Jinu Joy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66200" y="987552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Func/Auto · T2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25583" y="98755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Trane-ITC-C2H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47472" y="1225296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7472" y="1225296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02336" y="1225296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Kumar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986808" y="1225296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 · T2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46191" y="122529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Trane-ITC-C2H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626864" y="1225296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26864" y="1225296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81728" y="1225296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Rakshita 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66200" y="1225296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 · T2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725583" y="122529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Trane-ITC-C2H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47472" y="1463040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47472" y="146304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02336" y="146304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Yana Zapanti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986808" y="146304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 · T1,2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446191" y="146304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626864" y="1463040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26864" y="146304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81728" y="146304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Chatterjee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66200" y="146304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725583" y="146304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47472" y="1700784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47472" y="170078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02336" y="170078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Vijitha 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986808" y="170078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446191" y="170078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626864" y="1700784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626864" y="170078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681728" y="170078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Kumari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66200" y="170078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725583" y="170078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47472" y="1938528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47472" y="1938528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02336" y="1938528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 Patnana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986808" y="1938528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T2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446191" y="193852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626864" y="1938528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626864" y="1938528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681728" y="1938528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D 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66200" y="1938528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T2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725583" y="193852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Trane-ITC-C2H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347472" y="2176272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347472" y="2176272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02336" y="2176272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Pramad Manohara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986808" y="2176272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T2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446191" y="21762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Trane-ITC-C2H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4626864" y="2176272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626864" y="2176272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681728" y="2176272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Sudar Subramanian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266200" y="2176272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 · T1,2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725583" y="21762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347472" y="2414016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347472" y="2414016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02336" y="2414016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Vibin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986808" y="2414016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 · T1,2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3446191" y="241401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4626864" y="2414016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626864" y="2414016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4681728" y="2414016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Sivakumar R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266200" y="2414016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T1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725583" y="241401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347472" y="2651760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347472" y="265176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02336" y="265176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Shalini N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986808" y="265176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T1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3446191" y="265176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4626864" y="2651760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4626864" y="265176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4681728" y="265176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Subhashini S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266200" y="265176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T1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7725583" y="265176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347472" y="2889504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347472" y="288950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02336" y="288950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Rangesh R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1986808" y="288950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T1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446191" y="288950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4626864" y="2889504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4626864" y="288950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681728" y="288950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P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266200" y="288950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T1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7725583" y="288950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347472" y="3127248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5" name="Shape 103"/>
          <p:cNvSpPr/>
          <p:nvPr/>
        </p:nvSpPr>
        <p:spPr>
          <a:xfrm>
            <a:off x="347472" y="3127248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02336" y="3127248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Ankur Bhattacharjee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1986808" y="3127248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 · T1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3446191" y="312724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Trane-ITC</a:t>
            </a:r>
            <a:endParaRPr lang="en-US" sz="650" dirty="0"/>
          </a:p>
        </p:txBody>
      </p:sp>
      <p:pic>
        <p:nvPicPr>
          <p:cNvPr id="10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110" name="Text 107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1" name="Shape 138">
            <a:extLst>
              <a:ext uri="{FF2B5EF4-FFF2-40B4-BE49-F238E27FC236}">
                <a16:creationId xmlns:a16="http://schemas.microsoft.com/office/drawing/2014/main" id="{867533B2-76B0-CA7A-CBCC-CC47C666F0A1}"/>
              </a:ext>
            </a:extLst>
          </p:cNvPr>
          <p:cNvSpPr/>
          <p:nvPr/>
        </p:nvSpPr>
        <p:spPr>
          <a:xfrm>
            <a:off x="2452309" y="3648456"/>
            <a:ext cx="4169664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39">
            <a:extLst>
              <a:ext uri="{FF2B5EF4-FFF2-40B4-BE49-F238E27FC236}">
                <a16:creationId xmlns:a16="http://schemas.microsoft.com/office/drawing/2014/main" id="{644364E0-6BAC-BA44-E108-8C2DB008A033}"/>
              </a:ext>
            </a:extLst>
          </p:cNvPr>
          <p:cNvSpPr/>
          <p:nvPr/>
        </p:nvSpPr>
        <p:spPr>
          <a:xfrm>
            <a:off x="2452309" y="3648456"/>
            <a:ext cx="36576" cy="201168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40">
            <a:extLst>
              <a:ext uri="{FF2B5EF4-FFF2-40B4-BE49-F238E27FC236}">
                <a16:creationId xmlns:a16="http://schemas.microsoft.com/office/drawing/2014/main" id="{15E7DD2A-C233-4D0D-4FD5-77955C57B118}"/>
              </a:ext>
            </a:extLst>
          </p:cNvPr>
          <p:cNvSpPr/>
          <p:nvPr/>
        </p:nvSpPr>
        <p:spPr>
          <a:xfrm>
            <a:off x="2507173" y="3648456"/>
            <a:ext cx="1584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Murcia</a:t>
            </a:r>
            <a:endParaRPr lang="en-US" sz="750" dirty="0"/>
          </a:p>
        </p:txBody>
      </p:sp>
      <p:sp>
        <p:nvSpPr>
          <p:cNvPr id="114" name="Text 141">
            <a:extLst>
              <a:ext uri="{FF2B5EF4-FFF2-40B4-BE49-F238E27FC236}">
                <a16:creationId xmlns:a16="http://schemas.microsoft.com/office/drawing/2014/main" id="{11D10F93-08C3-D807-6099-D55FDEC3A1F6}"/>
              </a:ext>
            </a:extLst>
          </p:cNvPr>
          <p:cNvSpPr/>
          <p:nvPr/>
        </p:nvSpPr>
        <p:spPr>
          <a:xfrm>
            <a:off x="4091645" y="3648456"/>
            <a:ext cx="14593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Scrum Master</a:t>
            </a:r>
            <a:endParaRPr lang="en-US" sz="700" dirty="0"/>
          </a:p>
        </p:txBody>
      </p:sp>
      <p:sp>
        <p:nvSpPr>
          <p:cNvPr id="115" name="Text 142">
            <a:extLst>
              <a:ext uri="{FF2B5EF4-FFF2-40B4-BE49-F238E27FC236}">
                <a16:creationId xmlns:a16="http://schemas.microsoft.com/office/drawing/2014/main" id="{2468DEA5-FA6B-B367-F1F7-BFF3F3F4B514}"/>
              </a:ext>
            </a:extLst>
          </p:cNvPr>
          <p:cNvSpPr/>
          <p:nvPr/>
        </p:nvSpPr>
        <p:spPr>
          <a:xfrm>
            <a:off x="5551028" y="364845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116" name="Shape 143">
            <a:extLst>
              <a:ext uri="{FF2B5EF4-FFF2-40B4-BE49-F238E27FC236}">
                <a16:creationId xmlns:a16="http://schemas.microsoft.com/office/drawing/2014/main" id="{AB2342D9-0366-7A1F-FDA7-B5EDD9949C75}"/>
              </a:ext>
            </a:extLst>
          </p:cNvPr>
          <p:cNvSpPr/>
          <p:nvPr/>
        </p:nvSpPr>
        <p:spPr>
          <a:xfrm>
            <a:off x="2452309" y="3849624"/>
            <a:ext cx="4169664" cy="201168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hape 144">
            <a:extLst>
              <a:ext uri="{FF2B5EF4-FFF2-40B4-BE49-F238E27FC236}">
                <a16:creationId xmlns:a16="http://schemas.microsoft.com/office/drawing/2014/main" id="{E31CEC15-3473-9B95-7632-D85A58D042E6}"/>
              </a:ext>
            </a:extLst>
          </p:cNvPr>
          <p:cNvSpPr/>
          <p:nvPr/>
        </p:nvSpPr>
        <p:spPr>
          <a:xfrm>
            <a:off x="2452309" y="3849624"/>
            <a:ext cx="36576" cy="201168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Text 145">
            <a:extLst>
              <a:ext uri="{FF2B5EF4-FFF2-40B4-BE49-F238E27FC236}">
                <a16:creationId xmlns:a16="http://schemas.microsoft.com/office/drawing/2014/main" id="{3FA3DA98-C763-9463-617E-749E2DE3DD27}"/>
              </a:ext>
            </a:extLst>
          </p:cNvPr>
          <p:cNvSpPr/>
          <p:nvPr/>
        </p:nvSpPr>
        <p:spPr>
          <a:xfrm>
            <a:off x="2507173" y="3849624"/>
            <a:ext cx="1584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Yohalakshmi J</a:t>
            </a:r>
            <a:endParaRPr lang="en-US" sz="750" dirty="0"/>
          </a:p>
        </p:txBody>
      </p:sp>
      <p:sp>
        <p:nvSpPr>
          <p:cNvPr id="119" name="Text 146">
            <a:extLst>
              <a:ext uri="{FF2B5EF4-FFF2-40B4-BE49-F238E27FC236}">
                <a16:creationId xmlns:a16="http://schemas.microsoft.com/office/drawing/2014/main" id="{3469FDE8-1848-A2F2-9138-0946886EF27B}"/>
              </a:ext>
            </a:extLst>
          </p:cNvPr>
          <p:cNvSpPr/>
          <p:nvPr/>
        </p:nvSpPr>
        <p:spPr>
          <a:xfrm>
            <a:off x="4091645" y="3849624"/>
            <a:ext cx="14593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Functional</a:t>
            </a:r>
            <a:endParaRPr lang="en-US" sz="700" dirty="0"/>
          </a:p>
        </p:txBody>
      </p:sp>
      <p:sp>
        <p:nvSpPr>
          <p:cNvPr id="120" name="Text 147">
            <a:extLst>
              <a:ext uri="{FF2B5EF4-FFF2-40B4-BE49-F238E27FC236}">
                <a16:creationId xmlns:a16="http://schemas.microsoft.com/office/drawing/2014/main" id="{929B2146-8121-4D79-7B8B-11DFF02E5BCF}"/>
              </a:ext>
            </a:extLst>
          </p:cNvPr>
          <p:cNvSpPr/>
          <p:nvPr/>
        </p:nvSpPr>
        <p:spPr>
          <a:xfrm>
            <a:off x="5551028" y="384962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121" name="Shape 148">
            <a:extLst>
              <a:ext uri="{FF2B5EF4-FFF2-40B4-BE49-F238E27FC236}">
                <a16:creationId xmlns:a16="http://schemas.microsoft.com/office/drawing/2014/main" id="{3BBE816B-0629-8A26-118D-24E2090FBF4F}"/>
              </a:ext>
            </a:extLst>
          </p:cNvPr>
          <p:cNvSpPr/>
          <p:nvPr/>
        </p:nvSpPr>
        <p:spPr>
          <a:xfrm>
            <a:off x="2452309" y="4050792"/>
            <a:ext cx="4169664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49">
            <a:extLst>
              <a:ext uri="{FF2B5EF4-FFF2-40B4-BE49-F238E27FC236}">
                <a16:creationId xmlns:a16="http://schemas.microsoft.com/office/drawing/2014/main" id="{552CD430-DA4C-E65A-2366-B8E503582AD2}"/>
              </a:ext>
            </a:extLst>
          </p:cNvPr>
          <p:cNvSpPr/>
          <p:nvPr/>
        </p:nvSpPr>
        <p:spPr>
          <a:xfrm>
            <a:off x="2452309" y="4050792"/>
            <a:ext cx="36576" cy="201168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50">
            <a:extLst>
              <a:ext uri="{FF2B5EF4-FFF2-40B4-BE49-F238E27FC236}">
                <a16:creationId xmlns:a16="http://schemas.microsoft.com/office/drawing/2014/main" id="{74EFB674-22FC-BC98-9335-E736B1E9D2A0}"/>
              </a:ext>
            </a:extLst>
          </p:cNvPr>
          <p:cNvSpPr/>
          <p:nvPr/>
        </p:nvSpPr>
        <p:spPr>
          <a:xfrm>
            <a:off x="2507173" y="4050792"/>
            <a:ext cx="1584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Patil</a:t>
            </a:r>
            <a:endParaRPr lang="en-US" sz="750" dirty="0"/>
          </a:p>
        </p:txBody>
      </p:sp>
      <p:sp>
        <p:nvSpPr>
          <p:cNvPr id="124" name="Text 151">
            <a:extLst>
              <a:ext uri="{FF2B5EF4-FFF2-40B4-BE49-F238E27FC236}">
                <a16:creationId xmlns:a16="http://schemas.microsoft.com/office/drawing/2014/main" id="{CF4DD83F-3C00-5209-4DC2-70EFC58DF100}"/>
              </a:ext>
            </a:extLst>
          </p:cNvPr>
          <p:cNvSpPr/>
          <p:nvPr/>
        </p:nvSpPr>
        <p:spPr>
          <a:xfrm>
            <a:off x="4091645" y="4050792"/>
            <a:ext cx="14593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– Automation</a:t>
            </a:r>
            <a:endParaRPr lang="en-US" sz="700" dirty="0"/>
          </a:p>
        </p:txBody>
      </p:sp>
      <p:sp>
        <p:nvSpPr>
          <p:cNvPr id="125" name="Text 152">
            <a:extLst>
              <a:ext uri="{FF2B5EF4-FFF2-40B4-BE49-F238E27FC236}">
                <a16:creationId xmlns:a16="http://schemas.microsoft.com/office/drawing/2014/main" id="{EF21A035-C4EC-10A5-A2BB-68A31597E6FC}"/>
              </a:ext>
            </a:extLst>
          </p:cNvPr>
          <p:cNvSpPr/>
          <p:nvPr/>
        </p:nvSpPr>
        <p:spPr>
          <a:xfrm>
            <a:off x="5551028" y="405079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126" name="Shape 153">
            <a:extLst>
              <a:ext uri="{FF2B5EF4-FFF2-40B4-BE49-F238E27FC236}">
                <a16:creationId xmlns:a16="http://schemas.microsoft.com/office/drawing/2014/main" id="{0D57628C-B8DC-794B-DDBA-74D7FE67A969}"/>
              </a:ext>
            </a:extLst>
          </p:cNvPr>
          <p:cNvSpPr/>
          <p:nvPr/>
        </p:nvSpPr>
        <p:spPr>
          <a:xfrm>
            <a:off x="2488885" y="4251960"/>
            <a:ext cx="4133088" cy="201168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154">
            <a:extLst>
              <a:ext uri="{FF2B5EF4-FFF2-40B4-BE49-F238E27FC236}">
                <a16:creationId xmlns:a16="http://schemas.microsoft.com/office/drawing/2014/main" id="{0E83DAD4-3CE4-6447-6DD3-7C2B561CFF91}"/>
              </a:ext>
            </a:extLst>
          </p:cNvPr>
          <p:cNvSpPr/>
          <p:nvPr/>
        </p:nvSpPr>
        <p:spPr>
          <a:xfrm>
            <a:off x="2452309" y="4251960"/>
            <a:ext cx="36576" cy="201168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Text 155">
            <a:extLst>
              <a:ext uri="{FF2B5EF4-FFF2-40B4-BE49-F238E27FC236}">
                <a16:creationId xmlns:a16="http://schemas.microsoft.com/office/drawing/2014/main" id="{89E7CF45-ACAD-A0FC-94A2-B2599B0FC779}"/>
              </a:ext>
            </a:extLst>
          </p:cNvPr>
          <p:cNvSpPr/>
          <p:nvPr/>
        </p:nvSpPr>
        <p:spPr>
          <a:xfrm>
            <a:off x="2507173" y="4251960"/>
            <a:ext cx="1584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 Mann</a:t>
            </a:r>
            <a:endParaRPr lang="en-US" sz="750" dirty="0"/>
          </a:p>
        </p:txBody>
      </p:sp>
      <p:sp>
        <p:nvSpPr>
          <p:cNvPr id="129" name="Text 156">
            <a:extLst>
              <a:ext uri="{FF2B5EF4-FFF2-40B4-BE49-F238E27FC236}">
                <a16:creationId xmlns:a16="http://schemas.microsoft.com/office/drawing/2014/main" id="{E13D2A14-251B-9F61-D5D5-D28CFFBBD821}"/>
              </a:ext>
            </a:extLst>
          </p:cNvPr>
          <p:cNvSpPr/>
          <p:nvPr/>
        </p:nvSpPr>
        <p:spPr>
          <a:xfrm>
            <a:off x="4091645" y="4251960"/>
            <a:ext cx="14593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700" dirty="0"/>
          </a:p>
        </p:txBody>
      </p:sp>
      <p:sp>
        <p:nvSpPr>
          <p:cNvPr id="130" name="Text 157">
            <a:extLst>
              <a:ext uri="{FF2B5EF4-FFF2-40B4-BE49-F238E27FC236}">
                <a16:creationId xmlns:a16="http://schemas.microsoft.com/office/drawing/2014/main" id="{6076CDB1-506B-79EF-A91C-1102FF0ABA21}"/>
              </a:ext>
            </a:extLst>
          </p:cNvPr>
          <p:cNvSpPr/>
          <p:nvPr/>
        </p:nvSpPr>
        <p:spPr>
          <a:xfrm>
            <a:off x="5551028" y="425196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E28A5AD-726F-E401-56B0-FBF3982030D2}"/>
              </a:ext>
            </a:extLst>
          </p:cNvPr>
          <p:cNvSpPr txBox="1"/>
          <p:nvPr/>
        </p:nvSpPr>
        <p:spPr>
          <a:xfrm>
            <a:off x="2340864" y="3364992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Teams </a:t>
            </a:r>
            <a:endParaRPr lang="en-US" sz="9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S&amp;C Contracting – POs, BAs, Developers &amp; Scrum (T1 &amp; T2)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47472" y="548640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47472" y="54864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02336" y="54864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Nikki Johann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986808" y="54864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· T2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46191" y="54864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626864" y="548640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26864" y="54864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81728" y="54864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Bethany Bornheimer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66200" y="54864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· T2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725583" y="54864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47472" y="786384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7472" y="78638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02336" y="78638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Iza Czapnik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86808" y="78638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Product Owner · T1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46191" y="78638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626864" y="786384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26864" y="78638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81728" y="78638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Christian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66200" y="78638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· T2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25583" y="78638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7472" y="1024128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7472" y="1024128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02336" y="1024128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Rufeeda Khan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86808" y="1024128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· T2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46191" y="102412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626864" y="1024128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26864" y="1024128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81728" y="1024128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Ved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66200" y="1024128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· T2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25583" y="102412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TCS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47472" y="1261872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47472" y="1261872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02336" y="1261872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Arvind Gupta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986808" y="1261872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 · T2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446191" y="12618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626864" y="1261872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626864" y="1261872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81728" y="1261872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Vishnuraj Jayaraj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66200" y="1261872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 · T2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725583" y="12618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· Cognizant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47472" y="1499616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Shape 42"/>
          <p:cNvSpPr/>
          <p:nvPr/>
        </p:nvSpPr>
        <p:spPr>
          <a:xfrm>
            <a:off x="347472" y="1499616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02336" y="1499616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OConnor</a:t>
            </a:r>
            <a:r>
              <a:rPr lang="en-IN" b="1" dirty="0"/>
              <a:t>, </a:t>
            </a:r>
            <a:r>
              <a:rPr lang="en-IN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</a:t>
            </a:r>
          </a:p>
          <a:p>
            <a:pPr marL="0" indent="0">
              <a:buNone/>
            </a:pP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986808" y="1499616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· T2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446191" y="149961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626864" y="1499616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626864" y="1499616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681728" y="1499616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Blidarescu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66200" y="1499616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· T1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725583" y="149961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Slalom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47472" y="1737360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347472" y="173736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02336" y="173736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Verma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986808" y="173736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Middleware · T1,2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446191" y="173736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626864" y="1737360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626864" y="173736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681728" y="173736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Lavanya Nagarajan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266200" y="173736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Middleware · T1,2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725583" y="173736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347472" y="197510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02336" y="197510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986808" y="197510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446191" y="197510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626864" y="1975104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626864" y="197510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681728" y="197510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Kelly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266200" y="197510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· T1,2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725583" y="197510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pic>
        <p:nvPicPr>
          <p:cNvPr id="1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124" name="Text 121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45" name="Shape 2">
            <a:extLst>
              <a:ext uri="{FF2B5EF4-FFF2-40B4-BE49-F238E27FC236}">
                <a16:creationId xmlns:a16="http://schemas.microsoft.com/office/drawing/2014/main" id="{EBD55432-CB5C-6A70-48E3-874C09F1A249}"/>
              </a:ext>
            </a:extLst>
          </p:cNvPr>
          <p:cNvSpPr/>
          <p:nvPr/>
        </p:nvSpPr>
        <p:spPr>
          <a:xfrm>
            <a:off x="2380254" y="3342132"/>
            <a:ext cx="4169664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3">
            <a:extLst>
              <a:ext uri="{FF2B5EF4-FFF2-40B4-BE49-F238E27FC236}">
                <a16:creationId xmlns:a16="http://schemas.microsoft.com/office/drawing/2014/main" id="{A12CADC4-5840-2AE2-1507-F107FB98E9DC}"/>
              </a:ext>
            </a:extLst>
          </p:cNvPr>
          <p:cNvSpPr/>
          <p:nvPr/>
        </p:nvSpPr>
        <p:spPr>
          <a:xfrm>
            <a:off x="2380254" y="3342132"/>
            <a:ext cx="36576" cy="201168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4">
            <a:extLst>
              <a:ext uri="{FF2B5EF4-FFF2-40B4-BE49-F238E27FC236}">
                <a16:creationId xmlns:a16="http://schemas.microsoft.com/office/drawing/2014/main" id="{0F5F05F8-39B8-C501-0269-3CEFBD26BCAB}"/>
              </a:ext>
            </a:extLst>
          </p:cNvPr>
          <p:cNvSpPr/>
          <p:nvPr/>
        </p:nvSpPr>
        <p:spPr>
          <a:xfrm>
            <a:off x="2435118" y="3342132"/>
            <a:ext cx="1584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Corinne Kreuger</a:t>
            </a:r>
            <a:endParaRPr lang="en-US" sz="750" dirty="0"/>
          </a:p>
        </p:txBody>
      </p:sp>
      <p:sp>
        <p:nvSpPr>
          <p:cNvPr id="148" name="Text 5">
            <a:extLst>
              <a:ext uri="{FF2B5EF4-FFF2-40B4-BE49-F238E27FC236}">
                <a16:creationId xmlns:a16="http://schemas.microsoft.com/office/drawing/2014/main" id="{54868EC8-D42F-34FE-825D-840D98950BFD}"/>
              </a:ext>
            </a:extLst>
          </p:cNvPr>
          <p:cNvSpPr/>
          <p:nvPr/>
        </p:nvSpPr>
        <p:spPr>
          <a:xfrm>
            <a:off x="4019590" y="3342132"/>
            <a:ext cx="14593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/ BA</a:t>
            </a:r>
            <a:endParaRPr lang="en-US" sz="700" dirty="0"/>
          </a:p>
        </p:txBody>
      </p:sp>
      <p:sp>
        <p:nvSpPr>
          <p:cNvPr id="149" name="Text 6">
            <a:extLst>
              <a:ext uri="{FF2B5EF4-FFF2-40B4-BE49-F238E27FC236}">
                <a16:creationId xmlns:a16="http://schemas.microsoft.com/office/drawing/2014/main" id="{10478DEC-618D-52F5-B823-6F84D3B56BE4}"/>
              </a:ext>
            </a:extLst>
          </p:cNvPr>
          <p:cNvSpPr/>
          <p:nvPr/>
        </p:nvSpPr>
        <p:spPr>
          <a:xfrm>
            <a:off x="5478973" y="334213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4443177F-14E0-0524-DFC0-4733EA1C2BD1}"/>
              </a:ext>
            </a:extLst>
          </p:cNvPr>
          <p:cNvSpPr/>
          <p:nvPr/>
        </p:nvSpPr>
        <p:spPr>
          <a:xfrm>
            <a:off x="2380254" y="3543300"/>
            <a:ext cx="4169664" cy="201168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hape 8">
            <a:extLst>
              <a:ext uri="{FF2B5EF4-FFF2-40B4-BE49-F238E27FC236}">
                <a16:creationId xmlns:a16="http://schemas.microsoft.com/office/drawing/2014/main" id="{92AFBA6A-20D8-9B13-6D3A-2635A7165980}"/>
              </a:ext>
            </a:extLst>
          </p:cNvPr>
          <p:cNvSpPr/>
          <p:nvPr/>
        </p:nvSpPr>
        <p:spPr>
          <a:xfrm>
            <a:off x="2380254" y="3543300"/>
            <a:ext cx="36576" cy="201168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Text 9">
            <a:extLst>
              <a:ext uri="{FF2B5EF4-FFF2-40B4-BE49-F238E27FC236}">
                <a16:creationId xmlns:a16="http://schemas.microsoft.com/office/drawing/2014/main" id="{8293E44D-2214-F26F-AC03-4E46E527B51B}"/>
              </a:ext>
            </a:extLst>
          </p:cNvPr>
          <p:cNvSpPr/>
          <p:nvPr/>
        </p:nvSpPr>
        <p:spPr>
          <a:xfrm>
            <a:off x="2435118" y="3543300"/>
            <a:ext cx="1584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Sathish Kumar E</a:t>
            </a:r>
            <a:endParaRPr lang="en-US" sz="750" dirty="0"/>
          </a:p>
        </p:txBody>
      </p:sp>
      <p:sp>
        <p:nvSpPr>
          <p:cNvPr id="153" name="Text 10">
            <a:extLst>
              <a:ext uri="{FF2B5EF4-FFF2-40B4-BE49-F238E27FC236}">
                <a16:creationId xmlns:a16="http://schemas.microsoft.com/office/drawing/2014/main" id="{8FBE0BFC-7338-4067-6030-71B2F471C9AC}"/>
              </a:ext>
            </a:extLst>
          </p:cNvPr>
          <p:cNvSpPr/>
          <p:nvPr/>
        </p:nvSpPr>
        <p:spPr>
          <a:xfrm>
            <a:off x="4019590" y="3543300"/>
            <a:ext cx="14593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</a:t>
            </a:r>
            <a:endParaRPr lang="en-US" sz="700" dirty="0"/>
          </a:p>
        </p:txBody>
      </p:sp>
      <p:sp>
        <p:nvSpPr>
          <p:cNvPr id="154" name="Text 11">
            <a:extLst>
              <a:ext uri="{FF2B5EF4-FFF2-40B4-BE49-F238E27FC236}">
                <a16:creationId xmlns:a16="http://schemas.microsoft.com/office/drawing/2014/main" id="{6B5BE7CA-4378-263F-C8B2-389089267078}"/>
              </a:ext>
            </a:extLst>
          </p:cNvPr>
          <p:cNvSpPr/>
          <p:nvPr/>
        </p:nvSpPr>
        <p:spPr>
          <a:xfrm>
            <a:off x="5478973" y="35433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155" name="Shape 12">
            <a:extLst>
              <a:ext uri="{FF2B5EF4-FFF2-40B4-BE49-F238E27FC236}">
                <a16:creationId xmlns:a16="http://schemas.microsoft.com/office/drawing/2014/main" id="{B4C2B65F-E474-0D53-DF6C-C8BB6BC0737C}"/>
              </a:ext>
            </a:extLst>
          </p:cNvPr>
          <p:cNvSpPr/>
          <p:nvPr/>
        </p:nvSpPr>
        <p:spPr>
          <a:xfrm>
            <a:off x="2380254" y="3744468"/>
            <a:ext cx="4169664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13">
            <a:extLst>
              <a:ext uri="{FF2B5EF4-FFF2-40B4-BE49-F238E27FC236}">
                <a16:creationId xmlns:a16="http://schemas.microsoft.com/office/drawing/2014/main" id="{B8F67448-0909-5BD8-5749-CCFCB639755B}"/>
              </a:ext>
            </a:extLst>
          </p:cNvPr>
          <p:cNvSpPr/>
          <p:nvPr/>
        </p:nvSpPr>
        <p:spPr>
          <a:xfrm>
            <a:off x="2380254" y="3744468"/>
            <a:ext cx="36576" cy="201168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4">
            <a:extLst>
              <a:ext uri="{FF2B5EF4-FFF2-40B4-BE49-F238E27FC236}">
                <a16:creationId xmlns:a16="http://schemas.microsoft.com/office/drawing/2014/main" id="{DE89FAED-E141-476A-AC02-760DC47BA5C7}"/>
              </a:ext>
            </a:extLst>
          </p:cNvPr>
          <p:cNvSpPr/>
          <p:nvPr/>
        </p:nvSpPr>
        <p:spPr>
          <a:xfrm>
            <a:off x="2435118" y="3744468"/>
            <a:ext cx="1584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Joshi</a:t>
            </a:r>
            <a:endParaRPr lang="en-US" sz="750" dirty="0"/>
          </a:p>
        </p:txBody>
      </p:sp>
      <p:sp>
        <p:nvSpPr>
          <p:cNvPr id="158" name="Text 15">
            <a:extLst>
              <a:ext uri="{FF2B5EF4-FFF2-40B4-BE49-F238E27FC236}">
                <a16:creationId xmlns:a16="http://schemas.microsoft.com/office/drawing/2014/main" id="{A07C819E-320B-7A85-0FC2-E7F59921852C}"/>
              </a:ext>
            </a:extLst>
          </p:cNvPr>
          <p:cNvSpPr/>
          <p:nvPr/>
        </p:nvSpPr>
        <p:spPr>
          <a:xfrm>
            <a:off x="4019590" y="3744468"/>
            <a:ext cx="14593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</a:t>
            </a:r>
            <a:endParaRPr lang="en-US" sz="700" dirty="0"/>
          </a:p>
        </p:txBody>
      </p:sp>
      <p:sp>
        <p:nvSpPr>
          <p:cNvPr id="159" name="Text 16">
            <a:extLst>
              <a:ext uri="{FF2B5EF4-FFF2-40B4-BE49-F238E27FC236}">
                <a16:creationId xmlns:a16="http://schemas.microsoft.com/office/drawing/2014/main" id="{CB26AB6A-DD24-EABD-1A51-D7CD7896BF37}"/>
              </a:ext>
            </a:extLst>
          </p:cNvPr>
          <p:cNvSpPr/>
          <p:nvPr/>
        </p:nvSpPr>
        <p:spPr>
          <a:xfrm>
            <a:off x="5478973" y="37444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160" name="Shape 17">
            <a:extLst>
              <a:ext uri="{FF2B5EF4-FFF2-40B4-BE49-F238E27FC236}">
                <a16:creationId xmlns:a16="http://schemas.microsoft.com/office/drawing/2014/main" id="{D654ED4B-65D7-FA75-EBE8-E46A457FE070}"/>
              </a:ext>
            </a:extLst>
          </p:cNvPr>
          <p:cNvSpPr/>
          <p:nvPr/>
        </p:nvSpPr>
        <p:spPr>
          <a:xfrm>
            <a:off x="2380254" y="3945636"/>
            <a:ext cx="4169664" cy="201168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Shape 18">
            <a:extLst>
              <a:ext uri="{FF2B5EF4-FFF2-40B4-BE49-F238E27FC236}">
                <a16:creationId xmlns:a16="http://schemas.microsoft.com/office/drawing/2014/main" id="{AE5C8E96-7579-A445-58F2-50C7ACA98194}"/>
              </a:ext>
            </a:extLst>
          </p:cNvPr>
          <p:cNvSpPr/>
          <p:nvPr/>
        </p:nvSpPr>
        <p:spPr>
          <a:xfrm>
            <a:off x="2380254" y="3945636"/>
            <a:ext cx="36576" cy="201168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9">
            <a:extLst>
              <a:ext uri="{FF2B5EF4-FFF2-40B4-BE49-F238E27FC236}">
                <a16:creationId xmlns:a16="http://schemas.microsoft.com/office/drawing/2014/main" id="{42CA1252-B350-8BF4-7EFD-484B6DF2E02B}"/>
              </a:ext>
            </a:extLst>
          </p:cNvPr>
          <p:cNvSpPr/>
          <p:nvPr/>
        </p:nvSpPr>
        <p:spPr>
          <a:xfrm>
            <a:off x="2435118" y="3945636"/>
            <a:ext cx="1584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Brenner</a:t>
            </a:r>
            <a:endParaRPr lang="en-US" sz="750" dirty="0"/>
          </a:p>
        </p:txBody>
      </p:sp>
      <p:sp>
        <p:nvSpPr>
          <p:cNvPr id="163" name="Text 20">
            <a:extLst>
              <a:ext uri="{FF2B5EF4-FFF2-40B4-BE49-F238E27FC236}">
                <a16:creationId xmlns:a16="http://schemas.microsoft.com/office/drawing/2014/main" id="{73F2728A-635E-A718-5A4F-80882D1AACB4}"/>
              </a:ext>
            </a:extLst>
          </p:cNvPr>
          <p:cNvSpPr/>
          <p:nvPr/>
        </p:nvSpPr>
        <p:spPr>
          <a:xfrm>
            <a:off x="4019590" y="3945636"/>
            <a:ext cx="14593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700" dirty="0"/>
          </a:p>
        </p:txBody>
      </p:sp>
      <p:sp>
        <p:nvSpPr>
          <p:cNvPr id="164" name="Text 21">
            <a:extLst>
              <a:ext uri="{FF2B5EF4-FFF2-40B4-BE49-F238E27FC236}">
                <a16:creationId xmlns:a16="http://schemas.microsoft.com/office/drawing/2014/main" id="{2E29BC59-0035-A450-4E0F-185B36D52FE7}"/>
              </a:ext>
            </a:extLst>
          </p:cNvPr>
          <p:cNvSpPr/>
          <p:nvPr/>
        </p:nvSpPr>
        <p:spPr>
          <a:xfrm>
            <a:off x="5478973" y="394563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 dirty="0"/>
          </a:p>
        </p:txBody>
      </p:sp>
      <p:sp>
        <p:nvSpPr>
          <p:cNvPr id="165" name="Text 1"/>
          <p:cNvSpPr/>
          <p:nvPr/>
        </p:nvSpPr>
        <p:spPr>
          <a:xfrm>
            <a:off x="2380254" y="3106498"/>
            <a:ext cx="4169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Team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S&amp;C Contracting – Team 1 (WorkSight &amp; R12 Devs / FAs)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47472" y="548640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47472" y="54864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02336" y="54864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Albin Xavier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986808" y="54864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WorkSight FA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46191" y="54864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Cognizant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626864" y="548640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26864" y="548640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81728" y="548640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Narayan Kapali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66200" y="548640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WorkSight FA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725583" y="54864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Cognizant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47472" y="786384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7472" y="78638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02336" y="78638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Salvi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86808" y="78638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 FA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46191" y="78638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626864" y="786384"/>
            <a:ext cx="4169664" cy="237744"/>
          </a:xfrm>
          <a:prstGeom prst="rect">
            <a:avLst/>
          </a:prstGeom>
          <a:solidFill>
            <a:srgbClr val="F3F0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26864" y="786384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81728" y="786384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Garcia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66200" y="786384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 FA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25583" y="78638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Trane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7472" y="1024128"/>
            <a:ext cx="41696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7472" y="1024128"/>
            <a:ext cx="36576" cy="237744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02336" y="1024128"/>
            <a:ext cx="158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Kumar 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86808" y="1024128"/>
            <a:ext cx="14593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 FA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46191" y="102412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· Contractor</a:t>
            </a:r>
            <a:endParaRPr lang="en-US" sz="650" dirty="0"/>
          </a:p>
        </p:txBody>
      </p:sp>
      <p:pic>
        <p:nvPicPr>
          <p:cNvPr id="1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139" name="Text 136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463" y="4588179"/>
            <a:ext cx="1097280" cy="475488"/>
          </a:xfrm>
          <a:prstGeom prst="rect">
            <a:avLst/>
          </a:prstGeom>
        </p:spPr>
      </p:pic>
      <p:sp>
        <p:nvSpPr>
          <p:cNvPr id="171" name="Text 168"/>
          <p:cNvSpPr/>
          <p:nvPr/>
        </p:nvSpPr>
        <p:spPr>
          <a:xfrm>
            <a:off x="347472" y="48178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sp>
        <p:nvSpPr>
          <p:cNvPr id="172" name="Rectangle 171"/>
          <p:cNvSpPr/>
          <p:nvPr/>
        </p:nvSpPr>
        <p:spPr>
          <a:xfrm>
            <a:off x="347472" y="109728"/>
            <a:ext cx="8449056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Other Teams – WorkPackage, TSA, TDA, Jobs CoJo, Documents, Service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65176" y="658368"/>
            <a:ext cx="4169663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WorkPackage QA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65176" y="896112"/>
            <a:ext cx="4169663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65176" y="896112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20040" y="896112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Likhith Pateel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901952" y="896112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Lead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364992" y="896112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65176" y="1088136"/>
            <a:ext cx="4169663" cy="192024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265176" y="1088136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20040" y="1088136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Sudha Malbhage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901952" y="1088136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Functional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364992" y="1088136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65176" y="1280160"/>
            <a:ext cx="4169663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65176" y="1280160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20040" y="1280160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Nitesh Achari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901952" y="1280160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Functional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364992" y="1280160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65176" y="1472184"/>
            <a:ext cx="4169663" cy="192024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265176" y="1472184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20040" y="1472184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Pradeep K Battula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901952" y="1472184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Automation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3364992" y="1472184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65176" y="1773936"/>
            <a:ext cx="4169663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TSA QA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65176" y="2011680"/>
            <a:ext cx="4169663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65176" y="2011680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320040" y="2011680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Varsha Chitray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901952" y="2011680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Lead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3364992" y="2011680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65176" y="2185416"/>
            <a:ext cx="4169663" cy="17373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65176" y="2185416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320040" y="2185416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Prarthana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901952" y="2185416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Functional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364992" y="2185416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Trane-ITC-C2H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65176" y="2359152"/>
            <a:ext cx="4169663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65176" y="2359152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20040" y="2359152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Sandhyarani Mothukuri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901952" y="2359152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Functional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364992" y="2359152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Trane-ITC-C2H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65176" y="2532888"/>
            <a:ext cx="4169663" cy="17373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65176" y="2532888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20040" y="2532888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Aastha Tripathi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901952" y="2532888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Func/Auto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364992" y="2532888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65176" y="2706624"/>
            <a:ext cx="4169663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65176" y="2706624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20040" y="2706624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Rislow Chad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1901952" y="2706624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PA – Product Analyst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364992" y="2706624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65176" y="2880360"/>
            <a:ext cx="4169663" cy="17373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65176" y="2880360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20040" y="2880360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Christopher Brown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901952" y="2880360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PO – Product Owner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3364992" y="2880360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65176" y="3054096"/>
            <a:ext cx="4169663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65176" y="3054096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20040" y="3054096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Kristen Dale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901952" y="3054096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PO – Product Owner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364992" y="3054096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65176" y="3419856"/>
            <a:ext cx="4169663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TDA QA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65176" y="3657600"/>
            <a:ext cx="4169663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265176" y="3657600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320040" y="3657600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Naveen H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901952" y="3657600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Lead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364992" y="3657600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65176" y="3831336"/>
            <a:ext cx="4169663" cy="17373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265176" y="3831336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320040" y="3831336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Navya B R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901952" y="3831336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3364992" y="3831336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Trane-ITC-C2H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265176" y="4005072"/>
            <a:ext cx="4169663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265176" y="4005072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320040" y="4005072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Manoj Kulkarni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1901952" y="4005072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364992" y="4005072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Trane-ITC-C2H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65176" y="4178808"/>
            <a:ext cx="4169663" cy="17373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265176" y="4178808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320040" y="4178808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Gurulingappa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901952" y="4178808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3364992" y="4178808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Trane-ITC-C2H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65176" y="4352544"/>
            <a:ext cx="4169663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265176" y="4352544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20040" y="4352544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Drew Rauvola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901952" y="4352544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Application Owner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3364992" y="4352544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/>
            </a:r>
          </a:p>
        </p:txBody>
      </p:sp>
      <p:sp>
        <p:nvSpPr>
          <p:cNvPr id="256" name="Rectangle 255"/>
          <p:cNvSpPr/>
          <p:nvPr/>
        </p:nvSpPr>
        <p:spPr>
          <a:xfrm>
            <a:off x="265176" y="4526280"/>
            <a:ext cx="4169663" cy="173736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65176" y="4526280"/>
            <a:ext cx="36576" cy="173736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320040" y="4526280"/>
            <a:ext cx="1581912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Abby Hoolver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901952" y="4526280"/>
            <a:ext cx="146304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Business Owner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3364992" y="4526280"/>
            <a:ext cx="1042415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/>
            </a:r>
          </a:p>
        </p:txBody>
      </p:sp>
      <p:sp>
        <p:nvSpPr>
          <p:cNvPr id="261" name="Rectangle 260"/>
          <p:cNvSpPr/>
          <p:nvPr/>
        </p:nvSpPr>
        <p:spPr>
          <a:xfrm>
            <a:off x="4626864" y="658368"/>
            <a:ext cx="4169663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Jobs CoJo QA &amp; Key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4626864" y="896112"/>
            <a:ext cx="4169663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626864" y="896112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4681727" y="896112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Rashmi Ranganath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263640" y="896112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Lead/Scrum Master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7726679" y="896112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4626864" y="1088136"/>
            <a:ext cx="4169663" cy="192024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4626864" y="1088136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681727" y="1088136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Chethana B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6263640" y="1088136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Functional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7726679" y="1088136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Trane-ITC-C2H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4626864" y="1280160"/>
            <a:ext cx="4169663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626864" y="1280160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4681727" y="1280160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Matt Parish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6263640" y="1280160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Product Owner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7726679" y="1280160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4626864" y="1472184"/>
            <a:ext cx="4169663" cy="192024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4626864" y="1472184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4681727" y="1472184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Hasan Al Quasem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6263640" y="1472184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IT Prod Analyst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726679" y="1472184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4626864" y="1956816"/>
            <a:ext cx="4169663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Documents / DocGen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4626864" y="2194559"/>
            <a:ext cx="4169663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4626864" y="2194559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4681727" y="2194559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Sandhyarani M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6263640" y="2194559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QA – Func/Perf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7726679" y="2194559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626864" y="2386584"/>
            <a:ext cx="4169663" cy="192024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4626864" y="2386584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4681727" y="2386584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Angela Puent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6263640" y="2386584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Product Owner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7726679" y="2386584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4626864" y="2578607"/>
            <a:ext cx="4169663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4626864" y="2578607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4681727" y="2578607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Brett Meddaugh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6263640" y="2578607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Architect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7726679" y="2578607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· Trane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626864" y="2770631"/>
            <a:ext cx="4169663" cy="192024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4626864" y="2770631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4681727" y="2770631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Chandana Gowda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6263640" y="2770631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Developer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7726679" y="2770631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Offshore · Trane-ITC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4626864" y="3255264"/>
            <a:ext cx="4169663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Service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626864" y="3493008"/>
            <a:ext cx="4169663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626864" y="3493008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4681727" y="3493008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Kreidermacher, Tara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263640" y="3493008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Scrum Master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726679" y="3493008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- Trane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626864" y="3685032"/>
            <a:ext cx="4169663" cy="192024"/>
          </a:xfrm>
          <a:prstGeom prst="rect">
            <a:avLst/>
          </a:prstGeom>
          <a:solidFill>
            <a:srgbClr val="F3F0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4626864" y="3685032"/>
            <a:ext cx="36576" cy="192024"/>
          </a:xfrm>
          <a:prstGeom prst="rect">
            <a:avLst/>
          </a:prstGeom>
          <a:solidFill>
            <a:srgbClr val="6B21D4"/>
          </a:solidFill>
          <a:ln w="6350">
            <a:solidFill>
              <a:srgbClr val="6B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4681727" y="3685032"/>
            <a:ext cx="1581912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50" b="0">
                <a:solidFill>
                  <a:srgbClr val="1F2937"/>
                </a:solidFill>
                <a:latin typeface="Aptos"/>
              </a:rPr>
              <a:t>Pruner, Kenneth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263640" y="3685032"/>
            <a:ext cx="1463040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700" b="0">
                <a:solidFill>
                  <a:srgbClr val="1F2937"/>
                </a:solidFill>
                <a:latin typeface="Aptos"/>
              </a:rPr>
              <a:t>Project Manager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7726679" y="3685032"/>
            <a:ext cx="1042415" cy="19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l"/>
            <a:r>
              <a:rPr sz="650" b="0">
                <a:solidFill>
                  <a:srgbClr val="4B5563"/>
                </a:solidFill>
                <a:latin typeface="Aptos"/>
              </a:rPr>
              <a:t>Onshore - Trane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we do – Projects &amp; Applications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347472" y="51206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types: Smoke · System · Regression · Automation · Performance · QA PoC</a:t>
            </a:r>
            <a:endParaRPr lang="en-US" sz="950"/>
          </a:p>
        </p:txBody>
      </p:sp>
      <p:sp>
        <p:nvSpPr>
          <p:cNvPr id="4" name="Shape 2">
            <a:hlinkClick r:id="rId3"/>
          </p:cNvPr>
          <p:cNvSpPr/>
          <p:nvPr/>
        </p:nvSpPr>
        <p:spPr>
          <a:xfrm>
            <a:off x="347472" y="768096"/>
            <a:ext cx="2651760" cy="868680"/>
          </a:xfrm>
          <a:prstGeom prst="rect">
            <a:avLst/>
          </a:prstGeom>
          <a:solidFill>
            <a:srgbClr val="F3F0FA"/>
          </a:solidFill>
          <a:ln w="889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768096"/>
            <a:ext cx="50292" cy="86868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841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Trane Select Assist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22529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Varsha Chitray</a:t>
            </a:r>
            <a:endParaRPr lang="en-US" sz="900" dirty="0"/>
          </a:p>
        </p:txBody>
      </p:sp>
      <p:sp>
        <p:nvSpPr>
          <p:cNvPr id="9" name="Shape 7">
            <a:hlinkClick r:id="rId4"/>
          </p:cNvPr>
          <p:cNvSpPr/>
          <p:nvPr/>
        </p:nvSpPr>
        <p:spPr>
          <a:xfrm>
            <a:off x="3127248" y="768096"/>
            <a:ext cx="2651760" cy="868680"/>
          </a:xfrm>
          <a:prstGeom prst="rect">
            <a:avLst/>
          </a:prstGeom>
          <a:solidFill>
            <a:srgbClr val="F3F0FA"/>
          </a:solidFill>
          <a:ln w="889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3127248" y="768096"/>
            <a:ext cx="50292" cy="86868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18688" y="841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18688" y="122529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Brinda S </a:t>
            </a:r>
            <a:endParaRPr lang="en-US" sz="900" dirty="0"/>
          </a:p>
        </p:txBody>
      </p:sp>
      <p:sp>
        <p:nvSpPr>
          <p:cNvPr id="14" name="Shape 12">
            <a:hlinkClick r:id="rId5"/>
          </p:cNvPr>
          <p:cNvSpPr/>
          <p:nvPr/>
        </p:nvSpPr>
        <p:spPr>
          <a:xfrm>
            <a:off x="5861304" y="768096"/>
            <a:ext cx="2651760" cy="868680"/>
          </a:xfrm>
          <a:prstGeom prst="rect">
            <a:avLst/>
          </a:prstGeom>
          <a:solidFill>
            <a:srgbClr val="F3F0FA"/>
          </a:solidFill>
          <a:ln w="889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07024" y="768096"/>
            <a:ext cx="50292" cy="86868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98464" y="841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 / MDP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998464" y="122529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Mahesh Laddi &amp; Anusha G</a:t>
            </a:r>
            <a:endParaRPr lang="en-US" sz="900"/>
          </a:p>
        </p:txBody>
      </p:sp>
      <p:sp>
        <p:nvSpPr>
          <p:cNvPr id="19" name="Shape 17">
            <a:hlinkClick r:id="rId6"/>
          </p:cNvPr>
          <p:cNvSpPr/>
          <p:nvPr/>
        </p:nvSpPr>
        <p:spPr>
          <a:xfrm>
            <a:off x="347472" y="1746504"/>
            <a:ext cx="2651760" cy="868680"/>
          </a:xfrm>
          <a:prstGeom prst="rect">
            <a:avLst/>
          </a:prstGeom>
          <a:solidFill>
            <a:srgbClr val="F3F0FA"/>
          </a:solidFill>
          <a:ln w="889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47472" y="1746504"/>
            <a:ext cx="50292" cy="86868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8912" y="18196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CoJo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38912" y="22037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Rashmi Ranganath</a:t>
            </a:r>
            <a:endParaRPr lang="en-US" sz="900"/>
          </a:p>
        </p:txBody>
      </p:sp>
      <p:sp>
        <p:nvSpPr>
          <p:cNvPr id="24" name="Shape 22">
            <a:hlinkClick r:id="rId7"/>
          </p:cNvPr>
          <p:cNvSpPr/>
          <p:nvPr/>
        </p:nvSpPr>
        <p:spPr>
          <a:xfrm>
            <a:off x="3127248" y="1746504"/>
            <a:ext cx="2651760" cy="868680"/>
          </a:xfrm>
          <a:prstGeom prst="rect">
            <a:avLst/>
          </a:prstGeom>
          <a:solidFill>
            <a:srgbClr val="F3F0FA"/>
          </a:solidFill>
          <a:ln w="889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127248" y="1746504"/>
            <a:ext cx="50292" cy="86868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18688" y="18196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Team 1,2 (Tax)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3218688" y="22037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Vignesh </a:t>
            </a:r>
            <a:r>
              <a:rPr lang="en-US" sz="90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Sheshababu</a:t>
            </a: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/Preeti k/Srinivas R</a:t>
            </a:r>
            <a:endParaRPr lang="en-US" sz="900"/>
          </a:p>
        </p:txBody>
      </p:sp>
      <p:sp>
        <p:nvSpPr>
          <p:cNvPr id="29" name="Shape 27">
            <a:hlinkClick r:id="rId8"/>
          </p:cNvPr>
          <p:cNvSpPr/>
          <p:nvPr/>
        </p:nvSpPr>
        <p:spPr>
          <a:xfrm>
            <a:off x="5907024" y="1746504"/>
            <a:ext cx="2651760" cy="868680"/>
          </a:xfrm>
          <a:prstGeom prst="rect">
            <a:avLst/>
          </a:prstGeom>
          <a:solidFill>
            <a:srgbClr val="F3F0FA"/>
          </a:solidFill>
          <a:ln w="889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07024" y="1746504"/>
            <a:ext cx="50292" cy="86868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98464" y="18196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5998464" y="22037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Naveen H</a:t>
            </a:r>
            <a:endParaRPr lang="en-US" sz="900"/>
          </a:p>
        </p:txBody>
      </p:sp>
      <p:sp>
        <p:nvSpPr>
          <p:cNvPr id="34" name="Shape 32">
            <a:hlinkClick r:id="rId9"/>
          </p:cNvPr>
          <p:cNvSpPr/>
          <p:nvPr/>
        </p:nvSpPr>
        <p:spPr>
          <a:xfrm>
            <a:off x="347472" y="2724912"/>
            <a:ext cx="2651760" cy="868680"/>
          </a:xfrm>
          <a:prstGeom prst="rect">
            <a:avLst/>
          </a:prstGeom>
          <a:solidFill>
            <a:srgbClr val="F3F0FA"/>
          </a:solidFill>
          <a:ln w="889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47472" y="2724912"/>
            <a:ext cx="50292" cy="86868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2798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438912" y="31821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Likhith Pateel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3127248" y="2724912"/>
            <a:ext cx="2651760" cy="868680"/>
          </a:xfrm>
          <a:prstGeom prst="rect">
            <a:avLst/>
          </a:prstGeom>
          <a:solidFill>
            <a:srgbClr val="F3F0FA"/>
          </a:solidFill>
          <a:ln w="889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127248" y="2724912"/>
            <a:ext cx="50292" cy="86868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18688" y="2798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/ DocGen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3218688" y="31821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Sandhyarani M</a:t>
            </a:r>
            <a:endParaRPr lang="en-US" sz="900"/>
          </a:p>
        </p:txBody>
      </p:sp>
      <p:sp>
        <p:nvSpPr>
          <p:cNvPr id="44" name="Shape 42">
            <a:hlinkClick r:id="rId10"/>
          </p:cNvPr>
          <p:cNvSpPr/>
          <p:nvPr/>
        </p:nvSpPr>
        <p:spPr>
          <a:xfrm>
            <a:off x="5907024" y="2724912"/>
            <a:ext cx="2651760" cy="868680"/>
          </a:xfrm>
          <a:prstGeom prst="rect">
            <a:avLst/>
          </a:prstGeom>
          <a:solidFill>
            <a:srgbClr val="F3F0FA"/>
          </a:solidFill>
          <a:ln w="889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907024" y="2724912"/>
            <a:ext cx="50292" cy="86868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998464" y="2798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5998464" y="31821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Frank Murcia</a:t>
            </a:r>
            <a:endParaRPr lang="en-US" sz="900" dirty="0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you need – Checklist &amp; Application URLs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347472" y="51206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42976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31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819656" y="73152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Team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4297680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" y="100584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819656" y="100584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Team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47472" y="1280160"/>
            <a:ext cx="42976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7472" y="128016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 / Mouse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819656" y="128016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Team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47472" y="1554480"/>
            <a:ext cx="4297680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47472" y="155448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ID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1819656" y="155448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Request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47472" y="1828800"/>
            <a:ext cx="42976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47472" y="182880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Access/Confluence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819656" y="182880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QA Lead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47472" y="2103120"/>
            <a:ext cx="4297680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7472" y="210312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1819656" y="210312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– Computer Software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347472" y="2377440"/>
            <a:ext cx="42976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47472" y="237744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148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819656" y="237744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– Computer Software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347472" y="2651760"/>
            <a:ext cx="4297680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47472" y="265176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1148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 / GitHub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1819656" y="265176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– KB0040682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347472" y="292608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47472" y="320040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97894" y="2926080"/>
            <a:ext cx="42976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47472" y="347472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1148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 DB Access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1819656" y="347472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Request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347472" y="374904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347472" y="4023360"/>
            <a:ext cx="42976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347472" y="402336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1148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URLs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1819656" y="402336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right column</a:t>
            </a:r>
            <a:endParaRPr lang="en-US" sz="900"/>
          </a:p>
        </p:txBody>
      </p:sp>
      <p:sp>
        <p:nvSpPr>
          <p:cNvPr id="57" name="Shape 55"/>
          <p:cNvSpPr/>
          <p:nvPr/>
        </p:nvSpPr>
        <p:spPr>
          <a:xfrm>
            <a:off x="347472" y="4297680"/>
            <a:ext cx="43891" cy="274320"/>
          </a:xfrm>
          <a:prstGeom prst="rect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846320" y="5120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URLs</a:t>
            </a:r>
            <a:endParaRPr lang="en-US" sz="1000"/>
          </a:p>
        </p:txBody>
      </p:sp>
      <p:sp>
        <p:nvSpPr>
          <p:cNvPr id="61" name="Text 59"/>
          <p:cNvSpPr/>
          <p:nvPr/>
        </p:nvSpPr>
        <p:spPr>
          <a:xfrm>
            <a:off x="4846320" y="731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4846320" y="914400"/>
            <a:ext cx="393192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901184" y="91440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</a:t>
            </a:r>
            <a:endParaRPr lang="en-US" sz="850"/>
          </a:p>
        </p:txBody>
      </p:sp>
      <p:sp>
        <p:nvSpPr>
          <p:cNvPr id="64" name="Text 62"/>
          <p:cNvSpPr/>
          <p:nvPr/>
        </p:nvSpPr>
        <p:spPr>
          <a:xfrm>
            <a:off x="5806440" y="91440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dev.traneselectassist.com</a:t>
            </a:r>
            <a:endParaRPr lang="en-US" sz="750"/>
          </a:p>
        </p:txBody>
      </p:sp>
      <p:sp>
        <p:nvSpPr>
          <p:cNvPr id="65" name="Shape 63"/>
          <p:cNvSpPr/>
          <p:nvPr/>
        </p:nvSpPr>
        <p:spPr>
          <a:xfrm>
            <a:off x="4846320" y="1152144"/>
            <a:ext cx="3931920" cy="237744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01184" y="115214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850"/>
          </a:p>
        </p:txBody>
      </p:sp>
      <p:sp>
        <p:nvSpPr>
          <p:cNvPr id="67" name="Text 65"/>
          <p:cNvSpPr/>
          <p:nvPr/>
        </p:nvSpPr>
        <p:spPr>
          <a:xfrm>
            <a:off x="5806440" y="115214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test.traneselectassist.com</a:t>
            </a:r>
            <a:endParaRPr lang="en-US" sz="750"/>
          </a:p>
        </p:txBody>
      </p:sp>
      <p:sp>
        <p:nvSpPr>
          <p:cNvPr id="68" name="Shape 66"/>
          <p:cNvSpPr/>
          <p:nvPr/>
        </p:nvSpPr>
        <p:spPr>
          <a:xfrm>
            <a:off x="4846320" y="1389888"/>
            <a:ext cx="393192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901184" y="13898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Prod:</a:t>
            </a:r>
            <a:endParaRPr lang="en-US" sz="850"/>
          </a:p>
        </p:txBody>
      </p:sp>
      <p:sp>
        <p:nvSpPr>
          <p:cNvPr id="70" name="Text 68"/>
          <p:cNvSpPr/>
          <p:nvPr/>
        </p:nvSpPr>
        <p:spPr>
          <a:xfrm>
            <a:off x="5806440" y="138988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traneselectassist.com</a:t>
            </a:r>
            <a:endParaRPr lang="en-US" sz="750"/>
          </a:p>
        </p:txBody>
      </p:sp>
      <p:sp>
        <p:nvSpPr>
          <p:cNvPr id="71" name="Text 69"/>
          <p:cNvSpPr/>
          <p:nvPr/>
        </p:nvSpPr>
        <p:spPr>
          <a:xfrm>
            <a:off x="4846320" y="16642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TSMT</a:t>
            </a:r>
            <a:endParaRPr lang="en-US" sz="850"/>
          </a:p>
        </p:txBody>
      </p:sp>
      <p:sp>
        <p:nvSpPr>
          <p:cNvPr id="72" name="Shape 70"/>
          <p:cNvSpPr/>
          <p:nvPr/>
        </p:nvSpPr>
        <p:spPr>
          <a:xfrm>
            <a:off x="4846320" y="1847088"/>
            <a:ext cx="393192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901184" y="18470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</a:t>
            </a:r>
            <a:endParaRPr lang="en-US" sz="850"/>
          </a:p>
        </p:txBody>
      </p:sp>
      <p:sp>
        <p:nvSpPr>
          <p:cNvPr id="74" name="Text 72"/>
          <p:cNvSpPr/>
          <p:nvPr/>
        </p:nvSpPr>
        <p:spPr>
          <a:xfrm>
            <a:off x="5806440" y="184708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devsalestools.trane.com</a:t>
            </a:r>
            <a:endParaRPr lang="en-US" sz="750"/>
          </a:p>
        </p:txBody>
      </p:sp>
      <p:sp>
        <p:nvSpPr>
          <p:cNvPr id="75" name="Shape 73"/>
          <p:cNvSpPr/>
          <p:nvPr/>
        </p:nvSpPr>
        <p:spPr>
          <a:xfrm>
            <a:off x="4846320" y="2084832"/>
            <a:ext cx="3931920" cy="237744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901184" y="208483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850"/>
          </a:p>
        </p:txBody>
      </p:sp>
      <p:sp>
        <p:nvSpPr>
          <p:cNvPr id="77" name="Text 75"/>
          <p:cNvSpPr/>
          <p:nvPr/>
        </p:nvSpPr>
        <p:spPr>
          <a:xfrm>
            <a:off x="5806440" y="20848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uatsalestools.trane.com</a:t>
            </a:r>
            <a:endParaRPr lang="en-US" sz="750"/>
          </a:p>
        </p:txBody>
      </p:sp>
      <p:sp>
        <p:nvSpPr>
          <p:cNvPr id="78" name="Shape 76"/>
          <p:cNvSpPr/>
          <p:nvPr/>
        </p:nvSpPr>
        <p:spPr>
          <a:xfrm>
            <a:off x="4846320" y="2322576"/>
            <a:ext cx="393192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901184" y="232257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Prod:</a:t>
            </a:r>
            <a:endParaRPr lang="en-US" sz="850"/>
          </a:p>
        </p:txBody>
      </p:sp>
      <p:sp>
        <p:nvSpPr>
          <p:cNvPr id="80" name="Text 78"/>
          <p:cNvSpPr/>
          <p:nvPr/>
        </p:nvSpPr>
        <p:spPr>
          <a:xfrm>
            <a:off x="5806440" y="23225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salestools.trane.com</a:t>
            </a:r>
            <a:endParaRPr lang="en-US" sz="750"/>
          </a:p>
        </p:txBody>
      </p:sp>
      <p:sp>
        <p:nvSpPr>
          <p:cNvPr id="81" name="Text 79"/>
          <p:cNvSpPr/>
          <p:nvPr/>
        </p:nvSpPr>
        <p:spPr>
          <a:xfrm>
            <a:off x="4846320" y="25968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MDP/DMC</a:t>
            </a:r>
            <a:endParaRPr lang="en-US" sz="850"/>
          </a:p>
        </p:txBody>
      </p:sp>
      <p:sp>
        <p:nvSpPr>
          <p:cNvPr id="82" name="Shape 80"/>
          <p:cNvSpPr/>
          <p:nvPr/>
        </p:nvSpPr>
        <p:spPr>
          <a:xfrm>
            <a:off x="4846320" y="2779776"/>
            <a:ext cx="393192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4901184" y="277977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</a:t>
            </a:r>
            <a:endParaRPr lang="en-US" sz="850"/>
          </a:p>
        </p:txBody>
      </p:sp>
      <p:sp>
        <p:nvSpPr>
          <p:cNvPr id="84" name="Text 82"/>
          <p:cNvSpPr/>
          <p:nvPr/>
        </p:nvSpPr>
        <p:spPr>
          <a:xfrm>
            <a:off x="5806440" y="27797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devdmc.trane.com</a:t>
            </a:r>
            <a:endParaRPr lang="en-US" sz="750"/>
          </a:p>
        </p:txBody>
      </p:sp>
      <p:sp>
        <p:nvSpPr>
          <p:cNvPr id="85" name="Shape 83"/>
          <p:cNvSpPr/>
          <p:nvPr/>
        </p:nvSpPr>
        <p:spPr>
          <a:xfrm>
            <a:off x="4846320" y="3017520"/>
            <a:ext cx="3931920" cy="237744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901184" y="301752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850"/>
          </a:p>
        </p:txBody>
      </p:sp>
      <p:sp>
        <p:nvSpPr>
          <p:cNvPr id="87" name="Text 85"/>
          <p:cNvSpPr/>
          <p:nvPr/>
        </p:nvSpPr>
        <p:spPr>
          <a:xfrm>
            <a:off x="5806440" y="301752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uatdmc.trane.com</a:t>
            </a:r>
            <a:endParaRPr lang="en-US" sz="750"/>
          </a:p>
        </p:txBody>
      </p:sp>
      <p:sp>
        <p:nvSpPr>
          <p:cNvPr id="88" name="Shape 86"/>
          <p:cNvSpPr/>
          <p:nvPr/>
        </p:nvSpPr>
        <p:spPr>
          <a:xfrm>
            <a:off x="4846320" y="3255264"/>
            <a:ext cx="393192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901184" y="325526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Prod:</a:t>
            </a:r>
            <a:endParaRPr lang="en-US" sz="850"/>
          </a:p>
        </p:txBody>
      </p:sp>
      <p:sp>
        <p:nvSpPr>
          <p:cNvPr id="90" name="Text 88"/>
          <p:cNvSpPr/>
          <p:nvPr/>
        </p:nvSpPr>
        <p:spPr>
          <a:xfrm>
            <a:off x="5806440" y="32552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dmc.trane.com</a:t>
            </a:r>
            <a:endParaRPr lang="en-US" sz="750"/>
          </a:p>
        </p:txBody>
      </p:sp>
      <p:sp>
        <p:nvSpPr>
          <p:cNvPr id="91" name="Text 89"/>
          <p:cNvSpPr/>
          <p:nvPr/>
        </p:nvSpPr>
        <p:spPr>
          <a:xfrm>
            <a:off x="4846320" y="352958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</a:t>
            </a:r>
            <a:endParaRPr lang="en-US" sz="850"/>
          </a:p>
        </p:txBody>
      </p:sp>
      <p:sp>
        <p:nvSpPr>
          <p:cNvPr id="92" name="Shape 90"/>
          <p:cNvSpPr/>
          <p:nvPr/>
        </p:nvSpPr>
        <p:spPr>
          <a:xfrm>
            <a:off x="4846320" y="3712464"/>
            <a:ext cx="393192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4901184" y="371246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ServiceNow:</a:t>
            </a:r>
            <a:endParaRPr lang="en-US" sz="850"/>
          </a:p>
        </p:txBody>
      </p:sp>
      <p:sp>
        <p:nvSpPr>
          <p:cNvPr id="94" name="Text 92"/>
          <p:cNvSpPr/>
          <p:nvPr/>
        </p:nvSpPr>
        <p:spPr>
          <a:xfrm>
            <a:off x="5806440" y="37124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tranetechnologies.service-now.com/sp</a:t>
            </a:r>
            <a:endParaRPr lang="en-US" sz="750"/>
          </a:p>
        </p:txBody>
      </p:sp>
      <p:sp>
        <p:nvSpPr>
          <p:cNvPr id="95" name="Shape 93"/>
          <p:cNvSpPr/>
          <p:nvPr/>
        </p:nvSpPr>
        <p:spPr>
          <a:xfrm>
            <a:off x="4846320" y="3950208"/>
            <a:ext cx="3931920" cy="237744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901184" y="395020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Confluence:</a:t>
            </a:r>
            <a:endParaRPr lang="en-US" sz="850"/>
          </a:p>
        </p:txBody>
      </p:sp>
      <p:sp>
        <p:nvSpPr>
          <p:cNvPr id="97" name="Text 95"/>
          <p:cNvSpPr/>
          <p:nvPr/>
        </p:nvSpPr>
        <p:spPr>
          <a:xfrm>
            <a:off x="5806440" y="395020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tranetis.jira.com/wiki/spaces/TOPSS</a:t>
            </a:r>
            <a:endParaRPr lang="en-US" sz="750"/>
          </a:p>
        </p:txBody>
      </p:sp>
      <p:sp>
        <p:nvSpPr>
          <p:cNvPr id="98" name="Shape 96"/>
          <p:cNvSpPr/>
          <p:nvPr/>
        </p:nvSpPr>
        <p:spPr>
          <a:xfrm>
            <a:off x="4846320" y="4187952"/>
            <a:ext cx="393192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01184" y="418795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850"/>
          </a:p>
        </p:txBody>
      </p:sp>
      <p:sp>
        <p:nvSpPr>
          <p:cNvPr id="100" name="Text 98"/>
          <p:cNvSpPr/>
          <p:nvPr/>
        </p:nvSpPr>
        <p:spPr>
          <a:xfrm>
            <a:off x="5806440" y="41879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github.com/enterprises/tranetechnologies/sso</a:t>
            </a:r>
            <a:endParaRPr lang="en-US" sz="750"/>
          </a:p>
        </p:txBody>
      </p:sp>
      <p:sp>
        <p:nvSpPr>
          <p:cNvPr id="101" name="Shape 99"/>
          <p:cNvSpPr/>
          <p:nvPr/>
        </p:nvSpPr>
        <p:spPr>
          <a:xfrm>
            <a:off x="4846320" y="4425696"/>
            <a:ext cx="3931920" cy="237744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01184" y="442569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Portal:</a:t>
            </a:r>
            <a:endParaRPr lang="en-US" sz="850"/>
          </a:p>
        </p:txBody>
      </p:sp>
      <p:sp>
        <p:nvSpPr>
          <p:cNvPr id="103" name="Text 101"/>
          <p:cNvSpPr/>
          <p:nvPr/>
        </p:nvSpPr>
        <p:spPr>
          <a:xfrm>
            <a:off x="5806440" y="442569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tranetechnologies.service-now.com/hrportal</a:t>
            </a:r>
            <a:endParaRPr lang="en-US" sz="750"/>
          </a:p>
        </p:txBody>
      </p:sp>
      <p:sp>
        <p:nvSpPr>
          <p:cNvPr id="104" name="Shape 102"/>
          <p:cNvSpPr/>
          <p:nvPr/>
        </p:nvSpPr>
        <p:spPr>
          <a:xfrm>
            <a:off x="4846320" y="4663440"/>
            <a:ext cx="393192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4901184" y="466344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Citrix:</a:t>
            </a:r>
            <a:endParaRPr lang="en-US" sz="850"/>
          </a:p>
        </p:txBody>
      </p:sp>
      <p:sp>
        <p:nvSpPr>
          <p:cNvPr id="106" name="Text 104"/>
          <p:cNvSpPr/>
          <p:nvPr/>
        </p:nvSpPr>
        <p:spPr>
          <a:xfrm>
            <a:off x="5806440" y="46634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tranecitrix.corp.global</a:t>
            </a:r>
            <a:endParaRPr lang="en-US" sz="750"/>
          </a:p>
        </p:txBody>
      </p:sp>
      <p:pic>
        <p:nvPicPr>
          <p:cNvPr id="10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108" name="Text 105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  <p:sp>
        <p:nvSpPr>
          <p:cNvPr id="111" name="Text 44">
            <a:extLst>
              <a:ext uri="{FF2B5EF4-FFF2-40B4-BE49-F238E27FC236}">
                <a16:creationId xmlns:a16="http://schemas.microsoft.com/office/drawing/2014/main" id="{C2AB565E-C169-1F15-A1AA-06A562914ED1}"/>
              </a:ext>
            </a:extLst>
          </p:cNvPr>
          <p:cNvSpPr/>
          <p:nvPr/>
        </p:nvSpPr>
        <p:spPr>
          <a:xfrm>
            <a:off x="361058" y="2913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DL’s</a:t>
            </a:r>
            <a:endParaRPr lang="en-US" sz="900"/>
          </a:p>
        </p:txBody>
      </p:sp>
      <p:sp>
        <p:nvSpPr>
          <p:cNvPr id="112" name="Text 44">
            <a:extLst>
              <a:ext uri="{FF2B5EF4-FFF2-40B4-BE49-F238E27FC236}">
                <a16:creationId xmlns:a16="http://schemas.microsoft.com/office/drawing/2014/main" id="{4DE9AE0B-4632-74F6-CC3C-4E0D865AFF07}"/>
              </a:ext>
            </a:extLst>
          </p:cNvPr>
          <p:cNvSpPr/>
          <p:nvPr/>
        </p:nvSpPr>
        <p:spPr>
          <a:xfrm>
            <a:off x="338328" y="320301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/>
              <a:t>Add to MS teams</a:t>
            </a:r>
          </a:p>
        </p:txBody>
      </p:sp>
      <p:sp>
        <p:nvSpPr>
          <p:cNvPr id="113" name="Text 45">
            <a:extLst>
              <a:ext uri="{FF2B5EF4-FFF2-40B4-BE49-F238E27FC236}">
                <a16:creationId xmlns:a16="http://schemas.microsoft.com/office/drawing/2014/main" id="{1D5CE06D-F9EB-9340-14CE-9DEA0126B70C}"/>
              </a:ext>
            </a:extLst>
          </p:cNvPr>
          <p:cNvSpPr/>
          <p:nvPr/>
        </p:nvSpPr>
        <p:spPr>
          <a:xfrm>
            <a:off x="1819656" y="3218688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</a:t>
            </a:r>
            <a:endParaRPr lang="en-US" sz="900"/>
          </a:p>
        </p:txBody>
      </p:sp>
      <p:sp>
        <p:nvSpPr>
          <p:cNvPr id="114" name="Text 45">
            <a:extLst>
              <a:ext uri="{FF2B5EF4-FFF2-40B4-BE49-F238E27FC236}">
                <a16:creationId xmlns:a16="http://schemas.microsoft.com/office/drawing/2014/main" id="{BF66B7ED-2545-BA75-C1C2-0B5F2A267D96}"/>
              </a:ext>
            </a:extLst>
          </p:cNvPr>
          <p:cNvSpPr/>
          <p:nvPr/>
        </p:nvSpPr>
        <p:spPr>
          <a:xfrm>
            <a:off x="1796666" y="2924772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do  ·  KT Plan  ·  Points of Contact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47472" y="5120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actions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3474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237744" cy="237744"/>
          </a:xfrm>
          <a:prstGeom prst="ellipse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804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768096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certifications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" y="987552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 → LMS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" y="1170432"/>
            <a:ext cx="3474720" cy="384048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84048" y="1225296"/>
            <a:ext cx="237744" cy="237744"/>
          </a:xfrm>
          <a:prstGeom prst="ellipse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4048" y="1225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" y="118872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1408176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 → Talent Mgmt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" y="1591056"/>
            <a:ext cx="3474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1645920"/>
            <a:ext cx="237744" cy="237744"/>
          </a:xfrm>
          <a:prstGeom prst="ellipse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1645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" y="1609344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People Profile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" y="1828800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SuccessFactors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2011680"/>
            <a:ext cx="3474720" cy="384048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84048" y="2066544"/>
            <a:ext cx="237744" cy="237744"/>
          </a:xfrm>
          <a:prstGeom prst="ellipse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20665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TOPSSQA Site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" y="2249424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sharepoint.com/sites/topss.com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" y="2432304"/>
            <a:ext cx="3474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" y="2487168"/>
            <a:ext cx="237744" cy="237744"/>
          </a:xfrm>
          <a:prstGeom prst="ellipse">
            <a:avLst/>
          </a:prstGeom>
          <a:solidFill>
            <a:srgbClr val="6B21D4"/>
          </a:solidFill>
          <a:ln w="12700">
            <a:solidFill>
              <a:srgbClr val="6B21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4048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" y="2450592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" y="2670048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 → Leave Mgmt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472" y="2907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Requests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145536"/>
            <a:ext cx="3474720" cy="21031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02336" y="3145536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55648" y="3145536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→ Computer Software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3364992"/>
            <a:ext cx="3474720" cy="210312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02336" y="3364992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ID / Server: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55648" y="3364992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→ Access Request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7472" y="3584448"/>
            <a:ext cx="3474720" cy="21031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02336" y="3584448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755648" y="3584448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KB0040682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3803904"/>
            <a:ext cx="3474720" cy="210312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02336" y="3803904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TOSCA License: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755648" y="3803904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RITM0731045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47472" y="4023360"/>
            <a:ext cx="3474720" cy="21031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02336" y="4023360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TOSCA Access: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755648" y="4023360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RITM0731066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47472" y="4242816"/>
            <a:ext cx="3474720" cy="210312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02336" y="4242816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MDP/DMC: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755648" y="4242816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1,5,8,9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05072" y="5120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Plan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05072" y="749808"/>
            <a:ext cx="2560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059936" y="7498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59552" y="74980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Varsha Chitray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005072" y="1060704"/>
            <a:ext cx="2560320" cy="292608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059936" y="10607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CoJo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559552" y="106070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 Ranganath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005072" y="1371600"/>
            <a:ext cx="2560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059936" y="1371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Contracting/Tax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559552" y="13716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005072" y="1682496"/>
            <a:ext cx="2560320" cy="292608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59936" y="168249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MDP/DMC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559552" y="168249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Laddi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005072" y="1993392"/>
            <a:ext cx="2560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059936" y="1993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559552" y="199339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 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005072" y="2304288"/>
            <a:ext cx="2560320" cy="292608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059936" y="23042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559552" y="23042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005072" y="2615184"/>
            <a:ext cx="2560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059936" y="26151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(TestNG)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559552" y="26151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Varsha Chitray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005072" y="2926080"/>
            <a:ext cx="2560320" cy="292608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059936" y="2926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(Hybrid)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559552" y="29260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Chhabria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005072" y="3236976"/>
            <a:ext cx="2560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059936" y="32369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TOSCA Auto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559552" y="323697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005072" y="3547872"/>
            <a:ext cx="2560320" cy="292608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059936" y="3547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559552" y="354787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Likhith Pateel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005072" y="3858768"/>
            <a:ext cx="2560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4059936" y="3858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DocGen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559552" y="38587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Sandhyarani M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748272" y="512064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Contact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748272" y="749808"/>
            <a:ext cx="2048256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6803136" y="749808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827264" y="74980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Varsha C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748272" y="1042416"/>
            <a:ext cx="2048256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803136" y="1042416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latin typeface="Aptos"/>
              </a:rPr>
              <a:t>Contracting T1 &amp; T2</a:t>
            </a:r>
          </a:p>
        </p:txBody>
      </p:sp>
      <p:sp>
        <p:nvSpPr>
          <p:cNvPr id="88" name="Text 86"/>
          <p:cNvSpPr/>
          <p:nvPr/>
        </p:nvSpPr>
        <p:spPr>
          <a:xfrm>
            <a:off x="7827264" y="104241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S/Preeti k/Srinivas R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748272" y="1335024"/>
            <a:ext cx="2048256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6803136" y="1335024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CoJo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827264" y="133502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 R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748272" y="1627632"/>
            <a:ext cx="2048256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6803136" y="162763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MDP/DMC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827264" y="162763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L/Anusha 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748272" y="1920240"/>
            <a:ext cx="2048256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6803136" y="192024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827264" y="1920240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 H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748272" y="2212848"/>
            <a:ext cx="2048256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6803136" y="2212848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827264" y="221284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1F2937"/>
                </a:solidFill>
                <a:latin typeface="Aptos"/>
              </a:rPr>
              <a:t>Brinda S</a:t>
            </a:r>
          </a:p>
        </p:txBody>
      </p:sp>
      <p:sp>
        <p:nvSpPr>
          <p:cNvPr id="101" name="Shape 99"/>
          <p:cNvSpPr/>
          <p:nvPr/>
        </p:nvSpPr>
        <p:spPr>
          <a:xfrm>
            <a:off x="6748272" y="2505456"/>
            <a:ext cx="2048256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6803136" y="2505456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827264" y="250545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Varsha C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6748272" y="2798064"/>
            <a:ext cx="2048256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6803136" y="2798064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827264" y="279806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R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748272" y="3090672"/>
            <a:ext cx="2048256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6803136" y="309067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(Prod)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7827264" y="309067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L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6748272" y="3383280"/>
            <a:ext cx="2048256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6803136" y="338328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7827264" y="3383280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Likhith P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6748272" y="3675888"/>
            <a:ext cx="2048256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6803136" y="3675888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DocGen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7827264" y="367588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Sandhyarani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748272" y="3968496"/>
            <a:ext cx="2048256" cy="274320"/>
          </a:xfrm>
          <a:prstGeom prst="rect">
            <a:avLst/>
          </a:prstGeom>
          <a:solidFill>
            <a:srgbClr val="F3F0FA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6803136" y="3968496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7827264" y="396849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2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M</a:t>
            </a:r>
            <a:endParaRPr lang="en-US" sz="750" dirty="0"/>
          </a:p>
        </p:txBody>
      </p:sp>
      <p:pic>
        <p:nvPicPr>
          <p:cNvPr id="1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120" name="Text 117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once again to the team, and hope you have a wonderful journey with us!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617720"/>
            <a:ext cx="1097280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7472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4842</TotalTime>
  <Words>1665</Words>
  <Application>Microsoft Office PowerPoint</Application>
  <PresentationFormat>On-screen Show (16:9)</PresentationFormat>
  <Paragraphs>567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Khajji, Preeti</cp:lastModifiedBy>
  <cp:revision>3</cp:revision>
  <dcterms:created xsi:type="dcterms:W3CDTF">2026-05-04T01:27:56Z</dcterms:created>
  <dcterms:modified xsi:type="dcterms:W3CDTF">2026-05-07T16:17:56Z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62845b5-9b70-49d7-b944-decf2d49c436_Enabled">
    <vt:lpwstr>true</vt:lpwstr>
  </property>
  <property fmtid="{D5CDD505-2E9C-101B-9397-08002B2CF9AE}" pid="3" name="MSIP_Label_962845b5-9b70-49d7-b944-decf2d49c436_SetDate">
    <vt:lpwstr>2026-05-04T08:21:12Z</vt:lpwstr>
  </property>
  <property fmtid="{D5CDD505-2E9C-101B-9397-08002B2CF9AE}" pid="4" name="MSIP_Label_962845b5-9b70-49d7-b944-decf2d49c436_Method">
    <vt:lpwstr>Privileged</vt:lpwstr>
  </property>
  <property fmtid="{D5CDD505-2E9C-101B-9397-08002B2CF9AE}" pid="5" name="MSIP_Label_962845b5-9b70-49d7-b944-decf2d49c436_Name">
    <vt:lpwstr>Public</vt:lpwstr>
  </property>
  <property fmtid="{D5CDD505-2E9C-101B-9397-08002B2CF9AE}" pid="6" name="MSIP_Label_962845b5-9b70-49d7-b944-decf2d49c436_SiteId">
    <vt:lpwstr>abf9983b-ca77-4f20-9633-ca9c5a847041</vt:lpwstr>
  </property>
  <property fmtid="{D5CDD505-2E9C-101B-9397-08002B2CF9AE}" pid="7" name="MSIP_Label_962845b5-9b70-49d7-b944-decf2d49c436_ActionId">
    <vt:lpwstr>edce9420-56e3-4e81-bfa9-cf37c5adab1c</vt:lpwstr>
  </property>
  <property fmtid="{D5CDD505-2E9C-101B-9397-08002B2CF9AE}" pid="8" name="MSIP_Label_962845b5-9b70-49d7-b944-decf2d49c436_ContentBits">
    <vt:lpwstr>0</vt:lpwstr>
  </property>
  <property fmtid="{D5CDD505-2E9C-101B-9397-08002B2CF9AE}" pid="9" name="MSIP_Label_962845b5-9b70-49d7-b944-decf2d49c436_Tag">
    <vt:lpwstr>10, 0, 1, 1</vt:lpwstr>
  </property>
</Properties>
</file>