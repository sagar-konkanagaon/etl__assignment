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2331720"/>
            <a:ext cx="3474720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2200" b="0">
                <a:solidFill>
                  <a:srgbClr val="111111"/>
                </a:solidFill>
                <a:latin typeface="Aptos"/>
              </a:rPr>
              <a:t>Welcome to CHVAC</a:t>
            </a:r>
          </a:p>
          <a:p>
            <a:pPr algn="l"/>
            <a:r>
              <a:rPr sz="2200" b="0">
                <a:solidFill>
                  <a:srgbClr val="111111"/>
                </a:solidFill>
                <a:latin typeface="Aptos"/>
              </a:rPr>
              <a:t>QA Core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46520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1</a:t>
            </a:r>
          </a:p>
        </p:txBody>
      </p:sp>
      <p:pic>
        <p:nvPicPr>
          <p:cNvPr id="4" name="Picture 3" descr="trane_late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6172200"/>
            <a:ext cx="141732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111556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Welcome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3794760" y="868680"/>
            <a:ext cx="22860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4160520" y="868680"/>
            <a:ext cx="365760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About the team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749039" y="1143000"/>
            <a:ext cx="4160521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3794760" y="1307592"/>
            <a:ext cx="22860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307592"/>
            <a:ext cx="365760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The work we do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49039" y="1581912"/>
            <a:ext cx="4160521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794760" y="1746504"/>
            <a:ext cx="22860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1746504"/>
            <a:ext cx="365760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The things you need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749039" y="2020824"/>
            <a:ext cx="4160521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794760" y="2185415"/>
            <a:ext cx="22860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2185415"/>
            <a:ext cx="365760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The things you need to do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749039" y="2459735"/>
            <a:ext cx="4160521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794760" y="2624328"/>
            <a:ext cx="22860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60520" y="2624328"/>
            <a:ext cx="365760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KT Plan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749039" y="2898648"/>
            <a:ext cx="4160521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794760" y="3063239"/>
            <a:ext cx="22860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60520" y="3063239"/>
            <a:ext cx="365760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Points of Contact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749039" y="3337559"/>
            <a:ext cx="4160521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57200" y="6446520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2</a:t>
            </a:r>
          </a:p>
        </p:txBody>
      </p:sp>
      <p:pic>
        <p:nvPicPr>
          <p:cNvPr id="22" name="Picture 21" descr="trane_late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6172200"/>
            <a:ext cx="141732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111556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About the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49808"/>
            <a:ext cx="6309360" cy="4206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200" b="0">
                <a:solidFill>
                  <a:srgbClr val="111111"/>
                </a:solidFill>
                <a:latin typeface="Aptos"/>
              </a:rPr>
              <a:t>Our team spans USA and India across multiple delivery tracks under the CHVAC IT</a:t>
            </a:r>
          </a:p>
          <a:p>
            <a:pPr algn="l"/>
            <a:r>
              <a:rPr sz="1200" b="0">
                <a:solidFill>
                  <a:srgbClr val="111111"/>
                </a:solidFill>
                <a:latin typeface="Aptos"/>
              </a:rPr>
              <a:t>OTC QA practice.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34440"/>
            <a:ext cx="6812280" cy="749808"/>
          </a:xfrm>
          <a:prstGeom prst="rect">
            <a:avLst/>
          </a:prstGeom>
          <a:solidFill>
            <a:srgbClr val="EDE7F6"/>
          </a:solidFill>
          <a:ln w="889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8912" y="1234440"/>
            <a:ext cx="91440" cy="749808"/>
          </a:xfrm>
          <a:prstGeom prst="rect">
            <a:avLst/>
          </a:prstGeom>
          <a:solidFill>
            <a:srgbClr val="6B21D4"/>
          </a:solidFill>
          <a:ln w="889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32918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400" b="1">
                <a:solidFill>
                  <a:srgbClr val="111111"/>
                </a:solidFill>
                <a:latin typeface="Aptos"/>
              </a:rPr>
              <a:t>Ramesh Hegde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700784"/>
            <a:ext cx="61264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Sr. Manager – QA Leader  ·  WorkSight QA Lead  ·  Trane-ITC  ·  Offshore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286000"/>
            <a:ext cx="301752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Delivery Tracks Worksight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578608"/>
            <a:ext cx="5806440" cy="16642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" rIns="32004" tIns="4572" bIns="4572"/>
          <a:lstStyle/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-   Jobs</a:t>
            </a:r>
          </a:p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-   DMC</a:t>
            </a:r>
          </a:p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-   TSA</a:t>
            </a:r>
          </a:p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-   COJO</a:t>
            </a:r>
          </a:p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-   Workpackage</a:t>
            </a:r>
          </a:p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-   Documents</a:t>
            </a:r>
          </a:p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-   Equipment(Team A and B)</a:t>
            </a:r>
          </a:p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-   Service and Contracting(Team 1 and 2)</a:t>
            </a:r>
          </a:p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-   MDP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754880"/>
            <a:ext cx="38404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200" b="1">
                <a:solidFill>
                  <a:srgbClr val="111111"/>
                </a:solidFill>
                <a:latin typeface="Aptos"/>
              </a:rPr>
              <a:t>TDA(Trane Design Assist)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54112" y="768096"/>
            <a:ext cx="393192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200" b="1">
                <a:solidFill>
                  <a:srgbClr val="4A148C"/>
                </a:solidFill>
                <a:latin typeface="Aptos"/>
              </a:rPr>
              <a:t>Team at a Glance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26679" y="1124712"/>
            <a:ext cx="411480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82127" y="1161288"/>
            <a:ext cx="2057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Quality Analysts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863072" y="1161288"/>
            <a:ext cx="5029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25+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26679" y="1490472"/>
            <a:ext cx="4114800" cy="365760"/>
          </a:xfrm>
          <a:prstGeom prst="rect">
            <a:avLst/>
          </a:prstGeom>
          <a:solidFill>
            <a:srgbClr val="F3F0FA"/>
          </a:solidFill>
          <a:ln w="889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882127" y="1527048"/>
            <a:ext cx="2057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Developers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863072" y="1527048"/>
            <a:ext cx="5029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30+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26679" y="1856232"/>
            <a:ext cx="411480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882127" y="1892808"/>
            <a:ext cx="2057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Product Owners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863072" y="1892808"/>
            <a:ext cx="5029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26679" y="2221992"/>
            <a:ext cx="4114800" cy="365760"/>
          </a:xfrm>
          <a:prstGeom prst="rect">
            <a:avLst/>
          </a:prstGeom>
          <a:solidFill>
            <a:srgbClr val="F3F0FA"/>
          </a:solidFill>
          <a:ln w="889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882127" y="2258568"/>
            <a:ext cx="2057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Scrum Masters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863072" y="2258568"/>
            <a:ext cx="5029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26679" y="2587752"/>
            <a:ext cx="411480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82127" y="2624328"/>
            <a:ext cx="2057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Func. Analysts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863072" y="2624328"/>
            <a:ext cx="5029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10+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26679" y="2953512"/>
            <a:ext cx="4114800" cy="365760"/>
          </a:xfrm>
          <a:prstGeom prst="rect">
            <a:avLst/>
          </a:prstGeom>
          <a:solidFill>
            <a:srgbClr val="F3F0FA"/>
          </a:solidFill>
          <a:ln w="889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882127" y="2990088"/>
            <a:ext cx="2057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BAs / PAs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863072" y="2990088"/>
            <a:ext cx="5029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6446520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3</a:t>
            </a:r>
          </a:p>
        </p:txBody>
      </p:sp>
      <p:pic>
        <p:nvPicPr>
          <p:cNvPr id="31" name="Picture 30" descr="trane_late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6172200"/>
            <a:ext cx="141732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111556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WorkSight QA – Reporting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75488" y="640080"/>
            <a:ext cx="96012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Ramesh Hegde leads all 8 WorkSight projects. QA leads and sub-items shown below.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51960" y="1051560"/>
            <a:ext cx="3657600" cy="384048"/>
          </a:xfrm>
          <a:prstGeom prst="rect">
            <a:avLst/>
          </a:prstGeom>
          <a:solidFill>
            <a:srgbClr val="4A148C"/>
          </a:solidFill>
          <a:ln w="8890">
            <a:solidFill>
              <a:srgbClr val="4A1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Ramesh Hegde · WorkSight QA Manager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480560" y="1874519"/>
            <a:ext cx="1417320" cy="420624"/>
          </a:xfrm>
          <a:prstGeom prst="rect">
            <a:avLst/>
          </a:prstGeom>
          <a:solidFill>
            <a:srgbClr val="F3F0FA"/>
          </a:solidFill>
          <a:ln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80560" y="1874519"/>
            <a:ext cx="54864" cy="42062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44568" y="1911095"/>
            <a:ext cx="13258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950" b="0">
                <a:solidFill>
                  <a:srgbClr val="111111"/>
                </a:solidFill>
                <a:latin typeface="Aptos"/>
              </a:rPr>
              <a:t>Worksight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44568" y="2194560"/>
            <a:ext cx="132588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788920"/>
            <a:ext cx="1234440" cy="786384"/>
          </a:xfrm>
          <a:prstGeom prst="rect">
            <a:avLst/>
          </a:prstGeom>
          <a:solidFill>
            <a:srgbClr val="F3F0FA"/>
          </a:solidFill>
          <a:ln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788920"/>
            <a:ext cx="54864" cy="78638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1208" y="2825496"/>
            <a:ext cx="11430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950" b="0">
                <a:solidFill>
                  <a:srgbClr val="111111"/>
                </a:solidFill>
                <a:latin typeface="Aptos"/>
              </a:rPr>
              <a:t>Trane</a:t>
            </a:r>
          </a:p>
          <a:p>
            <a:pPr algn="ctr"/>
            <a:r>
              <a:rPr sz="950" b="0">
                <a:solidFill>
                  <a:srgbClr val="111111"/>
                </a:solidFill>
                <a:latin typeface="Aptos"/>
              </a:rPr>
              <a:t>Select Assist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1208" y="3108960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50" b="1">
                <a:solidFill>
                  <a:srgbClr val="4A148C"/>
                </a:solidFill>
                <a:latin typeface="Aptos"/>
              </a:rPr>
              <a:t>Varsha 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74519" y="2788920"/>
            <a:ext cx="1234440" cy="786384"/>
          </a:xfrm>
          <a:prstGeom prst="rect">
            <a:avLst/>
          </a:prstGeom>
          <a:solidFill>
            <a:srgbClr val="F3F0FA"/>
          </a:solidFill>
          <a:ln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74519" y="2788920"/>
            <a:ext cx="54864" cy="78638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38527" y="2825496"/>
            <a:ext cx="11430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r>
              <a:rPr sz="830">
                <a:latin typeface="Aptos"/>
              </a:rPr>
              <a:t>Equipment (R12)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38527" y="3108960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750" b="1">
                <a:solidFill>
                  <a:srgbClr val="4A148C"/>
                </a:solidFill>
                <a:latin typeface="Aptos"/>
              </a:rPr>
              <a:t>Brinda S/Harikrishnan,</a:t>
            </a:r>
          </a:p>
          <a:p>
            <a:pPr algn="ctr"/>
            <a:r>
              <a:rPr sz="750" b="1">
                <a:solidFill>
                  <a:srgbClr val="4A148C"/>
                </a:solidFill>
                <a:latin typeface="Aptos"/>
              </a:rPr>
              <a:t>Aiswarya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2788920"/>
            <a:ext cx="1234440" cy="786384"/>
          </a:xfrm>
          <a:prstGeom prst="rect">
            <a:avLst/>
          </a:prstGeom>
          <a:solidFill>
            <a:srgbClr val="F3F0FA"/>
          </a:solidFill>
          <a:ln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2788920"/>
            <a:ext cx="54864" cy="78638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55848" y="2825496"/>
            <a:ext cx="11430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950" b="0">
                <a:solidFill>
                  <a:srgbClr val="111111"/>
                </a:solidFill>
                <a:latin typeface="Aptos"/>
              </a:rPr>
              <a:t>DMC / MDP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55848" y="3108960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50" b="1">
                <a:solidFill>
                  <a:srgbClr val="4A148C"/>
                </a:solidFill>
                <a:latin typeface="Aptos"/>
              </a:rPr>
              <a:t>Mahesh 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2788920"/>
            <a:ext cx="1234440" cy="786384"/>
          </a:xfrm>
          <a:prstGeom prst="rect">
            <a:avLst/>
          </a:prstGeom>
          <a:solidFill>
            <a:srgbClr val="F3F0FA"/>
          </a:solidFill>
          <a:ln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709160" y="2788920"/>
            <a:ext cx="54864" cy="78638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73168" y="2825496"/>
            <a:ext cx="11430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950" b="0">
                <a:solidFill>
                  <a:srgbClr val="111111"/>
                </a:solidFill>
                <a:latin typeface="Aptos"/>
              </a:rPr>
              <a:t>Jobs &amp;</a:t>
            </a:r>
          </a:p>
          <a:p>
            <a:pPr algn="ctr"/>
            <a:r>
              <a:rPr sz="950" b="0">
                <a:solidFill>
                  <a:srgbClr val="111111"/>
                </a:solidFill>
                <a:latin typeface="Aptos"/>
              </a:rPr>
              <a:t>CoJo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73168" y="3108960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50" b="1">
                <a:solidFill>
                  <a:srgbClr val="4A148C"/>
                </a:solidFill>
                <a:latin typeface="Aptos"/>
              </a:rPr>
              <a:t>Rashmi 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2788920"/>
            <a:ext cx="1234440" cy="786384"/>
          </a:xfrm>
          <a:prstGeom prst="rect">
            <a:avLst/>
          </a:prstGeom>
          <a:solidFill>
            <a:srgbClr val="F3F0FA"/>
          </a:solidFill>
          <a:ln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26480" y="2788920"/>
            <a:ext cx="54864" cy="78638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0488" y="2825496"/>
            <a:ext cx="11430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r>
              <a:rPr sz="720">
                <a:latin typeface="Aptos"/>
              </a:rPr>
              <a:t>Contracting</a:t>
            </a:r>
          </a:p>
          <a:p>
            <a:r>
              <a:rPr sz="720">
                <a:latin typeface="Aptos"/>
              </a:rPr>
              <a:t>Team 1 &amp; 2</a:t>
            </a:r>
          </a:p>
          <a:p>
            <a:r>
              <a:rPr sz="720">
                <a:latin typeface="Aptos"/>
              </a:rPr>
              <a:t>(Tax)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0488" y="3218688"/>
            <a:ext cx="11430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720" b="1">
                <a:solidFill>
                  <a:srgbClr val="4A148C"/>
                </a:solidFill>
                <a:latin typeface="Aptos"/>
              </a:rPr>
              <a:t>Vignesh S/Preethi</a:t>
            </a:r>
          </a:p>
          <a:p>
            <a:pPr algn="ctr"/>
            <a:r>
              <a:rPr sz="720" b="1">
                <a:solidFill>
                  <a:srgbClr val="4A148C"/>
                </a:solidFill>
                <a:latin typeface="Aptos"/>
              </a:rPr>
              <a:t>Khajji/Srinivasa 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43800" y="2788920"/>
            <a:ext cx="1234440" cy="786384"/>
          </a:xfrm>
          <a:prstGeom prst="rect">
            <a:avLst/>
          </a:prstGeom>
          <a:solidFill>
            <a:srgbClr val="F3F0FA"/>
          </a:solidFill>
          <a:ln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543800" y="2788920"/>
            <a:ext cx="54864" cy="78638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808" y="2825496"/>
            <a:ext cx="11430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950" b="0">
                <a:solidFill>
                  <a:srgbClr val="111111"/>
                </a:solidFill>
                <a:latin typeface="Aptos"/>
              </a:rPr>
              <a:t>Trane</a:t>
            </a:r>
          </a:p>
          <a:p>
            <a:pPr algn="ctr"/>
            <a:r>
              <a:rPr sz="950" b="0">
                <a:solidFill>
                  <a:srgbClr val="111111"/>
                </a:solidFill>
                <a:latin typeface="Aptos"/>
              </a:rPr>
              <a:t>Design Assist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07808" y="3108960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50" b="1">
                <a:solidFill>
                  <a:srgbClr val="4A148C"/>
                </a:solidFill>
                <a:latin typeface="Aptos"/>
              </a:rPr>
              <a:t>Naveen 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61120" y="2788920"/>
            <a:ext cx="1234440" cy="786384"/>
          </a:xfrm>
          <a:prstGeom prst="rect">
            <a:avLst/>
          </a:prstGeom>
          <a:solidFill>
            <a:srgbClr val="F3F0FA"/>
          </a:solidFill>
          <a:ln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61120" y="2788920"/>
            <a:ext cx="54864" cy="78638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025128" y="2825496"/>
            <a:ext cx="11430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950" b="0">
                <a:solidFill>
                  <a:srgbClr val="111111"/>
                </a:solidFill>
                <a:latin typeface="Aptos"/>
              </a:rPr>
              <a:t>Work</a:t>
            </a:r>
          </a:p>
          <a:p>
            <a:pPr algn="ctr"/>
            <a:r>
              <a:rPr sz="950" b="0">
                <a:solidFill>
                  <a:srgbClr val="111111"/>
                </a:solidFill>
                <a:latin typeface="Aptos"/>
              </a:rPr>
              <a:t>Package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25128" y="3108960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50" b="1">
                <a:solidFill>
                  <a:srgbClr val="4A148C"/>
                </a:solidFill>
                <a:latin typeface="Aptos"/>
              </a:rPr>
              <a:t>Likhith 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378440" y="2788920"/>
            <a:ext cx="1234440" cy="786384"/>
          </a:xfrm>
          <a:prstGeom prst="rect">
            <a:avLst/>
          </a:prstGeom>
          <a:solidFill>
            <a:srgbClr val="F3F0FA"/>
          </a:solidFill>
          <a:ln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378440" y="2788920"/>
            <a:ext cx="54864" cy="78638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442448" y="2825496"/>
            <a:ext cx="11430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950" b="0">
                <a:solidFill>
                  <a:srgbClr val="111111"/>
                </a:solidFill>
                <a:latin typeface="Aptos"/>
              </a:rPr>
              <a:t>Documents</a:t>
            </a:r>
          </a:p>
          <a:p>
            <a:pPr algn="ctr"/>
            <a:r>
              <a:rPr sz="950" b="0">
                <a:solidFill>
                  <a:srgbClr val="111111"/>
                </a:solidFill>
                <a:latin typeface="Aptos"/>
              </a:rPr>
              <a:t>(DocGen)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442448" y="3108960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50" b="1">
                <a:solidFill>
                  <a:srgbClr val="4A148C"/>
                </a:solidFill>
                <a:latin typeface="Aptos"/>
              </a:rPr>
              <a:t>Sandhyarani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6446520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4</a:t>
            </a:r>
          </a:p>
        </p:txBody>
      </p:sp>
      <p:pic>
        <p:nvPicPr>
          <p:cNvPr id="42" name="Picture 41" descr="trane_late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6172200"/>
            <a:ext cx="141732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111556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Equipment Track – Teams A &amp; B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54406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Team A (14 members)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87552"/>
            <a:ext cx="5440680" cy="329184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87552"/>
            <a:ext cx="50292" cy="32918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" y="987552"/>
            <a:ext cx="205740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Jaimie Christianson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587752" y="987552"/>
            <a:ext cx="1874519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69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462272" y="987552"/>
            <a:ext cx="132588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16736"/>
            <a:ext cx="5440680" cy="329184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16736"/>
            <a:ext cx="50292" cy="32918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0352" y="1316736"/>
            <a:ext cx="205740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Vijay Patti Reddy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87752" y="1316736"/>
            <a:ext cx="1874519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69" b="0">
                <a:solidFill>
                  <a:srgbClr val="6B21D4"/>
                </a:solidFill>
                <a:latin typeface="Aptos"/>
              </a:rPr>
              <a:t>Functional Analyst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62272" y="1316736"/>
            <a:ext cx="132588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645920"/>
            <a:ext cx="5440680" cy="329184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1645920"/>
            <a:ext cx="50292" cy="32918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0352" y="1645920"/>
            <a:ext cx="205740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Pradeesh Kumar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87752" y="1645920"/>
            <a:ext cx="1874519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69" b="0">
                <a:solidFill>
                  <a:srgbClr val="6B21D4"/>
                </a:solidFill>
                <a:latin typeface="Aptos"/>
              </a:rPr>
              <a:t>Product Analyst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62272" y="1645920"/>
            <a:ext cx="132588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1975104"/>
            <a:ext cx="5440680" cy="329184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1975104"/>
            <a:ext cx="50292" cy="32918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30352" y="1975104"/>
            <a:ext cx="205740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Brinda 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87752" y="1975104"/>
            <a:ext cx="1874519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69" b="0">
                <a:solidFill>
                  <a:srgbClr val="6B21D4"/>
                </a:solidFill>
                <a:latin typeface="Aptos"/>
              </a:rPr>
              <a:t>QA – Func Lead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62272" y="1975104"/>
            <a:ext cx="132588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304288"/>
            <a:ext cx="5440680" cy="329184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304288"/>
            <a:ext cx="50292" cy="32918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30352" y="2304288"/>
            <a:ext cx="205740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Devendra 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87752" y="2304288"/>
            <a:ext cx="1874519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69" b="0">
                <a:solidFill>
                  <a:srgbClr val="6B21D4"/>
                </a:solidFill>
                <a:latin typeface="Aptos"/>
              </a:rPr>
              <a:t>QA – Func / Auto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62272" y="2304288"/>
            <a:ext cx="132588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633472"/>
            <a:ext cx="5440680" cy="329184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2633472"/>
            <a:ext cx="50292" cy="32918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0352" y="2633472"/>
            <a:ext cx="205740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Praveen Nagaraj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87752" y="2633472"/>
            <a:ext cx="1874519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69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2633472"/>
            <a:ext cx="132588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2962656"/>
            <a:ext cx="5440680" cy="329184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2962656"/>
            <a:ext cx="50292" cy="32918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30352" y="2962656"/>
            <a:ext cx="205740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Jashwanth Sai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87752" y="2962656"/>
            <a:ext cx="1874519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69" b="0">
                <a:solidFill>
                  <a:srgbClr val="6B21D4"/>
                </a:solidFill>
                <a:latin typeface="Aptos"/>
              </a:rPr>
              <a:t>QA – Func / Auto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62272" y="2962656"/>
            <a:ext cx="132588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55080" y="685800"/>
            <a:ext cx="54406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Team B (17 members)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55080" y="987552"/>
            <a:ext cx="5440680" cy="292608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55080" y="987552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28232" y="987552"/>
            <a:ext cx="20574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Cami White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485632" y="987552"/>
            <a:ext cx="1874519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60152" y="987552"/>
            <a:ext cx="132588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55080" y="1280160"/>
            <a:ext cx="5440680" cy="292608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55080" y="1280160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28232" y="1280160"/>
            <a:ext cx="20574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Cassi Key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85632" y="1280160"/>
            <a:ext cx="1874519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0" b="0">
                <a:solidFill>
                  <a:srgbClr val="6B21D4"/>
                </a:solidFill>
                <a:latin typeface="Aptos"/>
              </a:rPr>
              <a:t>PO Business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360152" y="1280160"/>
            <a:ext cx="132588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55080" y="1572768"/>
            <a:ext cx="5440680" cy="292608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355080" y="1572768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28232" y="1572768"/>
            <a:ext cx="20574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Harish Chintakuntla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85632" y="1572768"/>
            <a:ext cx="1874519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0" b="0">
                <a:solidFill>
                  <a:srgbClr val="6B21D4"/>
                </a:solidFill>
                <a:latin typeface="Aptos"/>
              </a:rPr>
              <a:t>Prod Analyst (R12)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360152" y="1572768"/>
            <a:ext cx="132588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55080" y="1865376"/>
            <a:ext cx="5440680" cy="292608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355080" y="1865376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428232" y="1865376"/>
            <a:ext cx="20574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Chirag Gandhi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485632" y="1865376"/>
            <a:ext cx="1874519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0" b="0">
                <a:solidFill>
                  <a:srgbClr val="6B21D4"/>
                </a:solidFill>
                <a:latin typeface="Aptos"/>
              </a:rPr>
              <a:t>Prod Analyst (R12)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360152" y="1865376"/>
            <a:ext cx="132588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55080" y="2157984"/>
            <a:ext cx="5440680" cy="292608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355080" y="2157984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428232" y="2157984"/>
            <a:ext cx="20574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Blessing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485632" y="2157984"/>
            <a:ext cx="1874519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0" b="0">
                <a:solidFill>
                  <a:srgbClr val="6B21D4"/>
                </a:solidFill>
                <a:latin typeface="Aptos"/>
              </a:rPr>
              <a:t>Scrum Master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360152" y="2157984"/>
            <a:ext cx="132588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55080" y="2450592"/>
            <a:ext cx="5440680" cy="292608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355080" y="2450592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428232" y="2450592"/>
            <a:ext cx="20574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Aiswarya 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485632" y="2450592"/>
            <a:ext cx="1874519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0" b="0">
                <a:solidFill>
                  <a:srgbClr val="6B21D4"/>
                </a:solidFill>
                <a:latin typeface="Aptos"/>
              </a:rPr>
              <a:t>QA – Func Lead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360152" y="2450592"/>
            <a:ext cx="132588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55080" y="2743200"/>
            <a:ext cx="5440680" cy="292608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355080" y="2743200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428232" y="2743200"/>
            <a:ext cx="20574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Sowmya Shetty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485632" y="2743200"/>
            <a:ext cx="1874519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0" b="0">
                <a:solidFill>
                  <a:srgbClr val="6B21D4"/>
                </a:solidFill>
                <a:latin typeface="Aptos"/>
              </a:rPr>
              <a:t>QA – Func / R12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360152" y="2743200"/>
            <a:ext cx="132588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55080" y="3035808"/>
            <a:ext cx="5440680" cy="292608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355080" y="3035808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428232" y="3035808"/>
            <a:ext cx="20574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Greeshma Balan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485632" y="3035808"/>
            <a:ext cx="1874519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360152" y="3035808"/>
            <a:ext cx="132588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355080" y="3328416"/>
            <a:ext cx="5440680" cy="292608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355080" y="3328416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428232" y="3328416"/>
            <a:ext cx="20574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Brahmananda R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485632" y="3328416"/>
            <a:ext cx="1874519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360152" y="3328416"/>
            <a:ext cx="132588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355080" y="3621024"/>
            <a:ext cx="5440680" cy="292608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355080" y="3621024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428232" y="3621024"/>
            <a:ext cx="20574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Kavya B 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485632" y="3621024"/>
            <a:ext cx="1874519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0" b="0">
                <a:solidFill>
                  <a:srgbClr val="6B21D4"/>
                </a:solidFill>
                <a:latin typeface="Aptos"/>
              </a:rPr>
              <a:t>QA – Automation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360152" y="3621024"/>
            <a:ext cx="132588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57200" y="6446520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5</a:t>
            </a:r>
          </a:p>
        </p:txBody>
      </p:sp>
      <p:pic>
        <p:nvPicPr>
          <p:cNvPr id="91" name="Picture 90" descr="trane_late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6172200"/>
            <a:ext cx="141732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111556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DMC / MDP Track – Full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5440680" cy="329184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50292" cy="32918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0352" y="914400"/>
            <a:ext cx="205740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Brian Brockman</a:t>
            </a:r>
          </a:p>
        </p:txBody>
      </p:sp>
      <p:sp>
        <p:nvSpPr>
          <p:cNvPr id="6" name="Rectangle 5"/>
          <p:cNvSpPr/>
          <p:nvPr/>
        </p:nvSpPr>
        <p:spPr>
          <a:xfrm>
            <a:off x="2587752" y="914400"/>
            <a:ext cx="1874519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69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462272" y="914400"/>
            <a:ext cx="132588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43584"/>
            <a:ext cx="5440680" cy="329184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43584"/>
            <a:ext cx="50292" cy="32918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" y="1243584"/>
            <a:ext cx="205740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Bryan Lainhart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87752" y="1243584"/>
            <a:ext cx="1874519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69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1243584"/>
            <a:ext cx="132588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72768"/>
            <a:ext cx="5440680" cy="329184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572768"/>
            <a:ext cx="50292" cy="32918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0352" y="1572768"/>
            <a:ext cx="205740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Vipin Saroha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87752" y="1572768"/>
            <a:ext cx="1874519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69" b="0">
                <a:solidFill>
                  <a:srgbClr val="6B21D4"/>
                </a:solidFill>
                <a:latin typeface="Aptos"/>
              </a:rPr>
              <a:t>Product Analyst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62272" y="1572768"/>
            <a:ext cx="132588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1901952"/>
            <a:ext cx="5440680" cy="329184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1901952"/>
            <a:ext cx="50292" cy="32918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1901952"/>
            <a:ext cx="205740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Praveen Gopal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87752" y="1901952"/>
            <a:ext cx="1874519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69" b="0">
                <a:solidFill>
                  <a:srgbClr val="6B21D4"/>
                </a:solidFill>
                <a:latin typeface="Aptos"/>
              </a:rPr>
              <a:t>Business Analyst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62272" y="1901952"/>
            <a:ext cx="132588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914400"/>
            <a:ext cx="5440680" cy="329184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55080" y="914400"/>
            <a:ext cx="50292" cy="32918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28232" y="914400"/>
            <a:ext cx="205740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Snehalata Shidling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85632" y="914400"/>
            <a:ext cx="1874519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69" b="0">
                <a:solidFill>
                  <a:srgbClr val="6B21D4"/>
                </a:solidFill>
                <a:latin typeface="Aptos"/>
              </a:rPr>
              <a:t>Scrum Master / Dev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60152" y="914400"/>
            <a:ext cx="132588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1243584"/>
            <a:ext cx="5440680" cy="329184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55080" y="1243584"/>
            <a:ext cx="50292" cy="32918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28232" y="1243584"/>
            <a:ext cx="205740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Mahesh Laddi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85632" y="1243584"/>
            <a:ext cx="1874519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69" b="0">
                <a:solidFill>
                  <a:srgbClr val="6B21D4"/>
                </a:solidFill>
                <a:latin typeface="Aptos"/>
              </a:rPr>
              <a:t>QA – Functional / Automation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360152" y="1243584"/>
            <a:ext cx="132588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55080" y="1572768"/>
            <a:ext cx="5440680" cy="329184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55080" y="1572768"/>
            <a:ext cx="50292" cy="32918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28232" y="1572768"/>
            <a:ext cx="205740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Anusha Gadade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85632" y="1572768"/>
            <a:ext cx="1874519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69" b="0">
                <a:solidFill>
                  <a:srgbClr val="6B21D4"/>
                </a:solidFill>
                <a:latin typeface="Aptos"/>
              </a:rPr>
              <a:t>QA – Functional / Automation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360152" y="1572768"/>
            <a:ext cx="132588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55080" y="1901952"/>
            <a:ext cx="5440680" cy="329184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55080" y="1901952"/>
            <a:ext cx="50292" cy="32918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28232" y="1901952"/>
            <a:ext cx="205740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Sarala V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85632" y="1901952"/>
            <a:ext cx="1874519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69" b="0">
                <a:solidFill>
                  <a:srgbClr val="6B21D4"/>
                </a:solidFill>
                <a:latin typeface="Aptos"/>
              </a:rPr>
              <a:t>QA – Functional / R12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360152" y="1901952"/>
            <a:ext cx="132588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6446520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6</a:t>
            </a:r>
          </a:p>
        </p:txBody>
      </p:sp>
      <p:pic>
        <p:nvPicPr>
          <p:cNvPr id="44" name="Picture 43" descr="trane_late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6172200"/>
            <a:ext cx="141732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111556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Service &amp; Contracting – QA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109728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Contracting Teams 1 &amp;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440680" cy="265176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" y="960120"/>
            <a:ext cx="20574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Vignesh Sheshababu</a:t>
            </a:r>
          </a:p>
        </p:txBody>
      </p:sp>
      <p:sp>
        <p:nvSpPr>
          <p:cNvPr id="7" name="Rectangle 6"/>
          <p:cNvSpPr/>
          <p:nvPr/>
        </p:nvSpPr>
        <p:spPr>
          <a:xfrm>
            <a:off x="2587752" y="960120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Lead · T1,2</a:t>
            </a:r>
          </a:p>
        </p:txBody>
      </p:sp>
      <p:sp>
        <p:nvSpPr>
          <p:cNvPr id="8" name="Rectangle 7"/>
          <p:cNvSpPr/>
          <p:nvPr/>
        </p:nvSpPr>
        <p:spPr>
          <a:xfrm>
            <a:off x="4462272" y="960120"/>
            <a:ext cx="13258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25296"/>
            <a:ext cx="5440680" cy="265176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25296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0352" y="1225296"/>
            <a:ext cx="20574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Preeti Khajji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87752" y="1225296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Func/Auto · T2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62272" y="1225296"/>
            <a:ext cx="13258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90472"/>
            <a:ext cx="5440680" cy="265176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1490472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0352" y="1490472"/>
            <a:ext cx="20574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Srinivasa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87752" y="1490472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Func/Auto/Perf · T2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62272" y="1490472"/>
            <a:ext cx="13258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1755648"/>
            <a:ext cx="5440680" cy="265176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1755648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30352" y="1755648"/>
            <a:ext cx="20574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Jinu Joy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87752" y="1755648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Func/Auto · T2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62272" y="1755648"/>
            <a:ext cx="13258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020824"/>
            <a:ext cx="5440680" cy="265176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020824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30352" y="2020824"/>
            <a:ext cx="20574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Ajay Kumar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87752" y="2020824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Auto · T2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62272" y="2020824"/>
            <a:ext cx="13258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286000"/>
            <a:ext cx="5440680" cy="265176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2286000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0352" y="2286000"/>
            <a:ext cx="20574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Rakshita 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87752" y="2286000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Auto · T2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2286000"/>
            <a:ext cx="13258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2551176"/>
            <a:ext cx="5440680" cy="265176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2551176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30352" y="2551176"/>
            <a:ext cx="20574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Yana Zapanti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87752" y="2551176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Auto · T1,2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62272" y="2551176"/>
            <a:ext cx="13258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2816352"/>
            <a:ext cx="5440680" cy="265176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2816352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30352" y="2816352"/>
            <a:ext cx="20574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Amrit Chatterjee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87752" y="2816352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62272" y="2816352"/>
            <a:ext cx="13258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3081528"/>
            <a:ext cx="5440680" cy="265176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" y="3081528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30352" y="3081528"/>
            <a:ext cx="20574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Vijitha 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587752" y="3081528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62272" y="3081528"/>
            <a:ext cx="13258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3346704"/>
            <a:ext cx="5440680" cy="265176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7200" y="3346704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30352" y="3346704"/>
            <a:ext cx="20574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Pragati Kumari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587752" y="3346704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62272" y="3346704"/>
            <a:ext cx="13258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3611880"/>
            <a:ext cx="5440680" cy="265176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57200" y="3611880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30352" y="3611880"/>
            <a:ext cx="20574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Anusha Patnana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587752" y="3611880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462272" y="3611880"/>
            <a:ext cx="13258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55080" y="960120"/>
            <a:ext cx="5440680" cy="265176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355080" y="960120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428232" y="960120"/>
            <a:ext cx="20574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Pavan D 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485632" y="960120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360152" y="960120"/>
            <a:ext cx="13258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55080" y="1225296"/>
            <a:ext cx="5440680" cy="265176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355080" y="1225296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428232" y="1225296"/>
            <a:ext cx="20574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Pramad Manohara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485632" y="1225296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360152" y="1225296"/>
            <a:ext cx="13258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355080" y="1490472"/>
            <a:ext cx="5440680" cy="265176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355080" y="1490472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428232" y="1490472"/>
            <a:ext cx="20574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Sudar Subramanian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485632" y="1490472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Auto · T1,2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360152" y="1490472"/>
            <a:ext cx="13258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55080" y="1755648"/>
            <a:ext cx="5440680" cy="265176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355080" y="1755648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428232" y="1755648"/>
            <a:ext cx="20574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Vibin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485632" y="1755648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Auto · T1,2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360152" y="1755648"/>
            <a:ext cx="13258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355080" y="2020824"/>
            <a:ext cx="5440680" cy="265176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355080" y="2020824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428232" y="2020824"/>
            <a:ext cx="20574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Sivakumar 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485632" y="2020824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360152" y="2020824"/>
            <a:ext cx="13258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55080" y="2286000"/>
            <a:ext cx="5440680" cy="265176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355080" y="2286000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428232" y="2286000"/>
            <a:ext cx="20574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Shalini N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485632" y="2286000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360152" y="2286000"/>
            <a:ext cx="13258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355080" y="2551176"/>
            <a:ext cx="5440680" cy="265176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355080" y="2551176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428232" y="2551176"/>
            <a:ext cx="20574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Subhashini 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485632" y="2551176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360152" y="2551176"/>
            <a:ext cx="13258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355080" y="2816352"/>
            <a:ext cx="5440680" cy="265176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355080" y="2816352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428232" y="2816352"/>
            <a:ext cx="20574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Rangesh R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485632" y="2816352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360152" y="2816352"/>
            <a:ext cx="13258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355080" y="3081528"/>
            <a:ext cx="5440680" cy="265176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355080" y="3081528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428232" y="3081528"/>
            <a:ext cx="20574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Lakshmi P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485632" y="3081528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360152" y="3081528"/>
            <a:ext cx="13258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55080" y="3346704"/>
            <a:ext cx="5440680" cy="265176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355080" y="3346704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428232" y="3346704"/>
            <a:ext cx="20574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Ankur Bhattacharjee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485632" y="3346704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360152" y="3346704"/>
            <a:ext cx="13258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337560" y="4572000"/>
            <a:ext cx="54406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Service Teams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337560" y="4864608"/>
            <a:ext cx="5440680" cy="256032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337560" y="4864608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410712" y="4864608"/>
            <a:ext cx="20574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Frank Murcia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468112" y="4864608"/>
            <a:ext cx="1874519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/ Scrum Master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342632" y="4864608"/>
            <a:ext cx="13258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3337560" y="5120640"/>
            <a:ext cx="5440680" cy="256032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337560" y="5120640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3410712" y="5120640"/>
            <a:ext cx="20574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Yohalakshmi J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468112" y="5120640"/>
            <a:ext cx="1874519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342632" y="5120640"/>
            <a:ext cx="13258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337560" y="5376672"/>
            <a:ext cx="5440680" cy="256032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337560" y="5376672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410712" y="5376672"/>
            <a:ext cx="20574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Vivek Patil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468112" y="5376672"/>
            <a:ext cx="1874519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– Automation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342632" y="5376672"/>
            <a:ext cx="13258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337560" y="5632704"/>
            <a:ext cx="5440680" cy="256032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3337560" y="5632704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410712" y="5632704"/>
            <a:ext cx="20574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Amelia Mann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468112" y="5632704"/>
            <a:ext cx="1874519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342632" y="5632704"/>
            <a:ext cx="13258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57200" y="6446520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7</a:t>
            </a:r>
          </a:p>
        </p:txBody>
      </p:sp>
      <p:pic>
        <p:nvPicPr>
          <p:cNvPr id="131" name="Picture 130" descr="trane_late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6172200"/>
            <a:ext cx="141732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111556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S&amp;C Contracting – POs, BAs, Developers &amp; Scrum (T1 &amp; T2)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5440680" cy="310896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50292" cy="31089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0352" y="868680"/>
            <a:ext cx="20574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1">
                <a:solidFill>
                  <a:srgbClr val="111111"/>
                </a:solidFill>
                <a:latin typeface="Aptos"/>
              </a:rPr>
              <a:t>Nikki Johann</a:t>
            </a:r>
          </a:p>
        </p:txBody>
      </p:sp>
      <p:sp>
        <p:nvSpPr>
          <p:cNvPr id="6" name="Rectangle 5"/>
          <p:cNvSpPr/>
          <p:nvPr/>
        </p:nvSpPr>
        <p:spPr>
          <a:xfrm>
            <a:off x="2587752" y="868680"/>
            <a:ext cx="1874519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0">
                <a:solidFill>
                  <a:srgbClr val="6B21D4"/>
                </a:solidFill>
                <a:latin typeface="Aptos"/>
              </a:rPr>
              <a:t>Product Owner · T2</a:t>
            </a:r>
          </a:p>
        </p:txBody>
      </p:sp>
      <p:sp>
        <p:nvSpPr>
          <p:cNvPr id="7" name="Rectangle 6"/>
          <p:cNvSpPr/>
          <p:nvPr/>
        </p:nvSpPr>
        <p:spPr>
          <a:xfrm>
            <a:off x="4462272" y="868680"/>
            <a:ext cx="13258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4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9576"/>
            <a:ext cx="5440680" cy="310896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9576"/>
            <a:ext cx="50292" cy="31089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" y="1179576"/>
            <a:ext cx="20574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1">
                <a:solidFill>
                  <a:srgbClr val="111111"/>
                </a:solidFill>
                <a:latin typeface="Aptos"/>
              </a:rPr>
              <a:t>Bethany Bornheimer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87752" y="1179576"/>
            <a:ext cx="1874519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0">
                <a:solidFill>
                  <a:srgbClr val="6B21D4"/>
                </a:solidFill>
                <a:latin typeface="Aptos"/>
              </a:rPr>
              <a:t>Product Owner · T2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1179576"/>
            <a:ext cx="13258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4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490472"/>
            <a:ext cx="5440680" cy="310896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490472"/>
            <a:ext cx="50292" cy="31089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0352" y="1490472"/>
            <a:ext cx="20574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1">
                <a:solidFill>
                  <a:srgbClr val="111111"/>
                </a:solidFill>
                <a:latin typeface="Aptos"/>
              </a:rPr>
              <a:t>Iza Czapnik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87752" y="1490472"/>
            <a:ext cx="1874519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0">
                <a:solidFill>
                  <a:srgbClr val="6B21D4"/>
                </a:solidFill>
                <a:latin typeface="Aptos"/>
              </a:rPr>
              <a:t>IT Product Owner · T1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62272" y="1490472"/>
            <a:ext cx="13258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4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1801368"/>
            <a:ext cx="5440680" cy="310896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1801368"/>
            <a:ext cx="50292" cy="31089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1801368"/>
            <a:ext cx="20574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1">
                <a:solidFill>
                  <a:srgbClr val="111111"/>
                </a:solidFill>
                <a:latin typeface="Aptos"/>
              </a:rPr>
              <a:t>Joe Christian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87752" y="1801368"/>
            <a:ext cx="1874519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0">
                <a:solidFill>
                  <a:srgbClr val="6B21D4"/>
                </a:solidFill>
                <a:latin typeface="Aptos"/>
              </a:rPr>
              <a:t>Business Analyst · T2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62272" y="1801368"/>
            <a:ext cx="13258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4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112264"/>
            <a:ext cx="5440680" cy="310896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2112264"/>
            <a:ext cx="50292" cy="31089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0352" y="2112264"/>
            <a:ext cx="20574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1">
                <a:solidFill>
                  <a:srgbClr val="111111"/>
                </a:solidFill>
                <a:latin typeface="Aptos"/>
              </a:rPr>
              <a:t>Rufeeda Khan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87752" y="2112264"/>
            <a:ext cx="1874519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0">
                <a:solidFill>
                  <a:srgbClr val="6B21D4"/>
                </a:solidFill>
                <a:latin typeface="Aptos"/>
              </a:rPr>
              <a:t>Business Analyst · T2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2112264"/>
            <a:ext cx="13258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4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2423160"/>
            <a:ext cx="5440680" cy="310896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2423160"/>
            <a:ext cx="50292" cy="31089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30352" y="2423160"/>
            <a:ext cx="20574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1">
                <a:solidFill>
                  <a:srgbClr val="111111"/>
                </a:solidFill>
                <a:latin typeface="Aptos"/>
              </a:rPr>
              <a:t>Varun Ved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87752" y="2423160"/>
            <a:ext cx="1874519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0">
                <a:solidFill>
                  <a:srgbClr val="6B21D4"/>
                </a:solidFill>
                <a:latin typeface="Aptos"/>
              </a:rPr>
              <a:t>Business Analyst · T2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62272" y="2423160"/>
            <a:ext cx="13258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40" b="0">
                <a:solidFill>
                  <a:srgbClr val="777777"/>
                </a:solidFill>
                <a:latin typeface="Aptos"/>
              </a:rPr>
              <a:t>Offshore · TCS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734056"/>
            <a:ext cx="5440680" cy="310896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2734056"/>
            <a:ext cx="50292" cy="31089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30352" y="2734056"/>
            <a:ext cx="20574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1">
                <a:solidFill>
                  <a:srgbClr val="111111"/>
                </a:solidFill>
                <a:latin typeface="Aptos"/>
              </a:rPr>
              <a:t>Arvind Gupta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87752" y="2734056"/>
            <a:ext cx="1874519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0">
                <a:solidFill>
                  <a:srgbClr val="6B21D4"/>
                </a:solidFill>
                <a:latin typeface="Aptos"/>
              </a:rPr>
              <a:t>Product Analyst · T2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62272" y="2734056"/>
            <a:ext cx="13258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4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55080" y="868680"/>
            <a:ext cx="5440680" cy="310896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55080" y="868680"/>
            <a:ext cx="50292" cy="31089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28232" y="868680"/>
            <a:ext cx="20574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1">
                <a:solidFill>
                  <a:srgbClr val="111111"/>
                </a:solidFill>
                <a:latin typeface="Aptos"/>
              </a:rPr>
              <a:t>Vishnuraj Jayaraj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85632" y="868680"/>
            <a:ext cx="1874519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0">
                <a:solidFill>
                  <a:srgbClr val="6B21D4"/>
                </a:solidFill>
                <a:latin typeface="Aptos"/>
              </a:rPr>
              <a:t>Product Analyst · T2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360152" y="868680"/>
            <a:ext cx="13258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4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55080" y="1179576"/>
            <a:ext cx="5440680" cy="310896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80" y="1179576"/>
            <a:ext cx="50292" cy="31089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28232" y="1179576"/>
            <a:ext cx="20574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1">
                <a:solidFill>
                  <a:srgbClr val="111111"/>
                </a:solidFill>
                <a:latin typeface="Aptos"/>
              </a:rPr>
              <a:t>OConnor, Andrew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85632" y="1179576"/>
            <a:ext cx="1874519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0">
                <a:solidFill>
                  <a:srgbClr val="6B21D4"/>
                </a:solidFill>
                <a:latin typeface="Aptos"/>
              </a:rPr>
              <a:t>Scrum Master · T2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360152" y="1179576"/>
            <a:ext cx="13258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4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55080" y="1490472"/>
            <a:ext cx="5440680" cy="310896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355080" y="1490472"/>
            <a:ext cx="50292" cy="31089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28232" y="1490472"/>
            <a:ext cx="20574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1">
                <a:solidFill>
                  <a:srgbClr val="111111"/>
                </a:solidFill>
                <a:latin typeface="Aptos"/>
              </a:rPr>
              <a:t>Diana Blidarescu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485632" y="1490472"/>
            <a:ext cx="1874519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0">
                <a:solidFill>
                  <a:srgbClr val="6B21D4"/>
                </a:solidFill>
                <a:latin typeface="Aptos"/>
              </a:rPr>
              <a:t>Scrum Master · T1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360152" y="1490472"/>
            <a:ext cx="13258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40" b="0">
                <a:solidFill>
                  <a:srgbClr val="777777"/>
                </a:solidFill>
                <a:latin typeface="Aptos"/>
              </a:rPr>
              <a:t>Onshore · Slalom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55080" y="1801368"/>
            <a:ext cx="5440680" cy="310896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355080" y="1801368"/>
            <a:ext cx="50292" cy="31089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28232" y="1801368"/>
            <a:ext cx="20574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1">
                <a:solidFill>
                  <a:srgbClr val="111111"/>
                </a:solidFill>
                <a:latin typeface="Aptos"/>
              </a:rPr>
              <a:t>Ashish Verma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85632" y="1801368"/>
            <a:ext cx="1874519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0">
                <a:solidFill>
                  <a:srgbClr val="6B21D4"/>
                </a:solidFill>
                <a:latin typeface="Aptos"/>
              </a:rPr>
              <a:t>Fusion Middleware · T1,2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360152" y="1801368"/>
            <a:ext cx="13258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4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55080" y="2112264"/>
            <a:ext cx="5440680" cy="310896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55080" y="2112264"/>
            <a:ext cx="50292" cy="31089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428232" y="2112264"/>
            <a:ext cx="20574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1">
                <a:solidFill>
                  <a:srgbClr val="111111"/>
                </a:solidFill>
                <a:latin typeface="Aptos"/>
              </a:rPr>
              <a:t>Lavanya Nagarajan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85632" y="2112264"/>
            <a:ext cx="1874519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0">
                <a:solidFill>
                  <a:srgbClr val="6B21D4"/>
                </a:solidFill>
                <a:latin typeface="Aptos"/>
              </a:rPr>
              <a:t>Fusion Middleware · T1,2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60152" y="2112264"/>
            <a:ext cx="13258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4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55080" y="2423160"/>
            <a:ext cx="5440680" cy="310896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355080" y="2423160"/>
            <a:ext cx="50292" cy="31089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428232" y="2423160"/>
            <a:ext cx="20574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1">
                <a:solidFill>
                  <a:srgbClr val="111111"/>
                </a:solidFill>
                <a:latin typeface="Aptos"/>
              </a:rPr>
              <a:t>Anne Kelly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485632" y="2423160"/>
            <a:ext cx="1874519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0">
                <a:solidFill>
                  <a:srgbClr val="6B21D4"/>
                </a:solidFill>
                <a:latin typeface="Aptos"/>
              </a:rPr>
              <a:t>PMO · T1,2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360152" y="2423160"/>
            <a:ext cx="13258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4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886200" y="4389120"/>
            <a:ext cx="438912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Tax Team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886200" y="4681728"/>
            <a:ext cx="4389120" cy="274320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886200" y="4681728"/>
            <a:ext cx="50292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959352" y="4681728"/>
            <a:ext cx="150876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Corinne Kreuger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468112" y="4681728"/>
            <a:ext cx="150876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PO / BA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976872" y="4681728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886200" y="4956048"/>
            <a:ext cx="4389120" cy="274320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886200" y="4956048"/>
            <a:ext cx="50292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959352" y="4956048"/>
            <a:ext cx="150876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Sathish Kumar 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468112" y="4956048"/>
            <a:ext cx="150876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Product Analyst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76872" y="4956048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886200" y="5230368"/>
            <a:ext cx="4389120" cy="274320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886200" y="5230368"/>
            <a:ext cx="50292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959352" y="5230368"/>
            <a:ext cx="150876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Tushar Joshi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468112" y="5230368"/>
            <a:ext cx="150876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Product Analyst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976872" y="5230368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886200" y="5504688"/>
            <a:ext cx="4389120" cy="274320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886200" y="5504688"/>
            <a:ext cx="50292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959352" y="5504688"/>
            <a:ext cx="150876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Daniel Brenner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468112" y="5504688"/>
            <a:ext cx="150876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Scrum Master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76872" y="5504688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57200" y="6446520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8</a:t>
            </a:r>
          </a:p>
        </p:txBody>
      </p:sp>
      <p:pic>
        <p:nvPicPr>
          <p:cNvPr id="90" name="Picture 89" descr="trane_late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6172200"/>
            <a:ext cx="141732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111556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S&amp;C Contracting – Team 1 (WorkSight &amp; R12 Devs / FAs)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5440680" cy="320040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50292" cy="3200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0352" y="1005840"/>
            <a:ext cx="2057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Albin Xavier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587752" y="1005840"/>
            <a:ext cx="1874519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69" b="0">
                <a:solidFill>
                  <a:srgbClr val="6B21D4"/>
                </a:solidFill>
                <a:latin typeface="Aptos"/>
              </a:rPr>
              <a:t>WorkSight FA</a:t>
            </a:r>
          </a:p>
        </p:txBody>
      </p:sp>
      <p:sp>
        <p:nvSpPr>
          <p:cNvPr id="7" name="Rectangle 6"/>
          <p:cNvSpPr/>
          <p:nvPr/>
        </p:nvSpPr>
        <p:spPr>
          <a:xfrm>
            <a:off x="4462272" y="1005840"/>
            <a:ext cx="13258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5440680" cy="320040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50292" cy="3200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" y="1325880"/>
            <a:ext cx="2057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Narayan Kapali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87752" y="1325880"/>
            <a:ext cx="1874519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69" b="0">
                <a:solidFill>
                  <a:srgbClr val="6B21D4"/>
                </a:solidFill>
                <a:latin typeface="Aptos"/>
              </a:rPr>
              <a:t>WorkSight FA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1325880"/>
            <a:ext cx="13258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645920"/>
            <a:ext cx="5440680" cy="320040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645920"/>
            <a:ext cx="50292" cy="3200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0352" y="1645920"/>
            <a:ext cx="2057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Sachin Salvi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87752" y="1645920"/>
            <a:ext cx="1874519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69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62272" y="1645920"/>
            <a:ext cx="13258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1965960"/>
            <a:ext cx="5440680" cy="320040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1965960"/>
            <a:ext cx="50292" cy="3200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1965960"/>
            <a:ext cx="2057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Elizabeth Garcia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87752" y="1965960"/>
            <a:ext cx="1874519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69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62272" y="1965960"/>
            <a:ext cx="13258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286000"/>
            <a:ext cx="5440680" cy="320040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2286000"/>
            <a:ext cx="50292" cy="3200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0352" y="2286000"/>
            <a:ext cx="2057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Krishna Kumar 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87752" y="2286000"/>
            <a:ext cx="1874519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69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2286000"/>
            <a:ext cx="13258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6446520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9</a:t>
            </a:r>
          </a:p>
        </p:txBody>
      </p:sp>
      <p:pic>
        <p:nvPicPr>
          <p:cNvPr id="29" name="Picture 28" descr="trane_late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6172200"/>
            <a:ext cx="141732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111556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Other Teams – WorkPackage, TSA, TDA, Jobs CoJo, Documents, Service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54406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WorkPackage QA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69848"/>
            <a:ext cx="5440680" cy="274320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69848"/>
            <a:ext cx="50292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" y="1069848"/>
            <a:ext cx="20574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Likhith Pateel</a:t>
            </a:r>
          </a:p>
        </p:txBody>
      </p:sp>
      <p:sp>
        <p:nvSpPr>
          <p:cNvPr id="7" name="Rectangle 6"/>
          <p:cNvSpPr/>
          <p:nvPr/>
        </p:nvSpPr>
        <p:spPr>
          <a:xfrm>
            <a:off x="2587752" y="1069848"/>
            <a:ext cx="187451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QA Lead</a:t>
            </a:r>
          </a:p>
        </p:txBody>
      </p:sp>
      <p:sp>
        <p:nvSpPr>
          <p:cNvPr id="8" name="Rectangle 7"/>
          <p:cNvSpPr/>
          <p:nvPr/>
        </p:nvSpPr>
        <p:spPr>
          <a:xfrm>
            <a:off x="4462272" y="1069848"/>
            <a:ext cx="13258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44168"/>
            <a:ext cx="5440680" cy="274320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44168"/>
            <a:ext cx="50292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0352" y="1344168"/>
            <a:ext cx="20574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Sudha Malbhage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87752" y="1344168"/>
            <a:ext cx="187451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62272" y="1344168"/>
            <a:ext cx="13258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618488"/>
            <a:ext cx="5440680" cy="274320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1618488"/>
            <a:ext cx="50292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0352" y="1618488"/>
            <a:ext cx="20574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Nitesh Achari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87752" y="1618488"/>
            <a:ext cx="187451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62272" y="1618488"/>
            <a:ext cx="13258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1892807"/>
            <a:ext cx="5440680" cy="274320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1892807"/>
            <a:ext cx="50292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30352" y="1892807"/>
            <a:ext cx="20574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Pradeep K Battula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87752" y="1892807"/>
            <a:ext cx="187451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QA – Automation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62272" y="1892807"/>
            <a:ext cx="13258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331720"/>
            <a:ext cx="54406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TSA QA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624327"/>
            <a:ext cx="5440680" cy="274320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2624327"/>
            <a:ext cx="50292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0352" y="2624327"/>
            <a:ext cx="20574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Varsha Chitray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87752" y="2624327"/>
            <a:ext cx="187451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QA Lead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62272" y="2624327"/>
            <a:ext cx="13258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898647"/>
            <a:ext cx="5440680" cy="274320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2898647"/>
            <a:ext cx="50292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30352" y="2898647"/>
            <a:ext cx="20574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Prarthana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587752" y="2898647"/>
            <a:ext cx="187451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62272" y="2898647"/>
            <a:ext cx="13258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172968"/>
            <a:ext cx="5440680" cy="274320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3172968"/>
            <a:ext cx="50292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30352" y="3172968"/>
            <a:ext cx="20574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Sandhyarani Mothukuri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87752" y="3172968"/>
            <a:ext cx="187451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3172968"/>
            <a:ext cx="13258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447287"/>
            <a:ext cx="5440680" cy="274320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447287"/>
            <a:ext cx="50292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30352" y="3447287"/>
            <a:ext cx="20574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Aastha Tripathi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87752" y="3447287"/>
            <a:ext cx="187451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QA – Func/Auto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62272" y="3447287"/>
            <a:ext cx="13258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3886200"/>
            <a:ext cx="54406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TDA QA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178808"/>
            <a:ext cx="5440680" cy="274320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7200" y="4178808"/>
            <a:ext cx="50292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30352" y="4178808"/>
            <a:ext cx="20574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Naveen H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587752" y="4178808"/>
            <a:ext cx="187451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QA Lead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62272" y="4178808"/>
            <a:ext cx="13258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4453128"/>
            <a:ext cx="5440680" cy="274320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7200" y="4453128"/>
            <a:ext cx="50292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30352" y="4453128"/>
            <a:ext cx="20574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Navya B 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587752" y="4453128"/>
            <a:ext cx="187451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QA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462272" y="4453128"/>
            <a:ext cx="13258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4727448"/>
            <a:ext cx="5440680" cy="274320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57200" y="4727448"/>
            <a:ext cx="50292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30352" y="4727448"/>
            <a:ext cx="20574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Manoj Kulkarni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587752" y="4727448"/>
            <a:ext cx="187451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QA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462272" y="4727448"/>
            <a:ext cx="13258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7200" y="5001768"/>
            <a:ext cx="5440680" cy="274320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57200" y="5001768"/>
            <a:ext cx="50292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30352" y="5001768"/>
            <a:ext cx="20574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Gurulingappa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587752" y="5001768"/>
            <a:ext cx="187451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QA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62272" y="5001768"/>
            <a:ext cx="13258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55080" y="777240"/>
            <a:ext cx="54406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Jobs CoJo QA &amp; Key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355080" y="1069848"/>
            <a:ext cx="5440680" cy="274320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355080" y="1069848"/>
            <a:ext cx="50292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428232" y="1069848"/>
            <a:ext cx="20574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Rashmi Ranganath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485632" y="1069848"/>
            <a:ext cx="187451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QA Lead/Scrum Master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360152" y="1069848"/>
            <a:ext cx="13258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1344168"/>
            <a:ext cx="5440680" cy="274320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55080" y="1344168"/>
            <a:ext cx="50292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28232" y="1344168"/>
            <a:ext cx="20574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Chethana B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485632" y="1344168"/>
            <a:ext cx="187451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360152" y="1344168"/>
            <a:ext cx="13258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355080" y="1618488"/>
            <a:ext cx="5440680" cy="274320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355080" y="1618488"/>
            <a:ext cx="50292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428232" y="1618488"/>
            <a:ext cx="20574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Matt Parish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485632" y="1618488"/>
            <a:ext cx="187451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360152" y="1618488"/>
            <a:ext cx="13258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355080" y="1892807"/>
            <a:ext cx="5440680" cy="274320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355080" y="1892807"/>
            <a:ext cx="50292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428232" y="1892807"/>
            <a:ext cx="20574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Hasan Al Quasem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485632" y="1892807"/>
            <a:ext cx="187451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IT Prod Analyst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360152" y="1892807"/>
            <a:ext cx="13258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355080" y="2331720"/>
            <a:ext cx="54406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Documents / DocGen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355080" y="2624327"/>
            <a:ext cx="5440680" cy="274320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355080" y="2624327"/>
            <a:ext cx="50292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428232" y="2624327"/>
            <a:ext cx="20574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Sandhyarani M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485632" y="2624327"/>
            <a:ext cx="187451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QA – Func/Perf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360152" y="2624327"/>
            <a:ext cx="13258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355080" y="2898647"/>
            <a:ext cx="5440680" cy="274320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355080" y="2898647"/>
            <a:ext cx="50292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428232" y="2898647"/>
            <a:ext cx="20574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Angela Puent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485632" y="2898647"/>
            <a:ext cx="187451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360152" y="2898647"/>
            <a:ext cx="13258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355080" y="3172968"/>
            <a:ext cx="5440680" cy="274320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355080" y="3172968"/>
            <a:ext cx="50292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428232" y="3172968"/>
            <a:ext cx="20574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Brett Meddaugh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485632" y="3172968"/>
            <a:ext cx="187451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Architect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360152" y="3172968"/>
            <a:ext cx="13258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355080" y="3447287"/>
            <a:ext cx="5440680" cy="274320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355080" y="3447287"/>
            <a:ext cx="50292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428232" y="3447287"/>
            <a:ext cx="20574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Chandana Gowda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85632" y="3447287"/>
            <a:ext cx="187451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Developer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360152" y="3447287"/>
            <a:ext cx="13258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57200" y="5440680"/>
            <a:ext cx="5440680" cy="228600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57200" y="5440680"/>
            <a:ext cx="50292" cy="22860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30352" y="5440680"/>
            <a:ext cx="2057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Drew Rauvola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587752" y="5440680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20" b="0">
                <a:solidFill>
                  <a:srgbClr val="6B21D4"/>
                </a:solidFill>
                <a:latin typeface="Aptos"/>
              </a:rPr>
              <a:t>Application Owner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462272" y="5440680"/>
            <a:ext cx="13258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57200" y="5669280"/>
            <a:ext cx="5440680" cy="228600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57200" y="5669280"/>
            <a:ext cx="50292" cy="22860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30352" y="5669280"/>
            <a:ext cx="2057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Abby Hoolver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587752" y="5669280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20" b="0">
                <a:solidFill>
                  <a:srgbClr val="6B21D4"/>
                </a:solidFill>
                <a:latin typeface="Aptos"/>
              </a:rPr>
              <a:t>Business Owner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462272" y="5669280"/>
            <a:ext cx="13258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6355080" y="3977639"/>
            <a:ext cx="5440680" cy="274320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355080" y="3977639"/>
            <a:ext cx="50292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428232" y="3977639"/>
            <a:ext cx="20574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Kreidermacher, Tara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85632" y="3977639"/>
            <a:ext cx="187451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Scrum Master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360152" y="3977639"/>
            <a:ext cx="13258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Onshore - Trane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355080" y="4251959"/>
            <a:ext cx="5440680" cy="274320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6355080" y="4251959"/>
            <a:ext cx="50292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428232" y="4251959"/>
            <a:ext cx="20574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Pruner, Kenneth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485632" y="4251959"/>
            <a:ext cx="187451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Project Manager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360152" y="4251959"/>
            <a:ext cx="13258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Onshore - Trane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355080" y="4800600"/>
            <a:ext cx="5440680" cy="228600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6355080" y="4800600"/>
            <a:ext cx="50292" cy="22860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6428232" y="4800600"/>
            <a:ext cx="2057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Rislow Chad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485632" y="4800600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20" b="0">
                <a:solidFill>
                  <a:srgbClr val="6B21D4"/>
                </a:solidFill>
                <a:latin typeface="Aptos"/>
              </a:rPr>
              <a:t>PA – Product Analyst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0360152" y="4800600"/>
            <a:ext cx="13258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7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355080" y="5029200"/>
            <a:ext cx="5440680" cy="228600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6355080" y="5029200"/>
            <a:ext cx="50292" cy="22860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6428232" y="5029200"/>
            <a:ext cx="2057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Christopher Brown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485632" y="5029200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20" b="0">
                <a:solidFill>
                  <a:srgbClr val="6B21D4"/>
                </a:solidFill>
                <a:latin typeface="Aptos"/>
              </a:rPr>
              <a:t>PO – Product Owner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0360152" y="5029200"/>
            <a:ext cx="13258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7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355080" y="5257800"/>
            <a:ext cx="5440680" cy="228600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6355080" y="5257800"/>
            <a:ext cx="50292" cy="22860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6428232" y="5257800"/>
            <a:ext cx="2057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Kristen Dale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8485632" y="5257800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20" b="0">
                <a:solidFill>
                  <a:srgbClr val="6B21D4"/>
                </a:solidFill>
                <a:latin typeface="Aptos"/>
              </a:rPr>
              <a:t>PO – Product Owner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0360152" y="5257800"/>
            <a:ext cx="13258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7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457200" y="6446520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10</a:t>
            </a:r>
          </a:p>
        </p:txBody>
      </p:sp>
      <p:pic>
        <p:nvPicPr>
          <p:cNvPr id="144" name="Picture 143" descr="trane_late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6172200"/>
            <a:ext cx="141732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111556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The work we do – Projects &amp; Applications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05156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Testing types: Smoke · System · Regression · Automation · Performance · QA PoC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3200400" cy="91440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252728"/>
            <a:ext cx="29260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Trane Select Assist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618488"/>
            <a:ext cx="29260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6B21D4"/>
                </a:solidFill>
                <a:latin typeface="Aptos"/>
              </a:rPr>
              <a:t>PoC: Varsha Chitray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1143000"/>
            <a:ext cx="3200400" cy="91440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252728"/>
            <a:ext cx="29260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Equipment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618488"/>
            <a:ext cx="29260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6B21D4"/>
                </a:solidFill>
                <a:latin typeface="Aptos"/>
              </a:rPr>
              <a:t>PoC: Brinda 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143000"/>
            <a:ext cx="3200400" cy="91440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92440" y="1252728"/>
            <a:ext cx="29260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DMC / MDP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1618488"/>
            <a:ext cx="29260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6B21D4"/>
                </a:solidFill>
                <a:latin typeface="Aptos"/>
              </a:rPr>
              <a:t>PoC: Mahesh Laddi &amp; Anusha 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468880"/>
            <a:ext cx="3200400" cy="91440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2578608"/>
            <a:ext cx="29260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Jobs &amp; CoJo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2944368"/>
            <a:ext cx="29260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6B21D4"/>
                </a:solidFill>
                <a:latin typeface="Aptos"/>
              </a:rPr>
              <a:t>PoC: Rashmi Ranganath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06240" y="2468880"/>
            <a:ext cx="3200400" cy="91440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2578608"/>
            <a:ext cx="29260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Contracting Team 1,2 (Tax)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2944368"/>
            <a:ext cx="29260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6B21D4"/>
                </a:solidFill>
                <a:latin typeface="Aptos"/>
              </a:rPr>
              <a:t>PoC: Vignesh Sheshababu/Preeti k/Srinivas 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55279" y="2468880"/>
            <a:ext cx="3200400" cy="91440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92440" y="2578608"/>
            <a:ext cx="29260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TDA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92440" y="2944368"/>
            <a:ext cx="29260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6B21D4"/>
                </a:solidFill>
                <a:latin typeface="Aptos"/>
              </a:rPr>
              <a:t>PoC: Naveen 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794760"/>
            <a:ext cx="3200400" cy="91440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4360" y="3904488"/>
            <a:ext cx="29260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Work Package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270248"/>
            <a:ext cx="29260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6B21D4"/>
                </a:solidFill>
                <a:latin typeface="Aptos"/>
              </a:rPr>
              <a:t>PoC: Likhith Pateel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3794760"/>
            <a:ext cx="3200400" cy="91440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43400" y="3904488"/>
            <a:ext cx="29260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Documents / DocGen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43400" y="4270248"/>
            <a:ext cx="29260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6B21D4"/>
                </a:solidFill>
                <a:latin typeface="Aptos"/>
              </a:rPr>
              <a:t>PoC: Sandhyarani 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55279" y="3794760"/>
            <a:ext cx="3200400" cy="91440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2440" y="3904488"/>
            <a:ext cx="29260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Service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92440" y="4270248"/>
            <a:ext cx="29260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6B21D4"/>
                </a:solidFill>
                <a:latin typeface="Aptos"/>
              </a:rPr>
              <a:t>PoC: Frank Murcia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46520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11</a:t>
            </a:r>
          </a:p>
        </p:txBody>
      </p:sp>
      <p:pic>
        <p:nvPicPr>
          <p:cNvPr id="32" name="Picture 31" descr="trane_late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6172200"/>
            <a:ext cx="141732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111556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The things you need – Checklist &amp; Application URLs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5029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What you need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212080" cy="256032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Laptop</a:t>
            </a:r>
          </a:p>
        </p:txBody>
      </p:sp>
      <p:sp>
        <p:nvSpPr>
          <p:cNvPr id="7" name="Rectangle 6"/>
          <p:cNvSpPr/>
          <p:nvPr/>
        </p:nvSpPr>
        <p:spPr>
          <a:xfrm>
            <a:off x="2514600" y="960120"/>
            <a:ext cx="29260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777777"/>
                </a:solidFill>
                <a:latin typeface="Aptos"/>
              </a:rPr>
              <a:t>FST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71016"/>
            <a:ext cx="5212080" cy="256032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71016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271016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VPN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14600" y="1271016"/>
            <a:ext cx="29260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777777"/>
                </a:solidFill>
                <a:latin typeface="Aptos"/>
              </a:rPr>
              <a:t>FST Team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581912"/>
            <a:ext cx="5212080" cy="256032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581912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1581912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Headphones / Mouse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14600" y="1581912"/>
            <a:ext cx="29260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777777"/>
                </a:solidFill>
                <a:latin typeface="Aptos"/>
              </a:rPr>
              <a:t>FST Team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892808"/>
            <a:ext cx="5212080" cy="256032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1892808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892808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Administrator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14600" y="1892808"/>
            <a:ext cx="29260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777777"/>
                </a:solidFill>
                <a:latin typeface="Aptos"/>
              </a:rPr>
              <a:t>ServiceNow Request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203704"/>
            <a:ext cx="5212080" cy="256032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203704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2203704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Jira Access/Confluence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14600" y="2203704"/>
            <a:ext cx="29260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777777"/>
                </a:solidFill>
                <a:latin typeface="Aptos"/>
              </a:rPr>
              <a:t>Contact QA Lead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514600"/>
            <a:ext cx="5212080" cy="256032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514600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2514600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Java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14600" y="2514600"/>
            <a:ext cx="29260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777777"/>
                </a:solidFill>
                <a:latin typeface="Aptos"/>
              </a:rPr>
              <a:t>ServiceNow – Computer Software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2825496"/>
            <a:ext cx="5212080" cy="256032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2825496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2825496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Eclipse IDE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14600" y="2825496"/>
            <a:ext cx="29260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777777"/>
                </a:solidFill>
                <a:latin typeface="Aptos"/>
              </a:rPr>
              <a:t>ServiceNow – Computer Software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136392"/>
            <a:ext cx="5212080" cy="256032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3136392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3136392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Git Bash / GitHub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514600" y="3136392"/>
            <a:ext cx="29260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777777"/>
                </a:solidFill>
                <a:latin typeface="Aptos"/>
              </a:rPr>
              <a:t>ServiceNow – KB0040682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447288"/>
            <a:ext cx="5212080" cy="256032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3447288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3447288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Server / DB Access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514600" y="3447288"/>
            <a:ext cx="29260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777777"/>
                </a:solidFill>
                <a:latin typeface="Aptos"/>
              </a:rPr>
              <a:t>ServiceNow Request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758184"/>
            <a:ext cx="5212080" cy="256032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758184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" y="3758184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App URLs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14600" y="3758184"/>
            <a:ext cx="29260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777777"/>
                </a:solidFill>
                <a:latin typeface="Aptos"/>
              </a:rPr>
              <a:t>See right column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4069080"/>
            <a:ext cx="5212080" cy="256032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" y="4069080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48640" y="4069080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Add to DL’s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514600" y="4069080"/>
            <a:ext cx="29260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777777"/>
                </a:solidFill>
                <a:latin typeface="Aptos"/>
              </a:rPr>
              <a:t>ServiceNow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379976"/>
            <a:ext cx="5212080" cy="256032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57200" y="4379976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4379976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Add to MS teams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514600" y="4379976"/>
            <a:ext cx="29260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777777"/>
                </a:solidFill>
                <a:latin typeface="Aptos"/>
              </a:rPr>
              <a:t>MS Teams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63640" y="640080"/>
            <a:ext cx="512064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Application URLs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63640" y="960120"/>
            <a:ext cx="52120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4A148C"/>
                </a:solidFill>
                <a:latin typeface="Aptos"/>
              </a:rPr>
              <a:t>TSA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63640" y="1216152"/>
            <a:ext cx="5212080" cy="219456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63640" y="1216152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355080" y="1216152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Dev: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69480" y="1216152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dev.traneselectassist.com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63640" y="1444752"/>
            <a:ext cx="5212080" cy="219456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263640" y="1444752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355080" y="1444752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Test: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269480" y="1444752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test.traneselectassist.com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1673352"/>
            <a:ext cx="5212080" cy="219456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263640" y="1673352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355080" y="1673352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Prod: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269480" y="1673352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traneselectassist.com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63640" y="1901952"/>
            <a:ext cx="52120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4A148C"/>
                </a:solidFill>
                <a:latin typeface="Aptos"/>
              </a:rPr>
              <a:t>TSMT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263640" y="2157984"/>
            <a:ext cx="5212080" cy="219456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263640" y="2157984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355080" y="2157984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Dev: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269480" y="2157984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devsalestools.trane.com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63640" y="2386584"/>
            <a:ext cx="5212080" cy="219456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63640" y="2386584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55080" y="2386584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Test: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269480" y="2386584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uatsalestools.trane.com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63640" y="2615184"/>
            <a:ext cx="5212080" cy="219456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263640" y="2615184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355080" y="2615184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Prod: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269480" y="2615184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salestools.trane.com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63640" y="2843784"/>
            <a:ext cx="52120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4A148C"/>
                </a:solidFill>
                <a:latin typeface="Aptos"/>
              </a:rPr>
              <a:t>MDP/DMC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3099816"/>
            <a:ext cx="5212080" cy="219456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263640" y="3099816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355080" y="3099816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Dev: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269480" y="3099816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devdmc.trane.com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263640" y="3328416"/>
            <a:ext cx="5212080" cy="219456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263640" y="3328416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355080" y="3328416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Test: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269480" y="3328416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uatdmc.trane.com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263640" y="3557016"/>
            <a:ext cx="5212080" cy="219456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263640" y="3557016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355080" y="3557016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Prod: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269480" y="3557016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dmc.trane.com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263640" y="3785616"/>
            <a:ext cx="52120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4A148C"/>
                </a:solidFill>
                <a:latin typeface="Aptos"/>
              </a:rPr>
              <a:t>Portals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263640" y="4041648"/>
            <a:ext cx="5212080" cy="219456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263640" y="4041648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355080" y="4041648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ServiceNow: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269480" y="4041648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tranetechnologies.service-now.com/sp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263640" y="4270248"/>
            <a:ext cx="5212080" cy="219456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263640" y="4270248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355080" y="4270248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Confluence: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269480" y="4270248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tranetis.jira.com/wiki/spaces/TOPSS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263640" y="4498848"/>
            <a:ext cx="5212080" cy="219456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263640" y="4498848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355080" y="4498848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GitHub: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269480" y="4498848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github.com/enterprises/tranetechnologies/sso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263640" y="4727448"/>
            <a:ext cx="5212080" cy="219456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263640" y="4727448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355080" y="4727448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HR Portal: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269480" y="4727448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tranetechnologies.service-now.com/hrportal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263640" y="4956048"/>
            <a:ext cx="5212080" cy="219456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263640" y="4956048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6355080" y="4956048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Citrix: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269480" y="4956048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tranecitrix.corp.global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57200" y="6446520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12</a:t>
            </a:r>
          </a:p>
        </p:txBody>
      </p:sp>
      <p:pic>
        <p:nvPicPr>
          <p:cNvPr id="114" name="Picture 113" descr="trane_late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6172200"/>
            <a:ext cx="141732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111556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Things to do · KT Plan · Points of Contact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36576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Onboarding actions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960120"/>
            <a:ext cx="228600" cy="228600"/>
          </a:xfrm>
          <a:prstGeom prst="rect">
            <a:avLst/>
          </a:prstGeom>
          <a:solidFill>
            <a:srgbClr val="6B21D4"/>
          </a:solidFill>
          <a:ln w="889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960120"/>
            <a:ext cx="31546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Mandatory certifications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179576"/>
            <a:ext cx="315468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0">
                <a:solidFill>
                  <a:srgbClr val="777777"/>
                </a:solidFill>
                <a:latin typeface="Aptos"/>
              </a:rPr>
              <a:t>HR Portal → LMS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435608"/>
            <a:ext cx="228600" cy="228600"/>
          </a:xfrm>
          <a:prstGeom prst="rect">
            <a:avLst/>
          </a:prstGeom>
          <a:solidFill>
            <a:srgbClr val="6B21D4"/>
          </a:solidFill>
          <a:ln w="889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1435608"/>
            <a:ext cx="31546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Goal setting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1655064"/>
            <a:ext cx="315468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0">
                <a:solidFill>
                  <a:srgbClr val="777777"/>
                </a:solidFill>
                <a:latin typeface="Aptos"/>
              </a:rPr>
              <a:t>HR Portal → Talent Mgmt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" y="1911095"/>
            <a:ext cx="228600" cy="228600"/>
          </a:xfrm>
          <a:prstGeom prst="rect">
            <a:avLst/>
          </a:prstGeom>
          <a:solidFill>
            <a:srgbClr val="6B21D4"/>
          </a:solidFill>
          <a:ln w="889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1911095"/>
            <a:ext cx="31546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Complete People Profile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2130552"/>
            <a:ext cx="315468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0">
                <a:solidFill>
                  <a:srgbClr val="777777"/>
                </a:solidFill>
                <a:latin typeface="Aptos"/>
              </a:rPr>
              <a:t>SuccessFactors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2386584"/>
            <a:ext cx="228600" cy="228600"/>
          </a:xfrm>
          <a:prstGeom prst="rect">
            <a:avLst/>
          </a:prstGeom>
          <a:solidFill>
            <a:srgbClr val="6B21D4"/>
          </a:solidFill>
          <a:ln w="889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" y="2386584"/>
            <a:ext cx="31546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Update TOPSSQA Site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2606040"/>
            <a:ext cx="315468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0">
                <a:solidFill>
                  <a:srgbClr val="777777"/>
                </a:solidFill>
                <a:latin typeface="Aptos"/>
              </a:rPr>
              <a:t>sharepoint.com/sites/topss.com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0352" y="2862072"/>
            <a:ext cx="228600" cy="228600"/>
          </a:xfrm>
          <a:prstGeom prst="rect">
            <a:avLst/>
          </a:prstGeom>
          <a:solidFill>
            <a:srgbClr val="6B21D4"/>
          </a:solidFill>
          <a:ln w="889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" y="2862072"/>
            <a:ext cx="31546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Apply leave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" y="3081528"/>
            <a:ext cx="315468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0">
                <a:solidFill>
                  <a:srgbClr val="777777"/>
                </a:solidFill>
                <a:latin typeface="Aptos"/>
              </a:rPr>
              <a:t>HR Portal → Leave Mgmt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520440"/>
            <a:ext cx="41148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ServiceNow Requests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0480"/>
            <a:ext cx="4297680" cy="237744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840480"/>
            <a:ext cx="5029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840480"/>
            <a:ext cx="14173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Software: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93392" y="3840480"/>
            <a:ext cx="25603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ServiceNow → Computer Software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114800"/>
            <a:ext cx="4297680" cy="237744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114800"/>
            <a:ext cx="5029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114800"/>
            <a:ext cx="14173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Admin ID / Server: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93392" y="4114800"/>
            <a:ext cx="25603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ServiceNow → Access Request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389120"/>
            <a:ext cx="4297680" cy="237744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389120"/>
            <a:ext cx="5029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389120"/>
            <a:ext cx="14173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GitHub: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93392" y="4389120"/>
            <a:ext cx="25603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KB0040682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663440"/>
            <a:ext cx="4297680" cy="237744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663440"/>
            <a:ext cx="5029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4663440"/>
            <a:ext cx="14173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TOSCA License: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93392" y="4663440"/>
            <a:ext cx="25603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RITM0731045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937760"/>
            <a:ext cx="4297680" cy="237744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4937760"/>
            <a:ext cx="5029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937760"/>
            <a:ext cx="14173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TOSCA Access: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93392" y="4937760"/>
            <a:ext cx="25603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RITM0731066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212080"/>
            <a:ext cx="4297680" cy="237744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5212080"/>
            <a:ext cx="5029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" y="5212080"/>
            <a:ext cx="14173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MDP/DMC: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993392" y="5212080"/>
            <a:ext cx="25603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Options 1,5,8,9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74920" y="640080"/>
            <a:ext cx="265176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KT Plan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74920" y="960120"/>
            <a:ext cx="2651760" cy="292608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74920" y="960120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157216" y="960120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1">
                <a:solidFill>
                  <a:srgbClr val="111111"/>
                </a:solidFill>
                <a:latin typeface="Aptos"/>
              </a:rPr>
              <a:t>TSA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55080" y="960120"/>
            <a:ext cx="12344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0">
                <a:solidFill>
                  <a:srgbClr val="6B21D4"/>
                </a:solidFill>
                <a:latin typeface="Aptos"/>
              </a:rPr>
              <a:t>Varsha Chitray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74920" y="1307592"/>
            <a:ext cx="2651760" cy="292608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074920" y="1307592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157216" y="1307592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1">
                <a:solidFill>
                  <a:srgbClr val="111111"/>
                </a:solidFill>
                <a:latin typeface="Aptos"/>
              </a:rPr>
              <a:t>Jobs &amp; CoJo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55080" y="1307592"/>
            <a:ext cx="12344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0">
                <a:solidFill>
                  <a:srgbClr val="6B21D4"/>
                </a:solidFill>
                <a:latin typeface="Aptos"/>
              </a:rPr>
              <a:t>Rashmi Ranganath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74920" y="1655064"/>
            <a:ext cx="2651760" cy="292608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074920" y="1655064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157216" y="1655064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1">
                <a:solidFill>
                  <a:srgbClr val="111111"/>
                </a:solidFill>
                <a:latin typeface="Aptos"/>
              </a:rPr>
              <a:t>Contracting/Tax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55080" y="1655064"/>
            <a:ext cx="12344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0">
                <a:solidFill>
                  <a:srgbClr val="6B21D4"/>
                </a:solidFill>
                <a:latin typeface="Aptos"/>
              </a:rPr>
              <a:t>Vignesh 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74920" y="2002536"/>
            <a:ext cx="2651760" cy="292608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74920" y="2002536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157216" y="2002536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1">
                <a:solidFill>
                  <a:srgbClr val="111111"/>
                </a:solidFill>
                <a:latin typeface="Aptos"/>
              </a:rPr>
              <a:t>MDP/DMC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55080" y="2002536"/>
            <a:ext cx="12344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0">
                <a:solidFill>
                  <a:srgbClr val="6B21D4"/>
                </a:solidFill>
                <a:latin typeface="Aptos"/>
              </a:rPr>
              <a:t>Mahesh Laddi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74920" y="2350008"/>
            <a:ext cx="2651760" cy="292608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074920" y="2350008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157216" y="2350008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1">
                <a:solidFill>
                  <a:srgbClr val="111111"/>
                </a:solidFill>
                <a:latin typeface="Aptos"/>
              </a:rPr>
              <a:t>TDA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55080" y="2350008"/>
            <a:ext cx="12344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0">
                <a:solidFill>
                  <a:srgbClr val="6B21D4"/>
                </a:solidFill>
                <a:latin typeface="Aptos"/>
              </a:rPr>
              <a:t>Naveen H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074920" y="2697480"/>
            <a:ext cx="2651760" cy="292608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074920" y="2697480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157216" y="2697480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1">
                <a:solidFill>
                  <a:srgbClr val="111111"/>
                </a:solidFill>
                <a:latin typeface="Aptos"/>
              </a:rPr>
              <a:t>Performance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55080" y="2697480"/>
            <a:ext cx="12344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0">
                <a:solidFill>
                  <a:srgbClr val="6B21D4"/>
                </a:solidFill>
                <a:latin typeface="Aptos"/>
              </a:rPr>
              <a:t>Srinivasa 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74920" y="3044952"/>
            <a:ext cx="2651760" cy="292608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074920" y="3044952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157216" y="3044952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1">
                <a:solidFill>
                  <a:srgbClr val="111111"/>
                </a:solidFill>
                <a:latin typeface="Aptos"/>
              </a:rPr>
              <a:t>Selenium (TestNG)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3044952"/>
            <a:ext cx="12344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0">
                <a:solidFill>
                  <a:srgbClr val="6B21D4"/>
                </a:solidFill>
                <a:latin typeface="Aptos"/>
              </a:rPr>
              <a:t>Varsha Chitray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074920" y="3392424"/>
            <a:ext cx="2651760" cy="292608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074920" y="3392424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157216" y="3392424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1">
                <a:solidFill>
                  <a:srgbClr val="111111"/>
                </a:solidFill>
                <a:latin typeface="Aptos"/>
              </a:rPr>
              <a:t>Selenium (Hybrid)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55080" y="3392424"/>
            <a:ext cx="12344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0">
                <a:solidFill>
                  <a:srgbClr val="6B21D4"/>
                </a:solidFill>
                <a:latin typeface="Aptos"/>
              </a:rPr>
              <a:t>Deepak Chhabria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074920" y="3739896"/>
            <a:ext cx="2651760" cy="292608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074920" y="3739896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157216" y="3739896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1">
                <a:solidFill>
                  <a:srgbClr val="111111"/>
                </a:solidFill>
                <a:latin typeface="Aptos"/>
              </a:rPr>
              <a:t>TOSCA Auto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355080" y="3739896"/>
            <a:ext cx="12344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0">
                <a:solidFill>
                  <a:srgbClr val="6B21D4"/>
                </a:solidFill>
                <a:latin typeface="Aptos"/>
              </a:rPr>
              <a:t>Team Lead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074920" y="4087368"/>
            <a:ext cx="2651760" cy="292608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5074920" y="4087368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157216" y="4087368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1">
                <a:solidFill>
                  <a:srgbClr val="111111"/>
                </a:solidFill>
                <a:latin typeface="Aptos"/>
              </a:rPr>
              <a:t>Work Package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55080" y="4087368"/>
            <a:ext cx="12344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0">
                <a:solidFill>
                  <a:srgbClr val="6B21D4"/>
                </a:solidFill>
                <a:latin typeface="Aptos"/>
              </a:rPr>
              <a:t>Likhith Pateel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074920" y="4434840"/>
            <a:ext cx="2651760" cy="292608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074920" y="4434840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157216" y="4434840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1">
                <a:solidFill>
                  <a:srgbClr val="111111"/>
                </a:solidFill>
                <a:latin typeface="Aptos"/>
              </a:rPr>
              <a:t>DocGen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355080" y="4434840"/>
            <a:ext cx="12344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0">
                <a:solidFill>
                  <a:srgbClr val="6B21D4"/>
                </a:solidFill>
                <a:latin typeface="Aptos"/>
              </a:rPr>
              <a:t>Sandhyarani M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412480" y="640080"/>
            <a:ext cx="2743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Points of Contact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412480" y="960120"/>
            <a:ext cx="2834640" cy="256032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8412480" y="960120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503920" y="960120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1">
                <a:solidFill>
                  <a:srgbClr val="111111"/>
                </a:solidFill>
                <a:latin typeface="Aptos"/>
              </a:rPr>
              <a:t>TSA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619488" y="960120"/>
            <a:ext cx="14173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20" b="0">
                <a:solidFill>
                  <a:srgbClr val="6B21D4"/>
                </a:solidFill>
                <a:latin typeface="Aptos"/>
              </a:rPr>
              <a:t>Varsha C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412480" y="1261872"/>
            <a:ext cx="2834640" cy="256032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412480" y="1261872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503920" y="1261872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1">
                <a:solidFill>
                  <a:srgbClr val="111111"/>
                </a:solidFill>
                <a:latin typeface="Aptos"/>
              </a:rPr>
              <a:t>Contracting Team 1 &amp; 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619488" y="1261872"/>
            <a:ext cx="14173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20" b="0">
                <a:solidFill>
                  <a:srgbClr val="6B21D4"/>
                </a:solidFill>
                <a:latin typeface="Aptos"/>
              </a:rPr>
              <a:t>Vignesh S/Preeti k/Srinivas R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412480" y="1563624"/>
            <a:ext cx="2834640" cy="256032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412480" y="1563624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503920" y="1563624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1">
                <a:solidFill>
                  <a:srgbClr val="111111"/>
                </a:solidFill>
                <a:latin typeface="Aptos"/>
              </a:rPr>
              <a:t>Jobs &amp; CoJo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619488" y="1563624"/>
            <a:ext cx="14173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20" b="0">
                <a:solidFill>
                  <a:srgbClr val="6B21D4"/>
                </a:solidFill>
                <a:latin typeface="Aptos"/>
              </a:rPr>
              <a:t>Rashmi 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412480" y="1865376"/>
            <a:ext cx="2834640" cy="256032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412480" y="1865376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503920" y="1865376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1">
                <a:solidFill>
                  <a:srgbClr val="111111"/>
                </a:solidFill>
                <a:latin typeface="Aptos"/>
              </a:rPr>
              <a:t>MDP/DMC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619488" y="1865376"/>
            <a:ext cx="14173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20" b="0">
                <a:solidFill>
                  <a:srgbClr val="6B21D4"/>
                </a:solidFill>
                <a:latin typeface="Aptos"/>
              </a:rPr>
              <a:t>Mahesh L/Anusha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12480" y="2167128"/>
            <a:ext cx="2834640" cy="256032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8412480" y="2167128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8503920" y="2167128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1">
                <a:solidFill>
                  <a:srgbClr val="111111"/>
                </a:solidFill>
                <a:latin typeface="Aptos"/>
              </a:rPr>
              <a:t>TDA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9619488" y="2167128"/>
            <a:ext cx="14173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20" b="0">
                <a:solidFill>
                  <a:srgbClr val="6B21D4"/>
                </a:solidFill>
                <a:latin typeface="Aptos"/>
              </a:rPr>
              <a:t>Naveen H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412480" y="2468880"/>
            <a:ext cx="2834640" cy="256032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8412480" y="2468880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503920" y="2468880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1">
                <a:solidFill>
                  <a:srgbClr val="111111"/>
                </a:solidFill>
                <a:latin typeface="Aptos"/>
              </a:rPr>
              <a:t>Equipment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619488" y="2468880"/>
            <a:ext cx="14173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20" b="0">
                <a:solidFill>
                  <a:srgbClr val="6B21D4"/>
                </a:solidFill>
                <a:latin typeface="Aptos"/>
              </a:rPr>
              <a:t>Deepak C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412480" y="2770632"/>
            <a:ext cx="2834640" cy="256032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8412480" y="2770632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8503920" y="2770632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1">
                <a:solidFill>
                  <a:srgbClr val="111111"/>
                </a:solidFill>
                <a:latin typeface="Aptos"/>
              </a:rPr>
              <a:t>Automation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619488" y="2770632"/>
            <a:ext cx="14173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20" b="0">
                <a:solidFill>
                  <a:srgbClr val="6B21D4"/>
                </a:solidFill>
                <a:latin typeface="Aptos"/>
              </a:rPr>
              <a:t>Varsha C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412480" y="3072384"/>
            <a:ext cx="2834640" cy="256032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8412480" y="3072384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503920" y="3072384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1">
                <a:solidFill>
                  <a:srgbClr val="111111"/>
                </a:solidFill>
                <a:latin typeface="Aptos"/>
              </a:rPr>
              <a:t>Performance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9619488" y="3072384"/>
            <a:ext cx="14173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20" b="0">
                <a:solidFill>
                  <a:srgbClr val="6B21D4"/>
                </a:solidFill>
                <a:latin typeface="Aptos"/>
              </a:rPr>
              <a:t>Srinivasa R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412480" y="3374136"/>
            <a:ext cx="2834640" cy="256032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412480" y="3374136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8503920" y="3374136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1">
                <a:solidFill>
                  <a:srgbClr val="111111"/>
                </a:solidFill>
                <a:latin typeface="Aptos"/>
              </a:rPr>
              <a:t>Smoke (Prod)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619488" y="3374136"/>
            <a:ext cx="14173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20" b="0">
                <a:solidFill>
                  <a:srgbClr val="6B21D4"/>
                </a:solidFill>
                <a:latin typeface="Aptos"/>
              </a:rPr>
              <a:t>Mahesh L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412480" y="3675888"/>
            <a:ext cx="2834640" cy="256032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8412480" y="3675888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8503920" y="3675888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1">
                <a:solidFill>
                  <a:srgbClr val="111111"/>
                </a:solidFill>
                <a:latin typeface="Aptos"/>
              </a:rPr>
              <a:t>Work Package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619488" y="3675888"/>
            <a:ext cx="14173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20" b="0">
                <a:solidFill>
                  <a:srgbClr val="6B21D4"/>
                </a:solidFill>
                <a:latin typeface="Aptos"/>
              </a:rPr>
              <a:t>Likhith P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412480" y="3977640"/>
            <a:ext cx="2834640" cy="256032"/>
          </a:xfrm>
          <a:prstGeom prst="rect">
            <a:avLst/>
          </a:prstGeom>
          <a:solidFill>
            <a:srgbClr val="FFFFFF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8412480" y="3977640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8503920" y="3977640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1">
                <a:solidFill>
                  <a:srgbClr val="111111"/>
                </a:solidFill>
                <a:latin typeface="Aptos"/>
              </a:rPr>
              <a:t>DocGen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619488" y="3977640"/>
            <a:ext cx="14173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20" b="0">
                <a:solidFill>
                  <a:srgbClr val="6B21D4"/>
                </a:solidFill>
                <a:latin typeface="Aptos"/>
              </a:rPr>
              <a:t>Sandhyarani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412480" y="4279392"/>
            <a:ext cx="2834640" cy="256032"/>
          </a:xfrm>
          <a:prstGeom prst="rect">
            <a:avLst/>
          </a:prstGeom>
          <a:solidFill>
            <a:srgbClr val="F3F0FA"/>
          </a:solidFill>
          <a:ln w="571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8412480" y="4279392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8503920" y="4279392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1">
                <a:solidFill>
                  <a:srgbClr val="111111"/>
                </a:solidFill>
                <a:latin typeface="Aptos"/>
              </a:rPr>
              <a:t>Service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619488" y="4279392"/>
            <a:ext cx="14173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20" b="0">
                <a:solidFill>
                  <a:srgbClr val="6B21D4"/>
                </a:solidFill>
                <a:latin typeface="Aptos"/>
              </a:rPr>
              <a:t>Frank M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457200" y="6446520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13</a:t>
            </a:r>
          </a:p>
        </p:txBody>
      </p:sp>
      <p:pic>
        <p:nvPicPr>
          <p:cNvPr id="139" name="Picture 138" descr="trane_late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6172200"/>
            <a:ext cx="141732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60520" y="2743200"/>
            <a:ext cx="3657600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600" b="0">
                <a:solidFill>
                  <a:srgbClr val="111111"/>
                </a:solidFill>
                <a:latin typeface="Aptos"/>
              </a:rPr>
              <a:t>Welcome once again to the</a:t>
            </a:r>
          </a:p>
          <a:p>
            <a:pPr algn="l"/>
            <a:r>
              <a:rPr sz="1600" b="0">
                <a:solidFill>
                  <a:srgbClr val="111111"/>
                </a:solidFill>
                <a:latin typeface="Aptos"/>
              </a:rPr>
              <a:t>team, and hope you have a</a:t>
            </a:r>
          </a:p>
          <a:p>
            <a:pPr algn="l"/>
            <a:r>
              <a:rPr sz="1600" b="0">
                <a:solidFill>
                  <a:srgbClr val="111111"/>
                </a:solidFill>
                <a:latin typeface="Aptos"/>
              </a:rPr>
              <a:t>wonderful journey with us!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46520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14</a:t>
            </a:r>
          </a:p>
        </p:txBody>
      </p:sp>
      <p:pic>
        <p:nvPicPr>
          <p:cNvPr id="4" name="Picture 3" descr="trane_late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6172200"/>
            <a:ext cx="1417320" cy="6126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