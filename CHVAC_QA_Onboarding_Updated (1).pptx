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1572767"/>
            <a:ext cx="5029200" cy="2395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solidFill>
                  <a:srgbClr val="1F2937"/>
                </a:solidFill>
                <a:latin typeface="Aptos"/>
              </a:rPr>
              <a:t>Delivery Tracks</a:t>
            </a:r>
          </a:p>
          <a:p>
            <a:r>
              <a:rPr sz="1000">
                <a:solidFill>
                  <a:srgbClr val="1F2937"/>
                </a:solidFill>
                <a:latin typeface="Aptos"/>
              </a:rPr>
              <a:t>WorkSight Projects: TSA (Trane Select Assist) · Equipment (R12) · DMC / MDP · Jobs &amp; CoJo · Contracting (Team 1 &amp; 2) · Work Package · Documents (DocGen) · Service</a:t>
            </a:r>
          </a:p>
          <a:p>
            <a:r>
              <a:rPr sz="1000">
                <a:solidFill>
                  <a:srgbClr val="1F2937"/>
                </a:solidFill>
                <a:latin typeface="Aptos"/>
              </a:rPr>
              <a:t>Other Projects: TDA (Trane Design Assist)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50" name="Text 1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151" name="Rectangle 150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" y="49377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00" b="0">
                <a:solidFill>
                  <a:srgbClr val="4B5563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Ramesh Hegde · QA Manager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82880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2880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92807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WorkSight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82880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Projects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08076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08076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44768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TDA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08076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572000" y="1408176"/>
            <a:ext cx="0" cy="256032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50592" y="1664208"/>
            <a:ext cx="4242816" cy="0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450592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693408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4114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14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754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Trane Select Assist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114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Varsha 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4173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4173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4813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Equipment (R12)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4173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Brinda S/Harikrishnan, Aiswarya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231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4231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4871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DMC / MDP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231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Mahesh 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42900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2900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9300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Jobs &amp; CoJo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42900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Rashmi R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434840" y="2907792"/>
            <a:ext cx="987552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3484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2907792"/>
            <a:ext cx="91440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Contracting(Team 1 &amp; 2) (Tax)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434840" y="3438144"/>
            <a:ext cx="9875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Vignesh S/Preethi Khajji/Srinivasa 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406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406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5046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Work Package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406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Likhith P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4465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4465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5105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Documents (DocGen)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465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Sandhyarani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74523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4523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5163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523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0">
                <a:solidFill>
                  <a:srgbClr val="1F2937"/>
                </a:solidFill>
                <a:latin typeface="Aptos"/>
              </a:rPr>
              <a:t>Frank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6459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6459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6459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6459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6459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1" name="Shape 129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4626864" y="186537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653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653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653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653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084831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084831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084831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084831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084831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0428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0428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0428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0428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0428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2374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2374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2374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2374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2374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4320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4320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4320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4320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4320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74" name="Text 7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  <p:sp>
        <p:nvSpPr>
          <p:cNvPr id="75" name="Rectangle 74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7472" y="54864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DMC / MDP Team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" y="78638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7472" y="78638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2336" y="78638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Brian Brockman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78638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51576" y="78638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" y="100584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47472" y="100584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336" y="100584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Bryan Lainhart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79776" y="100584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51576" y="100584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" y="1225295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7472" y="1225295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2336" y="1225295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Vipin Saroha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79776" y="1225295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Analyst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751576" y="1225295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47472" y="144475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47472" y="144475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" y="144475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Praveen Gopal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79776" y="144475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751576" y="144475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Cognizant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7472" y="166420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7472" y="166420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2336" y="166420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Snehalata Shidling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79776" y="166420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 / Dev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51576" y="166420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7472" y="1883664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47472" y="1883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336" y="1883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Mahesh Laddi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79776" y="1883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751576" y="1883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" y="2103120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7472" y="2103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02336" y="2103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Anusha Gadade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79776" y="2103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51576" y="2103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" y="2322576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47472" y="2322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336" y="2322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Sarala V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79776" y="2322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 / R12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751576" y="2322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47472" y="278892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47472" y="302666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47472" y="3026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2336" y="3026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Albin Xavier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776" y="3026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026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47472" y="324612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47472" y="3246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2336" y="3246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Narayan Kapali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779776" y="3246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WorkSight FA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751576" y="3246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Cognizant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47472" y="3465576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472" y="3465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02336" y="3465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Sachin Salvi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776" y="3465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51576" y="3465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47472" y="368503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7472" y="368503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02336" y="368503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Elizabeth Garcia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79776" y="368503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751576" y="368503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390448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47472" y="390448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02336" y="390448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Krishna Kumar 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776" y="390448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R12 FA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51576" y="390448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Contractor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POs, BAs, Developers &amp; Scrum (T1 &amp; T2)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Nikki Johann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Bethany Bornheimer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 Czapnik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Product Owner · T1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Christian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Rufeeda Khan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26864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26864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81728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Ved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6200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725583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TCS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47472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47472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02336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Arvind Gupta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86808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446191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626864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26864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681728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Vishnuraj Jayaraj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6200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25583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47472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347472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IN" b="1" dirty="0"/>
              <a:t>, </a:t>
            </a:r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986808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46191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626864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26864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681728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Blidarescu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6200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T1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25583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Slalom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47472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47472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02336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Verma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986808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446191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Nagarajan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Kelly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· T1,2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4" name="Text 12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45" name="Shape 2">
            <a:extLst>
              <a:ext uri="{FF2B5EF4-FFF2-40B4-BE49-F238E27FC236}">
                <a16:creationId xmlns:a16="http://schemas.microsoft.com/office/drawing/2014/main" id="{EBD55432-CB5C-6A70-48E3-874C09F1A249}"/>
              </a:ext>
            </a:extLst>
          </p:cNvPr>
          <p:cNvSpPr/>
          <p:nvPr/>
        </p:nvSpPr>
        <p:spPr>
          <a:xfrm>
            <a:off x="2380254" y="32506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3">
            <a:extLst>
              <a:ext uri="{FF2B5EF4-FFF2-40B4-BE49-F238E27FC236}">
                <a16:creationId xmlns:a16="http://schemas.microsoft.com/office/drawing/2014/main" id="{A12CADC4-5840-2AE2-1507-F107FB98E9DC}"/>
              </a:ext>
            </a:extLst>
          </p:cNvPr>
          <p:cNvSpPr/>
          <p:nvPr/>
        </p:nvSpPr>
        <p:spPr>
          <a:xfrm>
            <a:off x="2380254" y="32506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4">
            <a:extLst>
              <a:ext uri="{FF2B5EF4-FFF2-40B4-BE49-F238E27FC236}">
                <a16:creationId xmlns:a16="http://schemas.microsoft.com/office/drawing/2014/main" id="{0F5F05F8-39B8-C501-0269-3CEFBD26BCAB}"/>
              </a:ext>
            </a:extLst>
          </p:cNvPr>
          <p:cNvSpPr/>
          <p:nvPr/>
        </p:nvSpPr>
        <p:spPr>
          <a:xfrm>
            <a:off x="2435118" y="32506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Corinne Kreuger</a:t>
            </a:r>
            <a:endParaRPr lang="en-US" sz="750" dirty="0"/>
          </a:p>
        </p:txBody>
      </p:sp>
      <p:sp>
        <p:nvSpPr>
          <p:cNvPr id="148" name="Text 5">
            <a:extLst>
              <a:ext uri="{FF2B5EF4-FFF2-40B4-BE49-F238E27FC236}">
                <a16:creationId xmlns:a16="http://schemas.microsoft.com/office/drawing/2014/main" id="{54868EC8-D42F-34FE-825D-840D98950BFD}"/>
              </a:ext>
            </a:extLst>
          </p:cNvPr>
          <p:cNvSpPr/>
          <p:nvPr/>
        </p:nvSpPr>
        <p:spPr>
          <a:xfrm>
            <a:off x="4019590" y="32506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/ BA</a:t>
            </a:r>
            <a:endParaRPr lang="en-US" sz="700" dirty="0"/>
          </a:p>
        </p:txBody>
      </p:sp>
      <p:sp>
        <p:nvSpPr>
          <p:cNvPr id="149" name="Text 6">
            <a:extLst>
              <a:ext uri="{FF2B5EF4-FFF2-40B4-BE49-F238E27FC236}">
                <a16:creationId xmlns:a16="http://schemas.microsoft.com/office/drawing/2014/main" id="{10478DEC-618D-52F5-B823-6F84D3B56BE4}"/>
              </a:ext>
            </a:extLst>
          </p:cNvPr>
          <p:cNvSpPr/>
          <p:nvPr/>
        </p:nvSpPr>
        <p:spPr>
          <a:xfrm>
            <a:off x="5478973" y="32506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0" name="Shape 7">
            <a:extLst>
              <a:ext uri="{FF2B5EF4-FFF2-40B4-BE49-F238E27FC236}">
                <a16:creationId xmlns:a16="http://schemas.microsoft.com/office/drawing/2014/main" id="{4443177F-14E0-0524-DFC0-4733EA1C2BD1}"/>
              </a:ext>
            </a:extLst>
          </p:cNvPr>
          <p:cNvSpPr/>
          <p:nvPr/>
        </p:nvSpPr>
        <p:spPr>
          <a:xfrm>
            <a:off x="2380254" y="345186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8">
            <a:extLst>
              <a:ext uri="{FF2B5EF4-FFF2-40B4-BE49-F238E27FC236}">
                <a16:creationId xmlns:a16="http://schemas.microsoft.com/office/drawing/2014/main" id="{92AFBA6A-20D8-9B13-6D3A-2635A7165980}"/>
              </a:ext>
            </a:extLst>
          </p:cNvPr>
          <p:cNvSpPr/>
          <p:nvPr/>
        </p:nvSpPr>
        <p:spPr>
          <a:xfrm>
            <a:off x="2380254" y="34518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9">
            <a:extLst>
              <a:ext uri="{FF2B5EF4-FFF2-40B4-BE49-F238E27FC236}">
                <a16:creationId xmlns:a16="http://schemas.microsoft.com/office/drawing/2014/main" id="{8293E44D-2214-F26F-AC03-4E46E527B51B}"/>
              </a:ext>
            </a:extLst>
          </p:cNvPr>
          <p:cNvSpPr/>
          <p:nvPr/>
        </p:nvSpPr>
        <p:spPr>
          <a:xfrm>
            <a:off x="2435118" y="34518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Sathish Kumar E</a:t>
            </a:r>
            <a:endParaRPr lang="en-US" sz="750" dirty="0"/>
          </a:p>
        </p:txBody>
      </p:sp>
      <p:sp>
        <p:nvSpPr>
          <p:cNvPr id="153" name="Text 10">
            <a:extLst>
              <a:ext uri="{FF2B5EF4-FFF2-40B4-BE49-F238E27FC236}">
                <a16:creationId xmlns:a16="http://schemas.microsoft.com/office/drawing/2014/main" id="{8FBE0BFC-7338-4067-6030-71B2F471C9AC}"/>
              </a:ext>
            </a:extLst>
          </p:cNvPr>
          <p:cNvSpPr/>
          <p:nvPr/>
        </p:nvSpPr>
        <p:spPr>
          <a:xfrm>
            <a:off x="4019590" y="34518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4" name="Text 11">
            <a:extLst>
              <a:ext uri="{FF2B5EF4-FFF2-40B4-BE49-F238E27FC236}">
                <a16:creationId xmlns:a16="http://schemas.microsoft.com/office/drawing/2014/main" id="{6B5BE7CA-4378-263F-C8B2-389089267078}"/>
              </a:ext>
            </a:extLst>
          </p:cNvPr>
          <p:cNvSpPr/>
          <p:nvPr/>
        </p:nvSpPr>
        <p:spPr>
          <a:xfrm>
            <a:off x="5478973" y="34518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5" name="Shape 12">
            <a:extLst>
              <a:ext uri="{FF2B5EF4-FFF2-40B4-BE49-F238E27FC236}">
                <a16:creationId xmlns:a16="http://schemas.microsoft.com/office/drawing/2014/main" id="{B4C2B65F-E474-0D53-DF6C-C8BB6BC0737C}"/>
              </a:ext>
            </a:extLst>
          </p:cNvPr>
          <p:cNvSpPr/>
          <p:nvPr/>
        </p:nvSpPr>
        <p:spPr>
          <a:xfrm>
            <a:off x="2380254" y="3653028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3">
            <a:extLst>
              <a:ext uri="{FF2B5EF4-FFF2-40B4-BE49-F238E27FC236}">
                <a16:creationId xmlns:a16="http://schemas.microsoft.com/office/drawing/2014/main" id="{B8F67448-0909-5BD8-5749-CCFCB639755B}"/>
              </a:ext>
            </a:extLst>
          </p:cNvPr>
          <p:cNvSpPr/>
          <p:nvPr/>
        </p:nvSpPr>
        <p:spPr>
          <a:xfrm>
            <a:off x="2380254" y="365302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4">
            <a:extLst>
              <a:ext uri="{FF2B5EF4-FFF2-40B4-BE49-F238E27FC236}">
                <a16:creationId xmlns:a16="http://schemas.microsoft.com/office/drawing/2014/main" id="{DE89FAED-E141-476A-AC02-760DC47BA5C7}"/>
              </a:ext>
            </a:extLst>
          </p:cNvPr>
          <p:cNvSpPr/>
          <p:nvPr/>
        </p:nvSpPr>
        <p:spPr>
          <a:xfrm>
            <a:off x="2435118" y="365302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Joshi</a:t>
            </a:r>
            <a:endParaRPr lang="en-US" sz="750" dirty="0"/>
          </a:p>
        </p:txBody>
      </p:sp>
      <p:sp>
        <p:nvSpPr>
          <p:cNvPr id="158" name="Text 15">
            <a:extLst>
              <a:ext uri="{FF2B5EF4-FFF2-40B4-BE49-F238E27FC236}">
                <a16:creationId xmlns:a16="http://schemas.microsoft.com/office/drawing/2014/main" id="{A07C819E-320B-7A85-0FC2-E7F59921852C}"/>
              </a:ext>
            </a:extLst>
          </p:cNvPr>
          <p:cNvSpPr/>
          <p:nvPr/>
        </p:nvSpPr>
        <p:spPr>
          <a:xfrm>
            <a:off x="4019590" y="365302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9" name="Text 16">
            <a:extLst>
              <a:ext uri="{FF2B5EF4-FFF2-40B4-BE49-F238E27FC236}">
                <a16:creationId xmlns:a16="http://schemas.microsoft.com/office/drawing/2014/main" id="{CB26AB6A-DD24-EABD-1A51-D7CD7896BF37}"/>
              </a:ext>
            </a:extLst>
          </p:cNvPr>
          <p:cNvSpPr/>
          <p:nvPr/>
        </p:nvSpPr>
        <p:spPr>
          <a:xfrm>
            <a:off x="5478973" y="365302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60" name="Shape 17">
            <a:extLst>
              <a:ext uri="{FF2B5EF4-FFF2-40B4-BE49-F238E27FC236}">
                <a16:creationId xmlns:a16="http://schemas.microsoft.com/office/drawing/2014/main" id="{D654ED4B-65D7-FA75-EBE8-E46A457FE070}"/>
              </a:ext>
            </a:extLst>
          </p:cNvPr>
          <p:cNvSpPr/>
          <p:nvPr/>
        </p:nvSpPr>
        <p:spPr>
          <a:xfrm>
            <a:off x="2380254" y="3854196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1" name="Shape 18">
            <a:extLst>
              <a:ext uri="{FF2B5EF4-FFF2-40B4-BE49-F238E27FC236}">
                <a16:creationId xmlns:a16="http://schemas.microsoft.com/office/drawing/2014/main" id="{AE5C8E96-7579-A445-58F2-50C7ACA98194}"/>
              </a:ext>
            </a:extLst>
          </p:cNvPr>
          <p:cNvSpPr/>
          <p:nvPr/>
        </p:nvSpPr>
        <p:spPr>
          <a:xfrm>
            <a:off x="2380254" y="385419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9">
            <a:extLst>
              <a:ext uri="{FF2B5EF4-FFF2-40B4-BE49-F238E27FC236}">
                <a16:creationId xmlns:a16="http://schemas.microsoft.com/office/drawing/2014/main" id="{42CA1252-B350-8BF4-7EFD-484B6DF2E02B}"/>
              </a:ext>
            </a:extLst>
          </p:cNvPr>
          <p:cNvSpPr/>
          <p:nvPr/>
        </p:nvSpPr>
        <p:spPr>
          <a:xfrm>
            <a:off x="2435118" y="385419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Brenner</a:t>
            </a:r>
            <a:endParaRPr lang="en-US" sz="75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73F2728A-635E-A718-5A4F-80882D1AACB4}"/>
              </a:ext>
            </a:extLst>
          </p:cNvPr>
          <p:cNvSpPr/>
          <p:nvPr/>
        </p:nvSpPr>
        <p:spPr>
          <a:xfrm>
            <a:off x="4019590" y="385419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 dirty="0"/>
          </a:p>
        </p:txBody>
      </p:sp>
      <p:sp>
        <p:nvSpPr>
          <p:cNvPr id="164" name="Text 21">
            <a:extLst>
              <a:ext uri="{FF2B5EF4-FFF2-40B4-BE49-F238E27FC236}">
                <a16:creationId xmlns:a16="http://schemas.microsoft.com/office/drawing/2014/main" id="{2E29BC59-0035-A450-4E0F-185B36D52FE7}"/>
              </a:ext>
            </a:extLst>
          </p:cNvPr>
          <p:cNvSpPr/>
          <p:nvPr/>
        </p:nvSpPr>
        <p:spPr>
          <a:xfrm>
            <a:off x="5478973" y="385419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65" name="Text 1"/>
          <p:cNvSpPr/>
          <p:nvPr/>
        </p:nvSpPr>
        <p:spPr>
          <a:xfrm>
            <a:off x="2380254" y="3015058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Team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Team 1 (WorkSight &amp; R12 Devs / FAs)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 Xavier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Narayan Kapali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Salvi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Garcia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Kumar 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39" name="Text 13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463" y="4588179"/>
            <a:ext cx="1097280" cy="475488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347472" y="481785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172" name="Rectangle 171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1F2937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65176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WorkPackage QA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65176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65176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20040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Likhith Pateel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01952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364992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65176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65176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20040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Sudha Malbhage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1952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3364992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65176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5176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20040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Nitesh Achari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901952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364992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5176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65176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20040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Pradeep K Battula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901952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Automation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364992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65176" y="166420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TSA QA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65176" y="190195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5176" y="19019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320040" y="19019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Varsha Chitray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901952" y="19019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3364992" y="19019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65176" y="207568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65176" y="207568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20040" y="20756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Prarthana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901952" y="20756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364992" y="20756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65176" y="224942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65176" y="224942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20040" y="22494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Mothukuri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901952" y="22494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364992" y="22494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265176" y="242316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65176" y="242316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0040" y="24231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Aastha Tripathi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901952" y="24231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Func/Auto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364992" y="24231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65176" y="259689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65176" y="259689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0040" y="25968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Rislow Chad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901952" y="25968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PA – Product Analyst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364992" y="25968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65176" y="277063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5176" y="277063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20040" y="27706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Christopher Brown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901952" y="27706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3364992" y="27706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65176" y="2944368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65176" y="294436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20040" y="294436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Kristen Dale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901952" y="294436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PO – Product Owner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364992" y="294436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65176" y="331012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TDA QA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65176" y="354787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5176" y="354787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20040" y="35478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Naveen 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901952" y="35478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364992" y="35478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65176" y="372160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65176" y="372160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0040" y="37216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Navya B R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1901952" y="37216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364992" y="37216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265176" y="389534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265176" y="389534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20040" y="38953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Manoj Kulkarni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901952" y="38953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364992" y="38953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5176" y="406908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65176" y="406908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320040" y="40690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Gurulingappa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1901952" y="40690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364992" y="40690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265176" y="424281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5176" y="424281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20040" y="42428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Drew Rauvola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901952" y="42428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Application Owner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364992" y="42428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56" name="Rectangle 255"/>
          <p:cNvSpPr/>
          <p:nvPr/>
        </p:nvSpPr>
        <p:spPr>
          <a:xfrm>
            <a:off x="265176" y="4416552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5176" y="44165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20040" y="44165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Abby Hoolver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1901952" y="44165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Business Owner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3364992" y="44165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/>
            </a:r>
          </a:p>
        </p:txBody>
      </p:sp>
      <p:sp>
        <p:nvSpPr>
          <p:cNvPr id="261" name="Rectangle 260"/>
          <p:cNvSpPr/>
          <p:nvPr/>
        </p:nvSpPr>
        <p:spPr>
          <a:xfrm>
            <a:off x="4626864" y="548640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Jobs CoJo QA &amp; Key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4626864" y="786384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626864" y="7863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81727" y="7863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Rashmi Ranganath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6263640" y="7863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Lead/Scrum Master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726679" y="7863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626864" y="978408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26864" y="9784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681727" y="9784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Chethana B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63640" y="9784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Functional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7726679" y="9784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Trane-ITC-C2H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4626864" y="117043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626864" y="11704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681727" y="11704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Matt Parish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263640" y="11704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726679" y="11704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4626864" y="13624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626864" y="13624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681727" y="13624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Hasan Al Quasem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263640" y="13624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IT Prod Analyst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7726679" y="13624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4626864" y="184708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Documents / DocGen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4626864" y="2084831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626864" y="2084831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681727" y="2084831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Sandhyarani M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263640" y="2084831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QA – Func/Perf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726679" y="2084831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626864" y="227685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626864" y="227685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681727" y="227685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Angela Puent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6263640" y="227685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Product Owner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726679" y="227685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4626864" y="2468879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626864" y="2468879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681727" y="2468879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Brett Meddaugh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263640" y="2468879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Architect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7726679" y="2468879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· Trane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626864" y="2660903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626864" y="2660903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681727" y="2660903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Chandana Gowda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263640" y="2660903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Developer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7726679" y="2660903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Offshore · Trane-ITC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626864" y="314553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0">
                <a:solidFill>
                  <a:srgbClr val="1F2937"/>
                </a:solidFill>
                <a:latin typeface="Aptos"/>
              </a:rPr>
              <a:t>Service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626864" y="338328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626864" y="338328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681727" y="338328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Kreidermacher, Tara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263640" y="338328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Scrum Master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726679" y="338328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626864" y="357530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4626864" y="357530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681727" y="357530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0">
                <a:solidFill>
                  <a:srgbClr val="1F2937"/>
                </a:solidFill>
                <a:latin typeface="Aptos"/>
              </a:rPr>
              <a:t>Pruner, Kenneth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263640" y="357530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1F2937"/>
                </a:solidFill>
                <a:latin typeface="Aptos"/>
              </a:rPr>
              <a:t>Project Manager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726679" y="357530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4B5563"/>
                </a:solidFill>
                <a:latin typeface="Aptos"/>
              </a:rPr>
              <a:t>Onshore - Trane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– Checklist &amp; Application URLs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347472" y="73152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315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1819656" y="7315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347472" y="100584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47472" y="10058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819656" y="10058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47472" y="12801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Headphones / Mouse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819656" y="12801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347472" y="155448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7472" y="15544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1554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ID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1819656" y="15544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20" name="Shape 18"/>
          <p:cNvSpPr/>
          <p:nvPr/>
        </p:nvSpPr>
        <p:spPr>
          <a:xfrm>
            <a:off x="347472" y="182880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47472" y="18288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Access/Confluence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819656" y="18288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QA Lead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14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819656" y="21031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28" name="Shape 26"/>
          <p:cNvSpPr/>
          <p:nvPr/>
        </p:nvSpPr>
        <p:spPr>
          <a:xfrm>
            <a:off x="347472" y="237744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47472" y="23774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1148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819656" y="23774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32" name="Shape 30"/>
          <p:cNvSpPr/>
          <p:nvPr/>
        </p:nvSpPr>
        <p:spPr>
          <a:xfrm>
            <a:off x="347472" y="265176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47472" y="26517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GitHub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819656" y="26517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KB0040682</a:t>
            </a:r>
            <a:endParaRPr lang="en-US" sz="900"/>
          </a:p>
        </p:txBody>
      </p:sp>
      <p:sp>
        <p:nvSpPr>
          <p:cNvPr id="37" name="Shape 35"/>
          <p:cNvSpPr/>
          <p:nvPr/>
        </p:nvSpPr>
        <p:spPr>
          <a:xfrm>
            <a:off x="347472" y="29260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47472" y="32004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97894" y="292608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34747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148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DB Access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1819656" y="34747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47472" y="37490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47472" y="40233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47472" y="40233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114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URLs</a:t>
            </a:r>
            <a:endParaRPr lang="en-US" sz="900"/>
          </a:p>
        </p:txBody>
      </p:sp>
      <p:sp>
        <p:nvSpPr>
          <p:cNvPr id="55" name="Text 53"/>
          <p:cNvSpPr/>
          <p:nvPr/>
        </p:nvSpPr>
        <p:spPr>
          <a:xfrm>
            <a:off x="1819656" y="40233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right column</a:t>
            </a:r>
            <a:endParaRPr lang="en-US" sz="900"/>
          </a:p>
        </p:txBody>
      </p:sp>
      <p:sp>
        <p:nvSpPr>
          <p:cNvPr id="57" name="Shape 55"/>
          <p:cNvSpPr/>
          <p:nvPr/>
        </p:nvSpPr>
        <p:spPr>
          <a:xfrm>
            <a:off x="347472" y="42976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46320" y="5120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URLs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4846320" y="7315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50"/>
          </a:p>
        </p:txBody>
      </p:sp>
      <p:sp>
        <p:nvSpPr>
          <p:cNvPr id="62" name="Shape 60"/>
          <p:cNvSpPr/>
          <p:nvPr/>
        </p:nvSpPr>
        <p:spPr>
          <a:xfrm>
            <a:off x="4846320" y="91440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901184" y="91440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64" name="Text 62"/>
          <p:cNvSpPr/>
          <p:nvPr/>
        </p:nvSpPr>
        <p:spPr>
          <a:xfrm>
            <a:off x="5806440" y="91440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dev.traneselectassist.com</a:t>
            </a:r>
            <a:endParaRPr lang="en-US" sz="750"/>
          </a:p>
        </p:txBody>
      </p:sp>
      <p:sp>
        <p:nvSpPr>
          <p:cNvPr id="65" name="Shape 63"/>
          <p:cNvSpPr/>
          <p:nvPr/>
        </p:nvSpPr>
        <p:spPr>
          <a:xfrm>
            <a:off x="4846320" y="1152144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01184" y="11521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67" name="Text 65"/>
          <p:cNvSpPr/>
          <p:nvPr/>
        </p:nvSpPr>
        <p:spPr>
          <a:xfrm>
            <a:off x="5806440" y="115214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test.traneselectassist.com</a:t>
            </a:r>
            <a:endParaRPr lang="en-US" sz="750"/>
          </a:p>
        </p:txBody>
      </p:sp>
      <p:sp>
        <p:nvSpPr>
          <p:cNvPr id="68" name="Shape 66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901184" y="13898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70" name="Text 68"/>
          <p:cNvSpPr/>
          <p:nvPr/>
        </p:nvSpPr>
        <p:spPr>
          <a:xfrm>
            <a:off x="5806440" y="1389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traneselectassist.com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4846320" y="16642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TSMT</a:t>
            </a:r>
            <a:endParaRPr lang="en-US" sz="850"/>
          </a:p>
        </p:txBody>
      </p:sp>
      <p:sp>
        <p:nvSpPr>
          <p:cNvPr id="72" name="Shape 70"/>
          <p:cNvSpPr/>
          <p:nvPr/>
        </p:nvSpPr>
        <p:spPr>
          <a:xfrm>
            <a:off x="4846320" y="18470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901184" y="18470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74" name="Text 72"/>
          <p:cNvSpPr/>
          <p:nvPr/>
        </p:nvSpPr>
        <p:spPr>
          <a:xfrm>
            <a:off x="5806440" y="18470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devsalestools.trane.com</a:t>
            </a:r>
            <a:endParaRPr lang="en-US" sz="750"/>
          </a:p>
        </p:txBody>
      </p:sp>
      <p:sp>
        <p:nvSpPr>
          <p:cNvPr id="75" name="Shape 73"/>
          <p:cNvSpPr/>
          <p:nvPr/>
        </p:nvSpPr>
        <p:spPr>
          <a:xfrm>
            <a:off x="4846320" y="2084832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901184" y="20848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77" name="Text 75"/>
          <p:cNvSpPr/>
          <p:nvPr/>
        </p:nvSpPr>
        <p:spPr>
          <a:xfrm>
            <a:off x="5806440" y="20848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uatsalestools.trane.com</a:t>
            </a:r>
            <a:endParaRPr lang="en-US" sz="750"/>
          </a:p>
        </p:txBody>
      </p:sp>
      <p:sp>
        <p:nvSpPr>
          <p:cNvPr id="78" name="Shape 76"/>
          <p:cNvSpPr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901184" y="23225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80" name="Text 78"/>
          <p:cNvSpPr/>
          <p:nvPr/>
        </p:nvSpPr>
        <p:spPr>
          <a:xfrm>
            <a:off x="5806440" y="23225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salestools.trane.com</a:t>
            </a:r>
            <a:endParaRPr lang="en-US" sz="750"/>
          </a:p>
        </p:txBody>
      </p:sp>
      <p:sp>
        <p:nvSpPr>
          <p:cNvPr id="81" name="Text 79"/>
          <p:cNvSpPr/>
          <p:nvPr/>
        </p:nvSpPr>
        <p:spPr>
          <a:xfrm>
            <a:off x="484632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50"/>
          </a:p>
        </p:txBody>
      </p:sp>
      <p:sp>
        <p:nvSpPr>
          <p:cNvPr id="82" name="Shape 80"/>
          <p:cNvSpPr/>
          <p:nvPr/>
        </p:nvSpPr>
        <p:spPr>
          <a:xfrm>
            <a:off x="4846320" y="27797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4901184" y="27797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84" name="Text 82"/>
          <p:cNvSpPr/>
          <p:nvPr/>
        </p:nvSpPr>
        <p:spPr>
          <a:xfrm>
            <a:off x="5806440" y="27797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devdmc.trane.com</a:t>
            </a:r>
            <a:endParaRPr lang="en-US" sz="750"/>
          </a:p>
        </p:txBody>
      </p:sp>
      <p:sp>
        <p:nvSpPr>
          <p:cNvPr id="85" name="Shape 83"/>
          <p:cNvSpPr/>
          <p:nvPr/>
        </p:nvSpPr>
        <p:spPr>
          <a:xfrm>
            <a:off x="4846320" y="3017520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901184" y="30175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87" name="Text 85"/>
          <p:cNvSpPr/>
          <p:nvPr/>
        </p:nvSpPr>
        <p:spPr>
          <a:xfrm>
            <a:off x="5806440" y="301752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uatdmc.trane.com</a:t>
            </a:r>
            <a:endParaRPr lang="en-US" sz="750"/>
          </a:p>
        </p:txBody>
      </p:sp>
      <p:sp>
        <p:nvSpPr>
          <p:cNvPr id="88" name="Shape 86"/>
          <p:cNvSpPr/>
          <p:nvPr/>
        </p:nvSpPr>
        <p:spPr>
          <a:xfrm>
            <a:off x="4846320" y="32552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901184" y="32552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90" name="Text 88"/>
          <p:cNvSpPr/>
          <p:nvPr/>
        </p:nvSpPr>
        <p:spPr>
          <a:xfrm>
            <a:off x="5806440" y="32552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dmc.trane.com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4846320" y="352958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</a:t>
            </a:r>
            <a:endParaRPr lang="en-US" sz="850"/>
          </a:p>
        </p:txBody>
      </p:sp>
      <p:sp>
        <p:nvSpPr>
          <p:cNvPr id="92" name="Shape 90"/>
          <p:cNvSpPr/>
          <p:nvPr/>
        </p:nvSpPr>
        <p:spPr>
          <a:xfrm>
            <a:off x="4846320" y="37124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4901184" y="37124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</a:t>
            </a:r>
            <a:endParaRPr lang="en-US" sz="850"/>
          </a:p>
        </p:txBody>
      </p:sp>
      <p:sp>
        <p:nvSpPr>
          <p:cNvPr id="94" name="Text 92"/>
          <p:cNvSpPr/>
          <p:nvPr/>
        </p:nvSpPr>
        <p:spPr>
          <a:xfrm>
            <a:off x="5806440" y="37124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tranetechnologies.service-now.com/sp</a:t>
            </a:r>
            <a:endParaRPr lang="en-US" sz="750"/>
          </a:p>
        </p:txBody>
      </p:sp>
      <p:sp>
        <p:nvSpPr>
          <p:cNvPr id="95" name="Shape 93"/>
          <p:cNvSpPr/>
          <p:nvPr/>
        </p:nvSpPr>
        <p:spPr>
          <a:xfrm>
            <a:off x="4846320" y="3950208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901184" y="39502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</a:t>
            </a:r>
            <a:endParaRPr lang="en-US" sz="850"/>
          </a:p>
        </p:txBody>
      </p:sp>
      <p:sp>
        <p:nvSpPr>
          <p:cNvPr id="97" name="Text 95"/>
          <p:cNvSpPr/>
          <p:nvPr/>
        </p:nvSpPr>
        <p:spPr>
          <a:xfrm>
            <a:off x="5806440" y="395020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tranetis.jira.com/wiki/spaces/TOPSS</a:t>
            </a:r>
            <a:endParaRPr lang="en-US" sz="750"/>
          </a:p>
        </p:txBody>
      </p:sp>
      <p:sp>
        <p:nvSpPr>
          <p:cNvPr id="98" name="Shape 96"/>
          <p:cNvSpPr/>
          <p:nvPr/>
        </p:nvSpPr>
        <p:spPr>
          <a:xfrm>
            <a:off x="4846320" y="4187952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01184" y="41879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50"/>
          </a:p>
        </p:txBody>
      </p:sp>
      <p:sp>
        <p:nvSpPr>
          <p:cNvPr id="100" name="Text 98"/>
          <p:cNvSpPr/>
          <p:nvPr/>
        </p:nvSpPr>
        <p:spPr>
          <a:xfrm>
            <a:off x="5806440" y="418795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github.com/enterprises/tranetechnologies/sso</a:t>
            </a:r>
            <a:endParaRPr lang="en-US" sz="750"/>
          </a:p>
        </p:txBody>
      </p:sp>
      <p:sp>
        <p:nvSpPr>
          <p:cNvPr id="101" name="Shape 99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01184" y="44256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Portal:</a:t>
            </a:r>
            <a:endParaRPr lang="en-US" sz="850"/>
          </a:p>
        </p:txBody>
      </p:sp>
      <p:sp>
        <p:nvSpPr>
          <p:cNvPr id="103" name="Text 101"/>
          <p:cNvSpPr/>
          <p:nvPr/>
        </p:nvSpPr>
        <p:spPr>
          <a:xfrm>
            <a:off x="5806440" y="442569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tranetechnologies.service-now.com/hrportal</a:t>
            </a:r>
            <a:endParaRPr lang="en-US" sz="750"/>
          </a:p>
        </p:txBody>
      </p:sp>
      <p:sp>
        <p:nvSpPr>
          <p:cNvPr id="104" name="Shape 102"/>
          <p:cNvSpPr/>
          <p:nvPr/>
        </p:nvSpPr>
        <p:spPr>
          <a:xfrm>
            <a:off x="4846320" y="466344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4901184" y="46634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Citrix:</a:t>
            </a:r>
            <a:endParaRPr lang="en-US" sz="850"/>
          </a:p>
        </p:txBody>
      </p:sp>
      <p:sp>
        <p:nvSpPr>
          <p:cNvPr id="106" name="Text 104"/>
          <p:cNvSpPr/>
          <p:nvPr/>
        </p:nvSpPr>
        <p:spPr>
          <a:xfrm>
            <a:off x="5806440" y="4663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tranecitrix.corp.global</a:t>
            </a:r>
            <a:endParaRPr lang="en-US" sz="750"/>
          </a:p>
        </p:txBody>
      </p:sp>
      <p:pic>
        <p:nvPicPr>
          <p:cNvPr id="10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08" name="Text 10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  <p:sp>
        <p:nvSpPr>
          <p:cNvPr id="111" name="Text 44">
            <a:extLst>
              <a:ext uri="{FF2B5EF4-FFF2-40B4-BE49-F238E27FC236}">
                <a16:creationId xmlns:a16="http://schemas.microsoft.com/office/drawing/2014/main" id="{C2AB565E-C169-1F15-A1AA-06A562914ED1}"/>
              </a:ext>
            </a:extLst>
          </p:cNvPr>
          <p:cNvSpPr/>
          <p:nvPr/>
        </p:nvSpPr>
        <p:spPr>
          <a:xfrm>
            <a:off x="361058" y="2913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DL’s</a:t>
            </a:r>
            <a:endParaRPr lang="en-US" sz="900"/>
          </a:p>
        </p:txBody>
      </p:sp>
      <p:sp>
        <p:nvSpPr>
          <p:cNvPr id="112" name="Text 44">
            <a:extLst>
              <a:ext uri="{FF2B5EF4-FFF2-40B4-BE49-F238E27FC236}">
                <a16:creationId xmlns:a16="http://schemas.microsoft.com/office/drawing/2014/main" id="{4DE9AE0B-4632-74F6-CC3C-4E0D865AFF07}"/>
              </a:ext>
            </a:extLst>
          </p:cNvPr>
          <p:cNvSpPr/>
          <p:nvPr/>
        </p:nvSpPr>
        <p:spPr>
          <a:xfrm>
            <a:off x="338328" y="32030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/>
              <a:t>Add to MS teams</a:t>
            </a:r>
          </a:p>
        </p:txBody>
      </p:sp>
      <p:sp>
        <p:nvSpPr>
          <p:cNvPr id="113" name="Text 45">
            <a:extLst>
              <a:ext uri="{FF2B5EF4-FFF2-40B4-BE49-F238E27FC236}">
                <a16:creationId xmlns:a16="http://schemas.microsoft.com/office/drawing/2014/main" id="{1D5CE06D-F9EB-9340-14CE-9DEA0126B70C}"/>
              </a:ext>
            </a:extLst>
          </p:cNvPr>
          <p:cNvSpPr/>
          <p:nvPr/>
        </p:nvSpPr>
        <p:spPr>
          <a:xfrm>
            <a:off x="1819656" y="3218688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</a:t>
            </a:r>
            <a:endParaRPr lang="en-US" sz="900"/>
          </a:p>
        </p:txBody>
      </p:sp>
      <p:sp>
        <p:nvSpPr>
          <p:cNvPr id="114" name="Text 45">
            <a:extLst>
              <a:ext uri="{FF2B5EF4-FFF2-40B4-BE49-F238E27FC236}">
                <a16:creationId xmlns:a16="http://schemas.microsoft.com/office/drawing/2014/main" id="{BF66B7ED-2545-BA75-C1C2-0B5F2A267D96}"/>
              </a:ext>
            </a:extLst>
          </p:cNvPr>
          <p:cNvSpPr/>
          <p:nvPr/>
        </p:nvSpPr>
        <p:spPr>
          <a:xfrm>
            <a:off x="1796666" y="2924772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 ·  KT Plan  ·  Points of Contact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actions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804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76656" y="768096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certifications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6656" y="982980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4048" y="1225296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84048" y="1225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" y="118872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" y="1403604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Talent Mgmt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7472" y="1591056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84048" y="1645920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1645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1609344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People Profile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" y="1824228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SuccessFactors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7472" y="2011680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" y="2066544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" y="202996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TOPSSQA Site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244852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sharepoint.com/sites/topss.com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" y="2432304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" y="2450592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6656" y="2665476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Leave Mgmt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472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145536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02336" y="314553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755648" y="314553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Computer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3364992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336" y="3364992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 / Server: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55648" y="3364992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Access Request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7472" y="3584448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02336" y="3584448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755648" y="3584448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KB0040682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7472" y="3803904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336" y="3803904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License: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755648" y="3803904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RITM0731045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47472" y="4023360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02336" y="4023360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Access: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755648" y="4023360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RITM0731066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47472" y="4242816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424281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755648" y="424281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1,5,8,9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5072" y="5120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5072" y="74980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059936" y="749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59552" y="7498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005072" y="1060704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059936" y="10607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59552" y="10607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005072" y="1371600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59936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Contracting/Tax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59552" y="137160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005072" y="1682496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059936" y="168249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59552" y="16824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005072" y="1993392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059936" y="199339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19933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005072" y="2304288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59936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559552" y="23042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005072" y="2615184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059936" y="26151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(TestNG)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559552" y="261518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05072" y="2926080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59936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(Hybrid)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59552" y="29260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Chhabria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005072" y="3236976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059936" y="3236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Auto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559552" y="323697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005072" y="3547872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059936" y="3547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559552" y="3547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005072" y="385876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4059936" y="38587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559552" y="38587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748272" y="512064"/>
            <a:ext cx="2048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748272" y="74980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6803136" y="74980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827264" y="74980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48272" y="104241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6803136" y="104241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 &amp; 2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827264" y="104241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S/Preeti k/Srinivas 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1335024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6803136" y="133502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827264" y="133502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748272" y="1627632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6803136" y="162763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827264" y="162763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L/Anusha 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748272" y="1920240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6803136" y="192024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7827264" y="192024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748272" y="2212848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6803136" y="221284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7827264" y="221284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750">
                <a:solidFill>
                  <a:srgbClr val="1F2937"/>
                </a:solidFill>
                <a:latin typeface="Aptos"/>
              </a:rPr>
              <a:t>Brinda S</a:t>
            </a:r>
          </a:p>
        </p:txBody>
      </p:sp>
      <p:sp>
        <p:nvSpPr>
          <p:cNvPr id="101" name="Shape 99"/>
          <p:cNvSpPr/>
          <p:nvPr/>
        </p:nvSpPr>
        <p:spPr>
          <a:xfrm>
            <a:off x="6748272" y="2505456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6803136" y="250545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827264" y="250545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748272" y="2798064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6803136" y="279806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827264" y="279806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748272" y="3090672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6803136" y="309067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(Prod)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827264" y="309067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748272" y="3383280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6803136" y="338328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827264" y="338328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748272" y="367588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6803136" y="367588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827264" y="367588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748272" y="396849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6803136" y="396849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827264" y="396849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</a:t>
            </a:r>
            <a:endParaRPr lang="en-US" sz="750" dirty="0"/>
          </a:p>
        </p:txBody>
      </p:sp>
      <p:pic>
        <p:nvPicPr>
          <p:cNvPr id="1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0" name="Text 11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