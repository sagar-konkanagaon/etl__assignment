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D53693-15AB-4B33-9CF1-1FDE45C8B252}" v="58" dt="2026-05-07T16:17:56.785"/>
    <p1510:client id="{E1002C20-7C07-45EC-B056-14A9E7F205A7}" v="377" dt="2026-05-07T10:02:25.2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26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2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29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ranetis.jira.com/wiki/spaces/TSMT/pages/4088692861/Trane+Select+Assist+TSA" TargetMode="External"/><Relationship Id="rId4" Type="http://schemas.openxmlformats.org/officeDocument/2006/relationships/hyperlink" Target="https://tranetis.jira.com/wiki/spaces/TSMT/pages/4108681299/Equipment+Onboarding" TargetMode="External"/><Relationship Id="rId5" Type="http://schemas.openxmlformats.org/officeDocument/2006/relationships/hyperlink" Target="https://tranetis.jira.com/wiki/spaces/TSMT/pages/4089217110/Data+Maintenance+Center+Manufacturing+Data+Preparation+DMC+MDP" TargetMode="External"/><Relationship Id="rId6" Type="http://schemas.openxmlformats.org/officeDocument/2006/relationships/hyperlink" Target="https://tranetis.jira.com/wiki/spaces/TSMT/pages/4108517505/Jobs+Coordinated+Jobs+COJO" TargetMode="External"/><Relationship Id="rId7" Type="http://schemas.openxmlformats.org/officeDocument/2006/relationships/hyperlink" Target="https://tranetis.jira.com/wiki/spaces/TSMT/pages/4501078104/Contracting+Team" TargetMode="External"/><Relationship Id="rId8" Type="http://schemas.openxmlformats.org/officeDocument/2006/relationships/hyperlink" Target="https://tranetis.jira.com/wiki/spaces/TSMT/pages/4108812330/Trane+Design+Assist+TDA" TargetMode="External"/><Relationship Id="rId9" Type="http://schemas.openxmlformats.org/officeDocument/2006/relationships/hyperlink" Target="https://tranetis.jira.com/wiki/spaces/TSMT/pages/4108812415/Work+Package+Onboarding" TargetMode="External"/><Relationship Id="rId10" Type="http://schemas.openxmlformats.org/officeDocument/2006/relationships/hyperlink" Target="https://tranetis.jira.com/wiki/spaces/TSMT/pages/4501733404/Service" TargetMode="External"/><Relationship Id="rId11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CHVAC QA Core team</a:t>
            </a:r>
            <a:endParaRPr lang="en-US" sz="3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deck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65836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94944" y="65836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7472" y="104241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47472" y="1133856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94944" y="1133856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1517904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7472" y="1609344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94944" y="1609344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7472" y="1993392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47472" y="2084832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4944" y="2084832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 to 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7472" y="2468880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7472" y="2560320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4944" y="2560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Plan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7472" y="2944368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47472" y="303580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4944" y="30358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Contact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341985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303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spans USA and India across multiple delivery tracks under the CHVAC IT OTC QA practice.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47472" y="932688"/>
            <a:ext cx="5029200" cy="548640"/>
          </a:xfrm>
          <a:prstGeom prst="rect">
            <a:avLst/>
          </a:prstGeom>
          <a:solidFill>
            <a:srgbClr val="EDE7F6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932688"/>
            <a:ext cx="64008" cy="54864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75488" y="969264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Ramesh Hegde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207008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Sr. Manager – QA Leader  ·  WorkSight QA Lead  ·  Trane-ITC  ·  Offshore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47472" y="1572767"/>
            <a:ext cx="5029200" cy="2395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800"/>
              <a:t>Delivery Tracks</a:t>
            </a:r>
          </a:p>
          <a:p/>
          <a:p>
            <a:r>
              <a:rPr sz="800"/>
              <a:t>WorkSight Projects:</a:t>
            </a:r>
          </a:p>
          <a:p>
            <a:r>
              <a:rPr sz="800"/>
              <a:t>- TSA (Trane Select Assist)</a:t>
            </a:r>
          </a:p>
          <a:p>
            <a:r>
              <a:rPr sz="800"/>
              <a:t>- Equipment (R12)</a:t>
            </a:r>
          </a:p>
          <a:p>
            <a:r>
              <a:rPr sz="800"/>
              <a:t>- DMC / MDP</a:t>
            </a:r>
          </a:p>
          <a:p>
            <a:r>
              <a:rPr sz="800"/>
              <a:t>- Jobs &amp; CoJo</a:t>
            </a:r>
          </a:p>
          <a:p>
            <a:r>
              <a:rPr sz="800"/>
              <a:t>- Contracting (Team 1 &amp; 2)</a:t>
            </a:r>
          </a:p>
          <a:p>
            <a:r>
              <a:rPr sz="800"/>
              <a:t>- Work Package</a:t>
            </a:r>
          </a:p>
          <a:p>
            <a:r>
              <a:rPr sz="800"/>
              <a:t>- Documents (DocGen)</a:t>
            </a:r>
          </a:p>
          <a:p>
            <a:r>
              <a:rPr sz="800"/>
              <a:t>- Service</a:t>
            </a:r>
          </a:p>
          <a:p/>
          <a:p>
            <a:r>
              <a:rPr sz="800"/>
              <a:t>Other Projects:</a:t>
            </a:r>
          </a:p>
          <a:p>
            <a:r>
              <a:rPr sz="800"/>
              <a:t>- TDA (Trane Design Assist)</a:t>
            </a:r>
          </a:p>
        </p:txBody>
      </p:sp>
      <p:sp>
        <p:nvSpPr>
          <p:cNvPr id="13" name="Text 11"/>
          <p:cNvSpPr/>
          <p:nvPr/>
        </p:nvSpPr>
        <p:spPr>
          <a:xfrm>
            <a:off x="5669280" y="53035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at a Glance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80467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724144" y="8046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589520" y="8046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0" y="107899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724144" y="10789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589520" y="107899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0" y="135331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724144" y="13533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589520" y="135331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0" y="162763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724144" y="16276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589520" y="162763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0" y="190195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724144" y="1901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Func. Analysts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589520" y="190195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0" y="217627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724144" y="21762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 / PAs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589520" y="21762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1550" b="1">
                <a:solidFill>
                  <a:srgbClr val="1E375A"/>
                </a:solidFill>
                <a:latin typeface="Aptos"/>
              </a:rPr>
              <a:t>WorkSight QA - Reporting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457200"/>
            <a:ext cx="8449056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670" b="0">
                <a:solidFill>
                  <a:srgbClr val="58606A"/>
                </a:solidFill>
                <a:latin typeface="Aptos"/>
              </a:rPr>
              <a:t>Ramesh Hegde leads two sessions: WorkSight and TDA.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7560" y="804672"/>
            <a:ext cx="2468880" cy="4754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47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900" b="1">
                <a:solidFill>
                  <a:srgbClr val="1E375A"/>
                </a:solidFill>
                <a:latin typeface="Aptos"/>
              </a:rPr>
              <a:t>Ramesh Hegde
WorkSight QA Manager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280160"/>
            <a:ext cx="0" cy="228600"/>
          </a:xfrm>
          <a:prstGeom prst="line">
            <a:avLst/>
          </a:prstGeom>
          <a:ln w="15240">
            <a:solidFill>
              <a:srgbClr val="E47E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331720" y="1508760"/>
            <a:ext cx="4480560" cy="0"/>
          </a:xfrm>
          <a:prstGeom prst="line">
            <a:avLst/>
          </a:prstGeom>
          <a:ln w="15240">
            <a:solidFill>
              <a:srgbClr val="E47E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331720" y="1508760"/>
            <a:ext cx="0" cy="228600"/>
          </a:xfrm>
          <a:prstGeom prst="line">
            <a:avLst/>
          </a:prstGeom>
          <a:ln w="15240">
            <a:solidFill>
              <a:srgbClr val="E47E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812280" y="1508760"/>
            <a:ext cx="0" cy="228600"/>
          </a:xfrm>
          <a:prstGeom prst="line">
            <a:avLst/>
          </a:prstGeom>
          <a:ln w="15240">
            <a:solidFill>
              <a:srgbClr val="E47E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11480" y="1737360"/>
            <a:ext cx="5166360" cy="210312"/>
          </a:xfrm>
          <a:prstGeom prst="roundRect">
            <a:avLst/>
          </a:prstGeom>
          <a:solidFill>
            <a:srgbClr val="2C69B0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WorkSight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1737360"/>
            <a:ext cx="2697480" cy="210312"/>
          </a:xfrm>
          <a:prstGeom prst="roundRect">
            <a:avLst/>
          </a:prstGeom>
          <a:solidFill>
            <a:srgbClr val="21898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TDA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84831"/>
            <a:ext cx="2286000" cy="2468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630" b="1">
                <a:solidFill>
                  <a:srgbClr val="1E375A"/>
                </a:solidFill>
                <a:latin typeface="Aptos"/>
              </a:rPr>
              <a:t>Trane Select Assist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59151"/>
            <a:ext cx="2286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520" b="0">
                <a:solidFill>
                  <a:srgbClr val="58606A"/>
                </a:solidFill>
                <a:latin typeface="Aptos"/>
              </a:rPr>
              <a:t>Varsha 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2084831"/>
            <a:ext cx="2286000" cy="2468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630" b="1">
                <a:solidFill>
                  <a:srgbClr val="1E375A"/>
                </a:solidFill>
                <a:latin typeface="Aptos"/>
              </a:rPr>
              <a:t>Equipment (R12)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2359151"/>
            <a:ext cx="2286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520" b="0">
                <a:solidFill>
                  <a:srgbClr val="58606A"/>
                </a:solidFill>
                <a:latin typeface="Aptos"/>
              </a:rPr>
              <a:t>Brinda S / Harikrishnan / Aiswarya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51760"/>
            <a:ext cx="2286000" cy="2468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630" b="1">
                <a:solidFill>
                  <a:srgbClr val="1E375A"/>
                </a:solidFill>
                <a:latin typeface="Aptos"/>
              </a:rPr>
              <a:t>DMC / MDP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26079"/>
            <a:ext cx="2286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520" b="0">
                <a:solidFill>
                  <a:srgbClr val="58606A"/>
                </a:solidFill>
                <a:latin typeface="Aptos"/>
              </a:rPr>
              <a:t>Mahesh 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2651760"/>
            <a:ext cx="2286000" cy="2468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630" b="1">
                <a:solidFill>
                  <a:srgbClr val="1E375A"/>
                </a:solidFill>
                <a:latin typeface="Aptos"/>
              </a:rPr>
              <a:t>Jobs &amp; CoJo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2926079"/>
            <a:ext cx="2286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520" b="0">
                <a:solidFill>
                  <a:srgbClr val="58606A"/>
                </a:solidFill>
                <a:latin typeface="Aptos"/>
              </a:rPr>
              <a:t>Rashmi 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18687"/>
            <a:ext cx="2286000" cy="2468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630" b="1">
                <a:solidFill>
                  <a:srgbClr val="1E375A"/>
                </a:solidFill>
                <a:latin typeface="Aptos"/>
              </a:rPr>
              <a:t>Contracting Team 1 &amp; 2 (Tax)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93007"/>
            <a:ext cx="2286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520" b="0">
                <a:solidFill>
                  <a:srgbClr val="58606A"/>
                </a:solidFill>
                <a:latin typeface="Aptos"/>
              </a:rPr>
              <a:t>Vignesh S / Preethi K / Srinivasa 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17520" y="3218687"/>
            <a:ext cx="2286000" cy="2468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630" b="1">
                <a:solidFill>
                  <a:srgbClr val="1E375A"/>
                </a:solidFill>
                <a:latin typeface="Aptos"/>
              </a:rPr>
              <a:t>Work Package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3493007"/>
            <a:ext cx="2286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520" b="0">
                <a:solidFill>
                  <a:srgbClr val="58606A"/>
                </a:solidFill>
                <a:latin typeface="Aptos"/>
              </a:rPr>
              <a:t>Likhith 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85615"/>
            <a:ext cx="2286000" cy="2468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630" b="1">
                <a:solidFill>
                  <a:srgbClr val="1E375A"/>
                </a:solidFill>
                <a:latin typeface="Aptos"/>
              </a:rPr>
              <a:t>Documents (DocGen)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059935"/>
            <a:ext cx="2286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520" b="0">
                <a:solidFill>
                  <a:srgbClr val="58606A"/>
                </a:solidFill>
                <a:latin typeface="Aptos"/>
              </a:rPr>
              <a:t>Sandhyarani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17520" y="3785615"/>
            <a:ext cx="2286000" cy="2468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630" b="1">
                <a:solidFill>
                  <a:srgbClr val="1E375A"/>
                </a:solidFill>
                <a:latin typeface="Aptos"/>
              </a:rPr>
              <a:t>Service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4059935"/>
            <a:ext cx="2286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520" b="0">
                <a:solidFill>
                  <a:srgbClr val="58606A"/>
                </a:solidFill>
                <a:latin typeface="Aptos"/>
              </a:rPr>
              <a:t>Frank 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2084831"/>
            <a:ext cx="1234440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80" b="1">
                <a:solidFill>
                  <a:srgbClr val="1E375A"/>
                </a:solidFill>
                <a:latin typeface="Aptos"/>
              </a:rPr>
              <a:t>Trane Design Assist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3760" y="2084831"/>
            <a:ext cx="1234440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80" b="0">
                <a:solidFill>
                  <a:srgbClr val="1E375A"/>
                </a:solidFill>
                <a:latin typeface="Aptos"/>
              </a:rPr>
              <a:t>Naveen 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2395727"/>
            <a:ext cx="1234440" cy="310896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80" b="1">
                <a:solidFill>
                  <a:srgbClr val="1E375A"/>
                </a:solidFill>
                <a:latin typeface="Aptos"/>
              </a:rPr>
              <a:t>QA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0" y="2395727"/>
            <a:ext cx="1234440" cy="310896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80" b="0">
                <a:solidFill>
                  <a:srgbClr val="1E375A"/>
                </a:solidFill>
                <a:latin typeface="Aptos"/>
              </a:rPr>
              <a:t>Navya B 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2706624"/>
            <a:ext cx="1234440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80" b="1">
                <a:solidFill>
                  <a:srgbClr val="1E375A"/>
                </a:solidFill>
                <a:latin typeface="Aptos"/>
              </a:rPr>
              <a:t>QA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2706624"/>
            <a:ext cx="1234440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80" b="0">
                <a:solidFill>
                  <a:srgbClr val="1E375A"/>
                </a:solidFill>
                <a:latin typeface="Aptos"/>
              </a:rPr>
              <a:t>Manoj Kulkarni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3017520"/>
            <a:ext cx="1234440" cy="310896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80" b="1">
                <a:solidFill>
                  <a:srgbClr val="1E375A"/>
                </a:solidFill>
                <a:latin typeface="Aptos"/>
              </a:rPr>
              <a:t>QA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3760" y="3017520"/>
            <a:ext cx="1234440" cy="310896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80" b="0">
                <a:solidFill>
                  <a:srgbClr val="1E375A"/>
                </a:solidFill>
                <a:latin typeface="Aptos"/>
              </a:rPr>
              <a:t>Gurulingappa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00" b="0">
                <a:solidFill>
                  <a:srgbClr val="58606A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Track – Teams A &amp; B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 (14 members)</a:t>
            </a:r>
            <a:endParaRPr lang="en-US" sz="950"/>
          </a:p>
        </p:txBody>
      </p:sp>
      <p:sp>
        <p:nvSpPr>
          <p:cNvPr id="4" name="Shape 2"/>
          <p:cNvSpPr/>
          <p:nvPr/>
        </p:nvSpPr>
        <p:spPr>
          <a:xfrm>
            <a:off x="347472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Jaimie Christianson</a:t>
            </a:r>
            <a:endParaRPr lang="en-US" sz="750"/>
          </a:p>
        </p:txBody>
      </p:sp>
      <p:sp>
        <p:nvSpPr>
          <p:cNvPr id="7" name="Text 5"/>
          <p:cNvSpPr/>
          <p:nvPr/>
        </p:nvSpPr>
        <p:spPr>
          <a:xfrm>
            <a:off x="1986808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8" name="Text 6"/>
          <p:cNvSpPr/>
          <p:nvPr/>
        </p:nvSpPr>
        <p:spPr>
          <a:xfrm>
            <a:off x="3446191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" name="Shape 7"/>
          <p:cNvSpPr/>
          <p:nvPr/>
        </p:nvSpPr>
        <p:spPr>
          <a:xfrm>
            <a:off x="347472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47472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02336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Vijay Patti Reddy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1986808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Analyst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3446191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14" name="Shape 12"/>
          <p:cNvSpPr/>
          <p:nvPr/>
        </p:nvSpPr>
        <p:spPr>
          <a:xfrm>
            <a:off x="347472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Pradeesh Kumar</a:t>
            </a:r>
            <a:endParaRPr lang="en-US" sz="750"/>
          </a:p>
        </p:txBody>
      </p:sp>
      <p:sp>
        <p:nvSpPr>
          <p:cNvPr id="17" name="Text 15"/>
          <p:cNvSpPr/>
          <p:nvPr/>
        </p:nvSpPr>
        <p:spPr>
          <a:xfrm>
            <a:off x="1986808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3446191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54" name="Shape 52"/>
          <p:cNvSpPr/>
          <p:nvPr/>
        </p:nvSpPr>
        <p:spPr>
          <a:xfrm>
            <a:off x="347472" y="14538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4538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4538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Brinda S</a:t>
            </a:r>
            <a:endParaRPr lang="en-US" sz="750"/>
          </a:p>
        </p:txBody>
      </p:sp>
      <p:sp>
        <p:nvSpPr>
          <p:cNvPr id="57" name="Text 55"/>
          <p:cNvSpPr/>
          <p:nvPr/>
        </p:nvSpPr>
        <p:spPr>
          <a:xfrm>
            <a:off x="1986808" y="14538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58" name="Text 56"/>
          <p:cNvSpPr/>
          <p:nvPr/>
        </p:nvSpPr>
        <p:spPr>
          <a:xfrm>
            <a:off x="3446191" y="14538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59" name="Shape 57"/>
          <p:cNvSpPr/>
          <p:nvPr/>
        </p:nvSpPr>
        <p:spPr>
          <a:xfrm>
            <a:off x="347472" y="16733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347472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02336" y="16733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Devendra E</a:t>
            </a:r>
            <a:endParaRPr lang="en-US" sz="750"/>
          </a:p>
        </p:txBody>
      </p:sp>
      <p:sp>
        <p:nvSpPr>
          <p:cNvPr id="62" name="Text 60"/>
          <p:cNvSpPr/>
          <p:nvPr/>
        </p:nvSpPr>
        <p:spPr>
          <a:xfrm>
            <a:off x="1986808" y="16733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63" name="Text 61"/>
          <p:cNvSpPr/>
          <p:nvPr/>
        </p:nvSpPr>
        <p:spPr>
          <a:xfrm>
            <a:off x="3446191" y="16733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4" name="Shape 62"/>
          <p:cNvSpPr/>
          <p:nvPr/>
        </p:nvSpPr>
        <p:spPr>
          <a:xfrm>
            <a:off x="347472" y="18928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18928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18928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Praveen Nagaraj</a:t>
            </a:r>
            <a:endParaRPr lang="en-US" sz="750"/>
          </a:p>
        </p:txBody>
      </p:sp>
      <p:sp>
        <p:nvSpPr>
          <p:cNvPr id="67" name="Text 65"/>
          <p:cNvSpPr/>
          <p:nvPr/>
        </p:nvSpPr>
        <p:spPr>
          <a:xfrm>
            <a:off x="1986808" y="18928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68" name="Text 66"/>
          <p:cNvSpPr/>
          <p:nvPr/>
        </p:nvSpPr>
        <p:spPr>
          <a:xfrm>
            <a:off x="3446191" y="18928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9" name="Shape 67"/>
          <p:cNvSpPr/>
          <p:nvPr/>
        </p:nvSpPr>
        <p:spPr>
          <a:xfrm>
            <a:off x="347472" y="21122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347472" y="21122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02336" y="21122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Jashwanth Sai</a:t>
            </a:r>
            <a:endParaRPr lang="en-US" sz="750"/>
          </a:p>
        </p:txBody>
      </p:sp>
      <p:sp>
        <p:nvSpPr>
          <p:cNvPr id="72" name="Text 70"/>
          <p:cNvSpPr/>
          <p:nvPr/>
        </p:nvSpPr>
        <p:spPr>
          <a:xfrm>
            <a:off x="1986808" y="21122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73" name="Text 71"/>
          <p:cNvSpPr/>
          <p:nvPr/>
        </p:nvSpPr>
        <p:spPr>
          <a:xfrm>
            <a:off x="3446191" y="21122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74" name="Text 72"/>
          <p:cNvSpPr/>
          <p:nvPr/>
        </p:nvSpPr>
        <p:spPr>
          <a:xfrm>
            <a:off x="4626864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 (17 members)</a:t>
            </a:r>
            <a:endParaRPr lang="en-US" sz="950"/>
          </a:p>
        </p:txBody>
      </p:sp>
      <p:sp>
        <p:nvSpPr>
          <p:cNvPr id="75" name="Shape 73"/>
          <p:cNvSpPr/>
          <p:nvPr/>
        </p:nvSpPr>
        <p:spPr>
          <a:xfrm>
            <a:off x="4626864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4626864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4681728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 White</a:t>
            </a:r>
            <a:endParaRPr lang="en-US" sz="750"/>
          </a:p>
        </p:txBody>
      </p:sp>
      <p:sp>
        <p:nvSpPr>
          <p:cNvPr id="78" name="Text 76"/>
          <p:cNvSpPr/>
          <p:nvPr/>
        </p:nvSpPr>
        <p:spPr>
          <a:xfrm>
            <a:off x="6266200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79" name="Text 77"/>
          <p:cNvSpPr/>
          <p:nvPr/>
        </p:nvSpPr>
        <p:spPr>
          <a:xfrm>
            <a:off x="7725583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0" name="Shape 78"/>
          <p:cNvSpPr/>
          <p:nvPr/>
        </p:nvSpPr>
        <p:spPr>
          <a:xfrm>
            <a:off x="4626864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626864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81728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Cassi Key</a:t>
            </a:r>
            <a:endParaRPr lang="en-US" sz="750"/>
          </a:p>
        </p:txBody>
      </p:sp>
      <p:sp>
        <p:nvSpPr>
          <p:cNvPr id="83" name="Text 81"/>
          <p:cNvSpPr/>
          <p:nvPr/>
        </p:nvSpPr>
        <p:spPr>
          <a:xfrm>
            <a:off x="6266200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Business</a:t>
            </a:r>
            <a:endParaRPr lang="en-US" sz="700"/>
          </a:p>
        </p:txBody>
      </p:sp>
      <p:sp>
        <p:nvSpPr>
          <p:cNvPr id="84" name="Text 82"/>
          <p:cNvSpPr/>
          <p:nvPr/>
        </p:nvSpPr>
        <p:spPr>
          <a:xfrm>
            <a:off x="7725583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5" name="Shape 83"/>
          <p:cNvSpPr/>
          <p:nvPr/>
        </p:nvSpPr>
        <p:spPr>
          <a:xfrm>
            <a:off x="4626864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Shape 84"/>
          <p:cNvSpPr/>
          <p:nvPr/>
        </p:nvSpPr>
        <p:spPr>
          <a:xfrm>
            <a:off x="4626864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/>
          <p:nvPr/>
        </p:nvSpPr>
        <p:spPr>
          <a:xfrm>
            <a:off x="4681728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Harish Chintakuntla</a:t>
            </a:r>
            <a:endParaRPr lang="en-US" sz="750"/>
          </a:p>
        </p:txBody>
      </p:sp>
      <p:sp>
        <p:nvSpPr>
          <p:cNvPr id="88" name="Text 86"/>
          <p:cNvSpPr/>
          <p:nvPr/>
        </p:nvSpPr>
        <p:spPr>
          <a:xfrm>
            <a:off x="6266200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89" name="Text 87"/>
          <p:cNvSpPr/>
          <p:nvPr/>
        </p:nvSpPr>
        <p:spPr>
          <a:xfrm>
            <a:off x="7725583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0" name="Shape 88"/>
          <p:cNvSpPr/>
          <p:nvPr/>
        </p:nvSpPr>
        <p:spPr>
          <a:xfrm>
            <a:off x="4626864" y="14264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4626864" y="14264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681728" y="14264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Chirag Gandhi</a:t>
            </a:r>
            <a:endParaRPr lang="en-US" sz="750"/>
          </a:p>
        </p:txBody>
      </p:sp>
      <p:sp>
        <p:nvSpPr>
          <p:cNvPr id="93" name="Text 91"/>
          <p:cNvSpPr/>
          <p:nvPr/>
        </p:nvSpPr>
        <p:spPr>
          <a:xfrm>
            <a:off x="6266200" y="14264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94" name="Text 92"/>
          <p:cNvSpPr/>
          <p:nvPr/>
        </p:nvSpPr>
        <p:spPr>
          <a:xfrm>
            <a:off x="7725583" y="14264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25" name="Shape 123"/>
          <p:cNvSpPr/>
          <p:nvPr/>
        </p:nvSpPr>
        <p:spPr>
          <a:xfrm>
            <a:off x="4626864" y="1645920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Shape 124"/>
          <p:cNvSpPr/>
          <p:nvPr/>
        </p:nvSpPr>
        <p:spPr>
          <a:xfrm>
            <a:off x="4626864" y="1645920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681728" y="1645920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Blessing</a:t>
            </a:r>
            <a:endParaRPr lang="en-US" sz="750"/>
          </a:p>
        </p:txBody>
      </p:sp>
      <p:sp>
        <p:nvSpPr>
          <p:cNvPr id="128" name="Text 126"/>
          <p:cNvSpPr/>
          <p:nvPr/>
        </p:nvSpPr>
        <p:spPr>
          <a:xfrm>
            <a:off x="6266200" y="1645920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700"/>
          </a:p>
        </p:txBody>
      </p:sp>
      <p:sp>
        <p:nvSpPr>
          <p:cNvPr id="129" name="Text 127"/>
          <p:cNvSpPr/>
          <p:nvPr/>
        </p:nvSpPr>
        <p:spPr>
          <a:xfrm>
            <a:off x="7725583" y="1645920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31" name="Shape 129"/>
          <p:cNvSpPr/>
          <p:nvPr/>
        </p:nvSpPr>
        <p:spPr>
          <a:xfrm>
            <a:off x="4626864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Shape 133"/>
          <p:cNvSpPr/>
          <p:nvPr/>
        </p:nvSpPr>
        <p:spPr>
          <a:xfrm>
            <a:off x="4626864" y="186537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Shape 134"/>
          <p:cNvSpPr/>
          <p:nvPr/>
        </p:nvSpPr>
        <p:spPr>
          <a:xfrm>
            <a:off x="4626864" y="186537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Text 135"/>
          <p:cNvSpPr/>
          <p:nvPr/>
        </p:nvSpPr>
        <p:spPr>
          <a:xfrm>
            <a:off x="4681728" y="186537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Aiswarya H</a:t>
            </a:r>
            <a:endParaRPr lang="en-US" sz="750"/>
          </a:p>
        </p:txBody>
      </p:sp>
      <p:sp>
        <p:nvSpPr>
          <p:cNvPr id="138" name="Text 136"/>
          <p:cNvSpPr/>
          <p:nvPr/>
        </p:nvSpPr>
        <p:spPr>
          <a:xfrm>
            <a:off x="6266200" y="186537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139" name="Text 137"/>
          <p:cNvSpPr/>
          <p:nvPr/>
        </p:nvSpPr>
        <p:spPr>
          <a:xfrm>
            <a:off x="7725583" y="186537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0" name="Shape 138"/>
          <p:cNvSpPr/>
          <p:nvPr/>
        </p:nvSpPr>
        <p:spPr>
          <a:xfrm>
            <a:off x="4626864" y="2084831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1" name="Shape 139"/>
          <p:cNvSpPr/>
          <p:nvPr/>
        </p:nvSpPr>
        <p:spPr>
          <a:xfrm>
            <a:off x="4626864" y="2084831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681728" y="2084831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Sowmya Shetty</a:t>
            </a:r>
            <a:endParaRPr lang="en-US" sz="750"/>
          </a:p>
        </p:txBody>
      </p:sp>
      <p:sp>
        <p:nvSpPr>
          <p:cNvPr id="143" name="Text 141"/>
          <p:cNvSpPr/>
          <p:nvPr/>
        </p:nvSpPr>
        <p:spPr>
          <a:xfrm>
            <a:off x="6266200" y="2084831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R12</a:t>
            </a:r>
            <a:endParaRPr lang="en-US" sz="700"/>
          </a:p>
        </p:txBody>
      </p:sp>
      <p:sp>
        <p:nvSpPr>
          <p:cNvPr id="144" name="Text 142"/>
          <p:cNvSpPr/>
          <p:nvPr/>
        </p:nvSpPr>
        <p:spPr>
          <a:xfrm>
            <a:off x="7725583" y="2084831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5" name="Shape 143"/>
          <p:cNvSpPr/>
          <p:nvPr/>
        </p:nvSpPr>
        <p:spPr>
          <a:xfrm>
            <a:off x="4626864" y="230428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4626864" y="230428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4681728" y="230428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Greeshma Balan</a:t>
            </a:r>
            <a:endParaRPr lang="en-US" sz="750"/>
          </a:p>
        </p:txBody>
      </p:sp>
      <p:sp>
        <p:nvSpPr>
          <p:cNvPr id="148" name="Text 146"/>
          <p:cNvSpPr/>
          <p:nvPr/>
        </p:nvSpPr>
        <p:spPr>
          <a:xfrm>
            <a:off x="6266200" y="230428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49" name="Text 147"/>
          <p:cNvSpPr/>
          <p:nvPr/>
        </p:nvSpPr>
        <p:spPr>
          <a:xfrm>
            <a:off x="7725583" y="230428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/>
          </a:p>
        </p:txBody>
      </p:sp>
      <p:sp>
        <p:nvSpPr>
          <p:cNvPr id="150" name="Shape 148"/>
          <p:cNvSpPr/>
          <p:nvPr/>
        </p:nvSpPr>
        <p:spPr>
          <a:xfrm>
            <a:off x="4626864" y="252374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Shape 149"/>
          <p:cNvSpPr/>
          <p:nvPr/>
        </p:nvSpPr>
        <p:spPr>
          <a:xfrm>
            <a:off x="4626864" y="252374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2" name="Text 150"/>
          <p:cNvSpPr/>
          <p:nvPr/>
        </p:nvSpPr>
        <p:spPr>
          <a:xfrm>
            <a:off x="4681728" y="252374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Brahmananda R</a:t>
            </a:r>
            <a:endParaRPr lang="en-US" sz="750"/>
          </a:p>
        </p:txBody>
      </p:sp>
      <p:sp>
        <p:nvSpPr>
          <p:cNvPr id="153" name="Text 151"/>
          <p:cNvSpPr/>
          <p:nvPr/>
        </p:nvSpPr>
        <p:spPr>
          <a:xfrm>
            <a:off x="6266200" y="252374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54" name="Text 152"/>
          <p:cNvSpPr/>
          <p:nvPr/>
        </p:nvSpPr>
        <p:spPr>
          <a:xfrm>
            <a:off x="7725583" y="252374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55" name="Shape 153"/>
          <p:cNvSpPr/>
          <p:nvPr/>
        </p:nvSpPr>
        <p:spPr>
          <a:xfrm>
            <a:off x="4626864" y="2743200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4626864" y="2743200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681728" y="2743200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Kavya B N</a:t>
            </a:r>
            <a:endParaRPr lang="en-US" sz="750"/>
          </a:p>
        </p:txBody>
      </p:sp>
      <p:sp>
        <p:nvSpPr>
          <p:cNvPr id="158" name="Text 156"/>
          <p:cNvSpPr/>
          <p:nvPr/>
        </p:nvSpPr>
        <p:spPr>
          <a:xfrm>
            <a:off x="6266200" y="2743200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/>
          </a:p>
        </p:txBody>
      </p:sp>
      <p:sp>
        <p:nvSpPr>
          <p:cNvPr id="159" name="Text 157"/>
          <p:cNvSpPr/>
          <p:nvPr/>
        </p:nvSpPr>
        <p:spPr>
          <a:xfrm>
            <a:off x="7725583" y="2743200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pic>
        <p:nvPicPr>
          <p:cNvPr id="16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108960"/>
            <a:ext cx="1097280" cy="475488"/>
          </a:xfrm>
          <a:prstGeom prst="rect">
            <a:avLst/>
          </a:prstGeom>
        </p:spPr>
      </p:pic>
      <p:sp>
        <p:nvSpPr>
          <p:cNvPr id="161" name="Text 158"/>
          <p:cNvSpPr/>
          <p:nvPr/>
        </p:nvSpPr>
        <p:spPr>
          <a:xfrm>
            <a:off x="347472" y="32918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1550" b="1">
                <a:solidFill>
                  <a:srgbClr val="1E375A"/>
                </a:solidFill>
                <a:latin typeface="Aptos"/>
              </a:rPr>
              <a:t>DMC / MDP Track - Full Team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566928"/>
            <a:ext cx="4169663" cy="210312"/>
          </a:xfrm>
          <a:prstGeom prst="roundRect">
            <a:avLst/>
          </a:prstGeom>
          <a:solidFill>
            <a:srgbClr val="2C69B0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DMC / MDP Team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26864" y="566928"/>
            <a:ext cx="4169663" cy="210312"/>
          </a:xfrm>
          <a:prstGeom prst="roundRect">
            <a:avLst/>
          </a:prstGeom>
          <a:solidFill>
            <a:srgbClr val="21898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WorkSight &amp; R12 Devs / FAs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2336" y="841248"/>
            <a:ext cx="13258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1">
                <a:solidFill>
                  <a:srgbClr val="1E375A"/>
                </a:solidFill>
                <a:latin typeface="Aptos"/>
              </a:rPr>
              <a:t>Brian Brockman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1728216" y="841248"/>
            <a:ext cx="13258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Product Owner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54096" y="841248"/>
            <a:ext cx="1078992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58606A"/>
                </a:solidFill>
                <a:latin typeface="Aptos"/>
              </a:rPr>
              <a:t>Onshore -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1115568"/>
            <a:ext cx="1325880" cy="274320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1">
                <a:solidFill>
                  <a:srgbClr val="1E375A"/>
                </a:solidFill>
                <a:latin typeface="Aptos"/>
              </a:rPr>
              <a:t>Bryan Lainhart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8216" y="1115568"/>
            <a:ext cx="1325880" cy="274320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Product Owner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54096" y="1115568"/>
            <a:ext cx="1078992" cy="274320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58606A"/>
                </a:solidFill>
                <a:latin typeface="Aptos"/>
              </a:rPr>
              <a:t>Onshore - Trane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89888"/>
            <a:ext cx="13258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1">
                <a:solidFill>
                  <a:srgbClr val="1E375A"/>
                </a:solidFill>
                <a:latin typeface="Aptos"/>
              </a:rPr>
              <a:t>Vipin Saroha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28216" y="1389888"/>
            <a:ext cx="13258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Product Analyst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54096" y="1389888"/>
            <a:ext cx="1078992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58606A"/>
                </a:solidFill>
                <a:latin typeface="Aptos"/>
              </a:rPr>
              <a:t>Onshore - Trane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1664207"/>
            <a:ext cx="1325880" cy="274320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1">
                <a:solidFill>
                  <a:srgbClr val="1E375A"/>
                </a:solidFill>
                <a:latin typeface="Aptos"/>
              </a:rPr>
              <a:t>Praveen Gopal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28216" y="1664207"/>
            <a:ext cx="1325880" cy="274320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Business Analyst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54096" y="1664207"/>
            <a:ext cx="1078992" cy="274320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58606A"/>
                </a:solidFill>
                <a:latin typeface="Aptos"/>
              </a:rPr>
              <a:t>Offshore - Cognizant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1938528"/>
            <a:ext cx="13258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1">
                <a:solidFill>
                  <a:srgbClr val="1E375A"/>
                </a:solidFill>
                <a:latin typeface="Aptos"/>
              </a:rPr>
              <a:t>Snehalata Shidling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28216" y="1938528"/>
            <a:ext cx="13258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Scrum Master / Dev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4096" y="1938528"/>
            <a:ext cx="1078992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58606A"/>
                </a:solidFill>
                <a:latin typeface="Aptos"/>
              </a:rPr>
              <a:t>Offshore - Trane-ITC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212848"/>
            <a:ext cx="1325880" cy="274320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1">
                <a:solidFill>
                  <a:srgbClr val="1E375A"/>
                </a:solidFill>
                <a:latin typeface="Aptos"/>
              </a:rPr>
              <a:t>Mahesh Laddi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28216" y="2212848"/>
            <a:ext cx="1325880" cy="274320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QA - Functional / Automation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54096" y="2212848"/>
            <a:ext cx="1078992" cy="274320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58606A"/>
                </a:solidFill>
                <a:latin typeface="Aptos"/>
              </a:rPr>
              <a:t>Offshore - Trane-ITC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2487168"/>
            <a:ext cx="13258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1">
                <a:solidFill>
                  <a:srgbClr val="1E375A"/>
                </a:solidFill>
                <a:latin typeface="Aptos"/>
              </a:rPr>
              <a:t>Anusha Gadade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28216" y="2487168"/>
            <a:ext cx="13258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QA - Functional / Automation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54096" y="2487168"/>
            <a:ext cx="1078992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58606A"/>
                </a:solidFill>
                <a:latin typeface="Aptos"/>
              </a:rPr>
              <a:t>Offshore - Trane-ITC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" y="2761488"/>
            <a:ext cx="1325880" cy="274320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1">
                <a:solidFill>
                  <a:srgbClr val="1E375A"/>
                </a:solidFill>
                <a:latin typeface="Aptos"/>
              </a:rPr>
              <a:t>Sarala 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28216" y="2761488"/>
            <a:ext cx="1325880" cy="274320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QA - Functional / R12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54096" y="2761488"/>
            <a:ext cx="1078992" cy="274320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58606A"/>
                </a:solidFill>
                <a:latin typeface="Aptos"/>
              </a:rPr>
              <a:t>Offshore - Trane-ITC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1728" y="841248"/>
            <a:ext cx="13258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1">
                <a:solidFill>
                  <a:srgbClr val="1E375A"/>
                </a:solidFill>
                <a:latin typeface="Aptos"/>
              </a:rPr>
              <a:t>Albin Xavier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8" y="841248"/>
            <a:ext cx="12344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WorkSight 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42048" y="841248"/>
            <a:ext cx="1078992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58606A"/>
                </a:solidFill>
                <a:latin typeface="Aptos"/>
              </a:rPr>
              <a:t>Onshore - Cognizant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81728" y="1115568"/>
            <a:ext cx="1325880" cy="274320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1">
                <a:solidFill>
                  <a:srgbClr val="1E375A"/>
                </a:solidFill>
                <a:latin typeface="Aptos"/>
              </a:rPr>
              <a:t>Narayan Kapali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07608" y="1115568"/>
            <a:ext cx="1234440" cy="274320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WorkSight FA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2048" y="1115568"/>
            <a:ext cx="1078992" cy="274320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58606A"/>
                </a:solidFill>
                <a:latin typeface="Aptos"/>
              </a:rPr>
              <a:t>Onshore - Cognizant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81728" y="1389888"/>
            <a:ext cx="13258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1">
                <a:solidFill>
                  <a:srgbClr val="1E375A"/>
                </a:solidFill>
                <a:latin typeface="Aptos"/>
              </a:rPr>
              <a:t>Sachin Salvi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07608" y="1389888"/>
            <a:ext cx="12344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R12 FA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42048" y="1389888"/>
            <a:ext cx="1078992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58606A"/>
                </a:solidFill>
                <a:latin typeface="Aptos"/>
              </a:rPr>
              <a:t>Onshore - Contractor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81728" y="1664207"/>
            <a:ext cx="1325880" cy="274320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1">
                <a:solidFill>
                  <a:srgbClr val="1E375A"/>
                </a:solidFill>
                <a:latin typeface="Aptos"/>
              </a:rPr>
              <a:t>Elizabeth Garcia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07608" y="1664207"/>
            <a:ext cx="1234440" cy="274320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R12 FA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42048" y="1664207"/>
            <a:ext cx="1078992" cy="274320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58606A"/>
                </a:solidFill>
                <a:latin typeface="Aptos"/>
              </a:rPr>
              <a:t>Onshore - Trane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81728" y="1938528"/>
            <a:ext cx="13258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1">
                <a:solidFill>
                  <a:srgbClr val="1E375A"/>
                </a:solidFill>
                <a:latin typeface="Aptos"/>
              </a:rPr>
              <a:t>Krishna Kumar 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1938528"/>
            <a:ext cx="12344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R12 FA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42048" y="1938528"/>
            <a:ext cx="1078992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58606A"/>
                </a:solidFill>
                <a:latin typeface="Aptos"/>
              </a:rPr>
              <a:t>Onshore - Contractor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00" b="0">
                <a:solidFill>
                  <a:srgbClr val="58606A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&amp; Contracting – QA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02920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Teams 1 &amp; 2 </a:t>
            </a:r>
            <a:endParaRPr lang="en-US" sz="900" b="1" dirty="0">
              <a:solidFill>
                <a:srgbClr val="7030A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347472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Sheshababu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986808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 · T1,2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446191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626864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626864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681728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Preeti Khajji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266200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725583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47472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986808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Func/Auto/Perf · T2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446191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626864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626864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681728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Jinu Joy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266200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725583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347472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7472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02336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Kumar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986808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446191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4626864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626864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681728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Rakshita 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266200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725583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347472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02336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Yana Zapanti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86808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446191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26864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4626864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681728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 Chatterjee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266200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725583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347472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347472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02336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Vijitha 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986808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446191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4626864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4626864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4681728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 Kumari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266200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725583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347472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Anusha Patnana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986808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446191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4626864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4626864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681728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 D 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6266200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7725583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47472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Pramad Manohara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986808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3446191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4626864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4626864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681728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Sudar Subramanian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6266200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7725583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347472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3"/>
          <p:cNvSpPr/>
          <p:nvPr/>
        </p:nvSpPr>
        <p:spPr>
          <a:xfrm>
            <a:off x="347472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402336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Vibin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1986808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3446191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4626864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8"/>
          <p:cNvSpPr/>
          <p:nvPr/>
        </p:nvSpPr>
        <p:spPr>
          <a:xfrm>
            <a:off x="4626864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Text 79"/>
          <p:cNvSpPr/>
          <p:nvPr/>
        </p:nvSpPr>
        <p:spPr>
          <a:xfrm>
            <a:off x="4681728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Sivakumar R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266200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7725583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347472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Shape 83"/>
          <p:cNvSpPr/>
          <p:nvPr/>
        </p:nvSpPr>
        <p:spPr>
          <a:xfrm>
            <a:off x="347472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02336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Shalini N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986808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3446191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4626864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4626864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4681728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Subhashini S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266200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7725583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4" name="Shape 92"/>
          <p:cNvSpPr/>
          <p:nvPr/>
        </p:nvSpPr>
        <p:spPr>
          <a:xfrm>
            <a:off x="347472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3"/>
          <p:cNvSpPr/>
          <p:nvPr/>
        </p:nvSpPr>
        <p:spPr>
          <a:xfrm>
            <a:off x="347472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02336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Rangesh R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1986808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446191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4626864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4626864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681728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Lakshmi P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266200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7725583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347472" y="312724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5" name="Shape 103"/>
          <p:cNvSpPr/>
          <p:nvPr/>
        </p:nvSpPr>
        <p:spPr>
          <a:xfrm>
            <a:off x="347472" y="312724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02336" y="312724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Ankur Bhattacharjee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1986808" y="312724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3446191" y="312724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pic>
        <p:nvPicPr>
          <p:cNvPr id="10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10" name="Text 10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1" name="Shape 138">
            <a:extLst>
              <a:ext uri="{FF2B5EF4-FFF2-40B4-BE49-F238E27FC236}">
                <a16:creationId xmlns:a16="http://schemas.microsoft.com/office/drawing/2014/main" id="{867533B2-76B0-CA7A-CBCC-CC47C666F0A1}"/>
              </a:ext>
            </a:extLst>
          </p:cNvPr>
          <p:cNvSpPr/>
          <p:nvPr/>
        </p:nvSpPr>
        <p:spPr>
          <a:xfrm>
            <a:off x="2452309" y="3648456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39">
            <a:extLst>
              <a:ext uri="{FF2B5EF4-FFF2-40B4-BE49-F238E27FC236}">
                <a16:creationId xmlns:a16="http://schemas.microsoft.com/office/drawing/2014/main" id="{644364E0-6BAC-BA44-E108-8C2DB008A033}"/>
              </a:ext>
            </a:extLst>
          </p:cNvPr>
          <p:cNvSpPr/>
          <p:nvPr/>
        </p:nvSpPr>
        <p:spPr>
          <a:xfrm>
            <a:off x="2452309" y="364845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40">
            <a:extLst>
              <a:ext uri="{FF2B5EF4-FFF2-40B4-BE49-F238E27FC236}">
                <a16:creationId xmlns:a16="http://schemas.microsoft.com/office/drawing/2014/main" id="{15E7DD2A-C233-4D0D-4FD5-77955C57B118}"/>
              </a:ext>
            </a:extLst>
          </p:cNvPr>
          <p:cNvSpPr/>
          <p:nvPr/>
        </p:nvSpPr>
        <p:spPr>
          <a:xfrm>
            <a:off x="2507173" y="364845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Murcia</a:t>
            </a:r>
            <a:endParaRPr lang="en-US" sz="750" dirty="0"/>
          </a:p>
        </p:txBody>
      </p:sp>
      <p:sp>
        <p:nvSpPr>
          <p:cNvPr id="114" name="Text 141">
            <a:extLst>
              <a:ext uri="{FF2B5EF4-FFF2-40B4-BE49-F238E27FC236}">
                <a16:creationId xmlns:a16="http://schemas.microsoft.com/office/drawing/2014/main" id="{11D10F93-08C3-D807-6099-D55FDEC3A1F6}"/>
              </a:ext>
            </a:extLst>
          </p:cNvPr>
          <p:cNvSpPr/>
          <p:nvPr/>
        </p:nvSpPr>
        <p:spPr>
          <a:xfrm>
            <a:off x="4091645" y="364845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Scrum Master</a:t>
            </a:r>
            <a:endParaRPr lang="en-US" sz="700" dirty="0"/>
          </a:p>
        </p:txBody>
      </p:sp>
      <p:sp>
        <p:nvSpPr>
          <p:cNvPr id="115" name="Text 142">
            <a:extLst>
              <a:ext uri="{FF2B5EF4-FFF2-40B4-BE49-F238E27FC236}">
                <a16:creationId xmlns:a16="http://schemas.microsoft.com/office/drawing/2014/main" id="{2468DEA5-FA6B-B367-F1F7-BFF3F3F4B514}"/>
              </a:ext>
            </a:extLst>
          </p:cNvPr>
          <p:cNvSpPr/>
          <p:nvPr/>
        </p:nvSpPr>
        <p:spPr>
          <a:xfrm>
            <a:off x="5551028" y="364845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16" name="Shape 143">
            <a:extLst>
              <a:ext uri="{FF2B5EF4-FFF2-40B4-BE49-F238E27FC236}">
                <a16:creationId xmlns:a16="http://schemas.microsoft.com/office/drawing/2014/main" id="{AB2342D9-0366-7A1F-FDA7-B5EDD9949C75}"/>
              </a:ext>
            </a:extLst>
          </p:cNvPr>
          <p:cNvSpPr/>
          <p:nvPr/>
        </p:nvSpPr>
        <p:spPr>
          <a:xfrm>
            <a:off x="2452309" y="3849624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Shape 144">
            <a:extLst>
              <a:ext uri="{FF2B5EF4-FFF2-40B4-BE49-F238E27FC236}">
                <a16:creationId xmlns:a16="http://schemas.microsoft.com/office/drawing/2014/main" id="{E31CEC15-3473-9B95-7632-D85A58D042E6}"/>
              </a:ext>
            </a:extLst>
          </p:cNvPr>
          <p:cNvSpPr/>
          <p:nvPr/>
        </p:nvSpPr>
        <p:spPr>
          <a:xfrm>
            <a:off x="2452309" y="3849624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8" name="Text 145">
            <a:extLst>
              <a:ext uri="{FF2B5EF4-FFF2-40B4-BE49-F238E27FC236}">
                <a16:creationId xmlns:a16="http://schemas.microsoft.com/office/drawing/2014/main" id="{3FA3DA98-C763-9463-617E-749E2DE3DD27}"/>
              </a:ext>
            </a:extLst>
          </p:cNvPr>
          <p:cNvSpPr/>
          <p:nvPr/>
        </p:nvSpPr>
        <p:spPr>
          <a:xfrm>
            <a:off x="2507173" y="3849624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Yohalakshmi J</a:t>
            </a:r>
            <a:endParaRPr lang="en-US" sz="750" dirty="0"/>
          </a:p>
        </p:txBody>
      </p:sp>
      <p:sp>
        <p:nvSpPr>
          <p:cNvPr id="119" name="Text 146">
            <a:extLst>
              <a:ext uri="{FF2B5EF4-FFF2-40B4-BE49-F238E27FC236}">
                <a16:creationId xmlns:a16="http://schemas.microsoft.com/office/drawing/2014/main" id="{3469FDE8-1848-A2F2-9138-0946886EF27B}"/>
              </a:ext>
            </a:extLst>
          </p:cNvPr>
          <p:cNvSpPr/>
          <p:nvPr/>
        </p:nvSpPr>
        <p:spPr>
          <a:xfrm>
            <a:off x="4091645" y="3849624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 dirty="0"/>
          </a:p>
        </p:txBody>
      </p:sp>
      <p:sp>
        <p:nvSpPr>
          <p:cNvPr id="120" name="Text 147">
            <a:extLst>
              <a:ext uri="{FF2B5EF4-FFF2-40B4-BE49-F238E27FC236}">
                <a16:creationId xmlns:a16="http://schemas.microsoft.com/office/drawing/2014/main" id="{929B2146-8121-4D79-7B8B-11DFF02E5BCF}"/>
              </a:ext>
            </a:extLst>
          </p:cNvPr>
          <p:cNvSpPr/>
          <p:nvPr/>
        </p:nvSpPr>
        <p:spPr>
          <a:xfrm>
            <a:off x="5551028" y="384962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1" name="Shape 148">
            <a:extLst>
              <a:ext uri="{FF2B5EF4-FFF2-40B4-BE49-F238E27FC236}">
                <a16:creationId xmlns:a16="http://schemas.microsoft.com/office/drawing/2014/main" id="{3BBE816B-0629-8A26-118D-24E2090FBF4F}"/>
              </a:ext>
            </a:extLst>
          </p:cNvPr>
          <p:cNvSpPr/>
          <p:nvPr/>
        </p:nvSpPr>
        <p:spPr>
          <a:xfrm>
            <a:off x="2452309" y="405079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49">
            <a:extLst>
              <a:ext uri="{FF2B5EF4-FFF2-40B4-BE49-F238E27FC236}">
                <a16:creationId xmlns:a16="http://schemas.microsoft.com/office/drawing/2014/main" id="{552CD430-DA4C-E65A-2366-B8E503582AD2}"/>
              </a:ext>
            </a:extLst>
          </p:cNvPr>
          <p:cNvSpPr/>
          <p:nvPr/>
        </p:nvSpPr>
        <p:spPr>
          <a:xfrm>
            <a:off x="2452309" y="405079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3" name="Text 150">
            <a:extLst>
              <a:ext uri="{FF2B5EF4-FFF2-40B4-BE49-F238E27FC236}">
                <a16:creationId xmlns:a16="http://schemas.microsoft.com/office/drawing/2014/main" id="{74EFB674-22FC-BC98-9335-E736B1E9D2A0}"/>
              </a:ext>
            </a:extLst>
          </p:cNvPr>
          <p:cNvSpPr/>
          <p:nvPr/>
        </p:nvSpPr>
        <p:spPr>
          <a:xfrm>
            <a:off x="2507173" y="405079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Vivek Patil</a:t>
            </a:r>
            <a:endParaRPr lang="en-US" sz="750" dirty="0"/>
          </a:p>
        </p:txBody>
      </p:sp>
      <p:sp>
        <p:nvSpPr>
          <p:cNvPr id="124" name="Text 151">
            <a:extLst>
              <a:ext uri="{FF2B5EF4-FFF2-40B4-BE49-F238E27FC236}">
                <a16:creationId xmlns:a16="http://schemas.microsoft.com/office/drawing/2014/main" id="{CF4DD83F-3C00-5209-4DC2-70EFC58DF100}"/>
              </a:ext>
            </a:extLst>
          </p:cNvPr>
          <p:cNvSpPr/>
          <p:nvPr/>
        </p:nvSpPr>
        <p:spPr>
          <a:xfrm>
            <a:off x="4091645" y="405079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 dirty="0"/>
          </a:p>
        </p:txBody>
      </p:sp>
      <p:sp>
        <p:nvSpPr>
          <p:cNvPr id="125" name="Text 152">
            <a:extLst>
              <a:ext uri="{FF2B5EF4-FFF2-40B4-BE49-F238E27FC236}">
                <a16:creationId xmlns:a16="http://schemas.microsoft.com/office/drawing/2014/main" id="{EF21A035-C4EC-10A5-A2BB-68A31597E6FC}"/>
              </a:ext>
            </a:extLst>
          </p:cNvPr>
          <p:cNvSpPr/>
          <p:nvPr/>
        </p:nvSpPr>
        <p:spPr>
          <a:xfrm>
            <a:off x="5551028" y="405079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6" name="Shape 153">
            <a:extLst>
              <a:ext uri="{FF2B5EF4-FFF2-40B4-BE49-F238E27FC236}">
                <a16:creationId xmlns:a16="http://schemas.microsoft.com/office/drawing/2014/main" id="{0D57628C-B8DC-794B-DDBA-74D7FE67A969}"/>
              </a:ext>
            </a:extLst>
          </p:cNvPr>
          <p:cNvSpPr/>
          <p:nvPr/>
        </p:nvSpPr>
        <p:spPr>
          <a:xfrm>
            <a:off x="2488885" y="4251960"/>
            <a:ext cx="4133088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Shape 154">
            <a:extLst>
              <a:ext uri="{FF2B5EF4-FFF2-40B4-BE49-F238E27FC236}">
                <a16:creationId xmlns:a16="http://schemas.microsoft.com/office/drawing/2014/main" id="{0E83DAD4-3CE4-6447-6DD3-7C2B561CFF91}"/>
              </a:ext>
            </a:extLst>
          </p:cNvPr>
          <p:cNvSpPr/>
          <p:nvPr/>
        </p:nvSpPr>
        <p:spPr>
          <a:xfrm>
            <a:off x="2452309" y="425196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Text 155">
            <a:extLst>
              <a:ext uri="{FF2B5EF4-FFF2-40B4-BE49-F238E27FC236}">
                <a16:creationId xmlns:a16="http://schemas.microsoft.com/office/drawing/2014/main" id="{89E7CF45-ACAD-A0FC-94A2-B2599B0FC779}"/>
              </a:ext>
            </a:extLst>
          </p:cNvPr>
          <p:cNvSpPr/>
          <p:nvPr/>
        </p:nvSpPr>
        <p:spPr>
          <a:xfrm>
            <a:off x="2507173" y="425196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Amelia Mann</a:t>
            </a:r>
            <a:endParaRPr lang="en-US" sz="750" dirty="0"/>
          </a:p>
        </p:txBody>
      </p:sp>
      <p:sp>
        <p:nvSpPr>
          <p:cNvPr id="129" name="Text 156">
            <a:extLst>
              <a:ext uri="{FF2B5EF4-FFF2-40B4-BE49-F238E27FC236}">
                <a16:creationId xmlns:a16="http://schemas.microsoft.com/office/drawing/2014/main" id="{E13D2A14-251B-9F61-D5D5-D28CFFBBD821}"/>
              </a:ext>
            </a:extLst>
          </p:cNvPr>
          <p:cNvSpPr/>
          <p:nvPr/>
        </p:nvSpPr>
        <p:spPr>
          <a:xfrm>
            <a:off x="4091645" y="425196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 dirty="0"/>
          </a:p>
        </p:txBody>
      </p:sp>
      <p:sp>
        <p:nvSpPr>
          <p:cNvPr id="130" name="Text 157">
            <a:extLst>
              <a:ext uri="{FF2B5EF4-FFF2-40B4-BE49-F238E27FC236}">
                <a16:creationId xmlns:a16="http://schemas.microsoft.com/office/drawing/2014/main" id="{6076CDB1-506B-79EF-A91C-1102FF0ABA21}"/>
              </a:ext>
            </a:extLst>
          </p:cNvPr>
          <p:cNvSpPr/>
          <p:nvPr/>
        </p:nvSpPr>
        <p:spPr>
          <a:xfrm>
            <a:off x="5551028" y="425196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E28A5AD-726F-E401-56B0-FBF3982030D2}"/>
              </a:ext>
            </a:extLst>
          </p:cNvPr>
          <p:cNvSpPr txBox="1"/>
          <p:nvPr/>
        </p:nvSpPr>
        <p:spPr>
          <a:xfrm>
            <a:off x="2340864" y="3364992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Teams </a:t>
            </a:r>
            <a:endParaRPr lang="en-US" sz="900" b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1550" b="1">
                <a:solidFill>
                  <a:srgbClr val="1E375A"/>
                </a:solidFill>
                <a:latin typeface="Aptos"/>
              </a:rPr>
              <a:t>S&amp;C Contracting - POs, BAs, Developers &amp; Scrum (T1 &amp; T2)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566928"/>
            <a:ext cx="4169663" cy="210312"/>
          </a:xfrm>
          <a:prstGeom prst="roundRect">
            <a:avLst/>
          </a:prstGeom>
          <a:solidFill>
            <a:srgbClr val="2C69B0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POs, BAs, Developers &amp; Scrum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" y="822960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1">
                <a:solidFill>
                  <a:srgbClr val="1E375A"/>
                </a:solidFill>
                <a:latin typeface="Aptos"/>
              </a:rPr>
              <a:t>Nikki Johann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19656" y="822960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1E375A"/>
                </a:solidFill>
                <a:latin typeface="Aptos"/>
              </a:rPr>
              <a:t>Product Owner - T2</a:t>
            </a:r>
          </a:p>
        </p:txBody>
      </p:sp>
      <p:sp>
        <p:nvSpPr>
          <p:cNvPr id="6" name="Rectangle 5"/>
          <p:cNvSpPr/>
          <p:nvPr/>
        </p:nvSpPr>
        <p:spPr>
          <a:xfrm>
            <a:off x="3236976" y="822960"/>
            <a:ext cx="105156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58606A"/>
                </a:solidFill>
                <a:latin typeface="Aptos"/>
              </a:rPr>
              <a:t>Onshore - Trane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060704"/>
            <a:ext cx="141732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1">
                <a:solidFill>
                  <a:srgbClr val="1E375A"/>
                </a:solidFill>
                <a:latin typeface="Aptos"/>
              </a:rPr>
              <a:t>Bethany Bornheimer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819656" y="1060704"/>
            <a:ext cx="141732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1E375A"/>
                </a:solidFill>
                <a:latin typeface="Aptos"/>
              </a:rPr>
              <a:t>Product Owner - T2</a:t>
            </a:r>
          </a:p>
        </p:txBody>
      </p:sp>
      <p:sp>
        <p:nvSpPr>
          <p:cNvPr id="9" name="Rectangle 8"/>
          <p:cNvSpPr/>
          <p:nvPr/>
        </p:nvSpPr>
        <p:spPr>
          <a:xfrm>
            <a:off x="3236976" y="1060704"/>
            <a:ext cx="105156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58606A"/>
                </a:solidFill>
                <a:latin typeface="Aptos"/>
              </a:rPr>
              <a:t>Onshore - Trane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1298448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1">
                <a:solidFill>
                  <a:srgbClr val="1E375A"/>
                </a:solidFill>
                <a:latin typeface="Aptos"/>
              </a:rPr>
              <a:t>Iza Czapnik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9656" y="1298448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1E375A"/>
                </a:solidFill>
                <a:latin typeface="Aptos"/>
              </a:rPr>
              <a:t>IT Product Owner - T1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36976" y="1298448"/>
            <a:ext cx="105156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58606A"/>
                </a:solidFill>
                <a:latin typeface="Aptos"/>
              </a:rPr>
              <a:t>Onshore -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" y="1536192"/>
            <a:ext cx="141732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1">
                <a:solidFill>
                  <a:srgbClr val="1E375A"/>
                </a:solidFill>
                <a:latin typeface="Aptos"/>
              </a:rPr>
              <a:t>Joe Christian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19656" y="1536192"/>
            <a:ext cx="141732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1E375A"/>
                </a:solidFill>
                <a:latin typeface="Aptos"/>
              </a:rPr>
              <a:t>Business Analyst - T2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6976" y="1536192"/>
            <a:ext cx="105156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58606A"/>
                </a:solidFill>
                <a:latin typeface="Aptos"/>
              </a:rPr>
              <a:t>Onshore - Trane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" y="1773936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1">
                <a:solidFill>
                  <a:srgbClr val="1E375A"/>
                </a:solidFill>
                <a:latin typeface="Aptos"/>
              </a:rPr>
              <a:t>Rufeeda Khan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19656" y="1773936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1E375A"/>
                </a:solidFill>
                <a:latin typeface="Aptos"/>
              </a:rPr>
              <a:t>Business Analyst - T2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36976" y="1773936"/>
            <a:ext cx="105156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58606A"/>
                </a:solidFill>
                <a:latin typeface="Aptos"/>
              </a:rPr>
              <a:t>Onshore - Contractor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" y="2011680"/>
            <a:ext cx="141732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1">
                <a:solidFill>
                  <a:srgbClr val="1E375A"/>
                </a:solidFill>
                <a:latin typeface="Aptos"/>
              </a:rPr>
              <a:t>Varun Ved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19656" y="2011680"/>
            <a:ext cx="141732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1E375A"/>
                </a:solidFill>
                <a:latin typeface="Aptos"/>
              </a:rPr>
              <a:t>Business Analyst - 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36976" y="2011680"/>
            <a:ext cx="105156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58606A"/>
                </a:solidFill>
                <a:latin typeface="Aptos"/>
              </a:rPr>
              <a:t>Offshore - TCS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" y="2249424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1">
                <a:solidFill>
                  <a:srgbClr val="1E375A"/>
                </a:solidFill>
                <a:latin typeface="Aptos"/>
              </a:rPr>
              <a:t>Arvind Gupta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19656" y="2249424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1E375A"/>
                </a:solidFill>
                <a:latin typeface="Aptos"/>
              </a:rPr>
              <a:t>Product Analyst - T2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36976" y="2249424"/>
            <a:ext cx="105156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58606A"/>
                </a:solidFill>
                <a:latin typeface="Aptos"/>
              </a:rPr>
              <a:t>Onshore - Contractor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" y="2487168"/>
            <a:ext cx="141732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1">
                <a:solidFill>
                  <a:srgbClr val="1E375A"/>
                </a:solidFill>
                <a:latin typeface="Aptos"/>
              </a:rPr>
              <a:t>Vishnuraj Jayaraj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19656" y="2487168"/>
            <a:ext cx="141732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1E375A"/>
                </a:solidFill>
                <a:latin typeface="Aptos"/>
              </a:rPr>
              <a:t>Product Analyst - T2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36976" y="2487168"/>
            <a:ext cx="105156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58606A"/>
                </a:solidFill>
                <a:latin typeface="Aptos"/>
              </a:rPr>
              <a:t>Offshore - Cognizant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" y="2724912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1">
                <a:solidFill>
                  <a:srgbClr val="1E375A"/>
                </a:solidFill>
                <a:latin typeface="Aptos"/>
              </a:rPr>
              <a:t>OConnor, Andrew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19656" y="2724912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1E375A"/>
                </a:solidFill>
                <a:latin typeface="Aptos"/>
              </a:rPr>
              <a:t>Scrum Master - T2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36976" y="2724912"/>
            <a:ext cx="105156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58606A"/>
                </a:solidFill>
                <a:latin typeface="Aptos"/>
              </a:rPr>
              <a:t>Onshore - Trane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" y="2962656"/>
            <a:ext cx="141732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1">
                <a:solidFill>
                  <a:srgbClr val="1E375A"/>
                </a:solidFill>
                <a:latin typeface="Aptos"/>
              </a:rPr>
              <a:t>Diana Blidarescu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19656" y="2962656"/>
            <a:ext cx="141732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1E375A"/>
                </a:solidFill>
                <a:latin typeface="Aptos"/>
              </a:rPr>
              <a:t>Scrum Master - T1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36976" y="2962656"/>
            <a:ext cx="105156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58606A"/>
                </a:solidFill>
                <a:latin typeface="Aptos"/>
              </a:rPr>
              <a:t>Onshore - Slalom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" y="3200400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1">
                <a:solidFill>
                  <a:srgbClr val="1E375A"/>
                </a:solidFill>
                <a:latin typeface="Aptos"/>
              </a:rPr>
              <a:t>Ashish Verma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19656" y="3200400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1E375A"/>
                </a:solidFill>
                <a:latin typeface="Aptos"/>
              </a:rPr>
              <a:t>Fusion Middleware - T1,2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36976" y="3200400"/>
            <a:ext cx="105156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58606A"/>
                </a:solidFill>
                <a:latin typeface="Aptos"/>
              </a:rPr>
              <a:t>Onshore - Contractor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2336" y="3438144"/>
            <a:ext cx="141732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1">
                <a:solidFill>
                  <a:srgbClr val="1E375A"/>
                </a:solidFill>
                <a:latin typeface="Aptos"/>
              </a:rPr>
              <a:t>Lavanya Nagarajan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9656" y="3438144"/>
            <a:ext cx="141732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1E375A"/>
                </a:solidFill>
                <a:latin typeface="Aptos"/>
              </a:rPr>
              <a:t>Fusion Middleware - T1,2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36976" y="3438144"/>
            <a:ext cx="1051560" cy="237744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58606A"/>
                </a:solidFill>
                <a:latin typeface="Aptos"/>
              </a:rPr>
              <a:t>Onshore - Contractor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36" y="3675888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1">
                <a:solidFill>
                  <a:srgbClr val="1E375A"/>
                </a:solidFill>
                <a:latin typeface="Aptos"/>
              </a:rPr>
              <a:t>Anne Kelly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19656" y="3675888"/>
            <a:ext cx="141732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1E375A"/>
                </a:solidFill>
                <a:latin typeface="Aptos"/>
              </a:rPr>
              <a:t>PMO - T1,2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6976" y="3675888"/>
            <a:ext cx="105156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9" b="0">
                <a:solidFill>
                  <a:srgbClr val="58606A"/>
                </a:solidFill>
                <a:latin typeface="Aptos"/>
              </a:rPr>
              <a:t>Onshore - Contractor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26864" y="566928"/>
            <a:ext cx="4169663" cy="210312"/>
          </a:xfrm>
          <a:prstGeom prst="roundRect">
            <a:avLst/>
          </a:prstGeom>
          <a:solidFill>
            <a:srgbClr val="21898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Tax Team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81728" y="822960"/>
            <a:ext cx="1417320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30" b="1">
                <a:solidFill>
                  <a:srgbClr val="1E375A"/>
                </a:solidFill>
                <a:latin typeface="Aptos"/>
              </a:rPr>
              <a:t>Corinne Kreuger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9048" y="822960"/>
            <a:ext cx="1417320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30" b="0">
                <a:solidFill>
                  <a:srgbClr val="1E375A"/>
                </a:solidFill>
                <a:latin typeface="Aptos"/>
              </a:rPr>
              <a:t>PO / BA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16368" y="822960"/>
            <a:ext cx="1051560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30" b="0">
                <a:solidFill>
                  <a:srgbClr val="58606A"/>
                </a:solidFill>
                <a:latin typeface="Aptos"/>
              </a:rPr>
              <a:t>Onshore - Contractor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8" y="1106424"/>
            <a:ext cx="1417320" cy="283464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30" b="1">
                <a:solidFill>
                  <a:srgbClr val="1E375A"/>
                </a:solidFill>
                <a:latin typeface="Aptos"/>
              </a:rPr>
              <a:t>Sathish Kumar 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9048" y="1106424"/>
            <a:ext cx="1417320" cy="283464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30" b="0">
                <a:solidFill>
                  <a:srgbClr val="1E375A"/>
                </a:solidFill>
                <a:latin typeface="Aptos"/>
              </a:rPr>
              <a:t>Product Analyst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368" y="1106424"/>
            <a:ext cx="1051560" cy="283464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30" b="0">
                <a:solidFill>
                  <a:srgbClr val="58606A"/>
                </a:solidFill>
                <a:latin typeface="Aptos"/>
              </a:rPr>
              <a:t>Onshore - Contractor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81728" y="1389888"/>
            <a:ext cx="1417320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30" b="1">
                <a:solidFill>
                  <a:srgbClr val="1E375A"/>
                </a:solidFill>
                <a:latin typeface="Aptos"/>
              </a:rPr>
              <a:t>Tushar Joshi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9048" y="1389888"/>
            <a:ext cx="1417320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30" b="0">
                <a:solidFill>
                  <a:srgbClr val="1E375A"/>
                </a:solidFill>
                <a:latin typeface="Aptos"/>
              </a:rPr>
              <a:t>Product Analyst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16368" y="1389888"/>
            <a:ext cx="1051560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30" b="0">
                <a:solidFill>
                  <a:srgbClr val="58606A"/>
                </a:solidFill>
                <a:latin typeface="Aptos"/>
              </a:rPr>
              <a:t>Onshore - Contractor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81728" y="1673352"/>
            <a:ext cx="1417320" cy="283464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30" b="1">
                <a:solidFill>
                  <a:srgbClr val="1E375A"/>
                </a:solidFill>
                <a:latin typeface="Aptos"/>
              </a:rPr>
              <a:t>Daniel Brenner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9048" y="1673352"/>
            <a:ext cx="1417320" cy="283464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30" b="0">
                <a:solidFill>
                  <a:srgbClr val="1E375A"/>
                </a:solidFill>
                <a:latin typeface="Aptos"/>
              </a:rPr>
              <a:t>Scrum Master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16368" y="1673352"/>
            <a:ext cx="1051560" cy="283464"/>
          </a:xfrm>
          <a:prstGeom prst="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30" b="0">
                <a:solidFill>
                  <a:srgbClr val="58606A"/>
                </a:solidFill>
                <a:latin typeface="Aptos"/>
              </a:rPr>
              <a:t>Onshore - Trane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00" b="0">
                <a:solidFill>
                  <a:srgbClr val="58606A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1550" b="1">
                <a:solidFill>
                  <a:srgbClr val="1E375A"/>
                </a:solidFill>
                <a:latin typeface="Aptos"/>
              </a:rPr>
              <a:t>S&amp;C Contracting - Team 1 (WorkSight &amp; R12 Devs / FAs)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566928"/>
            <a:ext cx="8449056" cy="210312"/>
          </a:xfrm>
          <a:prstGeom prst="roundRect">
            <a:avLst/>
          </a:prstGeom>
          <a:solidFill>
            <a:srgbClr val="2C69B0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Team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914400"/>
            <a:ext cx="228600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1">
                <a:solidFill>
                  <a:srgbClr val="1E375A"/>
                </a:solidFill>
                <a:latin typeface="Aptos"/>
              </a:rPr>
              <a:t>Albin Xavier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852928" y="914400"/>
            <a:ext cx="246888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0">
                <a:solidFill>
                  <a:srgbClr val="1E375A"/>
                </a:solidFill>
                <a:latin typeface="Aptos"/>
              </a:rPr>
              <a:t>WorkSight FA</a:t>
            </a:r>
          </a:p>
        </p:txBody>
      </p:sp>
      <p:sp>
        <p:nvSpPr>
          <p:cNvPr id="6" name="Rectangle 5"/>
          <p:cNvSpPr/>
          <p:nvPr/>
        </p:nvSpPr>
        <p:spPr>
          <a:xfrm>
            <a:off x="5321808" y="914400"/>
            <a:ext cx="228600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0">
                <a:solidFill>
                  <a:srgbClr val="58606A"/>
                </a:solidFill>
                <a:latin typeface="Aptos"/>
              </a:rPr>
              <a:t>Onshore - Cognizant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61872"/>
            <a:ext cx="2286000" cy="347472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1">
                <a:solidFill>
                  <a:srgbClr val="1E375A"/>
                </a:solidFill>
                <a:latin typeface="Aptos"/>
              </a:rPr>
              <a:t>Narayan Kapali</a:t>
            </a:r>
          </a:p>
        </p:txBody>
      </p:sp>
      <p:sp>
        <p:nvSpPr>
          <p:cNvPr id="8" name="Rectangle 7"/>
          <p:cNvSpPr/>
          <p:nvPr/>
        </p:nvSpPr>
        <p:spPr>
          <a:xfrm>
            <a:off x="2852928" y="1261872"/>
            <a:ext cx="2468880" cy="347472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0">
                <a:solidFill>
                  <a:srgbClr val="1E375A"/>
                </a:solidFill>
                <a:latin typeface="Aptos"/>
              </a:rPr>
              <a:t>WorkSight FA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1808" y="1261872"/>
            <a:ext cx="2286000" cy="347472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0">
                <a:solidFill>
                  <a:srgbClr val="58606A"/>
                </a:solidFill>
                <a:latin typeface="Aptos"/>
              </a:rPr>
              <a:t>Onshore - Cognizant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228600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1">
                <a:solidFill>
                  <a:srgbClr val="1E375A"/>
                </a:solidFill>
                <a:latin typeface="Aptos"/>
              </a:rPr>
              <a:t>Sachin Salvi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2928" y="1609344"/>
            <a:ext cx="246888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0">
                <a:solidFill>
                  <a:srgbClr val="1E375A"/>
                </a:solidFill>
                <a:latin typeface="Aptos"/>
              </a:rPr>
              <a:t>R12 FA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21808" y="1609344"/>
            <a:ext cx="228600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0">
                <a:solidFill>
                  <a:srgbClr val="58606A"/>
                </a:solidFill>
                <a:latin typeface="Aptos"/>
              </a:rPr>
              <a:t>Onshore - Contractor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956816"/>
            <a:ext cx="2286000" cy="347472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1">
                <a:solidFill>
                  <a:srgbClr val="1E375A"/>
                </a:solidFill>
                <a:latin typeface="Aptos"/>
              </a:rPr>
              <a:t>Elizabeth Garcia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2928" y="1956816"/>
            <a:ext cx="2468880" cy="347472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0">
                <a:solidFill>
                  <a:srgbClr val="1E375A"/>
                </a:solidFill>
                <a:latin typeface="Aptos"/>
              </a:rPr>
              <a:t>R12 FA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1808" y="1956816"/>
            <a:ext cx="2286000" cy="347472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0">
                <a:solidFill>
                  <a:srgbClr val="58606A"/>
                </a:solidFill>
                <a:latin typeface="Aptos"/>
              </a:rPr>
              <a:t>Onshore - Trane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304288"/>
            <a:ext cx="228600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1">
                <a:solidFill>
                  <a:srgbClr val="1E375A"/>
                </a:solidFill>
                <a:latin typeface="Aptos"/>
              </a:rPr>
              <a:t>Krishna Kumar 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52928" y="2304288"/>
            <a:ext cx="246888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0">
                <a:solidFill>
                  <a:srgbClr val="1E375A"/>
                </a:solidFill>
                <a:latin typeface="Aptos"/>
              </a:rPr>
              <a:t>R12 FA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2304288"/>
            <a:ext cx="228600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750" b="0">
                <a:solidFill>
                  <a:srgbClr val="58606A"/>
                </a:solidFill>
                <a:latin typeface="Aptos"/>
              </a:rPr>
              <a:t>Onshore - Contractor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00" b="0">
                <a:solidFill>
                  <a:srgbClr val="58606A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1550" b="1">
                <a:solidFill>
                  <a:srgbClr val="1E375A"/>
                </a:solidFill>
                <a:latin typeface="Aptos"/>
              </a:rPr>
              <a:t>Other Teams - WorkPackage, TSA, TDA, Jobs CoJo, Documents, Service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6032" y="566928"/>
            <a:ext cx="2651760" cy="210312"/>
          </a:xfrm>
          <a:prstGeom prst="roundRect">
            <a:avLst/>
          </a:prstGeom>
          <a:solidFill>
            <a:srgbClr val="2C69B0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WorkPackage QA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" y="795528"/>
            <a:ext cx="2651760" cy="1554480"/>
          </a:xfrm>
          <a:prstGeom prst="round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36576" tIns="32004" bIns="13716"/>
          <a:lstStyle/>
          <a:p>
            <a:pPr algn="l"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Likhith Pateel - QA Lead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Sudha Malbhage - QA Functional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Nitesh Achari - QA Functional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Pradeep K Battula - QA Automation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566928"/>
            <a:ext cx="2651760" cy="210312"/>
          </a:xfrm>
          <a:prstGeom prst="roundRect">
            <a:avLst/>
          </a:prstGeom>
          <a:solidFill>
            <a:srgbClr val="21898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TSA QA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795528"/>
            <a:ext cx="2651760" cy="1554480"/>
          </a:xfrm>
          <a:prstGeom prst="roundRect">
            <a:avLst/>
          </a:prstGeom>
          <a:solidFill>
            <a:srgbClr val="E6F6F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36576" tIns="32004" bIns="13716"/>
          <a:lstStyle/>
          <a:p>
            <a:pPr algn="l"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Varsha Chitray - QA Lead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Prarthana - QA Functional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Sandhyarani Mothukuri - QA Functional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Aastha Tripathi - QA Func/Auto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Rislow Chad - PA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Christopher Brown / Kristen Dale - 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6208" y="566928"/>
            <a:ext cx="2651760" cy="210312"/>
          </a:xfrm>
          <a:prstGeom prst="roundRect">
            <a:avLst/>
          </a:prstGeom>
          <a:solidFill>
            <a:srgbClr val="7058AA"/>
          </a:solidFill>
          <a:ln w="7620">
            <a:solidFill>
              <a:srgbClr val="705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TDA QA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795528"/>
            <a:ext cx="2651760" cy="1554480"/>
          </a:xfrm>
          <a:prstGeom prst="roundRect">
            <a:avLst/>
          </a:prstGeom>
          <a:solidFill>
            <a:srgbClr val="F1ECFC"/>
          </a:solidFill>
          <a:ln w="7620">
            <a:solidFill>
              <a:srgbClr val="705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36576" tIns="32004" bIns="13716"/>
          <a:lstStyle/>
          <a:p>
            <a:pPr algn="l"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Naveen H - QA Lead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Navya B R - QA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Manoj Kulkarni - QA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Gurulingappa - QA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Drew Rauvola - Application Owner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Abby Hoolver - Business Owner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" y="2761488"/>
            <a:ext cx="2651760" cy="210312"/>
          </a:xfrm>
          <a:prstGeom prst="roundRect">
            <a:avLst/>
          </a:prstGeom>
          <a:solidFill>
            <a:srgbClr val="E47E29"/>
          </a:solidFill>
          <a:ln w="7620">
            <a:solidFill>
              <a:srgbClr val="E47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Jobs CoJo QA &amp; 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" y="2990088"/>
            <a:ext cx="2651760" cy="1554480"/>
          </a:xfrm>
          <a:prstGeom prst="roundRect">
            <a:avLst/>
          </a:prstGeom>
          <a:solidFill>
            <a:srgbClr val="FFEFDE"/>
          </a:solidFill>
          <a:ln w="7620">
            <a:solidFill>
              <a:srgbClr val="E47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36576" tIns="32004" bIns="13716"/>
          <a:lstStyle/>
          <a:p>
            <a:pPr algn="l"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Rashmi Ranganath - QA Lead / Scrum Master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Chethana B - QA Functional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Matt Parish - Product Owner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Hasan Al Quasem - IT Product Analyst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2761488"/>
            <a:ext cx="2651760" cy="210312"/>
          </a:xfrm>
          <a:prstGeom prst="roundRect">
            <a:avLst/>
          </a:prstGeom>
          <a:solidFill>
            <a:srgbClr val="419657"/>
          </a:solidFill>
          <a:ln w="7620">
            <a:solidFill>
              <a:srgbClr val="419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Documents / DocGen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2990088"/>
            <a:ext cx="2651760" cy="1554480"/>
          </a:xfrm>
          <a:prstGeom prst="roundRect">
            <a:avLst/>
          </a:prstGeom>
          <a:solidFill>
            <a:srgbClr val="E9F7EC"/>
          </a:solidFill>
          <a:ln w="7620">
            <a:solidFill>
              <a:srgbClr val="419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36576" tIns="32004" bIns="13716"/>
          <a:lstStyle/>
          <a:p>
            <a:pPr algn="l"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Sandhyarani M - QA Func/Perf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Angela Puent - Product Owner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Brett Meddaugh - Architect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Chandana Gowda - Developer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2761488"/>
            <a:ext cx="2651760" cy="210312"/>
          </a:xfrm>
          <a:prstGeom prst="roundRect">
            <a:avLst/>
          </a:prstGeom>
          <a:solidFill>
            <a:srgbClr val="2C69B0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2990088"/>
            <a:ext cx="2651760" cy="1554480"/>
          </a:xfrm>
          <a:prstGeom prst="round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36576" tIns="32004" bIns="13716"/>
          <a:lstStyle/>
          <a:p>
            <a:pPr algn="l"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Kreidermacher, Tara - Scrum Master</a:t>
            </a:r>
          </a:p>
          <a:p>
            <a:pPr>
              <a:spcAft>
                <a:spcPts val="70"/>
              </a:spcAft>
              <a:defRPr sz="500">
                <a:solidFill>
                  <a:srgbClr val="1E375A"/>
                </a:solidFill>
                <a:latin typeface="Aptos"/>
              </a:defRPr>
            </a:pPr>
            <a:r>
              <a:t>Pruner, Kenneth - Project Manager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00" b="0">
                <a:solidFill>
                  <a:srgbClr val="58606A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 – Projects &amp; Applications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types: Smoke · System · Regression · Automation · Performance · QA PoC</a:t>
            </a:r>
            <a:endParaRPr lang="en-US" sz="950"/>
          </a:p>
        </p:txBody>
      </p:sp>
      <p:sp>
        <p:nvSpPr>
          <p:cNvPr id="4" name="Shape 2">
            <a:hlinkClick r:id="rId3"/>
          </p:cNvPr>
          <p:cNvSpPr/>
          <p:nvPr/>
        </p:nvSpPr>
        <p:spPr>
          <a:xfrm>
            <a:off x="347472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38912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 Select Assist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Varsha Chitray</a:t>
            </a:r>
            <a:endParaRPr lang="en-US" sz="900" dirty="0"/>
          </a:p>
        </p:txBody>
      </p:sp>
      <p:sp>
        <p:nvSpPr>
          <p:cNvPr id="9" name="Shape 7">
            <a:hlinkClick r:id="rId4"/>
          </p:cNvPr>
          <p:cNvSpPr/>
          <p:nvPr/>
        </p:nvSpPr>
        <p:spPr>
          <a:xfrm>
            <a:off x="3127248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Shape 8"/>
          <p:cNvSpPr/>
          <p:nvPr/>
        </p:nvSpPr>
        <p:spPr>
          <a:xfrm>
            <a:off x="3127248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18688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18688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Brinda S </a:t>
            </a:r>
            <a:endParaRPr lang="en-US" sz="900" dirty="0"/>
          </a:p>
        </p:txBody>
      </p:sp>
      <p:sp>
        <p:nvSpPr>
          <p:cNvPr id="14" name="Shape 12">
            <a:hlinkClick r:id="rId5"/>
          </p:cNvPr>
          <p:cNvSpPr/>
          <p:nvPr/>
        </p:nvSpPr>
        <p:spPr>
          <a:xfrm>
            <a:off x="5861304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907024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998464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 / MDP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5998464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Mahesh Laddi &amp; Anusha G</a:t>
            </a:r>
            <a:endParaRPr lang="en-US" sz="900"/>
          </a:p>
        </p:txBody>
      </p:sp>
      <p:sp>
        <p:nvSpPr>
          <p:cNvPr id="19" name="Shape 17">
            <a:hlinkClick r:id="rId6"/>
          </p:cNvPr>
          <p:cNvSpPr/>
          <p:nvPr/>
        </p:nvSpPr>
        <p:spPr>
          <a:xfrm>
            <a:off x="347472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47472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38912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438912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Rashmi Ranganath</a:t>
            </a:r>
            <a:endParaRPr lang="en-US" sz="900"/>
          </a:p>
        </p:txBody>
      </p:sp>
      <p:sp>
        <p:nvSpPr>
          <p:cNvPr id="24" name="Shape 22">
            <a:hlinkClick r:id="rId7"/>
          </p:cNvPr>
          <p:cNvSpPr/>
          <p:nvPr/>
        </p:nvSpPr>
        <p:spPr>
          <a:xfrm>
            <a:off x="3127248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127248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18688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 1,2 (Tax)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3218688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Vignesh </a:t>
            </a:r>
            <a:r>
              <a:rPr lang="en-US" sz="900" err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Sheshababu</a:t>
            </a: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/Preeti k/Srinivas R</a:t>
            </a:r>
            <a:endParaRPr lang="en-US" sz="900"/>
          </a:p>
        </p:txBody>
      </p:sp>
      <p:sp>
        <p:nvSpPr>
          <p:cNvPr id="29" name="Shape 27">
            <a:hlinkClick r:id="rId8"/>
          </p:cNvPr>
          <p:cNvSpPr/>
          <p:nvPr/>
        </p:nvSpPr>
        <p:spPr>
          <a:xfrm>
            <a:off x="5907024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5907024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998464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5998464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Naveen H</a:t>
            </a:r>
            <a:endParaRPr lang="en-US" sz="900"/>
          </a:p>
        </p:txBody>
      </p:sp>
      <p:sp>
        <p:nvSpPr>
          <p:cNvPr id="34" name="Shape 32">
            <a:hlinkClick r:id="rId9"/>
          </p:cNvPr>
          <p:cNvSpPr/>
          <p:nvPr/>
        </p:nvSpPr>
        <p:spPr>
          <a:xfrm>
            <a:off x="347472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38912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1100"/>
          </a:p>
        </p:txBody>
      </p:sp>
      <p:sp>
        <p:nvSpPr>
          <p:cNvPr id="37" name="Text 35"/>
          <p:cNvSpPr/>
          <p:nvPr/>
        </p:nvSpPr>
        <p:spPr>
          <a:xfrm>
            <a:off x="438912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Likhith Pateel</a:t>
            </a:r>
            <a:endParaRPr lang="en-US" sz="900"/>
          </a:p>
        </p:txBody>
      </p:sp>
      <p:sp>
        <p:nvSpPr>
          <p:cNvPr id="39" name="Shape 37"/>
          <p:cNvSpPr/>
          <p:nvPr/>
        </p:nvSpPr>
        <p:spPr>
          <a:xfrm>
            <a:off x="3127248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3127248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218688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/ DocGen</a:t>
            </a:r>
            <a:endParaRPr lang="en-US" sz="1100"/>
          </a:p>
        </p:txBody>
      </p:sp>
      <p:sp>
        <p:nvSpPr>
          <p:cNvPr id="42" name="Text 40"/>
          <p:cNvSpPr/>
          <p:nvPr/>
        </p:nvSpPr>
        <p:spPr>
          <a:xfrm>
            <a:off x="3218688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Sandhyarani M</a:t>
            </a:r>
            <a:endParaRPr lang="en-US" sz="900"/>
          </a:p>
        </p:txBody>
      </p:sp>
      <p:sp>
        <p:nvSpPr>
          <p:cNvPr id="44" name="Shape 42">
            <a:hlinkClick r:id="rId10"/>
          </p:cNvPr>
          <p:cNvSpPr/>
          <p:nvPr/>
        </p:nvSpPr>
        <p:spPr>
          <a:xfrm>
            <a:off x="5907024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5907024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5998464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/>
          </a:p>
        </p:txBody>
      </p:sp>
      <p:sp>
        <p:nvSpPr>
          <p:cNvPr id="47" name="Text 45"/>
          <p:cNvSpPr/>
          <p:nvPr/>
        </p:nvSpPr>
        <p:spPr>
          <a:xfrm>
            <a:off x="5998464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Frank Murcia</a:t>
            </a:r>
            <a:endParaRPr lang="en-US" sz="90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1550" b="1">
                <a:solidFill>
                  <a:srgbClr val="1E375A"/>
                </a:solidFill>
                <a:latin typeface="Aptos"/>
              </a:rPr>
              <a:t>The things you need - Checklist &amp; Application URLs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512064"/>
            <a:ext cx="4297680" cy="210312"/>
          </a:xfrm>
          <a:prstGeom prst="roundRect">
            <a:avLst/>
          </a:prstGeom>
          <a:solidFill>
            <a:srgbClr val="2C69B0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What you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68096"/>
            <a:ext cx="141732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70" b="1">
                <a:solidFill>
                  <a:srgbClr val="1E375A"/>
                </a:solidFill>
                <a:latin typeface="Aptos"/>
              </a:rPr>
              <a:t>Laptop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1847088" y="768096"/>
            <a:ext cx="269748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FST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51560"/>
            <a:ext cx="1417320" cy="219456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70" b="1">
                <a:solidFill>
                  <a:srgbClr val="1E375A"/>
                </a:solidFill>
                <a:latin typeface="Aptos"/>
              </a:rPr>
              <a:t>VPN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088" y="1051560"/>
            <a:ext cx="2697480" cy="219456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FST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35024"/>
            <a:ext cx="141732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70" b="1">
                <a:solidFill>
                  <a:srgbClr val="1E375A"/>
                </a:solidFill>
                <a:latin typeface="Aptos"/>
              </a:rPr>
              <a:t>Headphones / Mouse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47088" y="1335024"/>
            <a:ext cx="269748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FST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18488"/>
            <a:ext cx="1417320" cy="219456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70" b="1">
                <a:solidFill>
                  <a:srgbClr val="1E375A"/>
                </a:solidFill>
                <a:latin typeface="Aptos"/>
              </a:rPr>
              <a:t>Administrator 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47088" y="1618488"/>
            <a:ext cx="2697480" cy="219456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ServiceNow Request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01952"/>
            <a:ext cx="141732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70" b="1">
                <a:solidFill>
                  <a:srgbClr val="1E375A"/>
                </a:solidFill>
                <a:latin typeface="Aptos"/>
              </a:rPr>
              <a:t>Jira Access / Confluence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47088" y="1901952"/>
            <a:ext cx="269748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Contact QA Lead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85416"/>
            <a:ext cx="1417320" cy="219456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70" b="1">
                <a:solidFill>
                  <a:srgbClr val="1E375A"/>
                </a:solidFill>
                <a:latin typeface="Aptos"/>
              </a:rPr>
              <a:t>Java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7088" y="2185416"/>
            <a:ext cx="2697480" cy="219456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ServiceNow - Computer Software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68879"/>
            <a:ext cx="141732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70" b="1">
                <a:solidFill>
                  <a:srgbClr val="1E375A"/>
                </a:solidFill>
                <a:latin typeface="Aptos"/>
              </a:rPr>
              <a:t>Eclipse 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47088" y="2468879"/>
            <a:ext cx="269748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ServiceNow - Computer Software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752344"/>
            <a:ext cx="1417320" cy="219456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70" b="1">
                <a:solidFill>
                  <a:srgbClr val="1E375A"/>
                </a:solidFill>
                <a:latin typeface="Aptos"/>
              </a:rPr>
              <a:t>Git Bash / GitHub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47088" y="2752344"/>
            <a:ext cx="2697480" cy="219456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ServiceNow - KB0040682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035808"/>
            <a:ext cx="141732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70" b="1">
                <a:solidFill>
                  <a:srgbClr val="1E375A"/>
                </a:solidFill>
                <a:latin typeface="Aptos"/>
              </a:rPr>
              <a:t>Add to DL's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47088" y="3035808"/>
            <a:ext cx="269748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ServiceNow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319272"/>
            <a:ext cx="1417320" cy="219456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70" b="1">
                <a:solidFill>
                  <a:srgbClr val="1E375A"/>
                </a:solidFill>
                <a:latin typeface="Aptos"/>
              </a:rPr>
              <a:t>Add to MS Teams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47088" y="3319272"/>
            <a:ext cx="2697480" cy="219456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MS Teams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602736"/>
            <a:ext cx="141732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70" b="1">
                <a:solidFill>
                  <a:srgbClr val="1E375A"/>
                </a:solidFill>
                <a:latin typeface="Aptos"/>
              </a:rPr>
              <a:t>Server / DB Access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47088" y="3602736"/>
            <a:ext cx="269748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ServiceNow Request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886200"/>
            <a:ext cx="1417320" cy="219456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70" b="1">
                <a:solidFill>
                  <a:srgbClr val="1E375A"/>
                </a:solidFill>
                <a:latin typeface="Aptos"/>
              </a:rPr>
              <a:t>App URLs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47088" y="3886200"/>
            <a:ext cx="2697480" cy="219456"/>
          </a:xfrm>
          <a:prstGeom prst="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45" b="0">
                <a:solidFill>
                  <a:srgbClr val="1E375A"/>
                </a:solidFill>
                <a:latin typeface="Aptos"/>
              </a:rPr>
              <a:t>See right column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6320" y="512064"/>
            <a:ext cx="3931920" cy="210312"/>
          </a:xfrm>
          <a:prstGeom prst="roundRect">
            <a:avLst/>
          </a:prstGeom>
          <a:solidFill>
            <a:srgbClr val="21898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Application URLs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46320" y="768096"/>
            <a:ext cx="3931920" cy="173736"/>
          </a:xfrm>
          <a:prstGeom prst="rect">
            <a:avLst/>
          </a:prstGeom>
          <a:solidFill>
            <a:srgbClr val="21898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50" b="1">
                <a:solidFill>
                  <a:srgbClr val="FFFFFF"/>
                </a:solidFill>
                <a:latin typeface="Aptos"/>
              </a:rPr>
              <a:t>TSA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01184" y="969264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Dev: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42432" y="969264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dev.traneselectassist.com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01184" y="1165860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Test: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42432" y="1165860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test.traneselectassist.com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01184" y="1362456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Prod: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42432" y="1362456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traneselectassist.com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1559052"/>
            <a:ext cx="3931920" cy="173736"/>
          </a:xfrm>
          <a:prstGeom prst="rect">
            <a:avLst/>
          </a:prstGeom>
          <a:solidFill>
            <a:srgbClr val="21898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50" b="1">
                <a:solidFill>
                  <a:srgbClr val="FFFFFF"/>
                </a:solidFill>
                <a:latin typeface="Aptos"/>
              </a:rPr>
              <a:t>TSMT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01184" y="1760220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Dev: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42432" y="1760220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devsalestools.trane.com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01184" y="1956816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Test: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42432" y="1956816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uatsalestools.trane.com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01184" y="2153412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Prod: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2432" y="2153412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salestools.trane.com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2350008"/>
            <a:ext cx="3931920" cy="173736"/>
          </a:xfrm>
          <a:prstGeom prst="rect">
            <a:avLst/>
          </a:prstGeom>
          <a:solidFill>
            <a:srgbClr val="21898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50" b="1">
                <a:solidFill>
                  <a:srgbClr val="FFFFFF"/>
                </a:solidFill>
                <a:latin typeface="Aptos"/>
              </a:rPr>
              <a:t>MDP/DMC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01184" y="2551176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Dev: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42432" y="2551176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devdmc.trane.com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01184" y="2747772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Test: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42432" y="2747772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uatdmc.trane.com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01184" y="2944368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Prod: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42432" y="2944368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dmc.trane.com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46320" y="3140963"/>
            <a:ext cx="3931920" cy="173736"/>
          </a:xfrm>
          <a:prstGeom prst="rect">
            <a:avLst/>
          </a:prstGeom>
          <a:solidFill>
            <a:srgbClr val="218984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50" b="1">
                <a:solidFill>
                  <a:srgbClr val="FFFFFF"/>
                </a:solidFill>
                <a:latin typeface="Aptos"/>
              </a:rPr>
              <a:t>Portals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01184" y="3342132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ServiceNow: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42432" y="3342132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tranetechnologies.service-now.com/sp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01184" y="3538727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Confluence: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42432" y="3538727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tranetis.jira.com/wiki/spaces/TOPSS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01184" y="3735324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GitHub: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42432" y="3735324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github.com/enterprises/tranetechnologies/sso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01184" y="3931920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HR Portal: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742432" y="3931920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tranetechnologies.service-now.com/hrportal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901184" y="4128515"/>
            <a:ext cx="822960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500" b="1">
                <a:solidFill>
                  <a:srgbClr val="1E375A"/>
                </a:solidFill>
                <a:latin typeface="Aptos"/>
              </a:rPr>
              <a:t>Citrix: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42432" y="4128515"/>
            <a:ext cx="2944368" cy="192024"/>
          </a:xfrm>
          <a:prstGeom prst="rect">
            <a:avLst/>
          </a:prstGeom>
          <a:solidFill>
            <a:srgbClr val="FFFFFF"/>
          </a:solidFill>
          <a:ln w="7620">
            <a:solidFill>
              <a:srgbClr val="218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475" b="0">
                <a:solidFill>
                  <a:srgbClr val="1E375A"/>
                </a:solidFill>
                <a:latin typeface="Aptos"/>
              </a:rPr>
              <a:t>tranecitrix.corp.global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00" b="0">
                <a:solidFill>
                  <a:srgbClr val="58606A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l"/>
            <a:r>
              <a:rPr sz="1550" b="1">
                <a:solidFill>
                  <a:srgbClr val="1E375A"/>
                </a:solidFill>
                <a:latin typeface="Aptos"/>
              </a:rPr>
              <a:t>Things to do - KT Plan - Points of Contact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512064"/>
            <a:ext cx="3474720" cy="210312"/>
          </a:xfrm>
          <a:prstGeom prst="roundRect">
            <a:avLst/>
          </a:prstGeom>
          <a:solidFill>
            <a:srgbClr val="2C69B0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Onboarding 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" y="740664"/>
            <a:ext cx="3474720" cy="1188720"/>
          </a:xfrm>
          <a:prstGeom prst="roundRect">
            <a:avLst/>
          </a:prstGeom>
          <a:solidFill>
            <a:srgbClr val="E8F1FC"/>
          </a:solidFill>
          <a:ln w="7620">
            <a:solidFill>
              <a:srgbClr val="2C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36576" tIns="32004" bIns="13716"/>
          <a:lstStyle/>
          <a:p>
            <a:pPr algn="l">
              <a:spcAft>
                <a:spcPts val="70"/>
              </a:spcAft>
              <a:defRPr sz="545">
                <a:solidFill>
                  <a:srgbClr val="1E375A"/>
                </a:solidFill>
                <a:latin typeface="Aptos"/>
              </a:defRPr>
            </a:pPr>
            <a:r>
              <a:t>1. Mandatory certifications - HR Portal / LMS</a:t>
            </a:r>
          </a:p>
          <a:p>
            <a:pPr>
              <a:spcAft>
                <a:spcPts val="70"/>
              </a:spcAft>
              <a:defRPr sz="545">
                <a:solidFill>
                  <a:srgbClr val="1E375A"/>
                </a:solidFill>
                <a:latin typeface="Aptos"/>
              </a:defRPr>
            </a:pPr>
            <a:r>
              <a:t>2. Goal setting - HR Portal / Talent Mgmt</a:t>
            </a:r>
          </a:p>
          <a:p>
            <a:pPr>
              <a:spcAft>
                <a:spcPts val="70"/>
              </a:spcAft>
              <a:defRPr sz="545">
                <a:solidFill>
                  <a:srgbClr val="1E375A"/>
                </a:solidFill>
                <a:latin typeface="Aptos"/>
              </a:defRPr>
            </a:pPr>
            <a:r>
              <a:t>3. Complete People Profile - SuccessFactors</a:t>
            </a:r>
          </a:p>
          <a:p>
            <a:pPr>
              <a:spcAft>
                <a:spcPts val="70"/>
              </a:spcAft>
              <a:defRPr sz="545">
                <a:solidFill>
                  <a:srgbClr val="1E375A"/>
                </a:solidFill>
                <a:latin typeface="Aptos"/>
              </a:defRPr>
            </a:pPr>
            <a:r>
              <a:t>4. Update TOPSSQA Site - sharepoint.com/sites/topss.com</a:t>
            </a:r>
          </a:p>
          <a:p>
            <a:pPr>
              <a:spcAft>
                <a:spcPts val="70"/>
              </a:spcAft>
              <a:defRPr sz="545">
                <a:solidFill>
                  <a:srgbClr val="1E375A"/>
                </a:solidFill>
                <a:latin typeface="Aptos"/>
              </a:defRPr>
            </a:pPr>
            <a:r>
              <a:t>5. Apply leave - HR Portal / Leave Mgmt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2157984"/>
            <a:ext cx="3474720" cy="210312"/>
          </a:xfrm>
          <a:prstGeom prst="roundRect">
            <a:avLst/>
          </a:prstGeom>
          <a:solidFill>
            <a:srgbClr val="419657"/>
          </a:solidFill>
          <a:ln w="7620">
            <a:solidFill>
              <a:srgbClr val="419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ServiceNow Requests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2386584"/>
            <a:ext cx="3474720" cy="1472184"/>
          </a:xfrm>
          <a:prstGeom prst="roundRect">
            <a:avLst/>
          </a:prstGeom>
          <a:solidFill>
            <a:srgbClr val="E9F7EC"/>
          </a:solidFill>
          <a:ln w="7620">
            <a:solidFill>
              <a:srgbClr val="419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36576" tIns="32004" bIns="13716"/>
          <a:lstStyle/>
          <a:p>
            <a:pPr algn="l">
              <a:spcAft>
                <a:spcPts val="70"/>
              </a:spcAft>
              <a:defRPr sz="535">
                <a:solidFill>
                  <a:srgbClr val="1E375A"/>
                </a:solidFill>
                <a:latin typeface="Aptos"/>
              </a:defRPr>
            </a:pPr>
            <a:r>
              <a:t>Software: ServiceNow - Computer Software</a:t>
            </a:r>
          </a:p>
          <a:p>
            <a:pPr>
              <a:spcAft>
                <a:spcPts val="70"/>
              </a:spcAft>
              <a:defRPr sz="535">
                <a:solidFill>
                  <a:srgbClr val="1E375A"/>
                </a:solidFill>
                <a:latin typeface="Aptos"/>
              </a:defRPr>
            </a:pPr>
            <a:r>
              <a:t>Admin ID / Server: ServiceNow - Access Request</a:t>
            </a:r>
          </a:p>
          <a:p>
            <a:pPr>
              <a:spcAft>
                <a:spcPts val="70"/>
              </a:spcAft>
              <a:defRPr sz="535">
                <a:solidFill>
                  <a:srgbClr val="1E375A"/>
                </a:solidFill>
                <a:latin typeface="Aptos"/>
              </a:defRPr>
            </a:pPr>
            <a:r>
              <a:t>GitHub: KB0040682</a:t>
            </a:r>
          </a:p>
          <a:p>
            <a:pPr>
              <a:spcAft>
                <a:spcPts val="70"/>
              </a:spcAft>
              <a:defRPr sz="535">
                <a:solidFill>
                  <a:srgbClr val="1E375A"/>
                </a:solidFill>
                <a:latin typeface="Aptos"/>
              </a:defRPr>
            </a:pPr>
            <a:r>
              <a:t>TOSCA License: RITM0731045</a:t>
            </a:r>
          </a:p>
          <a:p>
            <a:pPr>
              <a:spcAft>
                <a:spcPts val="70"/>
              </a:spcAft>
              <a:defRPr sz="535">
                <a:solidFill>
                  <a:srgbClr val="1E375A"/>
                </a:solidFill>
                <a:latin typeface="Aptos"/>
              </a:defRPr>
            </a:pPr>
            <a:r>
              <a:t>TOSCA Access: RITM0731066</a:t>
            </a:r>
          </a:p>
          <a:p>
            <a:pPr>
              <a:spcAft>
                <a:spcPts val="70"/>
              </a:spcAft>
              <a:defRPr sz="535">
                <a:solidFill>
                  <a:srgbClr val="1E375A"/>
                </a:solidFill>
                <a:latin typeface="Aptos"/>
              </a:defRPr>
            </a:pPr>
            <a:r>
              <a:t>MDP/DMC: Options 1,5,8,9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5072" y="512064"/>
            <a:ext cx="2560320" cy="210312"/>
          </a:xfrm>
          <a:prstGeom prst="roundRect">
            <a:avLst/>
          </a:prstGeom>
          <a:solidFill>
            <a:srgbClr val="7058AA"/>
          </a:solidFill>
          <a:ln w="7620">
            <a:solidFill>
              <a:srgbClr val="705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KT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5072" y="740664"/>
            <a:ext cx="2560320" cy="3657600"/>
          </a:xfrm>
          <a:prstGeom prst="roundRect">
            <a:avLst/>
          </a:prstGeom>
          <a:solidFill>
            <a:srgbClr val="F1ECFC"/>
          </a:solidFill>
          <a:ln w="7620">
            <a:solidFill>
              <a:srgbClr val="705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36576" tIns="32004" bIns="13716"/>
          <a:lstStyle/>
          <a:p>
            <a:pPr algn="l">
              <a:spcAft>
                <a:spcPts val="70"/>
              </a:spcAft>
              <a:defRPr sz="475">
                <a:solidFill>
                  <a:srgbClr val="1E375A"/>
                </a:solidFill>
                <a:latin typeface="Aptos"/>
              </a:defRPr>
            </a:pPr>
            <a:r>
              <a:t>TSA - Varsha Chitray</a:t>
            </a:r>
          </a:p>
          <a:p>
            <a:pPr>
              <a:spcAft>
                <a:spcPts val="70"/>
              </a:spcAft>
              <a:defRPr sz="475">
                <a:solidFill>
                  <a:srgbClr val="1E375A"/>
                </a:solidFill>
                <a:latin typeface="Aptos"/>
              </a:defRPr>
            </a:pPr>
            <a:r>
              <a:t>Jobs &amp; CoJo - Rashmi Ranganath</a:t>
            </a:r>
          </a:p>
          <a:p>
            <a:pPr>
              <a:spcAft>
                <a:spcPts val="70"/>
              </a:spcAft>
              <a:defRPr sz="475">
                <a:solidFill>
                  <a:srgbClr val="1E375A"/>
                </a:solidFill>
                <a:latin typeface="Aptos"/>
              </a:defRPr>
            </a:pPr>
            <a:r>
              <a:t>Contracting / Tax - Vignesh S</a:t>
            </a:r>
          </a:p>
          <a:p>
            <a:pPr>
              <a:spcAft>
                <a:spcPts val="70"/>
              </a:spcAft>
              <a:defRPr sz="475">
                <a:solidFill>
                  <a:srgbClr val="1E375A"/>
                </a:solidFill>
                <a:latin typeface="Aptos"/>
              </a:defRPr>
            </a:pPr>
            <a:r>
              <a:t>MDP/DMC - Mahesh Laddi</a:t>
            </a:r>
          </a:p>
          <a:p>
            <a:pPr>
              <a:spcAft>
                <a:spcPts val="70"/>
              </a:spcAft>
              <a:defRPr sz="475">
                <a:solidFill>
                  <a:srgbClr val="1E375A"/>
                </a:solidFill>
                <a:latin typeface="Aptos"/>
              </a:defRPr>
            </a:pPr>
            <a:r>
              <a:t>TDA - Naveen H</a:t>
            </a:r>
          </a:p>
          <a:p>
            <a:pPr>
              <a:spcAft>
                <a:spcPts val="70"/>
              </a:spcAft>
              <a:defRPr sz="475">
                <a:solidFill>
                  <a:srgbClr val="1E375A"/>
                </a:solidFill>
                <a:latin typeface="Aptos"/>
              </a:defRPr>
            </a:pPr>
            <a:r>
              <a:t>Performance - Srinivasa R</a:t>
            </a:r>
          </a:p>
          <a:p>
            <a:pPr>
              <a:spcAft>
                <a:spcPts val="70"/>
              </a:spcAft>
              <a:defRPr sz="475">
                <a:solidFill>
                  <a:srgbClr val="1E375A"/>
                </a:solidFill>
                <a:latin typeface="Aptos"/>
              </a:defRPr>
            </a:pPr>
            <a:r>
              <a:t>Selenium (TestNG) - Varsha Chitray</a:t>
            </a:r>
          </a:p>
          <a:p>
            <a:pPr>
              <a:spcAft>
                <a:spcPts val="70"/>
              </a:spcAft>
              <a:defRPr sz="475">
                <a:solidFill>
                  <a:srgbClr val="1E375A"/>
                </a:solidFill>
                <a:latin typeface="Aptos"/>
              </a:defRPr>
            </a:pPr>
            <a:r>
              <a:t>Selenium (Hybrid) - Deepak Chhabria</a:t>
            </a:r>
          </a:p>
          <a:p>
            <a:pPr>
              <a:spcAft>
                <a:spcPts val="70"/>
              </a:spcAft>
              <a:defRPr sz="475">
                <a:solidFill>
                  <a:srgbClr val="1E375A"/>
                </a:solidFill>
                <a:latin typeface="Aptos"/>
              </a:defRPr>
            </a:pPr>
            <a:r>
              <a:t>TOSCA Auto - Team Lead</a:t>
            </a:r>
          </a:p>
          <a:p>
            <a:pPr>
              <a:spcAft>
                <a:spcPts val="70"/>
              </a:spcAft>
              <a:defRPr sz="475">
                <a:solidFill>
                  <a:srgbClr val="1E375A"/>
                </a:solidFill>
                <a:latin typeface="Aptos"/>
              </a:defRPr>
            </a:pPr>
            <a:r>
              <a:t>Work Package - Likhith Pateel</a:t>
            </a:r>
          </a:p>
          <a:p>
            <a:pPr>
              <a:spcAft>
                <a:spcPts val="70"/>
              </a:spcAft>
              <a:defRPr sz="475">
                <a:solidFill>
                  <a:srgbClr val="1E375A"/>
                </a:solidFill>
                <a:latin typeface="Aptos"/>
              </a:defRPr>
            </a:pPr>
            <a:r>
              <a:t>DocGen - Sandhyarani 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8272" y="512064"/>
            <a:ext cx="2048256" cy="210312"/>
          </a:xfrm>
          <a:prstGeom prst="roundRect">
            <a:avLst/>
          </a:prstGeom>
          <a:solidFill>
            <a:srgbClr val="E47E29"/>
          </a:solidFill>
          <a:ln w="7620">
            <a:solidFill>
              <a:srgbClr val="E47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Points of Contact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48272" y="740664"/>
            <a:ext cx="2048256" cy="3657600"/>
          </a:xfrm>
          <a:prstGeom prst="roundRect">
            <a:avLst/>
          </a:prstGeom>
          <a:solidFill>
            <a:srgbClr val="FFEFDE"/>
          </a:solidFill>
          <a:ln w="7620">
            <a:solidFill>
              <a:srgbClr val="E47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36576" tIns="32004" bIns="13716"/>
          <a:lstStyle/>
          <a:p>
            <a:pPr algn="l">
              <a:spcAft>
                <a:spcPts val="70"/>
              </a:spcAft>
              <a:defRPr sz="455">
                <a:solidFill>
                  <a:srgbClr val="1E375A"/>
                </a:solidFill>
                <a:latin typeface="Aptos"/>
              </a:defRPr>
            </a:pPr>
            <a:r>
              <a:t>TSA - Varsha C</a:t>
            </a:r>
          </a:p>
          <a:p>
            <a:pPr>
              <a:spcAft>
                <a:spcPts val="70"/>
              </a:spcAft>
              <a:defRPr sz="455">
                <a:solidFill>
                  <a:srgbClr val="1E375A"/>
                </a:solidFill>
                <a:latin typeface="Aptos"/>
              </a:defRPr>
            </a:pPr>
            <a:r>
              <a:t>Contracting Team 1 &amp; 2 - Vignesh S / Preeti K / Srinivas R</a:t>
            </a:r>
          </a:p>
          <a:p>
            <a:pPr>
              <a:spcAft>
                <a:spcPts val="70"/>
              </a:spcAft>
              <a:defRPr sz="455">
                <a:solidFill>
                  <a:srgbClr val="1E375A"/>
                </a:solidFill>
                <a:latin typeface="Aptos"/>
              </a:defRPr>
            </a:pPr>
            <a:r>
              <a:t>Jobs &amp; CoJo - Rashmi R</a:t>
            </a:r>
          </a:p>
          <a:p>
            <a:pPr>
              <a:spcAft>
                <a:spcPts val="70"/>
              </a:spcAft>
              <a:defRPr sz="455">
                <a:solidFill>
                  <a:srgbClr val="1E375A"/>
                </a:solidFill>
                <a:latin typeface="Aptos"/>
              </a:defRPr>
            </a:pPr>
            <a:r>
              <a:t>MDP/DMC - Mahesh L / Anusha</a:t>
            </a:r>
          </a:p>
          <a:p>
            <a:pPr>
              <a:spcAft>
                <a:spcPts val="70"/>
              </a:spcAft>
              <a:defRPr sz="455">
                <a:solidFill>
                  <a:srgbClr val="1E375A"/>
                </a:solidFill>
                <a:latin typeface="Aptos"/>
              </a:defRPr>
            </a:pPr>
            <a:r>
              <a:t>TDA - Naveen H</a:t>
            </a:r>
          </a:p>
          <a:p>
            <a:pPr>
              <a:spcAft>
                <a:spcPts val="70"/>
              </a:spcAft>
              <a:defRPr sz="455">
                <a:solidFill>
                  <a:srgbClr val="1E375A"/>
                </a:solidFill>
                <a:latin typeface="Aptos"/>
              </a:defRPr>
            </a:pPr>
            <a:r>
              <a:t>Equipment - Brinda S</a:t>
            </a:r>
          </a:p>
          <a:p>
            <a:pPr>
              <a:spcAft>
                <a:spcPts val="70"/>
              </a:spcAft>
              <a:defRPr sz="455">
                <a:solidFill>
                  <a:srgbClr val="1E375A"/>
                </a:solidFill>
                <a:latin typeface="Aptos"/>
              </a:defRPr>
            </a:pPr>
            <a:r>
              <a:t>Automation - Varsha C</a:t>
            </a:r>
          </a:p>
          <a:p>
            <a:pPr>
              <a:spcAft>
                <a:spcPts val="70"/>
              </a:spcAft>
              <a:defRPr sz="455">
                <a:solidFill>
                  <a:srgbClr val="1E375A"/>
                </a:solidFill>
                <a:latin typeface="Aptos"/>
              </a:defRPr>
            </a:pPr>
            <a:r>
              <a:t>Performance - Srinivasa R</a:t>
            </a:r>
          </a:p>
          <a:p>
            <a:pPr>
              <a:spcAft>
                <a:spcPts val="70"/>
              </a:spcAft>
              <a:defRPr sz="455">
                <a:solidFill>
                  <a:srgbClr val="1E375A"/>
                </a:solidFill>
                <a:latin typeface="Aptos"/>
              </a:defRPr>
            </a:pPr>
            <a:r>
              <a:t>Smoke (Prod) - Mahesh L</a:t>
            </a:r>
          </a:p>
          <a:p>
            <a:pPr>
              <a:spcAft>
                <a:spcPts val="70"/>
              </a:spcAft>
              <a:defRPr sz="455">
                <a:solidFill>
                  <a:srgbClr val="1E375A"/>
                </a:solidFill>
                <a:latin typeface="Aptos"/>
              </a:defRPr>
            </a:pPr>
            <a:r>
              <a:t>Work Package - Likhith P</a:t>
            </a:r>
          </a:p>
          <a:p>
            <a:pPr>
              <a:spcAft>
                <a:spcPts val="70"/>
              </a:spcAft>
              <a:defRPr sz="455">
                <a:solidFill>
                  <a:srgbClr val="1E375A"/>
                </a:solidFill>
                <a:latin typeface="Aptos"/>
              </a:defRPr>
            </a:pPr>
            <a:r>
              <a:t>DocGen - Sandhyarani</a:t>
            </a:r>
          </a:p>
          <a:p>
            <a:pPr>
              <a:spcAft>
                <a:spcPts val="70"/>
              </a:spcAft>
              <a:defRPr sz="455">
                <a:solidFill>
                  <a:srgbClr val="1E375A"/>
                </a:solidFill>
                <a:latin typeface="Aptos"/>
              </a:defRPr>
            </a:pPr>
            <a:r>
              <a:t>Service - Frank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13716" bIns="13716"/>
          <a:lstStyle/>
          <a:p>
            <a:pPr algn="ctr"/>
            <a:r>
              <a:rPr sz="700" b="0">
                <a:solidFill>
                  <a:srgbClr val="58606A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once again to the team, and hope you have a wonderful journey with us!</a:t>
            </a:r>
            <a:endParaRPr lang="en-US" sz="22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4842</TotalTime>
  <Words>1665</Words>
  <Application>Microsoft Office PowerPoint</Application>
  <PresentationFormat>On-screen Show (16:9)</PresentationFormat>
  <Paragraphs>567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Khajji, Preeti</cp:lastModifiedBy>
  <cp:revision>3</cp:revision>
  <dcterms:created xsi:type="dcterms:W3CDTF">2026-05-04T01:27:56Z</dcterms:created>
  <dcterms:modified xsi:type="dcterms:W3CDTF">2026-05-07T16:17:56Z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62845b5-9b70-49d7-b944-decf2d49c436_Enabled">
    <vt:lpwstr>true</vt:lpwstr>
  </property>
  <property fmtid="{D5CDD505-2E9C-101B-9397-08002B2CF9AE}" pid="3" name="MSIP_Label_962845b5-9b70-49d7-b944-decf2d49c436_SetDate">
    <vt:lpwstr>2026-05-04T08:21:12Z</vt:lpwstr>
  </property>
  <property fmtid="{D5CDD505-2E9C-101B-9397-08002B2CF9AE}" pid="4" name="MSIP_Label_962845b5-9b70-49d7-b944-decf2d49c436_Method">
    <vt:lpwstr>Privileged</vt:lpwstr>
  </property>
  <property fmtid="{D5CDD505-2E9C-101B-9397-08002B2CF9AE}" pid="5" name="MSIP_Label_962845b5-9b70-49d7-b944-decf2d49c436_Name">
    <vt:lpwstr>Public</vt:lpwstr>
  </property>
  <property fmtid="{D5CDD505-2E9C-101B-9397-08002B2CF9AE}" pid="6" name="MSIP_Label_962845b5-9b70-49d7-b944-decf2d49c436_SiteId">
    <vt:lpwstr>abf9983b-ca77-4f20-9633-ca9c5a847041</vt:lpwstr>
  </property>
  <property fmtid="{D5CDD505-2E9C-101B-9397-08002B2CF9AE}" pid="7" name="MSIP_Label_962845b5-9b70-49d7-b944-decf2d49c436_ActionId">
    <vt:lpwstr>edce9420-56e3-4e81-bfa9-cf37c5adab1c</vt:lpwstr>
  </property>
  <property fmtid="{D5CDD505-2E9C-101B-9397-08002B2CF9AE}" pid="8" name="MSIP_Label_962845b5-9b70-49d7-b944-decf2d49c436_ContentBits">
    <vt:lpwstr>0</vt:lpwstr>
  </property>
  <property fmtid="{D5CDD505-2E9C-101B-9397-08002B2CF9AE}" pid="9" name="MSIP_Label_962845b5-9b70-49d7-b944-decf2d49c436_Tag">
    <vt:lpwstr>10, 0, 1, 1</vt:lpwstr>
  </property>
</Properties>
</file>