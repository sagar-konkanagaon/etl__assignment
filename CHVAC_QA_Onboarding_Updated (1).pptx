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D53693-15AB-4B33-9CF1-1FDE45C8B252}" v="58" dt="2026-05-07T16:17:56.785"/>
    <p1510:client id="{E1002C20-7C07-45EC-B056-14A9E7F205A7}" v="377" dt="2026-05-07T10:02:25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26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2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29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netis.jira.com/wiki/spaces/TSMT/pages/4088692861/Trane+Select+Assist+TSA" TargetMode="External"/><Relationship Id="rId4" Type="http://schemas.openxmlformats.org/officeDocument/2006/relationships/hyperlink" Target="https://tranetis.jira.com/wiki/spaces/TSMT/pages/4108681299/Equipment+Onboarding" TargetMode="External"/><Relationship Id="rId5" Type="http://schemas.openxmlformats.org/officeDocument/2006/relationships/hyperlink" Target="https://tranetis.jira.com/wiki/spaces/TSMT/pages/4089217110/Data+Maintenance+Center+Manufacturing+Data+Preparation+DMC+MDP" TargetMode="External"/><Relationship Id="rId6" Type="http://schemas.openxmlformats.org/officeDocument/2006/relationships/hyperlink" Target="https://tranetis.jira.com/wiki/spaces/TSMT/pages/4108517505/Jobs+Coordinated+Jobs+COJO" TargetMode="External"/><Relationship Id="rId7" Type="http://schemas.openxmlformats.org/officeDocument/2006/relationships/hyperlink" Target="https://tranetis.jira.com/wiki/spaces/TSMT/pages/4501078104/Contracting+Team" TargetMode="External"/><Relationship Id="rId8" Type="http://schemas.openxmlformats.org/officeDocument/2006/relationships/hyperlink" Target="https://tranetis.jira.com/wiki/spaces/TSMT/pages/4108812330/Trane+Design+Assist+TDA" TargetMode="External"/><Relationship Id="rId9" Type="http://schemas.openxmlformats.org/officeDocument/2006/relationships/hyperlink" Target="https://tranetis.jira.com/wiki/spaces/TSMT/pages/4108812415/Work+Package+Onboarding" TargetMode="External"/><Relationship Id="rId10" Type="http://schemas.openxmlformats.org/officeDocument/2006/relationships/hyperlink" Target="https://tranetis.jira.com/wiki/spaces/TSMT/pages/4501733404/Service" TargetMode="External"/><Relationship Id="rId11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CHVAC QA Core team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deck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65836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94944" y="65836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472" y="104241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47472" y="113385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" y="1133856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1517904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94944" y="160934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" y="1993392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7472" y="2084832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4944" y="208483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to 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468880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7472" y="2560320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" y="2560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7472" y="2944368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7472" y="303580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" y="30358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41985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303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spans USA and India across multiple delivery tracks under the CHVAC IT OTC QA practice.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47472" y="932688"/>
            <a:ext cx="5029200" cy="548640"/>
          </a:xfrm>
          <a:prstGeom prst="rect">
            <a:avLst/>
          </a:prstGeom>
          <a:solidFill>
            <a:srgbClr val="EDE7F6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64008" cy="54864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75488" y="969264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 Hegde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207008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 – QA Leader  ·  WorkSight QA Lead  ·  Trane-ITC  ·  Offshore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7472" y="1572767"/>
            <a:ext cx="5029200" cy="2189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solidFill>
                  <a:srgbClr val="1F2937"/>
                </a:solidFill>
                <a:latin typeface="Aptos"/>
              </a:rPr>
              <a:t>Delivery Tracks</a:t>
            </a:r>
          </a:p>
          <a:p>
            <a:r>
              <a:rPr sz="1000">
                <a:solidFill>
                  <a:srgbClr val="1F2937"/>
                </a:solidFill>
                <a:latin typeface="Aptos"/>
              </a:rPr>
              <a:t>WorkSight Projects: TSA (Trane Select Assist) · Equipment (R12) · DMC / MDP · Jobs &amp; CoJo · Contracting (Team 1 &amp; 2) · Work Package · Documents (DocGen) · Service</a:t>
            </a:r>
          </a:p>
          <a:p>
            <a:r>
              <a:rPr sz="1000">
                <a:solidFill>
                  <a:srgbClr val="1F2937"/>
                </a:solidFill>
                <a:latin typeface="Aptos"/>
              </a:rPr>
              <a:t>Other Projects: TDA (Trane Design Assist)</a:t>
            </a:r>
          </a:p>
        </p:txBody>
      </p:sp>
      <p:sp>
        <p:nvSpPr>
          <p:cNvPr id="13" name="Text 11"/>
          <p:cNvSpPr/>
          <p:nvPr/>
        </p:nvSpPr>
        <p:spPr>
          <a:xfrm>
            <a:off x="5669280" y="5303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at a Glance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80467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724144" y="8046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589520" y="8046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0" y="107899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724144" y="10789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589520" y="107899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135331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724144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589520" y="135331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0" y="162763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724144" y="16276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589520" y="162763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190195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724144" y="1901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Func. Analysts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589520" y="190195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0" y="217627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724144" y="21762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 / PAs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589520" y="21762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50" name="Text 1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  <p:sp>
        <p:nvSpPr>
          <p:cNvPr id="151" name="Rectangle 150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1F2937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47472" y="49377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00" b="0">
                <a:solidFill>
                  <a:srgbClr val="4B5563"/>
                </a:solidFill>
                <a:latin typeface="Aptos"/>
              </a:rPr>
              <a:t>Ramesh Hegde leads WorkSight and TDA sessions. QA leads and sub-items shown below.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063240" y="1005840"/>
            <a:ext cx="3017520" cy="402336"/>
          </a:xfrm>
          <a:prstGeom prst="rect">
            <a:avLst/>
          </a:prstGeom>
          <a:solidFill>
            <a:srgbClr val="4A148C"/>
          </a:solidFill>
          <a:ln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063240" y="1005840"/>
            <a:ext cx="30175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Ramesh Hegde · WorkSight QA Manager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828800" y="1901952"/>
            <a:ext cx="1234440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828800" y="190195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92807" y="1901952"/>
            <a:ext cx="1161288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WorkSight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828800" y="2432304"/>
            <a:ext cx="123444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Projects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080760" y="1901952"/>
            <a:ext cx="1234440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080760" y="190195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144768" y="1901952"/>
            <a:ext cx="1161288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TDA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080760" y="2432304"/>
            <a:ext cx="123444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Naveen H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572000" y="1408176"/>
            <a:ext cx="0" cy="256032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450592" y="1664208"/>
            <a:ext cx="4242816" cy="0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450592" y="1664208"/>
            <a:ext cx="0" cy="237744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6693408" y="1664208"/>
            <a:ext cx="0" cy="237744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166"/>
          <p:cNvSpPr/>
          <p:nvPr/>
        </p:nvSpPr>
        <p:spPr>
          <a:xfrm>
            <a:off x="41148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1148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7548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Trane Select Assist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1148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Varsha 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41732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41732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48132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Equipment (R12)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41732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Brinda S/Harikrishnan, Aiswarya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2316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42316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48716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DMC / MDP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42316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Mahesh L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42900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42900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49300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Jobs &amp; CoJo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42900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Rashmi R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434840" y="2907792"/>
            <a:ext cx="987552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43484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498848" y="2907792"/>
            <a:ext cx="91440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Contracting(Team 1 &amp; 2) (Tax)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434840" y="3438144"/>
            <a:ext cx="987552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Vignesh S/Preethi Khajji/Srinivasa R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544068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44068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50468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Work Package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4068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Likhith P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44652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44652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51052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Documents (DocGen)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44652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Sandhyarani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745236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45236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51636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Service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5236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Frank 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Track – Teams A &amp; B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 (14 members)</a:t>
            </a:r>
            <a:endParaRPr lang="en-US" sz="950"/>
          </a:p>
        </p:txBody>
      </p:sp>
      <p:sp>
        <p:nvSpPr>
          <p:cNvPr id="4" name="Shape 2"/>
          <p:cNvSpPr/>
          <p:nvPr/>
        </p:nvSpPr>
        <p:spPr>
          <a:xfrm>
            <a:off x="347472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Jaimie Christianson</a:t>
            </a:r>
            <a:endParaRPr lang="en-US" sz="750"/>
          </a:p>
        </p:txBody>
      </p:sp>
      <p:sp>
        <p:nvSpPr>
          <p:cNvPr id="7" name="Text 5"/>
          <p:cNvSpPr/>
          <p:nvPr/>
        </p:nvSpPr>
        <p:spPr>
          <a:xfrm>
            <a:off x="1986808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8" name="Text 6"/>
          <p:cNvSpPr/>
          <p:nvPr/>
        </p:nvSpPr>
        <p:spPr>
          <a:xfrm>
            <a:off x="3446191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" name="Shape 7"/>
          <p:cNvSpPr/>
          <p:nvPr/>
        </p:nvSpPr>
        <p:spPr>
          <a:xfrm>
            <a:off x="347472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47472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02336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Vijay Patti Reddy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1986808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Analyst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3446191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14" name="Shape 12"/>
          <p:cNvSpPr/>
          <p:nvPr/>
        </p:nvSpPr>
        <p:spPr>
          <a:xfrm>
            <a:off x="347472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Pradeesh Kumar</a:t>
            </a:r>
            <a:endParaRPr lang="en-US" sz="750"/>
          </a:p>
        </p:txBody>
      </p:sp>
      <p:sp>
        <p:nvSpPr>
          <p:cNvPr id="17" name="Text 15"/>
          <p:cNvSpPr/>
          <p:nvPr/>
        </p:nvSpPr>
        <p:spPr>
          <a:xfrm>
            <a:off x="1986808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3446191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54" name="Shape 52"/>
          <p:cNvSpPr/>
          <p:nvPr/>
        </p:nvSpPr>
        <p:spPr>
          <a:xfrm>
            <a:off x="347472" y="14538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4538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4538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Brinda S</a:t>
            </a:r>
            <a:endParaRPr lang="en-US" sz="750"/>
          </a:p>
        </p:txBody>
      </p:sp>
      <p:sp>
        <p:nvSpPr>
          <p:cNvPr id="57" name="Text 55"/>
          <p:cNvSpPr/>
          <p:nvPr/>
        </p:nvSpPr>
        <p:spPr>
          <a:xfrm>
            <a:off x="1986808" y="14538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58" name="Text 56"/>
          <p:cNvSpPr/>
          <p:nvPr/>
        </p:nvSpPr>
        <p:spPr>
          <a:xfrm>
            <a:off x="3446191" y="14538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59" name="Shape 57"/>
          <p:cNvSpPr/>
          <p:nvPr/>
        </p:nvSpPr>
        <p:spPr>
          <a:xfrm>
            <a:off x="347472" y="16733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347472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02336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Devendra E</a:t>
            </a:r>
            <a:endParaRPr lang="en-US" sz="750"/>
          </a:p>
        </p:txBody>
      </p:sp>
      <p:sp>
        <p:nvSpPr>
          <p:cNvPr id="62" name="Text 60"/>
          <p:cNvSpPr/>
          <p:nvPr/>
        </p:nvSpPr>
        <p:spPr>
          <a:xfrm>
            <a:off x="1986808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63" name="Text 61"/>
          <p:cNvSpPr/>
          <p:nvPr/>
        </p:nvSpPr>
        <p:spPr>
          <a:xfrm>
            <a:off x="3446191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4" name="Shape 62"/>
          <p:cNvSpPr/>
          <p:nvPr/>
        </p:nvSpPr>
        <p:spPr>
          <a:xfrm>
            <a:off x="347472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Praveen Nagaraj</a:t>
            </a:r>
            <a:endParaRPr lang="en-US" sz="750"/>
          </a:p>
        </p:txBody>
      </p:sp>
      <p:sp>
        <p:nvSpPr>
          <p:cNvPr id="67" name="Text 65"/>
          <p:cNvSpPr/>
          <p:nvPr/>
        </p:nvSpPr>
        <p:spPr>
          <a:xfrm>
            <a:off x="1986808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68" name="Text 66"/>
          <p:cNvSpPr/>
          <p:nvPr/>
        </p:nvSpPr>
        <p:spPr>
          <a:xfrm>
            <a:off x="3446191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9" name="Shape 67"/>
          <p:cNvSpPr/>
          <p:nvPr/>
        </p:nvSpPr>
        <p:spPr>
          <a:xfrm>
            <a:off x="347472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347472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2336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Jashwanth Sai</a:t>
            </a:r>
            <a:endParaRPr lang="en-US" sz="750"/>
          </a:p>
        </p:txBody>
      </p:sp>
      <p:sp>
        <p:nvSpPr>
          <p:cNvPr id="72" name="Text 70"/>
          <p:cNvSpPr/>
          <p:nvPr/>
        </p:nvSpPr>
        <p:spPr>
          <a:xfrm>
            <a:off x="1986808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73" name="Text 71"/>
          <p:cNvSpPr/>
          <p:nvPr/>
        </p:nvSpPr>
        <p:spPr>
          <a:xfrm>
            <a:off x="3446191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74" name="Text 72"/>
          <p:cNvSpPr/>
          <p:nvPr/>
        </p:nvSpPr>
        <p:spPr>
          <a:xfrm>
            <a:off x="4626864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 (17 members)</a:t>
            </a:r>
            <a:endParaRPr lang="en-US" sz="950"/>
          </a:p>
        </p:txBody>
      </p:sp>
      <p:sp>
        <p:nvSpPr>
          <p:cNvPr id="75" name="Shape 73"/>
          <p:cNvSpPr/>
          <p:nvPr/>
        </p:nvSpPr>
        <p:spPr>
          <a:xfrm>
            <a:off x="4626864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4626864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681728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 White</a:t>
            </a:r>
            <a:endParaRPr lang="en-US" sz="750"/>
          </a:p>
        </p:txBody>
      </p:sp>
      <p:sp>
        <p:nvSpPr>
          <p:cNvPr id="78" name="Text 76"/>
          <p:cNvSpPr/>
          <p:nvPr/>
        </p:nvSpPr>
        <p:spPr>
          <a:xfrm>
            <a:off x="6266200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79" name="Text 77"/>
          <p:cNvSpPr/>
          <p:nvPr/>
        </p:nvSpPr>
        <p:spPr>
          <a:xfrm>
            <a:off x="7725583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0" name="Shape 78"/>
          <p:cNvSpPr/>
          <p:nvPr/>
        </p:nvSpPr>
        <p:spPr>
          <a:xfrm>
            <a:off x="4626864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626864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81728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Cassi Key</a:t>
            </a:r>
            <a:endParaRPr lang="en-US" sz="750"/>
          </a:p>
        </p:txBody>
      </p:sp>
      <p:sp>
        <p:nvSpPr>
          <p:cNvPr id="83" name="Text 81"/>
          <p:cNvSpPr/>
          <p:nvPr/>
        </p:nvSpPr>
        <p:spPr>
          <a:xfrm>
            <a:off x="6266200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Business</a:t>
            </a:r>
            <a:endParaRPr lang="en-US" sz="700"/>
          </a:p>
        </p:txBody>
      </p:sp>
      <p:sp>
        <p:nvSpPr>
          <p:cNvPr id="84" name="Text 82"/>
          <p:cNvSpPr/>
          <p:nvPr/>
        </p:nvSpPr>
        <p:spPr>
          <a:xfrm>
            <a:off x="7725583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5" name="Shape 83"/>
          <p:cNvSpPr/>
          <p:nvPr/>
        </p:nvSpPr>
        <p:spPr>
          <a:xfrm>
            <a:off x="4626864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Shape 84"/>
          <p:cNvSpPr/>
          <p:nvPr/>
        </p:nvSpPr>
        <p:spPr>
          <a:xfrm>
            <a:off x="4626864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4681728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Harish Chintakuntla</a:t>
            </a:r>
            <a:endParaRPr lang="en-US" sz="750"/>
          </a:p>
        </p:txBody>
      </p:sp>
      <p:sp>
        <p:nvSpPr>
          <p:cNvPr id="88" name="Text 86"/>
          <p:cNvSpPr/>
          <p:nvPr/>
        </p:nvSpPr>
        <p:spPr>
          <a:xfrm>
            <a:off x="6266200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89" name="Text 87"/>
          <p:cNvSpPr/>
          <p:nvPr/>
        </p:nvSpPr>
        <p:spPr>
          <a:xfrm>
            <a:off x="7725583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0" name="Shape 88"/>
          <p:cNvSpPr/>
          <p:nvPr/>
        </p:nvSpPr>
        <p:spPr>
          <a:xfrm>
            <a:off x="4626864" y="14264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4626864" y="14264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681728" y="14264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Chirag Gandhi</a:t>
            </a:r>
            <a:endParaRPr lang="en-US" sz="750"/>
          </a:p>
        </p:txBody>
      </p:sp>
      <p:sp>
        <p:nvSpPr>
          <p:cNvPr id="93" name="Text 91"/>
          <p:cNvSpPr/>
          <p:nvPr/>
        </p:nvSpPr>
        <p:spPr>
          <a:xfrm>
            <a:off x="6266200" y="14264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94" name="Text 92"/>
          <p:cNvSpPr/>
          <p:nvPr/>
        </p:nvSpPr>
        <p:spPr>
          <a:xfrm>
            <a:off x="7725583" y="14264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25" name="Shape 123"/>
          <p:cNvSpPr/>
          <p:nvPr/>
        </p:nvSpPr>
        <p:spPr>
          <a:xfrm>
            <a:off x="4626864" y="1673352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Shape 124"/>
          <p:cNvSpPr/>
          <p:nvPr/>
        </p:nvSpPr>
        <p:spPr>
          <a:xfrm>
            <a:off x="4626864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681728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Blessing</a:t>
            </a:r>
            <a:endParaRPr lang="en-US" sz="750"/>
          </a:p>
        </p:txBody>
      </p:sp>
      <p:sp>
        <p:nvSpPr>
          <p:cNvPr id="128" name="Text 126"/>
          <p:cNvSpPr/>
          <p:nvPr/>
        </p:nvSpPr>
        <p:spPr>
          <a:xfrm>
            <a:off x="6266200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/>
          </a:p>
        </p:txBody>
      </p:sp>
      <p:sp>
        <p:nvSpPr>
          <p:cNvPr id="129" name="Text 127"/>
          <p:cNvSpPr/>
          <p:nvPr/>
        </p:nvSpPr>
        <p:spPr>
          <a:xfrm>
            <a:off x="7725583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35" name="Shape 133"/>
          <p:cNvSpPr/>
          <p:nvPr/>
        </p:nvSpPr>
        <p:spPr>
          <a:xfrm>
            <a:off x="4626864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Shape 134"/>
          <p:cNvSpPr/>
          <p:nvPr/>
        </p:nvSpPr>
        <p:spPr>
          <a:xfrm>
            <a:off x="4626864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Text 135"/>
          <p:cNvSpPr/>
          <p:nvPr/>
        </p:nvSpPr>
        <p:spPr>
          <a:xfrm>
            <a:off x="4681728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Aiswarya H</a:t>
            </a:r>
            <a:endParaRPr lang="en-US" sz="750"/>
          </a:p>
        </p:txBody>
      </p:sp>
      <p:sp>
        <p:nvSpPr>
          <p:cNvPr id="138" name="Text 136"/>
          <p:cNvSpPr/>
          <p:nvPr/>
        </p:nvSpPr>
        <p:spPr>
          <a:xfrm>
            <a:off x="6266200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139" name="Text 137"/>
          <p:cNvSpPr/>
          <p:nvPr/>
        </p:nvSpPr>
        <p:spPr>
          <a:xfrm>
            <a:off x="7725583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0" name="Shape 138"/>
          <p:cNvSpPr/>
          <p:nvPr/>
        </p:nvSpPr>
        <p:spPr>
          <a:xfrm>
            <a:off x="4626864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1" name="Shape 139"/>
          <p:cNvSpPr/>
          <p:nvPr/>
        </p:nvSpPr>
        <p:spPr>
          <a:xfrm>
            <a:off x="4626864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681728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Sowmya Shetty</a:t>
            </a:r>
            <a:endParaRPr lang="en-US" sz="750"/>
          </a:p>
        </p:txBody>
      </p:sp>
      <p:sp>
        <p:nvSpPr>
          <p:cNvPr id="143" name="Text 141"/>
          <p:cNvSpPr/>
          <p:nvPr/>
        </p:nvSpPr>
        <p:spPr>
          <a:xfrm>
            <a:off x="6266200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R12</a:t>
            </a:r>
            <a:endParaRPr lang="en-US" sz="700"/>
          </a:p>
        </p:txBody>
      </p:sp>
      <p:sp>
        <p:nvSpPr>
          <p:cNvPr id="144" name="Text 142"/>
          <p:cNvSpPr/>
          <p:nvPr/>
        </p:nvSpPr>
        <p:spPr>
          <a:xfrm>
            <a:off x="7725583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5" name="Shape 143"/>
          <p:cNvSpPr/>
          <p:nvPr/>
        </p:nvSpPr>
        <p:spPr>
          <a:xfrm>
            <a:off x="4626864" y="2331720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4626864" y="2331720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4681728" y="2331720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Greeshma Balan</a:t>
            </a:r>
            <a:endParaRPr lang="en-US" sz="750"/>
          </a:p>
        </p:txBody>
      </p:sp>
      <p:sp>
        <p:nvSpPr>
          <p:cNvPr id="148" name="Text 146"/>
          <p:cNvSpPr/>
          <p:nvPr/>
        </p:nvSpPr>
        <p:spPr>
          <a:xfrm>
            <a:off x="6266200" y="2331720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49" name="Text 147"/>
          <p:cNvSpPr/>
          <p:nvPr/>
        </p:nvSpPr>
        <p:spPr>
          <a:xfrm>
            <a:off x="7725583" y="233172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/>
          </a:p>
        </p:txBody>
      </p:sp>
      <p:sp>
        <p:nvSpPr>
          <p:cNvPr id="150" name="Shape 148"/>
          <p:cNvSpPr/>
          <p:nvPr/>
        </p:nvSpPr>
        <p:spPr>
          <a:xfrm>
            <a:off x="4626864" y="2551176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149"/>
          <p:cNvSpPr/>
          <p:nvPr/>
        </p:nvSpPr>
        <p:spPr>
          <a:xfrm>
            <a:off x="4626864" y="255117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150"/>
          <p:cNvSpPr/>
          <p:nvPr/>
        </p:nvSpPr>
        <p:spPr>
          <a:xfrm>
            <a:off x="4681728" y="255117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Brahmananda R</a:t>
            </a:r>
            <a:endParaRPr lang="en-US" sz="750"/>
          </a:p>
        </p:txBody>
      </p:sp>
      <p:sp>
        <p:nvSpPr>
          <p:cNvPr id="153" name="Text 151"/>
          <p:cNvSpPr/>
          <p:nvPr/>
        </p:nvSpPr>
        <p:spPr>
          <a:xfrm>
            <a:off x="6266200" y="255117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54" name="Text 152"/>
          <p:cNvSpPr/>
          <p:nvPr/>
        </p:nvSpPr>
        <p:spPr>
          <a:xfrm>
            <a:off x="7725583" y="255117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55" name="Shape 153"/>
          <p:cNvSpPr/>
          <p:nvPr/>
        </p:nvSpPr>
        <p:spPr>
          <a:xfrm>
            <a:off x="4626864" y="2770632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4626864" y="277063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681728" y="277063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Kavya B N</a:t>
            </a:r>
            <a:endParaRPr lang="en-US" sz="750"/>
          </a:p>
        </p:txBody>
      </p:sp>
      <p:sp>
        <p:nvSpPr>
          <p:cNvPr id="158" name="Text 156"/>
          <p:cNvSpPr/>
          <p:nvPr/>
        </p:nvSpPr>
        <p:spPr>
          <a:xfrm>
            <a:off x="6266200" y="277063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/>
          </a:p>
        </p:txBody>
      </p:sp>
      <p:sp>
        <p:nvSpPr>
          <p:cNvPr id="159" name="Text 157"/>
          <p:cNvSpPr/>
          <p:nvPr/>
        </p:nvSpPr>
        <p:spPr>
          <a:xfrm>
            <a:off x="7725583" y="277063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pic>
        <p:nvPicPr>
          <p:cNvPr id="16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108960"/>
            <a:ext cx="1097280" cy="475488"/>
          </a:xfrm>
          <a:prstGeom prst="rect">
            <a:avLst/>
          </a:prstGeom>
        </p:spPr>
      </p:pic>
      <p:sp>
        <p:nvSpPr>
          <p:cNvPr id="161" name="Text 158"/>
          <p:cNvSpPr/>
          <p:nvPr/>
        </p:nvSpPr>
        <p:spPr>
          <a:xfrm>
            <a:off x="347472" y="32918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74" name="Text 7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  <p:sp>
        <p:nvSpPr>
          <p:cNvPr id="75" name="Rectangle 74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1F2937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47472" y="548640"/>
            <a:ext cx="84490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DMC / MDP Team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47472" y="786384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7472" y="78638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02336" y="78638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Brian Brockman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79776" y="78638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751576" y="78638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47472" y="1005840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47472" y="100584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336" y="100584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Bryan Lainhart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79776" y="100584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51576" y="100584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47472" y="1225295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7472" y="1225295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02336" y="1225295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Vipin Saroha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79776" y="1225295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Analyst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751576" y="1225295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47472" y="1444752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47472" y="1444752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336" y="1444752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Praveen Gopal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79776" y="1444752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Business Analyst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751576" y="1444752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Cognizant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47472" y="1664207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7472" y="1664207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02336" y="1664207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Snehalata Shidling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79776" y="1664207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Scrum Master / Dev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51576" y="1664207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47472" y="1883664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47472" y="188366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336" y="188366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Mahesh Laddi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779776" y="188366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751576" y="188366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47472" y="2103120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7472" y="210312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02336" y="210312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Anusha Gadade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779776" y="210312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51576" y="210312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7472" y="2322576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47472" y="2322576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336" y="2322576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Sarala V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779776" y="2322576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 / R12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751576" y="2322576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47472" y="2788920"/>
            <a:ext cx="84490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47472" y="3026664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47472" y="302666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02336" y="302666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Albin Xavier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779776" y="302666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WorkSight FA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751576" y="302666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47472" y="3246120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47472" y="324612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02336" y="324612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Narayan Kapali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779776" y="324612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WorkSight FA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751576" y="324612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Cognizant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47472" y="3465576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47472" y="3465576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02336" y="3465576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Sachin Salvi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779776" y="3465576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R12 FA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751576" y="3465576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Contractor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47472" y="3685032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47472" y="3685032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02336" y="3685032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Elizabeth Garcia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779776" y="3685032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R12 FA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751576" y="3685032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47472" y="3904487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47472" y="3904487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02336" y="3904487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Krishna Kumar 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779776" y="3904487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R12 FA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751576" y="3904487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Contractor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&amp; Contracting – QA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02920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Teams 1 &amp; 2 </a:t>
            </a:r>
            <a:endParaRPr lang="en-US" sz="900" b="1" dirty="0">
              <a:solidFill>
                <a:srgbClr val="7030A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Sheshababu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86808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 · T1,2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446191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626864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626864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81728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Preeti Khajji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266200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25583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47472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986808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Func/Auto/Perf · T2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446191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626864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626864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681728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Jinu Joy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266200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725583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347472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02336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Kumar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986808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46191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4626864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626864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681728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Rakshita 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66200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725583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347472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02336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Yana Zapanti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86808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446191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26864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626864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681728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 Chatterjee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266200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725583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347472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Vijitha 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986808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446191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4626864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626864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681728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Kumari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266200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725583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47472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Anusha Patnana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986808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446191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626864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4626864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681728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 D 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6266200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725583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Pramad Manohara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986808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3446191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4626864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4626864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681728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Sudar Subramanian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6266200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725583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347472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347472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02336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Vibin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1986808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446191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4626864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8"/>
          <p:cNvSpPr/>
          <p:nvPr/>
        </p:nvSpPr>
        <p:spPr>
          <a:xfrm>
            <a:off x="4626864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Text 79"/>
          <p:cNvSpPr/>
          <p:nvPr/>
        </p:nvSpPr>
        <p:spPr>
          <a:xfrm>
            <a:off x="4681728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Sivakumar R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266200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7725583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47472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Shape 83"/>
          <p:cNvSpPr/>
          <p:nvPr/>
        </p:nvSpPr>
        <p:spPr>
          <a:xfrm>
            <a:off x="347472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02336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Shalini N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986808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3446191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4626864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4626864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4681728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Subhashini S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266200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7725583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347472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3"/>
          <p:cNvSpPr/>
          <p:nvPr/>
        </p:nvSpPr>
        <p:spPr>
          <a:xfrm>
            <a:off x="347472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02336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Rangesh R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1986808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446191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626864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4626864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681728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Lakshmi P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266200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7725583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47472" y="312724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5" name="Shape 103"/>
          <p:cNvSpPr/>
          <p:nvPr/>
        </p:nvSpPr>
        <p:spPr>
          <a:xfrm>
            <a:off x="347472" y="312724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02336" y="312724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Ankur Bhattacharjee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986808" y="312724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3446191" y="312724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pic>
        <p:nvPicPr>
          <p:cNvPr id="10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10" name="Text 10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1" name="Shape 138">
            <a:extLst>
              <a:ext uri="{FF2B5EF4-FFF2-40B4-BE49-F238E27FC236}">
                <a16:creationId xmlns:a16="http://schemas.microsoft.com/office/drawing/2014/main" id="{867533B2-76B0-CA7A-CBCC-CC47C666F0A1}"/>
              </a:ext>
            </a:extLst>
          </p:cNvPr>
          <p:cNvSpPr/>
          <p:nvPr/>
        </p:nvSpPr>
        <p:spPr>
          <a:xfrm>
            <a:off x="2452309" y="3648456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39">
            <a:extLst>
              <a:ext uri="{FF2B5EF4-FFF2-40B4-BE49-F238E27FC236}">
                <a16:creationId xmlns:a16="http://schemas.microsoft.com/office/drawing/2014/main" id="{644364E0-6BAC-BA44-E108-8C2DB008A033}"/>
              </a:ext>
            </a:extLst>
          </p:cNvPr>
          <p:cNvSpPr/>
          <p:nvPr/>
        </p:nvSpPr>
        <p:spPr>
          <a:xfrm>
            <a:off x="2452309" y="364845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40">
            <a:extLst>
              <a:ext uri="{FF2B5EF4-FFF2-40B4-BE49-F238E27FC236}">
                <a16:creationId xmlns:a16="http://schemas.microsoft.com/office/drawing/2014/main" id="{15E7DD2A-C233-4D0D-4FD5-77955C57B118}"/>
              </a:ext>
            </a:extLst>
          </p:cNvPr>
          <p:cNvSpPr/>
          <p:nvPr/>
        </p:nvSpPr>
        <p:spPr>
          <a:xfrm>
            <a:off x="2507173" y="364845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Murcia</a:t>
            </a:r>
            <a:endParaRPr lang="en-US" sz="750" dirty="0"/>
          </a:p>
        </p:txBody>
      </p:sp>
      <p:sp>
        <p:nvSpPr>
          <p:cNvPr id="114" name="Text 141">
            <a:extLst>
              <a:ext uri="{FF2B5EF4-FFF2-40B4-BE49-F238E27FC236}">
                <a16:creationId xmlns:a16="http://schemas.microsoft.com/office/drawing/2014/main" id="{11D10F93-08C3-D807-6099-D55FDEC3A1F6}"/>
              </a:ext>
            </a:extLst>
          </p:cNvPr>
          <p:cNvSpPr/>
          <p:nvPr/>
        </p:nvSpPr>
        <p:spPr>
          <a:xfrm>
            <a:off x="4091645" y="364845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Scrum Master</a:t>
            </a:r>
            <a:endParaRPr lang="en-US" sz="700" dirty="0"/>
          </a:p>
        </p:txBody>
      </p:sp>
      <p:sp>
        <p:nvSpPr>
          <p:cNvPr id="115" name="Text 142">
            <a:extLst>
              <a:ext uri="{FF2B5EF4-FFF2-40B4-BE49-F238E27FC236}">
                <a16:creationId xmlns:a16="http://schemas.microsoft.com/office/drawing/2014/main" id="{2468DEA5-FA6B-B367-F1F7-BFF3F3F4B514}"/>
              </a:ext>
            </a:extLst>
          </p:cNvPr>
          <p:cNvSpPr/>
          <p:nvPr/>
        </p:nvSpPr>
        <p:spPr>
          <a:xfrm>
            <a:off x="5551028" y="364845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16" name="Shape 143">
            <a:extLst>
              <a:ext uri="{FF2B5EF4-FFF2-40B4-BE49-F238E27FC236}">
                <a16:creationId xmlns:a16="http://schemas.microsoft.com/office/drawing/2014/main" id="{AB2342D9-0366-7A1F-FDA7-B5EDD9949C75}"/>
              </a:ext>
            </a:extLst>
          </p:cNvPr>
          <p:cNvSpPr/>
          <p:nvPr/>
        </p:nvSpPr>
        <p:spPr>
          <a:xfrm>
            <a:off x="2452309" y="3849624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Shape 144">
            <a:extLst>
              <a:ext uri="{FF2B5EF4-FFF2-40B4-BE49-F238E27FC236}">
                <a16:creationId xmlns:a16="http://schemas.microsoft.com/office/drawing/2014/main" id="{E31CEC15-3473-9B95-7632-D85A58D042E6}"/>
              </a:ext>
            </a:extLst>
          </p:cNvPr>
          <p:cNvSpPr/>
          <p:nvPr/>
        </p:nvSpPr>
        <p:spPr>
          <a:xfrm>
            <a:off x="2452309" y="3849624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8" name="Text 145">
            <a:extLst>
              <a:ext uri="{FF2B5EF4-FFF2-40B4-BE49-F238E27FC236}">
                <a16:creationId xmlns:a16="http://schemas.microsoft.com/office/drawing/2014/main" id="{3FA3DA98-C763-9463-617E-749E2DE3DD27}"/>
              </a:ext>
            </a:extLst>
          </p:cNvPr>
          <p:cNvSpPr/>
          <p:nvPr/>
        </p:nvSpPr>
        <p:spPr>
          <a:xfrm>
            <a:off x="2507173" y="384962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Yohalakshmi J</a:t>
            </a:r>
            <a:endParaRPr lang="en-US" sz="750" dirty="0"/>
          </a:p>
        </p:txBody>
      </p:sp>
      <p:sp>
        <p:nvSpPr>
          <p:cNvPr id="119" name="Text 146">
            <a:extLst>
              <a:ext uri="{FF2B5EF4-FFF2-40B4-BE49-F238E27FC236}">
                <a16:creationId xmlns:a16="http://schemas.microsoft.com/office/drawing/2014/main" id="{3469FDE8-1848-A2F2-9138-0946886EF27B}"/>
              </a:ext>
            </a:extLst>
          </p:cNvPr>
          <p:cNvSpPr/>
          <p:nvPr/>
        </p:nvSpPr>
        <p:spPr>
          <a:xfrm>
            <a:off x="4091645" y="3849624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 dirty="0"/>
          </a:p>
        </p:txBody>
      </p:sp>
      <p:sp>
        <p:nvSpPr>
          <p:cNvPr id="120" name="Text 147">
            <a:extLst>
              <a:ext uri="{FF2B5EF4-FFF2-40B4-BE49-F238E27FC236}">
                <a16:creationId xmlns:a16="http://schemas.microsoft.com/office/drawing/2014/main" id="{929B2146-8121-4D79-7B8B-11DFF02E5BCF}"/>
              </a:ext>
            </a:extLst>
          </p:cNvPr>
          <p:cNvSpPr/>
          <p:nvPr/>
        </p:nvSpPr>
        <p:spPr>
          <a:xfrm>
            <a:off x="5551028" y="384962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1" name="Shape 148">
            <a:extLst>
              <a:ext uri="{FF2B5EF4-FFF2-40B4-BE49-F238E27FC236}">
                <a16:creationId xmlns:a16="http://schemas.microsoft.com/office/drawing/2014/main" id="{3BBE816B-0629-8A26-118D-24E2090FBF4F}"/>
              </a:ext>
            </a:extLst>
          </p:cNvPr>
          <p:cNvSpPr/>
          <p:nvPr/>
        </p:nvSpPr>
        <p:spPr>
          <a:xfrm>
            <a:off x="2452309" y="405079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49">
            <a:extLst>
              <a:ext uri="{FF2B5EF4-FFF2-40B4-BE49-F238E27FC236}">
                <a16:creationId xmlns:a16="http://schemas.microsoft.com/office/drawing/2014/main" id="{552CD430-DA4C-E65A-2366-B8E503582AD2}"/>
              </a:ext>
            </a:extLst>
          </p:cNvPr>
          <p:cNvSpPr/>
          <p:nvPr/>
        </p:nvSpPr>
        <p:spPr>
          <a:xfrm>
            <a:off x="2452309" y="405079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3" name="Text 150">
            <a:extLst>
              <a:ext uri="{FF2B5EF4-FFF2-40B4-BE49-F238E27FC236}">
                <a16:creationId xmlns:a16="http://schemas.microsoft.com/office/drawing/2014/main" id="{74EFB674-22FC-BC98-9335-E736B1E9D2A0}"/>
              </a:ext>
            </a:extLst>
          </p:cNvPr>
          <p:cNvSpPr/>
          <p:nvPr/>
        </p:nvSpPr>
        <p:spPr>
          <a:xfrm>
            <a:off x="2507173" y="405079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Vivek Patil</a:t>
            </a:r>
            <a:endParaRPr lang="en-US" sz="750" dirty="0"/>
          </a:p>
        </p:txBody>
      </p:sp>
      <p:sp>
        <p:nvSpPr>
          <p:cNvPr id="124" name="Text 151">
            <a:extLst>
              <a:ext uri="{FF2B5EF4-FFF2-40B4-BE49-F238E27FC236}">
                <a16:creationId xmlns:a16="http://schemas.microsoft.com/office/drawing/2014/main" id="{CF4DD83F-3C00-5209-4DC2-70EFC58DF100}"/>
              </a:ext>
            </a:extLst>
          </p:cNvPr>
          <p:cNvSpPr/>
          <p:nvPr/>
        </p:nvSpPr>
        <p:spPr>
          <a:xfrm>
            <a:off x="4091645" y="405079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 dirty="0"/>
          </a:p>
        </p:txBody>
      </p:sp>
      <p:sp>
        <p:nvSpPr>
          <p:cNvPr id="125" name="Text 152">
            <a:extLst>
              <a:ext uri="{FF2B5EF4-FFF2-40B4-BE49-F238E27FC236}">
                <a16:creationId xmlns:a16="http://schemas.microsoft.com/office/drawing/2014/main" id="{EF21A035-C4EC-10A5-A2BB-68A31597E6FC}"/>
              </a:ext>
            </a:extLst>
          </p:cNvPr>
          <p:cNvSpPr/>
          <p:nvPr/>
        </p:nvSpPr>
        <p:spPr>
          <a:xfrm>
            <a:off x="5551028" y="405079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6" name="Shape 153">
            <a:extLst>
              <a:ext uri="{FF2B5EF4-FFF2-40B4-BE49-F238E27FC236}">
                <a16:creationId xmlns:a16="http://schemas.microsoft.com/office/drawing/2014/main" id="{0D57628C-B8DC-794B-DDBA-74D7FE67A969}"/>
              </a:ext>
            </a:extLst>
          </p:cNvPr>
          <p:cNvSpPr/>
          <p:nvPr/>
        </p:nvSpPr>
        <p:spPr>
          <a:xfrm>
            <a:off x="2488885" y="4251960"/>
            <a:ext cx="4133088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Shape 154">
            <a:extLst>
              <a:ext uri="{FF2B5EF4-FFF2-40B4-BE49-F238E27FC236}">
                <a16:creationId xmlns:a16="http://schemas.microsoft.com/office/drawing/2014/main" id="{0E83DAD4-3CE4-6447-6DD3-7C2B561CFF91}"/>
              </a:ext>
            </a:extLst>
          </p:cNvPr>
          <p:cNvSpPr/>
          <p:nvPr/>
        </p:nvSpPr>
        <p:spPr>
          <a:xfrm>
            <a:off x="2452309" y="425196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Text 155">
            <a:extLst>
              <a:ext uri="{FF2B5EF4-FFF2-40B4-BE49-F238E27FC236}">
                <a16:creationId xmlns:a16="http://schemas.microsoft.com/office/drawing/2014/main" id="{89E7CF45-ACAD-A0FC-94A2-B2599B0FC779}"/>
              </a:ext>
            </a:extLst>
          </p:cNvPr>
          <p:cNvSpPr/>
          <p:nvPr/>
        </p:nvSpPr>
        <p:spPr>
          <a:xfrm>
            <a:off x="2507173" y="425196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Amelia Mann</a:t>
            </a:r>
            <a:endParaRPr lang="en-US" sz="750" dirty="0"/>
          </a:p>
        </p:txBody>
      </p:sp>
      <p:sp>
        <p:nvSpPr>
          <p:cNvPr id="129" name="Text 156">
            <a:extLst>
              <a:ext uri="{FF2B5EF4-FFF2-40B4-BE49-F238E27FC236}">
                <a16:creationId xmlns:a16="http://schemas.microsoft.com/office/drawing/2014/main" id="{E13D2A14-251B-9F61-D5D5-D28CFFBBD821}"/>
              </a:ext>
            </a:extLst>
          </p:cNvPr>
          <p:cNvSpPr/>
          <p:nvPr/>
        </p:nvSpPr>
        <p:spPr>
          <a:xfrm>
            <a:off x="4091645" y="425196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 dirty="0"/>
          </a:p>
        </p:txBody>
      </p:sp>
      <p:sp>
        <p:nvSpPr>
          <p:cNvPr id="130" name="Text 157">
            <a:extLst>
              <a:ext uri="{FF2B5EF4-FFF2-40B4-BE49-F238E27FC236}">
                <a16:creationId xmlns:a16="http://schemas.microsoft.com/office/drawing/2014/main" id="{6076CDB1-506B-79EF-A91C-1102FF0ABA21}"/>
              </a:ext>
            </a:extLst>
          </p:cNvPr>
          <p:cNvSpPr/>
          <p:nvPr/>
        </p:nvSpPr>
        <p:spPr>
          <a:xfrm>
            <a:off x="5551028" y="425196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E28A5AD-726F-E401-56B0-FBF3982030D2}"/>
              </a:ext>
            </a:extLst>
          </p:cNvPr>
          <p:cNvSpPr txBox="1"/>
          <p:nvPr/>
        </p:nvSpPr>
        <p:spPr>
          <a:xfrm>
            <a:off x="2340864" y="336499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Teams </a:t>
            </a:r>
            <a:endParaRPr lang="en-US" sz="900" b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S&amp;C Contracting – POs, BAs, Developers &amp; Scrum (T1 &amp; T2)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Nikki Johann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· T2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Bethany Bornheimer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· T2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Iza Czapnik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Product Owner · T1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Christian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Rufeeda Khan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626864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626864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681728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Varun Ved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266200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725583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TCS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347472" y="126187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347472" y="12618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02336" y="12618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Arvind Gupta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986808" y="12618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 · T2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446191" y="12618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4626864" y="126187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4626864" y="12618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681728" y="12618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Vishnuraj Jayaraj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266200" y="12618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 · T2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7725583" y="12618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47472" y="149961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4" name="Shape 42"/>
          <p:cNvSpPr/>
          <p:nvPr/>
        </p:nvSpPr>
        <p:spPr>
          <a:xfrm>
            <a:off x="347472" y="14996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402336" y="14996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OConnor</a:t>
            </a:r>
            <a:r>
              <a:rPr lang="en-IN" b="1" dirty="0"/>
              <a:t>, </a:t>
            </a:r>
            <a:r>
              <a:rPr lang="en-IN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Andrew</a:t>
            </a:r>
          </a:p>
          <a:p>
            <a:pPr marL="0" indent="0">
              <a:buNone/>
            </a:pP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986808" y="14996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T2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46191" y="14996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626864" y="149961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4626864" y="14996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681728" y="14996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Blidarescu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266200" y="14996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T1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725583" y="14996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Slalom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347472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347472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402336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Verma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986808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Middleware · T1,2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446191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4626864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4626864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681728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Lavanya Nagarajan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6266200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Middleware · T1,2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725583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2336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986808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3446191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4626864" y="197510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4626864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681728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Kelly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6266200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· T1,2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7725583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pic>
        <p:nvPicPr>
          <p:cNvPr id="1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24" name="Text 12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45" name="Shape 2">
            <a:extLst>
              <a:ext uri="{FF2B5EF4-FFF2-40B4-BE49-F238E27FC236}">
                <a16:creationId xmlns:a16="http://schemas.microsoft.com/office/drawing/2014/main" id="{EBD55432-CB5C-6A70-48E3-874C09F1A249}"/>
              </a:ext>
            </a:extLst>
          </p:cNvPr>
          <p:cNvSpPr/>
          <p:nvPr/>
        </p:nvSpPr>
        <p:spPr>
          <a:xfrm>
            <a:off x="2380254" y="334213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3">
            <a:extLst>
              <a:ext uri="{FF2B5EF4-FFF2-40B4-BE49-F238E27FC236}">
                <a16:creationId xmlns:a16="http://schemas.microsoft.com/office/drawing/2014/main" id="{A12CADC4-5840-2AE2-1507-F107FB98E9DC}"/>
              </a:ext>
            </a:extLst>
          </p:cNvPr>
          <p:cNvSpPr/>
          <p:nvPr/>
        </p:nvSpPr>
        <p:spPr>
          <a:xfrm>
            <a:off x="2380254" y="334213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4">
            <a:extLst>
              <a:ext uri="{FF2B5EF4-FFF2-40B4-BE49-F238E27FC236}">
                <a16:creationId xmlns:a16="http://schemas.microsoft.com/office/drawing/2014/main" id="{0F5F05F8-39B8-C501-0269-3CEFBD26BCAB}"/>
              </a:ext>
            </a:extLst>
          </p:cNvPr>
          <p:cNvSpPr/>
          <p:nvPr/>
        </p:nvSpPr>
        <p:spPr>
          <a:xfrm>
            <a:off x="2435118" y="334213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Corinne Kreuger</a:t>
            </a:r>
            <a:endParaRPr lang="en-US" sz="750" dirty="0"/>
          </a:p>
        </p:txBody>
      </p:sp>
      <p:sp>
        <p:nvSpPr>
          <p:cNvPr id="148" name="Text 5">
            <a:extLst>
              <a:ext uri="{FF2B5EF4-FFF2-40B4-BE49-F238E27FC236}">
                <a16:creationId xmlns:a16="http://schemas.microsoft.com/office/drawing/2014/main" id="{54868EC8-D42F-34FE-825D-840D98950BFD}"/>
              </a:ext>
            </a:extLst>
          </p:cNvPr>
          <p:cNvSpPr/>
          <p:nvPr/>
        </p:nvSpPr>
        <p:spPr>
          <a:xfrm>
            <a:off x="4019590" y="334213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/ BA</a:t>
            </a:r>
            <a:endParaRPr lang="en-US" sz="700" dirty="0"/>
          </a:p>
        </p:txBody>
      </p:sp>
      <p:sp>
        <p:nvSpPr>
          <p:cNvPr id="149" name="Text 6">
            <a:extLst>
              <a:ext uri="{FF2B5EF4-FFF2-40B4-BE49-F238E27FC236}">
                <a16:creationId xmlns:a16="http://schemas.microsoft.com/office/drawing/2014/main" id="{10478DEC-618D-52F5-B823-6F84D3B56BE4}"/>
              </a:ext>
            </a:extLst>
          </p:cNvPr>
          <p:cNvSpPr/>
          <p:nvPr/>
        </p:nvSpPr>
        <p:spPr>
          <a:xfrm>
            <a:off x="5478973" y="334213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50" name="Shape 7">
            <a:extLst>
              <a:ext uri="{FF2B5EF4-FFF2-40B4-BE49-F238E27FC236}">
                <a16:creationId xmlns:a16="http://schemas.microsoft.com/office/drawing/2014/main" id="{4443177F-14E0-0524-DFC0-4733EA1C2BD1}"/>
              </a:ext>
            </a:extLst>
          </p:cNvPr>
          <p:cNvSpPr/>
          <p:nvPr/>
        </p:nvSpPr>
        <p:spPr>
          <a:xfrm>
            <a:off x="2380254" y="3543300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8">
            <a:extLst>
              <a:ext uri="{FF2B5EF4-FFF2-40B4-BE49-F238E27FC236}">
                <a16:creationId xmlns:a16="http://schemas.microsoft.com/office/drawing/2014/main" id="{92AFBA6A-20D8-9B13-6D3A-2635A7165980}"/>
              </a:ext>
            </a:extLst>
          </p:cNvPr>
          <p:cNvSpPr/>
          <p:nvPr/>
        </p:nvSpPr>
        <p:spPr>
          <a:xfrm>
            <a:off x="2380254" y="354330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9">
            <a:extLst>
              <a:ext uri="{FF2B5EF4-FFF2-40B4-BE49-F238E27FC236}">
                <a16:creationId xmlns:a16="http://schemas.microsoft.com/office/drawing/2014/main" id="{8293E44D-2214-F26F-AC03-4E46E527B51B}"/>
              </a:ext>
            </a:extLst>
          </p:cNvPr>
          <p:cNvSpPr/>
          <p:nvPr/>
        </p:nvSpPr>
        <p:spPr>
          <a:xfrm>
            <a:off x="2435118" y="354330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Sathish Kumar E</a:t>
            </a:r>
            <a:endParaRPr lang="en-US" sz="750" dirty="0"/>
          </a:p>
        </p:txBody>
      </p:sp>
      <p:sp>
        <p:nvSpPr>
          <p:cNvPr id="153" name="Text 10">
            <a:extLst>
              <a:ext uri="{FF2B5EF4-FFF2-40B4-BE49-F238E27FC236}">
                <a16:creationId xmlns:a16="http://schemas.microsoft.com/office/drawing/2014/main" id="{8FBE0BFC-7338-4067-6030-71B2F471C9AC}"/>
              </a:ext>
            </a:extLst>
          </p:cNvPr>
          <p:cNvSpPr/>
          <p:nvPr/>
        </p:nvSpPr>
        <p:spPr>
          <a:xfrm>
            <a:off x="4019590" y="354330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 dirty="0"/>
          </a:p>
        </p:txBody>
      </p:sp>
      <p:sp>
        <p:nvSpPr>
          <p:cNvPr id="154" name="Text 11">
            <a:extLst>
              <a:ext uri="{FF2B5EF4-FFF2-40B4-BE49-F238E27FC236}">
                <a16:creationId xmlns:a16="http://schemas.microsoft.com/office/drawing/2014/main" id="{6B5BE7CA-4378-263F-C8B2-389089267078}"/>
              </a:ext>
            </a:extLst>
          </p:cNvPr>
          <p:cNvSpPr/>
          <p:nvPr/>
        </p:nvSpPr>
        <p:spPr>
          <a:xfrm>
            <a:off x="5478973" y="354330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55" name="Shape 12">
            <a:extLst>
              <a:ext uri="{FF2B5EF4-FFF2-40B4-BE49-F238E27FC236}">
                <a16:creationId xmlns:a16="http://schemas.microsoft.com/office/drawing/2014/main" id="{B4C2B65F-E474-0D53-DF6C-C8BB6BC0737C}"/>
              </a:ext>
            </a:extLst>
          </p:cNvPr>
          <p:cNvSpPr/>
          <p:nvPr/>
        </p:nvSpPr>
        <p:spPr>
          <a:xfrm>
            <a:off x="2380254" y="3744468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3">
            <a:extLst>
              <a:ext uri="{FF2B5EF4-FFF2-40B4-BE49-F238E27FC236}">
                <a16:creationId xmlns:a16="http://schemas.microsoft.com/office/drawing/2014/main" id="{B8F67448-0909-5BD8-5749-CCFCB639755B}"/>
              </a:ext>
            </a:extLst>
          </p:cNvPr>
          <p:cNvSpPr/>
          <p:nvPr/>
        </p:nvSpPr>
        <p:spPr>
          <a:xfrm>
            <a:off x="2380254" y="3744468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4">
            <a:extLst>
              <a:ext uri="{FF2B5EF4-FFF2-40B4-BE49-F238E27FC236}">
                <a16:creationId xmlns:a16="http://schemas.microsoft.com/office/drawing/2014/main" id="{DE89FAED-E141-476A-AC02-760DC47BA5C7}"/>
              </a:ext>
            </a:extLst>
          </p:cNvPr>
          <p:cNvSpPr/>
          <p:nvPr/>
        </p:nvSpPr>
        <p:spPr>
          <a:xfrm>
            <a:off x="2435118" y="3744468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Tushar Joshi</a:t>
            </a:r>
            <a:endParaRPr lang="en-US" sz="750" dirty="0"/>
          </a:p>
        </p:txBody>
      </p:sp>
      <p:sp>
        <p:nvSpPr>
          <p:cNvPr id="158" name="Text 15">
            <a:extLst>
              <a:ext uri="{FF2B5EF4-FFF2-40B4-BE49-F238E27FC236}">
                <a16:creationId xmlns:a16="http://schemas.microsoft.com/office/drawing/2014/main" id="{A07C819E-320B-7A85-0FC2-E7F59921852C}"/>
              </a:ext>
            </a:extLst>
          </p:cNvPr>
          <p:cNvSpPr/>
          <p:nvPr/>
        </p:nvSpPr>
        <p:spPr>
          <a:xfrm>
            <a:off x="4019590" y="3744468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 dirty="0"/>
          </a:p>
        </p:txBody>
      </p:sp>
      <p:sp>
        <p:nvSpPr>
          <p:cNvPr id="159" name="Text 16">
            <a:extLst>
              <a:ext uri="{FF2B5EF4-FFF2-40B4-BE49-F238E27FC236}">
                <a16:creationId xmlns:a16="http://schemas.microsoft.com/office/drawing/2014/main" id="{CB26AB6A-DD24-EABD-1A51-D7CD7896BF37}"/>
              </a:ext>
            </a:extLst>
          </p:cNvPr>
          <p:cNvSpPr/>
          <p:nvPr/>
        </p:nvSpPr>
        <p:spPr>
          <a:xfrm>
            <a:off x="5478973" y="3744468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60" name="Shape 17">
            <a:extLst>
              <a:ext uri="{FF2B5EF4-FFF2-40B4-BE49-F238E27FC236}">
                <a16:creationId xmlns:a16="http://schemas.microsoft.com/office/drawing/2014/main" id="{D654ED4B-65D7-FA75-EBE8-E46A457FE070}"/>
              </a:ext>
            </a:extLst>
          </p:cNvPr>
          <p:cNvSpPr/>
          <p:nvPr/>
        </p:nvSpPr>
        <p:spPr>
          <a:xfrm>
            <a:off x="2380254" y="3945636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1" name="Shape 18">
            <a:extLst>
              <a:ext uri="{FF2B5EF4-FFF2-40B4-BE49-F238E27FC236}">
                <a16:creationId xmlns:a16="http://schemas.microsoft.com/office/drawing/2014/main" id="{AE5C8E96-7579-A445-58F2-50C7ACA98194}"/>
              </a:ext>
            </a:extLst>
          </p:cNvPr>
          <p:cNvSpPr/>
          <p:nvPr/>
        </p:nvSpPr>
        <p:spPr>
          <a:xfrm>
            <a:off x="2380254" y="394563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9">
            <a:extLst>
              <a:ext uri="{FF2B5EF4-FFF2-40B4-BE49-F238E27FC236}">
                <a16:creationId xmlns:a16="http://schemas.microsoft.com/office/drawing/2014/main" id="{42CA1252-B350-8BF4-7EFD-484B6DF2E02B}"/>
              </a:ext>
            </a:extLst>
          </p:cNvPr>
          <p:cNvSpPr/>
          <p:nvPr/>
        </p:nvSpPr>
        <p:spPr>
          <a:xfrm>
            <a:off x="2435118" y="394563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Brenner</a:t>
            </a:r>
            <a:endParaRPr lang="en-US" sz="750" dirty="0"/>
          </a:p>
        </p:txBody>
      </p:sp>
      <p:sp>
        <p:nvSpPr>
          <p:cNvPr id="163" name="Text 20">
            <a:extLst>
              <a:ext uri="{FF2B5EF4-FFF2-40B4-BE49-F238E27FC236}">
                <a16:creationId xmlns:a16="http://schemas.microsoft.com/office/drawing/2014/main" id="{73F2728A-635E-A718-5A4F-80882D1AACB4}"/>
              </a:ext>
            </a:extLst>
          </p:cNvPr>
          <p:cNvSpPr/>
          <p:nvPr/>
        </p:nvSpPr>
        <p:spPr>
          <a:xfrm>
            <a:off x="4019590" y="394563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 dirty="0"/>
          </a:p>
        </p:txBody>
      </p:sp>
      <p:sp>
        <p:nvSpPr>
          <p:cNvPr id="164" name="Text 21">
            <a:extLst>
              <a:ext uri="{FF2B5EF4-FFF2-40B4-BE49-F238E27FC236}">
                <a16:creationId xmlns:a16="http://schemas.microsoft.com/office/drawing/2014/main" id="{2E29BC59-0035-A450-4E0F-185B36D52FE7}"/>
              </a:ext>
            </a:extLst>
          </p:cNvPr>
          <p:cNvSpPr/>
          <p:nvPr/>
        </p:nvSpPr>
        <p:spPr>
          <a:xfrm>
            <a:off x="5478973" y="394563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65" name="Text 1"/>
          <p:cNvSpPr/>
          <p:nvPr/>
        </p:nvSpPr>
        <p:spPr>
          <a:xfrm>
            <a:off x="2380254" y="3106498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Team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S&amp;C Contracting – Team 1 (WorkSight &amp; R12 Devs / FAs)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Albin Xavier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FA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Narayan Kapali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FA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Sachin Salvi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Elizabeth Garcia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 Kumar 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pic>
        <p:nvPicPr>
          <p:cNvPr id="1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39" name="Text 136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463" y="4588179"/>
            <a:ext cx="1097280" cy="475488"/>
          </a:xfrm>
          <a:prstGeom prst="rect">
            <a:avLst/>
          </a:prstGeom>
        </p:spPr>
      </p:pic>
      <p:sp>
        <p:nvSpPr>
          <p:cNvPr id="171" name="Text 168"/>
          <p:cNvSpPr/>
          <p:nvPr/>
        </p:nvSpPr>
        <p:spPr>
          <a:xfrm>
            <a:off x="347472" y="4817852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  <p:sp>
        <p:nvSpPr>
          <p:cNvPr id="172" name="Rectangle 171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1F2937"/>
                </a:solidFill>
                <a:latin typeface="Aptos"/>
              </a:rPr>
              <a:t>Other Teams – WorkPackage, TSA, TDA, Jobs CoJo, Documents, Service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65176" y="548640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WorkPackage QA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265176" y="786384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65176" y="78638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20040" y="78638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Likhith Pateel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901952" y="78638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3364992" y="78638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65176" y="978408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65176" y="978408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20040" y="978408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Sudha Malbhage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901952" y="978408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3364992" y="978408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265176" y="1170432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65176" y="1170432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20040" y="1170432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Nitesh Achari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901952" y="1170432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3364992" y="1170432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5176" y="136245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65176" y="136245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20040" y="136245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Pradeep K Battula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901952" y="136245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Automation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364992" y="136245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65176" y="166420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TSA QA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265176" y="1901952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65176" y="190195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320040" y="190195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Varsha Chitray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1901952" y="190195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3364992" y="190195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65176" y="2075688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65176" y="207568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320040" y="207568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Prarthana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901952" y="207568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364992" y="207568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65176" y="2249424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65176" y="2249424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20040" y="224942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Sandhyarani Mothukuri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1901952" y="224942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364992" y="224942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265176" y="2423160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65176" y="2423160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20040" y="242316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Aastha Tripathi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901952" y="242316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Func/Auto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3364992" y="242316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265176" y="2596896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265176" y="2596896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320040" y="259689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Rislow Chad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1901952" y="259689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PA – Product Analyst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364992" y="259689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265176" y="2770632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65176" y="277063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320040" y="277063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Christopher Brown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901952" y="277063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PO – Product Owner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3364992" y="277063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265176" y="2944368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65176" y="294436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20040" y="294436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Kristen Dale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901952" y="294436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PO – Product Owner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3364992" y="294436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65176" y="331012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TDA QA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265176" y="3547872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65176" y="354787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20040" y="354787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Naveen H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901952" y="354787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3364992" y="354787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65176" y="3721608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265176" y="372160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320040" y="372160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Navya B R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1901952" y="372160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3364992" y="372160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265176" y="3895344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265176" y="3895344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320040" y="389534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Manoj Kulkarni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901952" y="389534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3364992" y="389534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5176" y="4069080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265176" y="4069080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320040" y="406908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Gurulingappa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1901952" y="406908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364992" y="406908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265176" y="4242816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65176" y="4242816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320040" y="424281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Drew Rauvola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1901952" y="424281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Application Owner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364992" y="424281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/>
            </a:r>
          </a:p>
        </p:txBody>
      </p:sp>
      <p:sp>
        <p:nvSpPr>
          <p:cNvPr id="256" name="Rectangle 255"/>
          <p:cNvSpPr/>
          <p:nvPr/>
        </p:nvSpPr>
        <p:spPr>
          <a:xfrm>
            <a:off x="265176" y="4416552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65176" y="441655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20040" y="441655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Abby Hoolver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1901952" y="441655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Business Owner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3364992" y="441655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/>
            </a:r>
          </a:p>
        </p:txBody>
      </p:sp>
      <p:sp>
        <p:nvSpPr>
          <p:cNvPr id="261" name="Rectangle 260"/>
          <p:cNvSpPr/>
          <p:nvPr/>
        </p:nvSpPr>
        <p:spPr>
          <a:xfrm>
            <a:off x="4626864" y="548640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Jobs CoJo QA &amp; Key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4626864" y="786384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626864" y="78638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4681727" y="78638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Rashmi Ranganath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6263640" y="78638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Lead/Scrum Master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726679" y="78638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4626864" y="978408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4626864" y="978408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681727" y="978408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Chethana B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6263640" y="978408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7726679" y="978408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4626864" y="1170432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626864" y="1170432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4681727" y="1170432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Matt Parish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263640" y="1170432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7726679" y="1170432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4626864" y="136245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4626864" y="136245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4681727" y="136245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Hasan Al Quasem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6263640" y="136245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IT Prod Analyst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7726679" y="136245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4626864" y="184708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Documents / DocGen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4626864" y="2084831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626864" y="2084831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681727" y="2084831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Sandhyarani M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263640" y="2084831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Func/Perf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726679" y="2084831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4626864" y="227685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4626864" y="227685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4681727" y="227685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Angela Puent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6263640" y="227685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7726679" y="227685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4626864" y="2468879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626864" y="2468879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4681727" y="2468879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Brett Meddaugh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6263640" y="2468879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Architect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7726679" y="2468879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4626864" y="2660903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4626864" y="2660903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4681727" y="2660903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Chandana Gowda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263640" y="2660903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Developer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7726679" y="2660903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4626864" y="3145536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Service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626864" y="3383280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626864" y="3383280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681727" y="3383280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Kreidermacher, Tara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263640" y="3383280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Scrum Master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726679" y="3383280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- Trane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626864" y="3575304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4626864" y="357530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4681727" y="357530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Pruner, Kenneth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263640" y="357530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Project Manager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726679" y="357530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- Trane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 – Projects &amp; Applications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types: Smoke · System · Regression · Automation · Performance · QA PoC</a:t>
            </a:r>
            <a:endParaRPr lang="en-US" sz="950"/>
          </a:p>
        </p:txBody>
      </p:sp>
      <p:sp>
        <p:nvSpPr>
          <p:cNvPr id="4" name="Shape 2">
            <a:hlinkClick r:id="rId3"/>
          </p:cNvPr>
          <p:cNvSpPr/>
          <p:nvPr/>
        </p:nvSpPr>
        <p:spPr>
          <a:xfrm>
            <a:off x="347472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38912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 Select Assist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Varsha Chitray</a:t>
            </a:r>
            <a:endParaRPr lang="en-US" sz="900" dirty="0"/>
          </a:p>
        </p:txBody>
      </p:sp>
      <p:sp>
        <p:nvSpPr>
          <p:cNvPr id="9" name="Shape 7">
            <a:hlinkClick r:id="rId4"/>
          </p:cNvPr>
          <p:cNvSpPr/>
          <p:nvPr/>
        </p:nvSpPr>
        <p:spPr>
          <a:xfrm>
            <a:off x="3127248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3127248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18688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18688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Brinda S </a:t>
            </a:r>
            <a:endParaRPr lang="en-US" sz="900" dirty="0"/>
          </a:p>
        </p:txBody>
      </p:sp>
      <p:sp>
        <p:nvSpPr>
          <p:cNvPr id="14" name="Shape 12">
            <a:hlinkClick r:id="rId5"/>
          </p:cNvPr>
          <p:cNvSpPr/>
          <p:nvPr/>
        </p:nvSpPr>
        <p:spPr>
          <a:xfrm>
            <a:off x="5861304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907024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998464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 / MDP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5998464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Mahesh Laddi &amp; Anusha G</a:t>
            </a:r>
            <a:endParaRPr lang="en-US" sz="900"/>
          </a:p>
        </p:txBody>
      </p:sp>
      <p:sp>
        <p:nvSpPr>
          <p:cNvPr id="19" name="Shape 17">
            <a:hlinkClick r:id="rId6"/>
          </p:cNvPr>
          <p:cNvSpPr/>
          <p:nvPr/>
        </p:nvSpPr>
        <p:spPr>
          <a:xfrm>
            <a:off x="347472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47472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38912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438912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Rashmi Ranganath</a:t>
            </a:r>
            <a:endParaRPr lang="en-US" sz="900"/>
          </a:p>
        </p:txBody>
      </p:sp>
      <p:sp>
        <p:nvSpPr>
          <p:cNvPr id="24" name="Shape 22">
            <a:hlinkClick r:id="rId7"/>
          </p:cNvPr>
          <p:cNvSpPr/>
          <p:nvPr/>
        </p:nvSpPr>
        <p:spPr>
          <a:xfrm>
            <a:off x="3127248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127248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18688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1,2 (Tax)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218688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Vignesh </a:t>
            </a:r>
            <a:r>
              <a:rPr lang="en-US" sz="90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Sheshababu</a:t>
            </a: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/Preeti k/Srinivas R</a:t>
            </a:r>
            <a:endParaRPr lang="en-US" sz="900"/>
          </a:p>
        </p:txBody>
      </p:sp>
      <p:sp>
        <p:nvSpPr>
          <p:cNvPr id="29" name="Shape 27">
            <a:hlinkClick r:id="rId8"/>
          </p:cNvPr>
          <p:cNvSpPr/>
          <p:nvPr/>
        </p:nvSpPr>
        <p:spPr>
          <a:xfrm>
            <a:off x="5907024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5907024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998464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5998464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Naveen H</a:t>
            </a:r>
            <a:endParaRPr lang="en-US" sz="900"/>
          </a:p>
        </p:txBody>
      </p:sp>
      <p:sp>
        <p:nvSpPr>
          <p:cNvPr id="34" name="Shape 32">
            <a:hlinkClick r:id="rId9"/>
          </p:cNvPr>
          <p:cNvSpPr/>
          <p:nvPr/>
        </p:nvSpPr>
        <p:spPr>
          <a:xfrm>
            <a:off x="347472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38912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438912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Likhith Pateel</a:t>
            </a:r>
            <a:endParaRPr lang="en-US" sz="900"/>
          </a:p>
        </p:txBody>
      </p:sp>
      <p:sp>
        <p:nvSpPr>
          <p:cNvPr id="39" name="Shape 37"/>
          <p:cNvSpPr/>
          <p:nvPr/>
        </p:nvSpPr>
        <p:spPr>
          <a:xfrm>
            <a:off x="3127248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3127248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18688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/ DocGen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3218688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Sandhyarani M</a:t>
            </a:r>
            <a:endParaRPr lang="en-US" sz="900"/>
          </a:p>
        </p:txBody>
      </p:sp>
      <p:sp>
        <p:nvSpPr>
          <p:cNvPr id="44" name="Shape 42">
            <a:hlinkClick r:id="rId10"/>
          </p:cNvPr>
          <p:cNvSpPr/>
          <p:nvPr/>
        </p:nvSpPr>
        <p:spPr>
          <a:xfrm>
            <a:off x="5907024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5907024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998464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998464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Frank Murcia</a:t>
            </a:r>
            <a:endParaRPr lang="en-US" sz="90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– Checklist &amp; Application URLs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</a:t>
            </a:r>
            <a:endParaRPr lang="en-US" sz="1000"/>
          </a:p>
        </p:txBody>
      </p:sp>
      <p:sp>
        <p:nvSpPr>
          <p:cNvPr id="4" name="Shape 2"/>
          <p:cNvSpPr/>
          <p:nvPr/>
        </p:nvSpPr>
        <p:spPr>
          <a:xfrm>
            <a:off x="347472" y="73152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315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11480" y="731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900"/>
          </a:p>
        </p:txBody>
      </p:sp>
      <p:sp>
        <p:nvSpPr>
          <p:cNvPr id="7" name="Text 5"/>
          <p:cNvSpPr/>
          <p:nvPr/>
        </p:nvSpPr>
        <p:spPr>
          <a:xfrm>
            <a:off x="1819656" y="7315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8" name="Shape 6"/>
          <p:cNvSpPr/>
          <p:nvPr/>
        </p:nvSpPr>
        <p:spPr>
          <a:xfrm>
            <a:off x="347472" y="100584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47472" y="10058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1148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1819656" y="100584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12" name="Shape 10"/>
          <p:cNvSpPr/>
          <p:nvPr/>
        </p:nvSpPr>
        <p:spPr>
          <a:xfrm>
            <a:off x="347472" y="128016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47472" y="12801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1148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Headphones / Mouse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819656" y="12801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16" name="Shape 14"/>
          <p:cNvSpPr/>
          <p:nvPr/>
        </p:nvSpPr>
        <p:spPr>
          <a:xfrm>
            <a:off x="347472" y="155448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47472" y="15544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11480" y="1554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ID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1819656" y="155448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</a:t>
            </a:r>
            <a:endParaRPr lang="en-US" sz="900"/>
          </a:p>
        </p:txBody>
      </p:sp>
      <p:sp>
        <p:nvSpPr>
          <p:cNvPr id="20" name="Shape 18"/>
          <p:cNvSpPr/>
          <p:nvPr/>
        </p:nvSpPr>
        <p:spPr>
          <a:xfrm>
            <a:off x="347472" y="182880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47472" y="182880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11480" y="1828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Access/Confluence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819656" y="182880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QA Lead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347472" y="210312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21031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1148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900"/>
          </a:p>
        </p:txBody>
      </p:sp>
      <p:sp>
        <p:nvSpPr>
          <p:cNvPr id="27" name="Text 25"/>
          <p:cNvSpPr/>
          <p:nvPr/>
        </p:nvSpPr>
        <p:spPr>
          <a:xfrm>
            <a:off x="1819656" y="21031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Computer Software</a:t>
            </a:r>
            <a:endParaRPr lang="en-US" sz="900"/>
          </a:p>
        </p:txBody>
      </p:sp>
      <p:sp>
        <p:nvSpPr>
          <p:cNvPr id="28" name="Shape 26"/>
          <p:cNvSpPr/>
          <p:nvPr/>
        </p:nvSpPr>
        <p:spPr>
          <a:xfrm>
            <a:off x="347472" y="237744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47472" y="23774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1148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 IDE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819656" y="237744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Computer Software</a:t>
            </a:r>
            <a:endParaRPr lang="en-US" sz="900"/>
          </a:p>
        </p:txBody>
      </p:sp>
      <p:sp>
        <p:nvSpPr>
          <p:cNvPr id="32" name="Shape 30"/>
          <p:cNvSpPr/>
          <p:nvPr/>
        </p:nvSpPr>
        <p:spPr>
          <a:xfrm>
            <a:off x="347472" y="265176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347472" y="26517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11480" y="2651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Bash / GitHub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1819656" y="26517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KB0040682</a:t>
            </a:r>
            <a:endParaRPr lang="en-US" sz="900"/>
          </a:p>
        </p:txBody>
      </p:sp>
      <p:sp>
        <p:nvSpPr>
          <p:cNvPr id="37" name="Shape 35"/>
          <p:cNvSpPr/>
          <p:nvPr/>
        </p:nvSpPr>
        <p:spPr>
          <a:xfrm>
            <a:off x="347472" y="29260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347472" y="320040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397894" y="292608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34747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11480" y="3474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/ DB Access</a:t>
            </a:r>
            <a:endParaRPr lang="en-US" sz="900"/>
          </a:p>
        </p:txBody>
      </p:sp>
      <p:sp>
        <p:nvSpPr>
          <p:cNvPr id="47" name="Text 45"/>
          <p:cNvSpPr/>
          <p:nvPr/>
        </p:nvSpPr>
        <p:spPr>
          <a:xfrm>
            <a:off x="1819656" y="34747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</a:t>
            </a:r>
            <a:endParaRPr lang="en-US" sz="900"/>
          </a:p>
        </p:txBody>
      </p:sp>
      <p:sp>
        <p:nvSpPr>
          <p:cNvPr id="49" name="Shape 47"/>
          <p:cNvSpPr/>
          <p:nvPr/>
        </p:nvSpPr>
        <p:spPr>
          <a:xfrm>
            <a:off x="347472" y="37490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347472" y="402336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347472" y="40233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11480" y="4023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URLs</a:t>
            </a:r>
            <a:endParaRPr lang="en-US" sz="900"/>
          </a:p>
        </p:txBody>
      </p:sp>
      <p:sp>
        <p:nvSpPr>
          <p:cNvPr id="55" name="Text 53"/>
          <p:cNvSpPr/>
          <p:nvPr/>
        </p:nvSpPr>
        <p:spPr>
          <a:xfrm>
            <a:off x="1819656" y="40233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right column</a:t>
            </a:r>
            <a:endParaRPr lang="en-US" sz="900"/>
          </a:p>
        </p:txBody>
      </p:sp>
      <p:sp>
        <p:nvSpPr>
          <p:cNvPr id="57" name="Shape 55"/>
          <p:cNvSpPr/>
          <p:nvPr/>
        </p:nvSpPr>
        <p:spPr>
          <a:xfrm>
            <a:off x="347472" y="42976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846320" y="5120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URLs</a:t>
            </a:r>
            <a:endParaRPr lang="en-US" sz="1000"/>
          </a:p>
        </p:txBody>
      </p:sp>
      <p:sp>
        <p:nvSpPr>
          <p:cNvPr id="61" name="Text 59"/>
          <p:cNvSpPr/>
          <p:nvPr/>
        </p:nvSpPr>
        <p:spPr>
          <a:xfrm>
            <a:off x="4846320" y="73152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50"/>
          </a:p>
        </p:txBody>
      </p:sp>
      <p:sp>
        <p:nvSpPr>
          <p:cNvPr id="62" name="Shape 60"/>
          <p:cNvSpPr/>
          <p:nvPr/>
        </p:nvSpPr>
        <p:spPr>
          <a:xfrm>
            <a:off x="4846320" y="914400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4901184" y="91440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64" name="Text 62"/>
          <p:cNvSpPr/>
          <p:nvPr/>
        </p:nvSpPr>
        <p:spPr>
          <a:xfrm>
            <a:off x="5806440" y="91440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dev.traneselectassist.com</a:t>
            </a:r>
            <a:endParaRPr lang="en-US" sz="750"/>
          </a:p>
        </p:txBody>
      </p:sp>
      <p:sp>
        <p:nvSpPr>
          <p:cNvPr id="65" name="Shape 63"/>
          <p:cNvSpPr/>
          <p:nvPr/>
        </p:nvSpPr>
        <p:spPr>
          <a:xfrm>
            <a:off x="4846320" y="1152144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01184" y="115214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67" name="Text 65"/>
          <p:cNvSpPr/>
          <p:nvPr/>
        </p:nvSpPr>
        <p:spPr>
          <a:xfrm>
            <a:off x="5806440" y="115214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test.traneselectassist.com</a:t>
            </a:r>
            <a:endParaRPr lang="en-US" sz="750"/>
          </a:p>
        </p:txBody>
      </p:sp>
      <p:sp>
        <p:nvSpPr>
          <p:cNvPr id="68" name="Shape 66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4901184" y="138988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70" name="Text 68"/>
          <p:cNvSpPr/>
          <p:nvPr/>
        </p:nvSpPr>
        <p:spPr>
          <a:xfrm>
            <a:off x="5806440" y="13898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traneselectassist.com</a:t>
            </a:r>
            <a:endParaRPr lang="en-US" sz="750"/>
          </a:p>
        </p:txBody>
      </p:sp>
      <p:sp>
        <p:nvSpPr>
          <p:cNvPr id="71" name="Text 69"/>
          <p:cNvSpPr/>
          <p:nvPr/>
        </p:nvSpPr>
        <p:spPr>
          <a:xfrm>
            <a:off x="4846320" y="166420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TSMT</a:t>
            </a:r>
            <a:endParaRPr lang="en-US" sz="850"/>
          </a:p>
        </p:txBody>
      </p:sp>
      <p:sp>
        <p:nvSpPr>
          <p:cNvPr id="72" name="Shape 70"/>
          <p:cNvSpPr/>
          <p:nvPr/>
        </p:nvSpPr>
        <p:spPr>
          <a:xfrm>
            <a:off x="4846320" y="1847088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4901184" y="184708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74" name="Text 72"/>
          <p:cNvSpPr/>
          <p:nvPr/>
        </p:nvSpPr>
        <p:spPr>
          <a:xfrm>
            <a:off x="5806440" y="18470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devsalestools.trane.com</a:t>
            </a:r>
            <a:endParaRPr lang="en-US" sz="750"/>
          </a:p>
        </p:txBody>
      </p:sp>
      <p:sp>
        <p:nvSpPr>
          <p:cNvPr id="75" name="Shape 73"/>
          <p:cNvSpPr/>
          <p:nvPr/>
        </p:nvSpPr>
        <p:spPr>
          <a:xfrm>
            <a:off x="4846320" y="2084832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901184" y="208483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77" name="Text 75"/>
          <p:cNvSpPr/>
          <p:nvPr/>
        </p:nvSpPr>
        <p:spPr>
          <a:xfrm>
            <a:off x="5806440" y="208483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uatsalestools.trane.com</a:t>
            </a:r>
            <a:endParaRPr lang="en-US" sz="750"/>
          </a:p>
        </p:txBody>
      </p:sp>
      <p:sp>
        <p:nvSpPr>
          <p:cNvPr id="78" name="Shape 76"/>
          <p:cNvSpPr/>
          <p:nvPr/>
        </p:nvSpPr>
        <p:spPr>
          <a:xfrm>
            <a:off x="4846320" y="2322576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901184" y="232257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80" name="Text 78"/>
          <p:cNvSpPr/>
          <p:nvPr/>
        </p:nvSpPr>
        <p:spPr>
          <a:xfrm>
            <a:off x="5806440" y="232257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salestools.trane.com</a:t>
            </a:r>
            <a:endParaRPr lang="en-US" sz="750"/>
          </a:p>
        </p:txBody>
      </p:sp>
      <p:sp>
        <p:nvSpPr>
          <p:cNvPr id="81" name="Text 79"/>
          <p:cNvSpPr/>
          <p:nvPr/>
        </p:nvSpPr>
        <p:spPr>
          <a:xfrm>
            <a:off x="4846320" y="25968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50"/>
          </a:p>
        </p:txBody>
      </p:sp>
      <p:sp>
        <p:nvSpPr>
          <p:cNvPr id="82" name="Shape 80"/>
          <p:cNvSpPr/>
          <p:nvPr/>
        </p:nvSpPr>
        <p:spPr>
          <a:xfrm>
            <a:off x="4846320" y="2779776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81"/>
          <p:cNvSpPr/>
          <p:nvPr/>
        </p:nvSpPr>
        <p:spPr>
          <a:xfrm>
            <a:off x="4901184" y="277977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84" name="Text 82"/>
          <p:cNvSpPr/>
          <p:nvPr/>
        </p:nvSpPr>
        <p:spPr>
          <a:xfrm>
            <a:off x="5806440" y="277977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devdmc.trane.com</a:t>
            </a:r>
            <a:endParaRPr lang="en-US" sz="750"/>
          </a:p>
        </p:txBody>
      </p:sp>
      <p:sp>
        <p:nvSpPr>
          <p:cNvPr id="85" name="Shape 83"/>
          <p:cNvSpPr/>
          <p:nvPr/>
        </p:nvSpPr>
        <p:spPr>
          <a:xfrm>
            <a:off x="4846320" y="3017520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901184" y="301752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87" name="Text 85"/>
          <p:cNvSpPr/>
          <p:nvPr/>
        </p:nvSpPr>
        <p:spPr>
          <a:xfrm>
            <a:off x="5806440" y="301752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uatdmc.trane.com</a:t>
            </a:r>
            <a:endParaRPr lang="en-US" sz="750"/>
          </a:p>
        </p:txBody>
      </p:sp>
      <p:sp>
        <p:nvSpPr>
          <p:cNvPr id="88" name="Shape 86"/>
          <p:cNvSpPr/>
          <p:nvPr/>
        </p:nvSpPr>
        <p:spPr>
          <a:xfrm>
            <a:off x="4846320" y="3255264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901184" y="325526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90" name="Text 88"/>
          <p:cNvSpPr/>
          <p:nvPr/>
        </p:nvSpPr>
        <p:spPr>
          <a:xfrm>
            <a:off x="5806440" y="325526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dmc.trane.com</a:t>
            </a:r>
            <a:endParaRPr lang="en-US" sz="750"/>
          </a:p>
        </p:txBody>
      </p:sp>
      <p:sp>
        <p:nvSpPr>
          <p:cNvPr id="91" name="Text 89"/>
          <p:cNvSpPr/>
          <p:nvPr/>
        </p:nvSpPr>
        <p:spPr>
          <a:xfrm>
            <a:off x="4846320" y="352958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</a:t>
            </a:r>
            <a:endParaRPr lang="en-US" sz="850"/>
          </a:p>
        </p:txBody>
      </p:sp>
      <p:sp>
        <p:nvSpPr>
          <p:cNvPr id="92" name="Shape 90"/>
          <p:cNvSpPr/>
          <p:nvPr/>
        </p:nvSpPr>
        <p:spPr>
          <a:xfrm>
            <a:off x="4846320" y="3712464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4901184" y="371246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ServiceNow:</a:t>
            </a:r>
            <a:endParaRPr lang="en-US" sz="850"/>
          </a:p>
        </p:txBody>
      </p:sp>
      <p:sp>
        <p:nvSpPr>
          <p:cNvPr id="94" name="Text 92"/>
          <p:cNvSpPr/>
          <p:nvPr/>
        </p:nvSpPr>
        <p:spPr>
          <a:xfrm>
            <a:off x="5806440" y="371246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tranetechnologies.service-now.com/sp</a:t>
            </a:r>
            <a:endParaRPr lang="en-US" sz="750"/>
          </a:p>
        </p:txBody>
      </p:sp>
      <p:sp>
        <p:nvSpPr>
          <p:cNvPr id="95" name="Shape 93"/>
          <p:cNvSpPr/>
          <p:nvPr/>
        </p:nvSpPr>
        <p:spPr>
          <a:xfrm>
            <a:off x="4846320" y="3950208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901184" y="395020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Confluence:</a:t>
            </a:r>
            <a:endParaRPr lang="en-US" sz="850"/>
          </a:p>
        </p:txBody>
      </p:sp>
      <p:sp>
        <p:nvSpPr>
          <p:cNvPr id="97" name="Text 95"/>
          <p:cNvSpPr/>
          <p:nvPr/>
        </p:nvSpPr>
        <p:spPr>
          <a:xfrm>
            <a:off x="5806440" y="395020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tranetis.jira.com/wiki/spaces/TOPSS</a:t>
            </a:r>
            <a:endParaRPr lang="en-US" sz="750"/>
          </a:p>
        </p:txBody>
      </p:sp>
      <p:sp>
        <p:nvSpPr>
          <p:cNvPr id="98" name="Shape 96"/>
          <p:cNvSpPr/>
          <p:nvPr/>
        </p:nvSpPr>
        <p:spPr>
          <a:xfrm>
            <a:off x="4846320" y="4187952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01184" y="418795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850"/>
          </a:p>
        </p:txBody>
      </p:sp>
      <p:sp>
        <p:nvSpPr>
          <p:cNvPr id="100" name="Text 98"/>
          <p:cNvSpPr/>
          <p:nvPr/>
        </p:nvSpPr>
        <p:spPr>
          <a:xfrm>
            <a:off x="5806440" y="418795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github.com/enterprises/tranetechnologies/sso</a:t>
            </a:r>
            <a:endParaRPr lang="en-US" sz="750"/>
          </a:p>
        </p:txBody>
      </p:sp>
      <p:sp>
        <p:nvSpPr>
          <p:cNvPr id="101" name="Shape 99"/>
          <p:cNvSpPr/>
          <p:nvPr/>
        </p:nvSpPr>
        <p:spPr>
          <a:xfrm>
            <a:off x="4846320" y="4425696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01184" y="44256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Portal:</a:t>
            </a:r>
            <a:endParaRPr lang="en-US" sz="850"/>
          </a:p>
        </p:txBody>
      </p:sp>
      <p:sp>
        <p:nvSpPr>
          <p:cNvPr id="103" name="Text 101"/>
          <p:cNvSpPr/>
          <p:nvPr/>
        </p:nvSpPr>
        <p:spPr>
          <a:xfrm>
            <a:off x="5806440" y="442569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tranetechnologies.service-now.com/hrportal</a:t>
            </a:r>
            <a:endParaRPr lang="en-US" sz="750"/>
          </a:p>
        </p:txBody>
      </p:sp>
      <p:sp>
        <p:nvSpPr>
          <p:cNvPr id="104" name="Shape 102"/>
          <p:cNvSpPr/>
          <p:nvPr/>
        </p:nvSpPr>
        <p:spPr>
          <a:xfrm>
            <a:off x="4846320" y="4663440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4901184" y="466344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Citrix:</a:t>
            </a:r>
            <a:endParaRPr lang="en-US" sz="850"/>
          </a:p>
        </p:txBody>
      </p:sp>
      <p:sp>
        <p:nvSpPr>
          <p:cNvPr id="106" name="Text 104"/>
          <p:cNvSpPr/>
          <p:nvPr/>
        </p:nvSpPr>
        <p:spPr>
          <a:xfrm>
            <a:off x="5806440" y="466344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tranecitrix.corp.global</a:t>
            </a:r>
            <a:endParaRPr lang="en-US" sz="750"/>
          </a:p>
        </p:txBody>
      </p:sp>
      <p:pic>
        <p:nvPicPr>
          <p:cNvPr id="10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08" name="Text 105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/>
          </a:p>
        </p:txBody>
      </p:sp>
      <p:sp>
        <p:nvSpPr>
          <p:cNvPr id="111" name="Text 44">
            <a:extLst>
              <a:ext uri="{FF2B5EF4-FFF2-40B4-BE49-F238E27FC236}">
                <a16:creationId xmlns:a16="http://schemas.microsoft.com/office/drawing/2014/main" id="{C2AB565E-C169-1F15-A1AA-06A562914ED1}"/>
              </a:ext>
            </a:extLst>
          </p:cNvPr>
          <p:cNvSpPr/>
          <p:nvPr/>
        </p:nvSpPr>
        <p:spPr>
          <a:xfrm>
            <a:off x="361058" y="29138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DL’s</a:t>
            </a:r>
            <a:endParaRPr lang="en-US" sz="900"/>
          </a:p>
        </p:txBody>
      </p:sp>
      <p:sp>
        <p:nvSpPr>
          <p:cNvPr id="112" name="Text 44">
            <a:extLst>
              <a:ext uri="{FF2B5EF4-FFF2-40B4-BE49-F238E27FC236}">
                <a16:creationId xmlns:a16="http://schemas.microsoft.com/office/drawing/2014/main" id="{4DE9AE0B-4632-74F6-CC3C-4E0D865AFF07}"/>
              </a:ext>
            </a:extLst>
          </p:cNvPr>
          <p:cNvSpPr/>
          <p:nvPr/>
        </p:nvSpPr>
        <p:spPr>
          <a:xfrm>
            <a:off x="338328" y="320301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/>
              <a:t>Add to MS teams</a:t>
            </a:r>
          </a:p>
        </p:txBody>
      </p:sp>
      <p:sp>
        <p:nvSpPr>
          <p:cNvPr id="113" name="Text 45">
            <a:extLst>
              <a:ext uri="{FF2B5EF4-FFF2-40B4-BE49-F238E27FC236}">
                <a16:creationId xmlns:a16="http://schemas.microsoft.com/office/drawing/2014/main" id="{1D5CE06D-F9EB-9340-14CE-9DEA0126B70C}"/>
              </a:ext>
            </a:extLst>
          </p:cNvPr>
          <p:cNvSpPr/>
          <p:nvPr/>
        </p:nvSpPr>
        <p:spPr>
          <a:xfrm>
            <a:off x="1819656" y="3218688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Teams</a:t>
            </a:r>
            <a:endParaRPr lang="en-US" sz="900"/>
          </a:p>
        </p:txBody>
      </p:sp>
      <p:sp>
        <p:nvSpPr>
          <p:cNvPr id="114" name="Text 45">
            <a:extLst>
              <a:ext uri="{FF2B5EF4-FFF2-40B4-BE49-F238E27FC236}">
                <a16:creationId xmlns:a16="http://schemas.microsoft.com/office/drawing/2014/main" id="{BF66B7ED-2545-BA75-C1C2-0B5F2A267D96}"/>
              </a:ext>
            </a:extLst>
          </p:cNvPr>
          <p:cNvSpPr/>
          <p:nvPr/>
        </p:nvSpPr>
        <p:spPr>
          <a:xfrm>
            <a:off x="1796666" y="2924772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to do  ·  KT Plan  ·  Points of Contact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actions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84048" y="804672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84048" y="804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76656" y="768096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certifications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76656" y="987552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LMS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47472" y="1170432"/>
            <a:ext cx="3474720" cy="38404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84048" y="1225296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84048" y="1225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6656" y="118872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setting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6656" y="1408176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Talent Mgmt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47472" y="1591056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84048" y="1645920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84048" y="1645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6656" y="1609344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People Profile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76656" y="1828800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SuccessFactors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47472" y="2011680"/>
            <a:ext cx="3474720" cy="38404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84048" y="2066544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84048" y="20665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" y="202996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TOPSSQA Site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6656" y="2249424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sharepoint.com/sites/topss.com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47472" y="2432304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84048" y="2487168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8404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6656" y="2450592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leave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76656" y="2670048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Leave Mgmt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7472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7472" y="3145536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02336" y="3145536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755648" y="3145536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→ Computer Software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47472" y="3364992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02336" y="3364992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ID / Server: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755648" y="3364992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→ Access Request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47472" y="3584448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02336" y="3584448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755648" y="3584448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KB0040682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47472" y="3803904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02336" y="3803904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License: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755648" y="3803904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RITM0731045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47472" y="4023360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402336" y="4023360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Access: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755648" y="4023360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RITM0731066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47472" y="4242816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4242816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MDP/DMC: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755648" y="4242816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1,5,8,9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005072" y="51206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5072" y="749808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059936" y="74980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559552" y="74980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005072" y="1060704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4059936" y="106070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559552" y="106070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Ranganath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005072" y="1371600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59936" y="1371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Contracting/Tax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559552" y="137160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005072" y="1682496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4059936" y="168249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59552" y="168249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Laddi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005072" y="1993392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4059936" y="199339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559552" y="199339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005072" y="2304288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59936" y="23042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559552" y="230428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005072" y="2615184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059936" y="261518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(TestNG)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559552" y="261518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005072" y="2926080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59936" y="29260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(Hybrid)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59552" y="29260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Deepak Chhabria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005072" y="3236976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059936" y="323697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Auto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559552" y="323697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005072" y="3547872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059936" y="3547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559552" y="354787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Pateel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4005072" y="3858768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4059936" y="38587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DocGen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5559552" y="385876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 M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748272" y="512064"/>
            <a:ext cx="2048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748272" y="749808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6803136" y="74980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7827264" y="74980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748272" y="1042416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6803136" y="104241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 &amp; 2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7827264" y="104241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S/Preeti k/Srinivas R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6748272" y="1335024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6803136" y="1335024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7827264" y="1335024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6748272" y="1627632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6803136" y="1627632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7827264" y="162763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L/Anusha 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748272" y="1920240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6803136" y="1920240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7827264" y="1920240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6748272" y="2212848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6803136" y="221284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7827264" y="221284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750">
                <a:solidFill>
                  <a:srgbClr val="1F2937"/>
                </a:solidFill>
                <a:latin typeface="Aptos"/>
              </a:rPr>
              <a:t>Brinda S</a:t>
            </a:r>
          </a:p>
        </p:txBody>
      </p:sp>
      <p:sp>
        <p:nvSpPr>
          <p:cNvPr id="101" name="Shape 99"/>
          <p:cNvSpPr/>
          <p:nvPr/>
        </p:nvSpPr>
        <p:spPr>
          <a:xfrm>
            <a:off x="6748272" y="2505456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6803136" y="250545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827264" y="250545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6748272" y="2798064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6803136" y="2798064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7827264" y="2798064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6748272" y="3090672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6803136" y="3090672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(Prod)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7827264" y="309067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6748272" y="3383280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6803136" y="3383280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7827264" y="3383280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6748272" y="3675888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6803136" y="367588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DocGen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7827264" y="367588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748272" y="3968496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6803136" y="396849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7827264" y="396849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</a:t>
            </a:r>
            <a:endParaRPr lang="en-US" sz="750" dirty="0"/>
          </a:p>
        </p:txBody>
      </p:sp>
      <p:pic>
        <p:nvPicPr>
          <p:cNvPr id="1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20" name="Text 11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once again to the team, and hope you have a wonderful journey with us!</a:t>
            </a:r>
            <a:endParaRPr lang="en-US" sz="22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4842</TotalTime>
  <Words>1665</Words>
  <Application>Microsoft Office PowerPoint</Application>
  <PresentationFormat>On-screen Show (16:9)</PresentationFormat>
  <Paragraphs>567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Khajji, Preeti</cp:lastModifiedBy>
  <cp:revision>3</cp:revision>
  <dcterms:created xsi:type="dcterms:W3CDTF">2026-05-04T01:27:56Z</dcterms:created>
  <dcterms:modified xsi:type="dcterms:W3CDTF">2026-05-07T16:17:56Z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62845b5-9b70-49d7-b944-decf2d49c436_Enabled">
    <vt:lpwstr>true</vt:lpwstr>
  </property>
  <property fmtid="{D5CDD505-2E9C-101B-9397-08002B2CF9AE}" pid="3" name="MSIP_Label_962845b5-9b70-49d7-b944-decf2d49c436_SetDate">
    <vt:lpwstr>2026-05-04T08:21:12Z</vt:lpwstr>
  </property>
  <property fmtid="{D5CDD505-2E9C-101B-9397-08002B2CF9AE}" pid="4" name="MSIP_Label_962845b5-9b70-49d7-b944-decf2d49c436_Method">
    <vt:lpwstr>Privileged</vt:lpwstr>
  </property>
  <property fmtid="{D5CDD505-2E9C-101B-9397-08002B2CF9AE}" pid="5" name="MSIP_Label_962845b5-9b70-49d7-b944-decf2d49c436_Name">
    <vt:lpwstr>Public</vt:lpwstr>
  </property>
  <property fmtid="{D5CDD505-2E9C-101B-9397-08002B2CF9AE}" pid="6" name="MSIP_Label_962845b5-9b70-49d7-b944-decf2d49c436_SiteId">
    <vt:lpwstr>abf9983b-ca77-4f20-9633-ca9c5a847041</vt:lpwstr>
  </property>
  <property fmtid="{D5CDD505-2E9C-101B-9397-08002B2CF9AE}" pid="7" name="MSIP_Label_962845b5-9b70-49d7-b944-decf2d49c436_ActionId">
    <vt:lpwstr>edce9420-56e3-4e81-bfa9-cf37c5adab1c</vt:lpwstr>
  </property>
  <property fmtid="{D5CDD505-2E9C-101B-9397-08002B2CF9AE}" pid="8" name="MSIP_Label_962845b5-9b70-49d7-b944-decf2d49c436_ContentBits">
    <vt:lpwstr>0</vt:lpwstr>
  </property>
  <property fmtid="{D5CDD505-2E9C-101B-9397-08002B2CF9AE}" pid="9" name="MSIP_Label_962845b5-9b70-49d7-b944-decf2d49c436_Tag">
    <vt:lpwstr>10, 0, 1, 1</vt:lpwstr>
  </property>
</Properties>
</file>