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693-15AB-4B33-9CF1-1FDE45C8B252}" v="58" dt="2026-05-07T16:17:56.785"/>
    <p1510:client id="{E1002C20-7C07-45EC-B056-14A9E7F205A7}" v="377" dt="2026-05-07T10:02:2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26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etis.jira.com/wiki/spaces/TSMT/pages/4088692861/Trane+Select+Assist+TSA" TargetMode="External"/><Relationship Id="rId4" Type="http://schemas.openxmlformats.org/officeDocument/2006/relationships/hyperlink" Target="https://tranetis.jira.com/wiki/spaces/TSMT/pages/4108681299/Equipment+Onboarding" TargetMode="External"/><Relationship Id="rId5" Type="http://schemas.openxmlformats.org/officeDocument/2006/relationships/hyperlink" Target="https://tranetis.jira.com/wiki/spaces/TSMT/pages/4089217110/Data+Maintenance+Center+Manufacturing+Data+Preparation+DMC+MDP" TargetMode="External"/><Relationship Id="rId6" Type="http://schemas.openxmlformats.org/officeDocument/2006/relationships/hyperlink" Target="https://tranetis.jira.com/wiki/spaces/TSMT/pages/4108517505/Jobs+Coordinated+Jobs+COJO" TargetMode="External"/><Relationship Id="rId7" Type="http://schemas.openxmlformats.org/officeDocument/2006/relationships/hyperlink" Target="https://tranetis.jira.com/wiki/spaces/TSMT/pages/4501078104/Contracting+Team" TargetMode="External"/><Relationship Id="rId8" Type="http://schemas.openxmlformats.org/officeDocument/2006/relationships/hyperlink" Target="https://tranetis.jira.com/wiki/spaces/TSMT/pages/4108812330/Trane+Design+Assist+TDA" TargetMode="External"/><Relationship Id="rId9" Type="http://schemas.openxmlformats.org/officeDocument/2006/relationships/hyperlink" Target="https://tranetis.jira.com/wiki/spaces/TSMT/pages/4108812415/Work+Package+Onboarding" TargetMode="External"/><Relationship Id="rId10" Type="http://schemas.openxmlformats.org/officeDocument/2006/relationships/hyperlink" Target="https://tranetis.jira.com/wiki/spaces/TSMT/pages/4501733404/Service" TargetMode="External"/><Relationship Id="rId11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CHVAC QA Core team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deck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65836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4944" y="6583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04241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1133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113385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08483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20848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to 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468880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256032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" y="2944368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7472" y="303580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" y="30358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41985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303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spans USA and India across multiple delivery tracks under the CHVAC IT OTC QA practice.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7472" y="932688"/>
            <a:ext cx="5029200" cy="548640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64008" cy="54864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75488" y="969264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20700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 – QA Leader  ·  WorkSight QA Lead  ·  Trane-ITC  ·  Offshore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" y="1572767"/>
            <a:ext cx="5029200" cy="2189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dirty="0" b="1" sz="1100"/>
              <a:t>Delivery Tracks</a:t>
            </a:r>
          </a:p>
          <a:p>
            <a:pPr algn="l"/>
            <a:r>
              <a:rPr lang="en-US" dirty="0" sz="1000"/>
              <a:t/>
            </a:r>
          </a:p>
          <a:p>
            <a:pPr algn="l"/>
            <a:r>
              <a:rPr lang="en-US" dirty="0" b="1" sz="1000"/>
              <a:t>WorkSight Projects:</a:t>
            </a:r>
          </a:p>
          <a:p>
            <a:pPr algn="l"/>
            <a:r>
              <a:rPr lang="en-US" dirty="0" sz="1000"/>
              <a:t>  •  TSA (Trane Select Assist)</a:t>
            </a:r>
          </a:p>
          <a:p>
            <a:pPr algn="l"/>
            <a:r>
              <a:rPr lang="en-US" dirty="0" sz="1000"/>
              <a:t>  •  Equipment (R12)</a:t>
            </a:r>
          </a:p>
          <a:p>
            <a:pPr algn="l"/>
            <a:r>
              <a:rPr lang="en-US" dirty="0" sz="1000"/>
              <a:t>  •  DMC / MDP</a:t>
            </a:r>
          </a:p>
          <a:p>
            <a:pPr algn="l"/>
            <a:r>
              <a:rPr lang="en-US" dirty="0" sz="1000"/>
              <a:t>  •  Jobs &amp; CoJo</a:t>
            </a:r>
          </a:p>
          <a:p>
            <a:pPr algn="l"/>
            <a:r>
              <a:rPr lang="en-US" dirty="0" sz="1000"/>
              <a:t>  •  Contracting (Team 1 &amp; 2)</a:t>
            </a:r>
          </a:p>
          <a:p>
            <a:pPr algn="l"/>
            <a:r>
              <a:rPr lang="en-US" dirty="0" sz="1000"/>
              <a:t>  •  Work Package</a:t>
            </a:r>
          </a:p>
          <a:p>
            <a:pPr algn="l"/>
            <a:r>
              <a:rPr lang="en-US" dirty="0" sz="1000"/>
              <a:t>  •  Documents (DocGen)</a:t>
            </a:r>
          </a:p>
          <a:p>
            <a:pPr algn="l"/>
            <a:r>
              <a:rPr lang="en-US" dirty="0" sz="1000"/>
              <a:t/>
            </a:r>
          </a:p>
          <a:p>
            <a:pPr algn="l"/>
            <a:r>
              <a:rPr lang="en-US" dirty="0" b="1" sz="1000"/>
              <a:t>Other Projects:</a:t>
            </a:r>
          </a:p>
          <a:p>
            <a:pPr algn="l"/>
            <a:r>
              <a:rPr lang="en-US" dirty="0" sz="1000"/>
              <a:t>  •  TDA (Trane Design Assist)</a:t>
            </a:r>
          </a:p>
          <a:p>
            <a:pPr algn="l"/>
            <a:r>
              <a:rPr lang="en-US" dirty="0" sz="1000"/>
              <a:t>  •  Service</a:t>
            </a:r>
          </a:p>
        </p:txBody>
      </p:sp>
      <p:sp>
        <p:nvSpPr>
          <p:cNvPr id="13" name="Text 11"/>
          <p:cNvSpPr/>
          <p:nvPr/>
        </p:nvSpPr>
        <p:spPr>
          <a:xfrm>
            <a:off x="566928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80467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724144" y="8046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89520" y="8046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7899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24144" y="10789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89520" y="1078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35331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72414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35331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2763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24144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276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190195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724144" y="1901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Func. Analysts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9520" y="190195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724144" y="21762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/ PAs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89520" y="21762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QA – Reporting Structure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478106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 leads all 8 WorkSight projects. QA leads and sub-items shown below.</a:t>
            </a:r>
            <a:endParaRPr lang="en-US" sz="900"/>
          </a:p>
        </p:txBody>
      </p:sp>
      <p:sp>
        <p:nvSpPr>
          <p:cNvPr id="4" name="Shape 2"/>
          <p:cNvSpPr/>
          <p:nvPr/>
        </p:nvSpPr>
        <p:spPr>
          <a:xfrm>
            <a:off x="1227911" y="1460424"/>
            <a:ext cx="2926080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227911" y="1460424"/>
            <a:ext cx="2926080" cy="402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  ·  WorkSight QA Manager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1035227" y="3077602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035227" y="3077602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094663" y="3077602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</a:t>
            </a:r>
            <a:endParaRPr lang="en-US" sz="750"/>
          </a:p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Assist</a:t>
            </a:r>
            <a:endParaRPr lang="en-US" sz="750"/>
          </a:p>
        </p:txBody>
      </p:sp>
      <p:sp>
        <p:nvSpPr>
          <p:cNvPr id="12" name="Shape 10"/>
          <p:cNvSpPr/>
          <p:nvPr/>
        </p:nvSpPr>
        <p:spPr>
          <a:xfrm>
            <a:off x="1510715" y="3516514"/>
            <a:ext cx="0" cy="109728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1035227" y="3640611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/>
          </a:p>
        </p:txBody>
      </p:sp>
      <p:sp>
        <p:nvSpPr>
          <p:cNvPr id="27" name="Shape 25"/>
          <p:cNvSpPr/>
          <p:nvPr/>
        </p:nvSpPr>
        <p:spPr>
          <a:xfrm>
            <a:off x="2068499" y="3077602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2068499" y="3077602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2127935" y="3077602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750"/>
          </a:p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(R12)</a:t>
            </a:r>
            <a:endParaRPr lang="en-US" sz="750"/>
          </a:p>
        </p:txBody>
      </p:sp>
      <p:sp>
        <p:nvSpPr>
          <p:cNvPr id="30" name="Shape 28"/>
          <p:cNvSpPr/>
          <p:nvPr/>
        </p:nvSpPr>
        <p:spPr>
          <a:xfrm>
            <a:off x="2543987" y="3516514"/>
            <a:ext cx="0" cy="109728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2068499" y="3626242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/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S/</a:t>
            </a:r>
            <a:r>
              <a:rPr lang="en-IN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Harikrishnan, Aiswarya</a:t>
            </a:r>
            <a:endParaRPr lang="en-US" sz="750" b="1">
              <a:solidFill>
                <a:srgbClr val="4A148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3101771" y="3077602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3101771" y="3077602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161207" y="3077602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750"/>
          </a:p>
        </p:txBody>
      </p:sp>
      <p:sp>
        <p:nvSpPr>
          <p:cNvPr id="48" name="Shape 46"/>
          <p:cNvSpPr/>
          <p:nvPr/>
        </p:nvSpPr>
        <p:spPr>
          <a:xfrm>
            <a:off x="3577259" y="3516514"/>
            <a:ext cx="0" cy="109728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3101771" y="3626242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</a:t>
            </a:r>
            <a:endParaRPr lang="en-US" sz="750"/>
          </a:p>
        </p:txBody>
      </p:sp>
      <p:sp>
        <p:nvSpPr>
          <p:cNvPr id="63" name="Shape 61"/>
          <p:cNvSpPr/>
          <p:nvPr/>
        </p:nvSpPr>
        <p:spPr>
          <a:xfrm>
            <a:off x="4135043" y="3077602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4135043" y="3077602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194479" y="3077602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</a:t>
            </a:r>
            <a:endParaRPr lang="en-US" sz="750"/>
          </a:p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CoJo</a:t>
            </a:r>
            <a:endParaRPr lang="en-US" sz="750"/>
          </a:p>
        </p:txBody>
      </p:sp>
      <p:sp>
        <p:nvSpPr>
          <p:cNvPr id="66" name="Shape 64"/>
          <p:cNvSpPr/>
          <p:nvPr/>
        </p:nvSpPr>
        <p:spPr>
          <a:xfrm>
            <a:off x="4610531" y="3516514"/>
            <a:ext cx="0" cy="109728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4135043" y="3626242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</a:t>
            </a:r>
            <a:endParaRPr lang="en-US" sz="750"/>
          </a:p>
        </p:txBody>
      </p:sp>
      <p:sp>
        <p:nvSpPr>
          <p:cNvPr id="81" name="Shape 79"/>
          <p:cNvSpPr/>
          <p:nvPr/>
        </p:nvSpPr>
        <p:spPr>
          <a:xfrm>
            <a:off x="5310968" y="3052324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Shape 80"/>
          <p:cNvSpPr/>
          <p:nvPr/>
        </p:nvSpPr>
        <p:spPr>
          <a:xfrm>
            <a:off x="5312536" y="3053562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/>
          <p:nvPr/>
        </p:nvSpPr>
        <p:spPr>
          <a:xfrm>
            <a:off x="5362958" y="3047031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Contracting(Team 1 &amp; 2)</a:t>
            </a:r>
            <a:endParaRPr lang="en-US" sz="750"/>
          </a:p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(Tax)</a:t>
            </a:r>
            <a:endParaRPr lang="en-US" sz="750"/>
          </a:p>
        </p:txBody>
      </p:sp>
      <p:sp>
        <p:nvSpPr>
          <p:cNvPr id="84" name="Shape 82"/>
          <p:cNvSpPr/>
          <p:nvPr/>
        </p:nvSpPr>
        <p:spPr>
          <a:xfrm>
            <a:off x="5786456" y="3492474"/>
            <a:ext cx="0" cy="109728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5310968" y="3626245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S/Preethi Khajji/Srinivasa R</a:t>
            </a:r>
            <a:endParaRPr lang="en-US" sz="750"/>
          </a:p>
        </p:txBody>
      </p:sp>
      <p:sp>
        <p:nvSpPr>
          <p:cNvPr id="99" name="Shape 97"/>
          <p:cNvSpPr/>
          <p:nvPr/>
        </p:nvSpPr>
        <p:spPr>
          <a:xfrm>
            <a:off x="1381417" y="2143614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1381417" y="2143614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1440853" y="2143614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</a:t>
            </a:r>
            <a:endParaRPr lang="en-US" sz="750"/>
          </a:p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Assist</a:t>
            </a:r>
            <a:endParaRPr lang="en-US" sz="750"/>
          </a:p>
        </p:txBody>
      </p:sp>
      <p:sp>
        <p:nvSpPr>
          <p:cNvPr id="102" name="Shape 100"/>
          <p:cNvSpPr/>
          <p:nvPr/>
        </p:nvSpPr>
        <p:spPr>
          <a:xfrm>
            <a:off x="1229889" y="2352981"/>
            <a:ext cx="162743" cy="0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101"/>
          <p:cNvSpPr/>
          <p:nvPr/>
        </p:nvSpPr>
        <p:spPr>
          <a:xfrm>
            <a:off x="410829" y="2245498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/>
          </a:p>
        </p:txBody>
      </p:sp>
      <p:sp>
        <p:nvSpPr>
          <p:cNvPr id="114" name="Shape 112"/>
          <p:cNvSpPr/>
          <p:nvPr/>
        </p:nvSpPr>
        <p:spPr>
          <a:xfrm>
            <a:off x="6444557" y="3077605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6444557" y="3077605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6503993" y="3077605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750"/>
          </a:p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750"/>
          </a:p>
        </p:txBody>
      </p:sp>
      <p:sp>
        <p:nvSpPr>
          <p:cNvPr id="117" name="Shape 115"/>
          <p:cNvSpPr/>
          <p:nvPr/>
        </p:nvSpPr>
        <p:spPr>
          <a:xfrm>
            <a:off x="6920045" y="3516517"/>
            <a:ext cx="0" cy="109728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6444557" y="3626245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</a:t>
            </a:r>
            <a:endParaRPr lang="en-US" sz="750"/>
          </a:p>
        </p:txBody>
      </p:sp>
      <p:sp>
        <p:nvSpPr>
          <p:cNvPr id="132" name="Shape 130"/>
          <p:cNvSpPr/>
          <p:nvPr/>
        </p:nvSpPr>
        <p:spPr>
          <a:xfrm>
            <a:off x="7477829" y="3077605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Shape 131"/>
          <p:cNvSpPr/>
          <p:nvPr/>
        </p:nvSpPr>
        <p:spPr>
          <a:xfrm>
            <a:off x="7477829" y="3077605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7537265" y="3077605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750"/>
          </a:p>
          <a:p>
            <a:pPr marL="0" indent="0" algn="l">
              <a:buNone/>
            </a:pPr>
            <a:r>
              <a:rPr lang="en-US" sz="75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(DocGen)</a:t>
            </a:r>
            <a:endParaRPr lang="en-US" sz="750"/>
          </a:p>
        </p:txBody>
      </p:sp>
      <p:sp>
        <p:nvSpPr>
          <p:cNvPr id="135" name="Shape 133"/>
          <p:cNvSpPr/>
          <p:nvPr/>
        </p:nvSpPr>
        <p:spPr>
          <a:xfrm>
            <a:off x="7953317" y="3516517"/>
            <a:ext cx="0" cy="109728"/>
          </a:xfrm>
          <a:prstGeom prst="line">
            <a:avLst/>
          </a:prstGeom>
          <a:noFill/>
          <a:ln w="1016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7477829" y="3626245"/>
            <a:ext cx="950976" cy="23774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</a:t>
            </a:r>
            <a:endParaRPr lang="en-US" sz="750"/>
          </a:p>
        </p:txBody>
      </p:sp>
      <p:pic>
        <p:nvPicPr>
          <p:cNvPr id="1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50" name="Text 1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  <p:sp>
        <p:nvSpPr>
          <p:cNvPr id="163" name="Shape 97">
            <a:extLst>
              <a:ext uri="{FF2B5EF4-FFF2-40B4-BE49-F238E27FC236}">
                <a16:creationId xmlns:a16="http://schemas.microsoft.com/office/drawing/2014/main" id="{AA536942-DC30-4E13-6D7E-0A415A67928C}"/>
              </a:ext>
            </a:extLst>
          </p:cNvPr>
          <p:cNvSpPr/>
          <p:nvPr/>
        </p:nvSpPr>
        <p:spPr>
          <a:xfrm>
            <a:off x="3000066" y="2100072"/>
            <a:ext cx="950976" cy="43891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4" name="Shape 98">
            <a:extLst>
              <a:ext uri="{FF2B5EF4-FFF2-40B4-BE49-F238E27FC236}">
                <a16:creationId xmlns:a16="http://schemas.microsoft.com/office/drawing/2014/main" id="{AE7A3A45-73E9-4F88-5ECB-29754B73E958}"/>
              </a:ext>
            </a:extLst>
          </p:cNvPr>
          <p:cNvSpPr/>
          <p:nvPr/>
        </p:nvSpPr>
        <p:spPr>
          <a:xfrm>
            <a:off x="3000066" y="2100072"/>
            <a:ext cx="43891" cy="438912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5" name="Text 99">
            <a:extLst>
              <a:ext uri="{FF2B5EF4-FFF2-40B4-BE49-F238E27FC236}">
                <a16:creationId xmlns:a16="http://schemas.microsoft.com/office/drawing/2014/main" id="{8A53B4E6-F4A9-1ADF-00F6-A674C3D74F4C}"/>
              </a:ext>
            </a:extLst>
          </p:cNvPr>
          <p:cNvSpPr/>
          <p:nvPr/>
        </p:nvSpPr>
        <p:spPr>
          <a:xfrm>
            <a:off x="3199754" y="2113353"/>
            <a:ext cx="882396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750" err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</a:t>
            </a:r>
            <a:endParaRPr lang="en-US" sz="75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12E5CC4C-7FBE-CE5F-F962-6DD0A299A428}"/>
              </a:ext>
            </a:extLst>
          </p:cNvPr>
          <p:cNvCxnSpPr>
            <a:stCxn id="163" idx="2"/>
          </p:cNvCxnSpPr>
          <p:nvPr/>
        </p:nvCxnSpPr>
        <p:spPr>
          <a:xfrm flipH="1">
            <a:off x="3474722" y="2538984"/>
            <a:ext cx="832" cy="2434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B115C292-5BF3-C22F-154B-C03C0355A23B}"/>
              </a:ext>
            </a:extLst>
          </p:cNvPr>
          <p:cNvCxnSpPr/>
          <p:nvPr/>
        </p:nvCxnSpPr>
        <p:spPr>
          <a:xfrm flipH="1">
            <a:off x="1440853" y="2782389"/>
            <a:ext cx="203386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F2C4A591-5AF9-77CC-B9DC-CC88713964BE}"/>
              </a:ext>
            </a:extLst>
          </p:cNvPr>
          <p:cNvCxnSpPr/>
          <p:nvPr/>
        </p:nvCxnSpPr>
        <p:spPr>
          <a:xfrm>
            <a:off x="3474722" y="2782389"/>
            <a:ext cx="442830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FE1FD398-0C01-AE84-A940-1FF24C340B66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1535861" y="2782389"/>
            <a:ext cx="0" cy="2952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Track – Teams A &amp; B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 (14 members)</a:t>
            </a:r>
            <a:endParaRPr lang="en-US" sz="950"/>
          </a:p>
        </p:txBody>
      </p:sp>
      <p:sp>
        <p:nvSpPr>
          <p:cNvPr id="4" name="Shape 2"/>
          <p:cNvSpPr/>
          <p:nvPr/>
        </p:nvSpPr>
        <p:spPr>
          <a:xfrm>
            <a:off x="347472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Jaimie Christianson</a:t>
            </a:r>
            <a:endParaRPr lang="en-US" sz="750"/>
          </a:p>
        </p:txBody>
      </p:sp>
      <p:sp>
        <p:nvSpPr>
          <p:cNvPr id="7" name="Text 5"/>
          <p:cNvSpPr/>
          <p:nvPr/>
        </p:nvSpPr>
        <p:spPr>
          <a:xfrm>
            <a:off x="1986808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8" name="Text 6"/>
          <p:cNvSpPr/>
          <p:nvPr/>
        </p:nvSpPr>
        <p:spPr>
          <a:xfrm>
            <a:off x="3446191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" name="Shape 7"/>
          <p:cNvSpPr/>
          <p:nvPr/>
        </p:nvSpPr>
        <p:spPr>
          <a:xfrm>
            <a:off x="347472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7472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02336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Patti Reddy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1986808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Analyst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3446191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14" name="Shape 12"/>
          <p:cNvSpPr/>
          <p:nvPr/>
        </p:nvSpPr>
        <p:spPr>
          <a:xfrm>
            <a:off x="347472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Pradeesh Kumar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1986808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3446191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54" name="Shape 52"/>
          <p:cNvSpPr/>
          <p:nvPr/>
        </p:nvSpPr>
        <p:spPr>
          <a:xfrm>
            <a:off x="347472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</a:t>
            </a:r>
            <a:endParaRPr lang="en-US" sz="750"/>
          </a:p>
        </p:txBody>
      </p:sp>
      <p:sp>
        <p:nvSpPr>
          <p:cNvPr id="57" name="Text 55"/>
          <p:cNvSpPr/>
          <p:nvPr/>
        </p:nvSpPr>
        <p:spPr>
          <a:xfrm>
            <a:off x="1986808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58" name="Text 56"/>
          <p:cNvSpPr/>
          <p:nvPr/>
        </p:nvSpPr>
        <p:spPr>
          <a:xfrm>
            <a:off x="3446191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9" name="Shape 57"/>
          <p:cNvSpPr/>
          <p:nvPr/>
        </p:nvSpPr>
        <p:spPr>
          <a:xfrm>
            <a:off x="347472" y="16733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347472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02336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Devendra E</a:t>
            </a:r>
            <a:endParaRPr lang="en-US" sz="750"/>
          </a:p>
        </p:txBody>
      </p:sp>
      <p:sp>
        <p:nvSpPr>
          <p:cNvPr id="62" name="Text 60"/>
          <p:cNvSpPr/>
          <p:nvPr/>
        </p:nvSpPr>
        <p:spPr>
          <a:xfrm>
            <a:off x="1986808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63" name="Text 61"/>
          <p:cNvSpPr/>
          <p:nvPr/>
        </p:nvSpPr>
        <p:spPr>
          <a:xfrm>
            <a:off x="3446191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4" name="Shape 62"/>
          <p:cNvSpPr/>
          <p:nvPr/>
        </p:nvSpPr>
        <p:spPr>
          <a:xfrm>
            <a:off x="347472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Nagaraj</a:t>
            </a:r>
            <a:endParaRPr lang="en-US" sz="750"/>
          </a:p>
        </p:txBody>
      </p:sp>
      <p:sp>
        <p:nvSpPr>
          <p:cNvPr id="67" name="Text 65"/>
          <p:cNvSpPr/>
          <p:nvPr/>
        </p:nvSpPr>
        <p:spPr>
          <a:xfrm>
            <a:off x="1986808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8" name="Text 66"/>
          <p:cNvSpPr/>
          <p:nvPr/>
        </p:nvSpPr>
        <p:spPr>
          <a:xfrm>
            <a:off x="3446191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9" name="Shape 67"/>
          <p:cNvSpPr/>
          <p:nvPr/>
        </p:nvSpPr>
        <p:spPr>
          <a:xfrm>
            <a:off x="347472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47472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2336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Sai</a:t>
            </a:r>
            <a:endParaRPr lang="en-US" sz="750"/>
          </a:p>
        </p:txBody>
      </p:sp>
      <p:sp>
        <p:nvSpPr>
          <p:cNvPr id="72" name="Text 70"/>
          <p:cNvSpPr/>
          <p:nvPr/>
        </p:nvSpPr>
        <p:spPr>
          <a:xfrm>
            <a:off x="1986808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73" name="Text 71"/>
          <p:cNvSpPr/>
          <p:nvPr/>
        </p:nvSpPr>
        <p:spPr>
          <a:xfrm>
            <a:off x="3446191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4" name="Text 72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 (17 members)</a:t>
            </a:r>
            <a:endParaRPr lang="en-US" sz="950"/>
          </a:p>
        </p:txBody>
      </p:sp>
      <p:sp>
        <p:nvSpPr>
          <p:cNvPr id="75" name="Shape 73"/>
          <p:cNvSpPr/>
          <p:nvPr/>
        </p:nvSpPr>
        <p:spPr>
          <a:xfrm>
            <a:off x="4626864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4626864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681728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 White</a:t>
            </a:r>
            <a:endParaRPr lang="en-US" sz="750"/>
          </a:p>
        </p:txBody>
      </p:sp>
      <p:sp>
        <p:nvSpPr>
          <p:cNvPr id="78" name="Text 76"/>
          <p:cNvSpPr/>
          <p:nvPr/>
        </p:nvSpPr>
        <p:spPr>
          <a:xfrm>
            <a:off x="6266200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9" name="Text 77"/>
          <p:cNvSpPr/>
          <p:nvPr/>
        </p:nvSpPr>
        <p:spPr>
          <a:xfrm>
            <a:off x="7725583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0" name="Shape 78"/>
          <p:cNvSpPr/>
          <p:nvPr/>
        </p:nvSpPr>
        <p:spPr>
          <a:xfrm>
            <a:off x="4626864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626864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81728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Cassi Key</a:t>
            </a:r>
            <a:endParaRPr lang="en-US" sz="750"/>
          </a:p>
        </p:txBody>
      </p:sp>
      <p:sp>
        <p:nvSpPr>
          <p:cNvPr id="83" name="Text 81"/>
          <p:cNvSpPr/>
          <p:nvPr/>
        </p:nvSpPr>
        <p:spPr>
          <a:xfrm>
            <a:off x="6266200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Business</a:t>
            </a:r>
            <a:endParaRPr lang="en-US" sz="700"/>
          </a:p>
        </p:txBody>
      </p:sp>
      <p:sp>
        <p:nvSpPr>
          <p:cNvPr id="84" name="Text 82"/>
          <p:cNvSpPr/>
          <p:nvPr/>
        </p:nvSpPr>
        <p:spPr>
          <a:xfrm>
            <a:off x="7725583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5" name="Shape 83"/>
          <p:cNvSpPr/>
          <p:nvPr/>
        </p:nvSpPr>
        <p:spPr>
          <a:xfrm>
            <a:off x="4626864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4626864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4681728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Chintakuntla</a:t>
            </a:r>
            <a:endParaRPr lang="en-US" sz="750"/>
          </a:p>
        </p:txBody>
      </p:sp>
      <p:sp>
        <p:nvSpPr>
          <p:cNvPr id="88" name="Text 86"/>
          <p:cNvSpPr/>
          <p:nvPr/>
        </p:nvSpPr>
        <p:spPr>
          <a:xfrm>
            <a:off x="6266200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89" name="Text 87"/>
          <p:cNvSpPr/>
          <p:nvPr/>
        </p:nvSpPr>
        <p:spPr>
          <a:xfrm>
            <a:off x="7725583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0" name="Shape 88"/>
          <p:cNvSpPr/>
          <p:nvPr/>
        </p:nvSpPr>
        <p:spPr>
          <a:xfrm>
            <a:off x="4626864" y="14264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626864" y="14264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681728" y="14264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Gandhi</a:t>
            </a:r>
            <a:endParaRPr lang="en-US" sz="750"/>
          </a:p>
        </p:txBody>
      </p:sp>
      <p:sp>
        <p:nvSpPr>
          <p:cNvPr id="93" name="Text 91"/>
          <p:cNvSpPr/>
          <p:nvPr/>
        </p:nvSpPr>
        <p:spPr>
          <a:xfrm>
            <a:off x="6266200" y="14264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94" name="Text 92"/>
          <p:cNvSpPr/>
          <p:nvPr/>
        </p:nvSpPr>
        <p:spPr>
          <a:xfrm>
            <a:off x="7725583" y="14264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5" name="Shape 123"/>
          <p:cNvSpPr/>
          <p:nvPr/>
        </p:nvSpPr>
        <p:spPr>
          <a:xfrm>
            <a:off x="4626864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4626864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681728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Blessing</a:t>
            </a:r>
            <a:endParaRPr lang="en-US" sz="750"/>
          </a:p>
        </p:txBody>
      </p:sp>
      <p:sp>
        <p:nvSpPr>
          <p:cNvPr id="128" name="Text 126"/>
          <p:cNvSpPr/>
          <p:nvPr/>
        </p:nvSpPr>
        <p:spPr>
          <a:xfrm>
            <a:off x="6266200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9" name="Text 127"/>
          <p:cNvSpPr/>
          <p:nvPr/>
        </p:nvSpPr>
        <p:spPr>
          <a:xfrm>
            <a:off x="7725583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1" name="Shape 129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Shape 133"/>
          <p:cNvSpPr/>
          <p:nvPr/>
        </p:nvSpPr>
        <p:spPr>
          <a:xfrm>
            <a:off x="4626864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4626864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4681728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Aiswarya H</a:t>
            </a:r>
            <a:endParaRPr lang="en-US" sz="750"/>
          </a:p>
        </p:txBody>
      </p:sp>
      <p:sp>
        <p:nvSpPr>
          <p:cNvPr id="138" name="Text 136"/>
          <p:cNvSpPr/>
          <p:nvPr/>
        </p:nvSpPr>
        <p:spPr>
          <a:xfrm>
            <a:off x="6266200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139" name="Text 137"/>
          <p:cNvSpPr/>
          <p:nvPr/>
        </p:nvSpPr>
        <p:spPr>
          <a:xfrm>
            <a:off x="7725583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0" name="Shape 138"/>
          <p:cNvSpPr/>
          <p:nvPr/>
        </p:nvSpPr>
        <p:spPr>
          <a:xfrm>
            <a:off x="4626864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4626864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681728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Sowmya Shetty</a:t>
            </a:r>
            <a:endParaRPr lang="en-US" sz="750"/>
          </a:p>
        </p:txBody>
      </p:sp>
      <p:sp>
        <p:nvSpPr>
          <p:cNvPr id="143" name="Text 141"/>
          <p:cNvSpPr/>
          <p:nvPr/>
        </p:nvSpPr>
        <p:spPr>
          <a:xfrm>
            <a:off x="6266200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R12</a:t>
            </a:r>
            <a:endParaRPr lang="en-US" sz="700"/>
          </a:p>
        </p:txBody>
      </p:sp>
      <p:sp>
        <p:nvSpPr>
          <p:cNvPr id="144" name="Text 142"/>
          <p:cNvSpPr/>
          <p:nvPr/>
        </p:nvSpPr>
        <p:spPr>
          <a:xfrm>
            <a:off x="7725583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5" name="Shape 143"/>
          <p:cNvSpPr/>
          <p:nvPr/>
        </p:nvSpPr>
        <p:spPr>
          <a:xfrm>
            <a:off x="4626864" y="233172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4626864" y="233172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4681728" y="233172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Greeshma Balan</a:t>
            </a:r>
            <a:endParaRPr lang="en-US" sz="750"/>
          </a:p>
        </p:txBody>
      </p:sp>
      <p:sp>
        <p:nvSpPr>
          <p:cNvPr id="148" name="Text 146"/>
          <p:cNvSpPr/>
          <p:nvPr/>
        </p:nvSpPr>
        <p:spPr>
          <a:xfrm>
            <a:off x="6266200" y="233172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49" name="Text 147"/>
          <p:cNvSpPr/>
          <p:nvPr/>
        </p:nvSpPr>
        <p:spPr>
          <a:xfrm>
            <a:off x="7725583" y="233172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150" name="Shape 148"/>
          <p:cNvSpPr/>
          <p:nvPr/>
        </p:nvSpPr>
        <p:spPr>
          <a:xfrm>
            <a:off x="4626864" y="2551176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149"/>
          <p:cNvSpPr/>
          <p:nvPr/>
        </p:nvSpPr>
        <p:spPr>
          <a:xfrm>
            <a:off x="4626864" y="255117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150"/>
          <p:cNvSpPr/>
          <p:nvPr/>
        </p:nvSpPr>
        <p:spPr>
          <a:xfrm>
            <a:off x="4681728" y="255117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Brahmananda R</a:t>
            </a:r>
            <a:endParaRPr lang="en-US" sz="750"/>
          </a:p>
        </p:txBody>
      </p:sp>
      <p:sp>
        <p:nvSpPr>
          <p:cNvPr id="153" name="Text 151"/>
          <p:cNvSpPr/>
          <p:nvPr/>
        </p:nvSpPr>
        <p:spPr>
          <a:xfrm>
            <a:off x="6266200" y="255117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54" name="Text 152"/>
          <p:cNvSpPr/>
          <p:nvPr/>
        </p:nvSpPr>
        <p:spPr>
          <a:xfrm>
            <a:off x="7725583" y="255117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55" name="Shape 153"/>
          <p:cNvSpPr/>
          <p:nvPr/>
        </p:nvSpPr>
        <p:spPr>
          <a:xfrm>
            <a:off x="4626864" y="277063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4626864" y="277063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681728" y="277063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Kavya B N</a:t>
            </a:r>
            <a:endParaRPr lang="en-US" sz="750"/>
          </a:p>
        </p:txBody>
      </p:sp>
      <p:sp>
        <p:nvSpPr>
          <p:cNvPr id="158" name="Text 156"/>
          <p:cNvSpPr/>
          <p:nvPr/>
        </p:nvSpPr>
        <p:spPr>
          <a:xfrm>
            <a:off x="6266200" y="277063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159" name="Text 157"/>
          <p:cNvSpPr/>
          <p:nvPr/>
        </p:nvSpPr>
        <p:spPr>
          <a:xfrm>
            <a:off x="7725583" y="277063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6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108960"/>
            <a:ext cx="1097280" cy="475488"/>
          </a:xfrm>
          <a:prstGeom prst="rect">
            <a:avLst/>
          </a:prstGeom>
        </p:spPr>
      </p:pic>
      <p:sp>
        <p:nvSpPr>
          <p:cNvPr id="161" name="Text 158"/>
          <p:cNvSpPr/>
          <p:nvPr/>
        </p:nvSpPr>
        <p:spPr>
          <a:xfrm>
            <a:off x="347472" y="32918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 Track – Full Team</a:t>
            </a:r>
            <a:endParaRPr lang="en-US" sz="200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Brockman</a:t>
            </a:r>
            <a:endParaRPr lang="en-US" sz="75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 Lainhart</a:t>
            </a:r>
            <a:endParaRPr lang="en-US" sz="75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Vipin Saroha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Gopal</a:t>
            </a:r>
            <a:endParaRPr lang="en-US" sz="75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</a:t>
            </a:r>
            <a:endParaRPr lang="en-US" sz="70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Snehalata Shidling</a:t>
            </a:r>
            <a:endParaRPr lang="en-US" sz="75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/ Dev</a:t>
            </a:r>
            <a:endParaRPr lang="en-US" sz="70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8" name="Shape 56"/>
          <p:cNvSpPr/>
          <p:nvPr/>
        </p:nvSpPr>
        <p:spPr>
          <a:xfrm>
            <a:off x="4626864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626864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681728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Laddi</a:t>
            </a:r>
            <a:endParaRPr lang="en-US" sz="750"/>
          </a:p>
        </p:txBody>
      </p:sp>
      <p:sp>
        <p:nvSpPr>
          <p:cNvPr id="61" name="Text 59"/>
          <p:cNvSpPr/>
          <p:nvPr/>
        </p:nvSpPr>
        <p:spPr>
          <a:xfrm>
            <a:off x="6266200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 / Automation</a:t>
            </a:r>
            <a:endParaRPr lang="en-US" sz="700"/>
          </a:p>
        </p:txBody>
      </p:sp>
      <p:sp>
        <p:nvSpPr>
          <p:cNvPr id="62" name="Text 60"/>
          <p:cNvSpPr/>
          <p:nvPr/>
        </p:nvSpPr>
        <p:spPr>
          <a:xfrm>
            <a:off x="7725583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3" name="Shape 61"/>
          <p:cNvSpPr/>
          <p:nvPr/>
        </p:nvSpPr>
        <p:spPr>
          <a:xfrm>
            <a:off x="347472" y="197510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347472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2336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Gadade</a:t>
            </a:r>
            <a:endParaRPr lang="en-US" sz="750"/>
          </a:p>
        </p:txBody>
      </p:sp>
      <p:sp>
        <p:nvSpPr>
          <p:cNvPr id="66" name="Text 64"/>
          <p:cNvSpPr/>
          <p:nvPr/>
        </p:nvSpPr>
        <p:spPr>
          <a:xfrm>
            <a:off x="1986808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 / Automation</a:t>
            </a:r>
            <a:endParaRPr lang="en-US" sz="700"/>
          </a:p>
        </p:txBody>
      </p:sp>
      <p:sp>
        <p:nvSpPr>
          <p:cNvPr id="67" name="Text 65"/>
          <p:cNvSpPr/>
          <p:nvPr/>
        </p:nvSpPr>
        <p:spPr>
          <a:xfrm>
            <a:off x="3446191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8" name="Shape 66"/>
          <p:cNvSpPr/>
          <p:nvPr/>
        </p:nvSpPr>
        <p:spPr>
          <a:xfrm>
            <a:off x="4626864" y="197510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626864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681728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Sarala V</a:t>
            </a:r>
            <a:endParaRPr lang="en-US" sz="750"/>
          </a:p>
        </p:txBody>
      </p:sp>
      <p:sp>
        <p:nvSpPr>
          <p:cNvPr id="71" name="Text 69"/>
          <p:cNvSpPr/>
          <p:nvPr/>
        </p:nvSpPr>
        <p:spPr>
          <a:xfrm>
            <a:off x="6266200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 / R12</a:t>
            </a:r>
            <a:endParaRPr lang="en-US" sz="700"/>
          </a:p>
        </p:txBody>
      </p:sp>
      <p:sp>
        <p:nvSpPr>
          <p:cNvPr id="72" name="Text 70"/>
          <p:cNvSpPr/>
          <p:nvPr/>
        </p:nvSpPr>
        <p:spPr>
          <a:xfrm>
            <a:off x="7725583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7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74" name="Text 7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&amp; Contracting – QA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02920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Teams 1 &amp; 2 </a:t>
            </a:r>
            <a:endParaRPr lang="en-US" sz="900" b="1" dirty="0">
              <a:solidFill>
                <a:srgbClr val="7030A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Sheshababu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6808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 · T1,2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46191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26864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626864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81728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Preeti Khajji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266200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25583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47472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86808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Func/Auto/Perf · T2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446191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26864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681728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Jinu Joy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66200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5583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47472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02336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Kumar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86808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46191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4626864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26864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81728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Rakshita 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66200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725583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47472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Yana Zapanti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86808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46191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26864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26864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81728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Chatterjee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6200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25583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47472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Vijitha 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986808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46191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626864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26864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81728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Kumari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266200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25583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472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Patnana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86808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46191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626864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626864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681728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D 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266200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725583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Pramad Manohara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986808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6191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4626864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4626864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681728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 Subramanian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6200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725583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347472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347472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02336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986808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446191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4626864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626864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4681728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Sivakumar R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66200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7725583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47472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347472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02336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Shalini N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986808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46191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4626864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4626864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4681728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Subhashini S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6200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725583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47472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347472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02336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Rangesh R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986808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446191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4626864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681728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Lakshmi P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266200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725583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47472" y="312724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347472" y="312724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02336" y="312724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Ankur Bhattacharjee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986808" y="312724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3446191" y="312724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10" name="Text 10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1" name="Shape 138">
            <a:extLst>
              <a:ext uri="{FF2B5EF4-FFF2-40B4-BE49-F238E27FC236}">
                <a16:creationId xmlns:a16="http://schemas.microsoft.com/office/drawing/2014/main" id="{867533B2-76B0-CA7A-CBCC-CC47C666F0A1}"/>
              </a:ext>
            </a:extLst>
          </p:cNvPr>
          <p:cNvSpPr/>
          <p:nvPr/>
        </p:nvSpPr>
        <p:spPr>
          <a:xfrm>
            <a:off x="2452309" y="364845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39">
            <a:extLst>
              <a:ext uri="{FF2B5EF4-FFF2-40B4-BE49-F238E27FC236}">
                <a16:creationId xmlns:a16="http://schemas.microsoft.com/office/drawing/2014/main" id="{644364E0-6BAC-BA44-E108-8C2DB008A033}"/>
              </a:ext>
            </a:extLst>
          </p:cNvPr>
          <p:cNvSpPr/>
          <p:nvPr/>
        </p:nvSpPr>
        <p:spPr>
          <a:xfrm>
            <a:off x="2452309" y="364845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40">
            <a:extLst>
              <a:ext uri="{FF2B5EF4-FFF2-40B4-BE49-F238E27FC236}">
                <a16:creationId xmlns:a16="http://schemas.microsoft.com/office/drawing/2014/main" id="{15E7DD2A-C233-4D0D-4FD5-77955C57B118}"/>
              </a:ext>
            </a:extLst>
          </p:cNvPr>
          <p:cNvSpPr/>
          <p:nvPr/>
        </p:nvSpPr>
        <p:spPr>
          <a:xfrm>
            <a:off x="2507173" y="364845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Murcia</a:t>
            </a:r>
            <a:endParaRPr lang="en-US" sz="750" dirty="0"/>
          </a:p>
        </p:txBody>
      </p:sp>
      <p:sp>
        <p:nvSpPr>
          <p:cNvPr id="114" name="Text 141">
            <a:extLst>
              <a:ext uri="{FF2B5EF4-FFF2-40B4-BE49-F238E27FC236}">
                <a16:creationId xmlns:a16="http://schemas.microsoft.com/office/drawing/2014/main" id="{11D10F93-08C3-D807-6099-D55FDEC3A1F6}"/>
              </a:ext>
            </a:extLst>
          </p:cNvPr>
          <p:cNvSpPr/>
          <p:nvPr/>
        </p:nvSpPr>
        <p:spPr>
          <a:xfrm>
            <a:off x="4091645" y="364845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Scrum Master</a:t>
            </a:r>
            <a:endParaRPr lang="en-US" sz="700" dirty="0"/>
          </a:p>
        </p:txBody>
      </p:sp>
      <p:sp>
        <p:nvSpPr>
          <p:cNvPr id="115" name="Text 142">
            <a:extLst>
              <a:ext uri="{FF2B5EF4-FFF2-40B4-BE49-F238E27FC236}">
                <a16:creationId xmlns:a16="http://schemas.microsoft.com/office/drawing/2014/main" id="{2468DEA5-FA6B-B367-F1F7-BFF3F3F4B514}"/>
              </a:ext>
            </a:extLst>
          </p:cNvPr>
          <p:cNvSpPr/>
          <p:nvPr/>
        </p:nvSpPr>
        <p:spPr>
          <a:xfrm>
            <a:off x="5551028" y="364845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16" name="Shape 143">
            <a:extLst>
              <a:ext uri="{FF2B5EF4-FFF2-40B4-BE49-F238E27FC236}">
                <a16:creationId xmlns:a16="http://schemas.microsoft.com/office/drawing/2014/main" id="{AB2342D9-0366-7A1F-FDA7-B5EDD9949C75}"/>
              </a:ext>
            </a:extLst>
          </p:cNvPr>
          <p:cNvSpPr/>
          <p:nvPr/>
        </p:nvSpPr>
        <p:spPr>
          <a:xfrm>
            <a:off x="2452309" y="384962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Shape 144">
            <a:extLst>
              <a:ext uri="{FF2B5EF4-FFF2-40B4-BE49-F238E27FC236}">
                <a16:creationId xmlns:a16="http://schemas.microsoft.com/office/drawing/2014/main" id="{E31CEC15-3473-9B95-7632-D85A58D042E6}"/>
              </a:ext>
            </a:extLst>
          </p:cNvPr>
          <p:cNvSpPr/>
          <p:nvPr/>
        </p:nvSpPr>
        <p:spPr>
          <a:xfrm>
            <a:off x="2452309" y="384962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45">
            <a:extLst>
              <a:ext uri="{FF2B5EF4-FFF2-40B4-BE49-F238E27FC236}">
                <a16:creationId xmlns:a16="http://schemas.microsoft.com/office/drawing/2014/main" id="{3FA3DA98-C763-9463-617E-749E2DE3DD27}"/>
              </a:ext>
            </a:extLst>
          </p:cNvPr>
          <p:cNvSpPr/>
          <p:nvPr/>
        </p:nvSpPr>
        <p:spPr>
          <a:xfrm>
            <a:off x="2507173" y="384962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Yohalakshmi J</a:t>
            </a:r>
            <a:endParaRPr lang="en-US" sz="750" dirty="0"/>
          </a:p>
        </p:txBody>
      </p:sp>
      <p:sp>
        <p:nvSpPr>
          <p:cNvPr id="119" name="Text 146">
            <a:extLst>
              <a:ext uri="{FF2B5EF4-FFF2-40B4-BE49-F238E27FC236}">
                <a16:creationId xmlns:a16="http://schemas.microsoft.com/office/drawing/2014/main" id="{3469FDE8-1848-A2F2-9138-0946886EF27B}"/>
              </a:ext>
            </a:extLst>
          </p:cNvPr>
          <p:cNvSpPr/>
          <p:nvPr/>
        </p:nvSpPr>
        <p:spPr>
          <a:xfrm>
            <a:off x="4091645" y="384962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 dirty="0"/>
          </a:p>
        </p:txBody>
      </p:sp>
      <p:sp>
        <p:nvSpPr>
          <p:cNvPr id="120" name="Text 147">
            <a:extLst>
              <a:ext uri="{FF2B5EF4-FFF2-40B4-BE49-F238E27FC236}">
                <a16:creationId xmlns:a16="http://schemas.microsoft.com/office/drawing/2014/main" id="{929B2146-8121-4D79-7B8B-11DFF02E5BCF}"/>
              </a:ext>
            </a:extLst>
          </p:cNvPr>
          <p:cNvSpPr/>
          <p:nvPr/>
        </p:nvSpPr>
        <p:spPr>
          <a:xfrm>
            <a:off x="5551028" y="38496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1" name="Shape 148">
            <a:extLst>
              <a:ext uri="{FF2B5EF4-FFF2-40B4-BE49-F238E27FC236}">
                <a16:creationId xmlns:a16="http://schemas.microsoft.com/office/drawing/2014/main" id="{3BBE816B-0629-8A26-118D-24E2090FBF4F}"/>
              </a:ext>
            </a:extLst>
          </p:cNvPr>
          <p:cNvSpPr/>
          <p:nvPr/>
        </p:nvSpPr>
        <p:spPr>
          <a:xfrm>
            <a:off x="2452309" y="40507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49">
            <a:extLst>
              <a:ext uri="{FF2B5EF4-FFF2-40B4-BE49-F238E27FC236}">
                <a16:creationId xmlns:a16="http://schemas.microsoft.com/office/drawing/2014/main" id="{552CD430-DA4C-E65A-2366-B8E503582AD2}"/>
              </a:ext>
            </a:extLst>
          </p:cNvPr>
          <p:cNvSpPr/>
          <p:nvPr/>
        </p:nvSpPr>
        <p:spPr>
          <a:xfrm>
            <a:off x="2452309" y="40507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Text 150">
            <a:extLst>
              <a:ext uri="{FF2B5EF4-FFF2-40B4-BE49-F238E27FC236}">
                <a16:creationId xmlns:a16="http://schemas.microsoft.com/office/drawing/2014/main" id="{74EFB674-22FC-BC98-9335-E736B1E9D2A0}"/>
              </a:ext>
            </a:extLst>
          </p:cNvPr>
          <p:cNvSpPr/>
          <p:nvPr/>
        </p:nvSpPr>
        <p:spPr>
          <a:xfrm>
            <a:off x="2507173" y="40507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Patil</a:t>
            </a:r>
            <a:endParaRPr lang="en-US" sz="750" dirty="0"/>
          </a:p>
        </p:txBody>
      </p:sp>
      <p:sp>
        <p:nvSpPr>
          <p:cNvPr id="124" name="Text 151">
            <a:extLst>
              <a:ext uri="{FF2B5EF4-FFF2-40B4-BE49-F238E27FC236}">
                <a16:creationId xmlns:a16="http://schemas.microsoft.com/office/drawing/2014/main" id="{CF4DD83F-3C00-5209-4DC2-70EFC58DF100}"/>
              </a:ext>
            </a:extLst>
          </p:cNvPr>
          <p:cNvSpPr/>
          <p:nvPr/>
        </p:nvSpPr>
        <p:spPr>
          <a:xfrm>
            <a:off x="4091645" y="40507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 dirty="0"/>
          </a:p>
        </p:txBody>
      </p:sp>
      <p:sp>
        <p:nvSpPr>
          <p:cNvPr id="125" name="Text 152">
            <a:extLst>
              <a:ext uri="{FF2B5EF4-FFF2-40B4-BE49-F238E27FC236}">
                <a16:creationId xmlns:a16="http://schemas.microsoft.com/office/drawing/2014/main" id="{EF21A035-C4EC-10A5-A2BB-68A31597E6FC}"/>
              </a:ext>
            </a:extLst>
          </p:cNvPr>
          <p:cNvSpPr/>
          <p:nvPr/>
        </p:nvSpPr>
        <p:spPr>
          <a:xfrm>
            <a:off x="5551028" y="40507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6" name="Shape 153">
            <a:extLst>
              <a:ext uri="{FF2B5EF4-FFF2-40B4-BE49-F238E27FC236}">
                <a16:creationId xmlns:a16="http://schemas.microsoft.com/office/drawing/2014/main" id="{0D57628C-B8DC-794B-DDBA-74D7FE67A969}"/>
              </a:ext>
            </a:extLst>
          </p:cNvPr>
          <p:cNvSpPr/>
          <p:nvPr/>
        </p:nvSpPr>
        <p:spPr>
          <a:xfrm>
            <a:off x="2488885" y="4251960"/>
            <a:ext cx="4133088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Shape 154">
            <a:extLst>
              <a:ext uri="{FF2B5EF4-FFF2-40B4-BE49-F238E27FC236}">
                <a16:creationId xmlns:a16="http://schemas.microsoft.com/office/drawing/2014/main" id="{0E83DAD4-3CE4-6447-6DD3-7C2B561CFF91}"/>
              </a:ext>
            </a:extLst>
          </p:cNvPr>
          <p:cNvSpPr/>
          <p:nvPr/>
        </p:nvSpPr>
        <p:spPr>
          <a:xfrm>
            <a:off x="2452309" y="42519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Text 155">
            <a:extLst>
              <a:ext uri="{FF2B5EF4-FFF2-40B4-BE49-F238E27FC236}">
                <a16:creationId xmlns:a16="http://schemas.microsoft.com/office/drawing/2014/main" id="{89E7CF45-ACAD-A0FC-94A2-B2599B0FC779}"/>
              </a:ext>
            </a:extLst>
          </p:cNvPr>
          <p:cNvSpPr/>
          <p:nvPr/>
        </p:nvSpPr>
        <p:spPr>
          <a:xfrm>
            <a:off x="2507173" y="42519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Amelia Mann</a:t>
            </a:r>
            <a:endParaRPr lang="en-US" sz="750" dirty="0"/>
          </a:p>
        </p:txBody>
      </p:sp>
      <p:sp>
        <p:nvSpPr>
          <p:cNvPr id="129" name="Text 156">
            <a:extLst>
              <a:ext uri="{FF2B5EF4-FFF2-40B4-BE49-F238E27FC236}">
                <a16:creationId xmlns:a16="http://schemas.microsoft.com/office/drawing/2014/main" id="{E13D2A14-251B-9F61-D5D5-D28CFFBBD821}"/>
              </a:ext>
            </a:extLst>
          </p:cNvPr>
          <p:cNvSpPr/>
          <p:nvPr/>
        </p:nvSpPr>
        <p:spPr>
          <a:xfrm>
            <a:off x="4091645" y="42519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 dirty="0"/>
          </a:p>
        </p:txBody>
      </p:sp>
      <p:sp>
        <p:nvSpPr>
          <p:cNvPr id="130" name="Text 157">
            <a:extLst>
              <a:ext uri="{FF2B5EF4-FFF2-40B4-BE49-F238E27FC236}">
                <a16:creationId xmlns:a16="http://schemas.microsoft.com/office/drawing/2014/main" id="{6076CDB1-506B-79EF-A91C-1102FF0ABA21}"/>
              </a:ext>
            </a:extLst>
          </p:cNvPr>
          <p:cNvSpPr/>
          <p:nvPr/>
        </p:nvSpPr>
        <p:spPr>
          <a:xfrm>
            <a:off x="5551028" y="42519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28A5AD-726F-E401-56B0-FBF3982030D2}"/>
              </a:ext>
            </a:extLst>
          </p:cNvPr>
          <p:cNvSpPr txBox="1"/>
          <p:nvPr/>
        </p:nvSpPr>
        <p:spPr>
          <a:xfrm>
            <a:off x="2340864" y="336499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Teams </a:t>
            </a:r>
            <a:endParaRPr lang="en-US" sz="9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POs, BAs, Developers &amp; Scrum (T1 &amp; T2)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Nikki Johann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Bethany Bornheimer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 Czapnik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Product Owner · T1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Christian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Rufeeda Khan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626864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626864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681728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Ved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66200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725583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TCS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47472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47472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02336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Arvind Gupta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986808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446191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4626864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4626864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681728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Vishnuraj Jayaraj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66200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725583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47472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4" name="Shape 42"/>
          <p:cNvSpPr/>
          <p:nvPr/>
        </p:nvSpPr>
        <p:spPr>
          <a:xfrm>
            <a:off x="347472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02336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OConnor</a:t>
            </a:r>
            <a:r>
              <a:rPr lang="en-IN" b="1" dirty="0"/>
              <a:t>, </a:t>
            </a:r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Andrew</a:t>
            </a:r>
          </a:p>
          <a:p>
            <a:pPr marL="0" indent="0">
              <a:buNone/>
            </a:pP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986808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T2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46191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626864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4626864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681728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Blidarescu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266200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T1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725583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Slalom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347472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347472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402336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Verma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986808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446191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626864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626864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681728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Lavanya Nagarajan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266200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725583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2336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986808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3446191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4626864" y="197510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626864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681728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Kelly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266200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· T1,2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725583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4" name="Text 12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45" name="Shape 2">
            <a:extLst>
              <a:ext uri="{FF2B5EF4-FFF2-40B4-BE49-F238E27FC236}">
                <a16:creationId xmlns:a16="http://schemas.microsoft.com/office/drawing/2014/main" id="{EBD55432-CB5C-6A70-48E3-874C09F1A249}"/>
              </a:ext>
            </a:extLst>
          </p:cNvPr>
          <p:cNvSpPr/>
          <p:nvPr/>
        </p:nvSpPr>
        <p:spPr>
          <a:xfrm>
            <a:off x="2380254" y="389077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3">
            <a:extLst>
              <a:ext uri="{FF2B5EF4-FFF2-40B4-BE49-F238E27FC236}">
                <a16:creationId xmlns:a16="http://schemas.microsoft.com/office/drawing/2014/main" id="{A12CADC4-5840-2AE2-1507-F107FB98E9DC}"/>
              </a:ext>
            </a:extLst>
          </p:cNvPr>
          <p:cNvSpPr/>
          <p:nvPr/>
        </p:nvSpPr>
        <p:spPr>
          <a:xfrm>
            <a:off x="2380254" y="389077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4">
            <a:extLst>
              <a:ext uri="{FF2B5EF4-FFF2-40B4-BE49-F238E27FC236}">
                <a16:creationId xmlns:a16="http://schemas.microsoft.com/office/drawing/2014/main" id="{0F5F05F8-39B8-C501-0269-3CEFBD26BCAB}"/>
              </a:ext>
            </a:extLst>
          </p:cNvPr>
          <p:cNvSpPr/>
          <p:nvPr/>
        </p:nvSpPr>
        <p:spPr>
          <a:xfrm>
            <a:off x="2435118" y="389077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Corinne Kreuger</a:t>
            </a:r>
            <a:endParaRPr lang="en-US" sz="750" dirty="0"/>
          </a:p>
        </p:txBody>
      </p:sp>
      <p:sp>
        <p:nvSpPr>
          <p:cNvPr id="148" name="Text 5">
            <a:extLst>
              <a:ext uri="{FF2B5EF4-FFF2-40B4-BE49-F238E27FC236}">
                <a16:creationId xmlns:a16="http://schemas.microsoft.com/office/drawing/2014/main" id="{54868EC8-D42F-34FE-825D-840D98950BFD}"/>
              </a:ext>
            </a:extLst>
          </p:cNvPr>
          <p:cNvSpPr/>
          <p:nvPr/>
        </p:nvSpPr>
        <p:spPr>
          <a:xfrm>
            <a:off x="4019590" y="389077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/ BA</a:t>
            </a:r>
            <a:endParaRPr lang="en-US" sz="700" dirty="0"/>
          </a:p>
        </p:txBody>
      </p:sp>
      <p:sp>
        <p:nvSpPr>
          <p:cNvPr id="149" name="Text 6">
            <a:extLst>
              <a:ext uri="{FF2B5EF4-FFF2-40B4-BE49-F238E27FC236}">
                <a16:creationId xmlns:a16="http://schemas.microsoft.com/office/drawing/2014/main" id="{10478DEC-618D-52F5-B823-6F84D3B56BE4}"/>
              </a:ext>
            </a:extLst>
          </p:cNvPr>
          <p:cNvSpPr/>
          <p:nvPr/>
        </p:nvSpPr>
        <p:spPr>
          <a:xfrm>
            <a:off x="5478973" y="389077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0" name="Shape 7">
            <a:extLst>
              <a:ext uri="{FF2B5EF4-FFF2-40B4-BE49-F238E27FC236}">
                <a16:creationId xmlns:a16="http://schemas.microsoft.com/office/drawing/2014/main" id="{4443177F-14E0-0524-DFC0-4733EA1C2BD1}"/>
              </a:ext>
            </a:extLst>
          </p:cNvPr>
          <p:cNvSpPr/>
          <p:nvPr/>
        </p:nvSpPr>
        <p:spPr>
          <a:xfrm>
            <a:off x="2380254" y="4091940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8">
            <a:extLst>
              <a:ext uri="{FF2B5EF4-FFF2-40B4-BE49-F238E27FC236}">
                <a16:creationId xmlns:a16="http://schemas.microsoft.com/office/drawing/2014/main" id="{92AFBA6A-20D8-9B13-6D3A-2635A7165980}"/>
              </a:ext>
            </a:extLst>
          </p:cNvPr>
          <p:cNvSpPr/>
          <p:nvPr/>
        </p:nvSpPr>
        <p:spPr>
          <a:xfrm>
            <a:off x="2380254" y="409194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9">
            <a:extLst>
              <a:ext uri="{FF2B5EF4-FFF2-40B4-BE49-F238E27FC236}">
                <a16:creationId xmlns:a16="http://schemas.microsoft.com/office/drawing/2014/main" id="{8293E44D-2214-F26F-AC03-4E46E527B51B}"/>
              </a:ext>
            </a:extLst>
          </p:cNvPr>
          <p:cNvSpPr/>
          <p:nvPr/>
        </p:nvSpPr>
        <p:spPr>
          <a:xfrm>
            <a:off x="2435118" y="409194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Sathish Kumar E</a:t>
            </a:r>
            <a:endParaRPr lang="en-US" sz="750" dirty="0"/>
          </a:p>
        </p:txBody>
      </p:sp>
      <p:sp>
        <p:nvSpPr>
          <p:cNvPr id="153" name="Text 10">
            <a:extLst>
              <a:ext uri="{FF2B5EF4-FFF2-40B4-BE49-F238E27FC236}">
                <a16:creationId xmlns:a16="http://schemas.microsoft.com/office/drawing/2014/main" id="{8FBE0BFC-7338-4067-6030-71B2F471C9AC}"/>
              </a:ext>
            </a:extLst>
          </p:cNvPr>
          <p:cNvSpPr/>
          <p:nvPr/>
        </p:nvSpPr>
        <p:spPr>
          <a:xfrm>
            <a:off x="4019590" y="409194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4" name="Text 11">
            <a:extLst>
              <a:ext uri="{FF2B5EF4-FFF2-40B4-BE49-F238E27FC236}">
                <a16:creationId xmlns:a16="http://schemas.microsoft.com/office/drawing/2014/main" id="{6B5BE7CA-4378-263F-C8B2-389089267078}"/>
              </a:ext>
            </a:extLst>
          </p:cNvPr>
          <p:cNvSpPr/>
          <p:nvPr/>
        </p:nvSpPr>
        <p:spPr>
          <a:xfrm>
            <a:off x="5478973" y="409194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5" name="Shape 12">
            <a:extLst>
              <a:ext uri="{FF2B5EF4-FFF2-40B4-BE49-F238E27FC236}">
                <a16:creationId xmlns:a16="http://schemas.microsoft.com/office/drawing/2014/main" id="{B4C2B65F-E474-0D53-DF6C-C8BB6BC0737C}"/>
              </a:ext>
            </a:extLst>
          </p:cNvPr>
          <p:cNvSpPr/>
          <p:nvPr/>
        </p:nvSpPr>
        <p:spPr>
          <a:xfrm>
            <a:off x="2380254" y="4293108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3">
            <a:extLst>
              <a:ext uri="{FF2B5EF4-FFF2-40B4-BE49-F238E27FC236}">
                <a16:creationId xmlns:a16="http://schemas.microsoft.com/office/drawing/2014/main" id="{B8F67448-0909-5BD8-5749-CCFCB639755B}"/>
              </a:ext>
            </a:extLst>
          </p:cNvPr>
          <p:cNvSpPr/>
          <p:nvPr/>
        </p:nvSpPr>
        <p:spPr>
          <a:xfrm>
            <a:off x="2380254" y="4293108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4">
            <a:extLst>
              <a:ext uri="{FF2B5EF4-FFF2-40B4-BE49-F238E27FC236}">
                <a16:creationId xmlns:a16="http://schemas.microsoft.com/office/drawing/2014/main" id="{DE89FAED-E141-476A-AC02-760DC47BA5C7}"/>
              </a:ext>
            </a:extLst>
          </p:cNvPr>
          <p:cNvSpPr/>
          <p:nvPr/>
        </p:nvSpPr>
        <p:spPr>
          <a:xfrm>
            <a:off x="2435118" y="429310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Tushar Joshi</a:t>
            </a:r>
            <a:endParaRPr lang="en-US" sz="750" dirty="0"/>
          </a:p>
        </p:txBody>
      </p:sp>
      <p:sp>
        <p:nvSpPr>
          <p:cNvPr id="158" name="Text 15">
            <a:extLst>
              <a:ext uri="{FF2B5EF4-FFF2-40B4-BE49-F238E27FC236}">
                <a16:creationId xmlns:a16="http://schemas.microsoft.com/office/drawing/2014/main" id="{A07C819E-320B-7A85-0FC2-E7F59921852C}"/>
              </a:ext>
            </a:extLst>
          </p:cNvPr>
          <p:cNvSpPr/>
          <p:nvPr/>
        </p:nvSpPr>
        <p:spPr>
          <a:xfrm>
            <a:off x="4019590" y="4293108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9" name="Text 16">
            <a:extLst>
              <a:ext uri="{FF2B5EF4-FFF2-40B4-BE49-F238E27FC236}">
                <a16:creationId xmlns:a16="http://schemas.microsoft.com/office/drawing/2014/main" id="{CB26AB6A-DD24-EABD-1A51-D7CD7896BF37}"/>
              </a:ext>
            </a:extLst>
          </p:cNvPr>
          <p:cNvSpPr/>
          <p:nvPr/>
        </p:nvSpPr>
        <p:spPr>
          <a:xfrm>
            <a:off x="5478973" y="429310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60" name="Shape 17">
            <a:extLst>
              <a:ext uri="{FF2B5EF4-FFF2-40B4-BE49-F238E27FC236}">
                <a16:creationId xmlns:a16="http://schemas.microsoft.com/office/drawing/2014/main" id="{D654ED4B-65D7-FA75-EBE8-E46A457FE070}"/>
              </a:ext>
            </a:extLst>
          </p:cNvPr>
          <p:cNvSpPr/>
          <p:nvPr/>
        </p:nvSpPr>
        <p:spPr>
          <a:xfrm>
            <a:off x="2380254" y="4494276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1" name="Shape 18">
            <a:extLst>
              <a:ext uri="{FF2B5EF4-FFF2-40B4-BE49-F238E27FC236}">
                <a16:creationId xmlns:a16="http://schemas.microsoft.com/office/drawing/2014/main" id="{AE5C8E96-7579-A445-58F2-50C7ACA98194}"/>
              </a:ext>
            </a:extLst>
          </p:cNvPr>
          <p:cNvSpPr/>
          <p:nvPr/>
        </p:nvSpPr>
        <p:spPr>
          <a:xfrm>
            <a:off x="2380254" y="449427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9">
            <a:extLst>
              <a:ext uri="{FF2B5EF4-FFF2-40B4-BE49-F238E27FC236}">
                <a16:creationId xmlns:a16="http://schemas.microsoft.com/office/drawing/2014/main" id="{42CA1252-B350-8BF4-7EFD-484B6DF2E02B}"/>
              </a:ext>
            </a:extLst>
          </p:cNvPr>
          <p:cNvSpPr/>
          <p:nvPr/>
        </p:nvSpPr>
        <p:spPr>
          <a:xfrm>
            <a:off x="2435118" y="449427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Brenner</a:t>
            </a:r>
            <a:endParaRPr lang="en-US" sz="75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73F2728A-635E-A718-5A4F-80882D1AACB4}"/>
              </a:ext>
            </a:extLst>
          </p:cNvPr>
          <p:cNvSpPr/>
          <p:nvPr/>
        </p:nvSpPr>
        <p:spPr>
          <a:xfrm>
            <a:off x="4019590" y="449427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 dirty="0"/>
          </a:p>
        </p:txBody>
      </p:sp>
      <p:sp>
        <p:nvSpPr>
          <p:cNvPr id="164" name="Text 21">
            <a:extLst>
              <a:ext uri="{FF2B5EF4-FFF2-40B4-BE49-F238E27FC236}">
                <a16:creationId xmlns:a16="http://schemas.microsoft.com/office/drawing/2014/main" id="{2E29BC59-0035-A450-4E0F-185B36D52FE7}"/>
              </a:ext>
            </a:extLst>
          </p:cNvPr>
          <p:cNvSpPr/>
          <p:nvPr/>
        </p:nvSpPr>
        <p:spPr>
          <a:xfrm>
            <a:off x="5478973" y="449427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65" name="Text 1"/>
          <p:cNvSpPr/>
          <p:nvPr/>
        </p:nvSpPr>
        <p:spPr>
          <a:xfrm>
            <a:off x="2380254" y="3655138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Team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Team 1 (WorkSight &amp; R12 Devs / FAs)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 Xavier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Narayan Kapali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 Salvi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Garcia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Kumar 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39" name="Text 136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Teams – </a:t>
            </a:r>
            <a:r>
              <a:rPr lang="en-US" sz="2000" b="1" dirty="0" err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WorkPackage</a:t>
            </a: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TSA, TDA, Jobs </a:t>
            </a:r>
            <a:r>
              <a:rPr lang="en-US" sz="2000" b="1" dirty="0" err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CoJo</a:t>
            </a: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Documents, Service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60675" y="550743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err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WorkPackage</a:t>
            </a: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QA</a:t>
            </a:r>
            <a:endParaRPr lang="en-US" sz="950"/>
          </a:p>
        </p:txBody>
      </p:sp>
      <p:sp>
        <p:nvSpPr>
          <p:cNvPr id="25" name="Shape 23"/>
          <p:cNvSpPr/>
          <p:nvPr/>
        </p:nvSpPr>
        <p:spPr>
          <a:xfrm>
            <a:off x="277753" y="793765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77753" y="793765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32617" y="793765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Pateel</a:t>
            </a:r>
            <a:endParaRPr lang="en-US" sz="750"/>
          </a:p>
        </p:txBody>
      </p:sp>
      <p:sp>
        <p:nvSpPr>
          <p:cNvPr id="28" name="Text 26"/>
          <p:cNvSpPr/>
          <p:nvPr/>
        </p:nvSpPr>
        <p:spPr>
          <a:xfrm>
            <a:off x="1917089" y="793765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</a:t>
            </a:r>
            <a:endParaRPr lang="en-US" sz="700"/>
          </a:p>
        </p:txBody>
      </p:sp>
      <p:sp>
        <p:nvSpPr>
          <p:cNvPr id="29" name="Text 27"/>
          <p:cNvSpPr/>
          <p:nvPr/>
        </p:nvSpPr>
        <p:spPr>
          <a:xfrm>
            <a:off x="3376472" y="793765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30" name="Shape 28"/>
          <p:cNvSpPr/>
          <p:nvPr/>
        </p:nvSpPr>
        <p:spPr>
          <a:xfrm>
            <a:off x="277753" y="994933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77753" y="994933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32617" y="994933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Sudha Malbhage</a:t>
            </a:r>
            <a:endParaRPr lang="en-US" sz="750"/>
          </a:p>
        </p:txBody>
      </p:sp>
      <p:sp>
        <p:nvSpPr>
          <p:cNvPr id="33" name="Text 31"/>
          <p:cNvSpPr/>
          <p:nvPr/>
        </p:nvSpPr>
        <p:spPr>
          <a:xfrm>
            <a:off x="1917089" y="994933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34" name="Text 32"/>
          <p:cNvSpPr/>
          <p:nvPr/>
        </p:nvSpPr>
        <p:spPr>
          <a:xfrm>
            <a:off x="3376472" y="994933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35" name="Shape 33"/>
          <p:cNvSpPr/>
          <p:nvPr/>
        </p:nvSpPr>
        <p:spPr>
          <a:xfrm>
            <a:off x="277753" y="1196101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77753" y="1196101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32617" y="1196101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Achari</a:t>
            </a:r>
            <a:endParaRPr lang="en-US" sz="750"/>
          </a:p>
        </p:txBody>
      </p:sp>
      <p:sp>
        <p:nvSpPr>
          <p:cNvPr id="38" name="Text 36"/>
          <p:cNvSpPr/>
          <p:nvPr/>
        </p:nvSpPr>
        <p:spPr>
          <a:xfrm>
            <a:off x="1917089" y="1196101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39" name="Text 37"/>
          <p:cNvSpPr/>
          <p:nvPr/>
        </p:nvSpPr>
        <p:spPr>
          <a:xfrm>
            <a:off x="3376472" y="1196101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40" name="Shape 38"/>
          <p:cNvSpPr/>
          <p:nvPr/>
        </p:nvSpPr>
        <p:spPr>
          <a:xfrm>
            <a:off x="277753" y="1397269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277753" y="1397269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32617" y="1397269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Pradeep K Battula</a:t>
            </a:r>
            <a:endParaRPr lang="en-US" sz="750"/>
          </a:p>
        </p:txBody>
      </p:sp>
      <p:sp>
        <p:nvSpPr>
          <p:cNvPr id="43" name="Text 41"/>
          <p:cNvSpPr/>
          <p:nvPr/>
        </p:nvSpPr>
        <p:spPr>
          <a:xfrm>
            <a:off x="1917089" y="1397269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44" name="Text 42"/>
          <p:cNvSpPr/>
          <p:nvPr/>
        </p:nvSpPr>
        <p:spPr>
          <a:xfrm>
            <a:off x="3376472" y="1397269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45" name="Text 43"/>
          <p:cNvSpPr/>
          <p:nvPr/>
        </p:nvSpPr>
        <p:spPr>
          <a:xfrm>
            <a:off x="183212" y="2160737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 QA</a:t>
            </a:r>
            <a:endParaRPr lang="en-US" sz="950"/>
          </a:p>
        </p:txBody>
      </p:sp>
      <p:sp>
        <p:nvSpPr>
          <p:cNvPr id="46" name="Shape 44"/>
          <p:cNvSpPr/>
          <p:nvPr/>
        </p:nvSpPr>
        <p:spPr>
          <a:xfrm>
            <a:off x="272126" y="2321414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272126" y="232141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6990" y="232141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/>
          </a:p>
        </p:txBody>
      </p:sp>
      <p:sp>
        <p:nvSpPr>
          <p:cNvPr id="49" name="Text 47"/>
          <p:cNvSpPr/>
          <p:nvPr/>
        </p:nvSpPr>
        <p:spPr>
          <a:xfrm>
            <a:off x="1911462" y="232141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</a:t>
            </a:r>
            <a:endParaRPr lang="en-US" sz="700"/>
          </a:p>
        </p:txBody>
      </p:sp>
      <p:sp>
        <p:nvSpPr>
          <p:cNvPr id="50" name="Text 48"/>
          <p:cNvSpPr/>
          <p:nvPr/>
        </p:nvSpPr>
        <p:spPr>
          <a:xfrm>
            <a:off x="3370845" y="232141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1" name="Shape 49"/>
          <p:cNvSpPr/>
          <p:nvPr/>
        </p:nvSpPr>
        <p:spPr>
          <a:xfrm>
            <a:off x="272126" y="2522582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272126" y="252258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326990" y="252258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Prarthana</a:t>
            </a:r>
            <a:endParaRPr lang="en-US" sz="750"/>
          </a:p>
        </p:txBody>
      </p:sp>
      <p:sp>
        <p:nvSpPr>
          <p:cNvPr id="54" name="Text 52"/>
          <p:cNvSpPr/>
          <p:nvPr/>
        </p:nvSpPr>
        <p:spPr>
          <a:xfrm>
            <a:off x="1911462" y="252258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55" name="Text 53"/>
          <p:cNvSpPr/>
          <p:nvPr/>
        </p:nvSpPr>
        <p:spPr>
          <a:xfrm>
            <a:off x="3370845" y="252258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/>
          </a:p>
        </p:txBody>
      </p:sp>
      <p:sp>
        <p:nvSpPr>
          <p:cNvPr id="56" name="Shape 54"/>
          <p:cNvSpPr/>
          <p:nvPr/>
        </p:nvSpPr>
        <p:spPr>
          <a:xfrm>
            <a:off x="272126" y="2723750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272126" y="272375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326990" y="272375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 Mothukuri</a:t>
            </a:r>
            <a:endParaRPr lang="en-US" sz="750" b="1">
              <a:solidFill>
                <a:srgbClr val="11111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911462" y="272375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0" name="Text 58"/>
          <p:cNvSpPr/>
          <p:nvPr/>
        </p:nvSpPr>
        <p:spPr>
          <a:xfrm>
            <a:off x="3370845" y="272375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/>
          </a:p>
        </p:txBody>
      </p:sp>
      <p:sp>
        <p:nvSpPr>
          <p:cNvPr id="61" name="Shape 59"/>
          <p:cNvSpPr/>
          <p:nvPr/>
        </p:nvSpPr>
        <p:spPr>
          <a:xfrm>
            <a:off x="272126" y="2924918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272126" y="2924918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326990" y="292491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Aastha Tripathi</a:t>
            </a:r>
            <a:endParaRPr lang="en-US" sz="750"/>
          </a:p>
        </p:txBody>
      </p:sp>
      <p:sp>
        <p:nvSpPr>
          <p:cNvPr id="64" name="Text 62"/>
          <p:cNvSpPr/>
          <p:nvPr/>
        </p:nvSpPr>
        <p:spPr>
          <a:xfrm>
            <a:off x="1911462" y="2924918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Func/Auto</a:t>
            </a:r>
            <a:endParaRPr lang="en-US" sz="700"/>
          </a:p>
        </p:txBody>
      </p:sp>
      <p:sp>
        <p:nvSpPr>
          <p:cNvPr id="65" name="Text 63"/>
          <p:cNvSpPr/>
          <p:nvPr/>
        </p:nvSpPr>
        <p:spPr>
          <a:xfrm>
            <a:off x="3370845" y="292491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6" name="Text 64"/>
          <p:cNvSpPr/>
          <p:nvPr/>
        </p:nvSpPr>
        <p:spPr>
          <a:xfrm>
            <a:off x="272126" y="3459886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 QA</a:t>
            </a:r>
            <a:endParaRPr lang="en-US" sz="950"/>
          </a:p>
        </p:txBody>
      </p:sp>
      <p:sp>
        <p:nvSpPr>
          <p:cNvPr id="67" name="Shape 65"/>
          <p:cNvSpPr/>
          <p:nvPr/>
        </p:nvSpPr>
        <p:spPr>
          <a:xfrm>
            <a:off x="243597" y="3639206"/>
            <a:ext cx="4203820" cy="182525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277753" y="3644833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332617" y="3644833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/>
          </a:p>
        </p:txBody>
      </p:sp>
      <p:sp>
        <p:nvSpPr>
          <p:cNvPr id="70" name="Text 68"/>
          <p:cNvSpPr/>
          <p:nvPr/>
        </p:nvSpPr>
        <p:spPr>
          <a:xfrm>
            <a:off x="1917089" y="3644833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</a:t>
            </a:r>
            <a:endParaRPr lang="en-US" sz="700"/>
          </a:p>
        </p:txBody>
      </p:sp>
      <p:sp>
        <p:nvSpPr>
          <p:cNvPr id="71" name="Text 69"/>
          <p:cNvSpPr/>
          <p:nvPr/>
        </p:nvSpPr>
        <p:spPr>
          <a:xfrm>
            <a:off x="3376472" y="3644833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2" name="Shape 70"/>
          <p:cNvSpPr/>
          <p:nvPr/>
        </p:nvSpPr>
        <p:spPr>
          <a:xfrm>
            <a:off x="277753" y="3846001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Shape 71"/>
          <p:cNvSpPr/>
          <p:nvPr/>
        </p:nvSpPr>
        <p:spPr>
          <a:xfrm>
            <a:off x="277753" y="3846001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332617" y="3846001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Navya B R</a:t>
            </a:r>
            <a:endParaRPr lang="en-US" sz="750"/>
          </a:p>
        </p:txBody>
      </p:sp>
      <p:sp>
        <p:nvSpPr>
          <p:cNvPr id="75" name="Text 73"/>
          <p:cNvSpPr/>
          <p:nvPr/>
        </p:nvSpPr>
        <p:spPr>
          <a:xfrm>
            <a:off x="1917089" y="3846001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700"/>
          </a:p>
        </p:txBody>
      </p:sp>
      <p:sp>
        <p:nvSpPr>
          <p:cNvPr id="76" name="Text 74"/>
          <p:cNvSpPr/>
          <p:nvPr/>
        </p:nvSpPr>
        <p:spPr>
          <a:xfrm>
            <a:off x="3376472" y="3846001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/>
          </a:p>
        </p:txBody>
      </p:sp>
      <p:sp>
        <p:nvSpPr>
          <p:cNvPr id="77" name="Shape 75"/>
          <p:cNvSpPr/>
          <p:nvPr/>
        </p:nvSpPr>
        <p:spPr>
          <a:xfrm>
            <a:off x="277753" y="4047169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277753" y="4047169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32617" y="4047169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Manoj Kulkarni</a:t>
            </a:r>
            <a:endParaRPr lang="en-US" sz="750"/>
          </a:p>
        </p:txBody>
      </p:sp>
      <p:sp>
        <p:nvSpPr>
          <p:cNvPr id="80" name="Text 78"/>
          <p:cNvSpPr/>
          <p:nvPr/>
        </p:nvSpPr>
        <p:spPr>
          <a:xfrm>
            <a:off x="1917089" y="4047169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700"/>
          </a:p>
        </p:txBody>
      </p:sp>
      <p:sp>
        <p:nvSpPr>
          <p:cNvPr id="81" name="Text 79"/>
          <p:cNvSpPr/>
          <p:nvPr/>
        </p:nvSpPr>
        <p:spPr>
          <a:xfrm>
            <a:off x="3376472" y="4047169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/>
          </a:p>
        </p:txBody>
      </p:sp>
      <p:sp>
        <p:nvSpPr>
          <p:cNvPr id="82" name="Shape 80"/>
          <p:cNvSpPr/>
          <p:nvPr/>
        </p:nvSpPr>
        <p:spPr>
          <a:xfrm>
            <a:off x="277753" y="4248337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81"/>
          <p:cNvSpPr/>
          <p:nvPr/>
        </p:nvSpPr>
        <p:spPr>
          <a:xfrm>
            <a:off x="277753" y="4248337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332617" y="4248337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Gurulingappa</a:t>
            </a:r>
            <a:endParaRPr lang="en-US" sz="750"/>
          </a:p>
        </p:txBody>
      </p:sp>
      <p:sp>
        <p:nvSpPr>
          <p:cNvPr id="85" name="Text 83"/>
          <p:cNvSpPr/>
          <p:nvPr/>
        </p:nvSpPr>
        <p:spPr>
          <a:xfrm>
            <a:off x="1917089" y="4248337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700"/>
          </a:p>
        </p:txBody>
      </p:sp>
      <p:sp>
        <p:nvSpPr>
          <p:cNvPr id="86" name="Text 84"/>
          <p:cNvSpPr/>
          <p:nvPr/>
        </p:nvSpPr>
        <p:spPr>
          <a:xfrm>
            <a:off x="3376472" y="4248337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/>
          </a:p>
        </p:txBody>
      </p:sp>
      <p:sp>
        <p:nvSpPr>
          <p:cNvPr id="87" name="Text 85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CoJo QA &amp; Key</a:t>
            </a:r>
            <a:endParaRPr lang="en-US" sz="950"/>
          </a:p>
        </p:txBody>
      </p:sp>
      <p:sp>
        <p:nvSpPr>
          <p:cNvPr id="88" name="Shape 86"/>
          <p:cNvSpPr/>
          <p:nvPr/>
        </p:nvSpPr>
        <p:spPr>
          <a:xfrm>
            <a:off x="4626864" y="76809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4626864" y="76809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681728" y="76809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Ranganath</a:t>
            </a:r>
            <a:endParaRPr lang="en-US" sz="750"/>
          </a:p>
        </p:txBody>
      </p:sp>
      <p:sp>
        <p:nvSpPr>
          <p:cNvPr id="91" name="Text 89"/>
          <p:cNvSpPr/>
          <p:nvPr/>
        </p:nvSpPr>
        <p:spPr>
          <a:xfrm>
            <a:off x="6266200" y="76809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Lead/Scrum Master</a:t>
            </a:r>
            <a:endParaRPr lang="en-US" sz="700"/>
          </a:p>
        </p:txBody>
      </p:sp>
      <p:sp>
        <p:nvSpPr>
          <p:cNvPr id="92" name="Text 90"/>
          <p:cNvSpPr/>
          <p:nvPr/>
        </p:nvSpPr>
        <p:spPr>
          <a:xfrm>
            <a:off x="7725583" y="76809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93" name="Shape 91"/>
          <p:cNvSpPr/>
          <p:nvPr/>
        </p:nvSpPr>
        <p:spPr>
          <a:xfrm>
            <a:off x="4626864" y="96926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2"/>
          <p:cNvSpPr/>
          <p:nvPr/>
        </p:nvSpPr>
        <p:spPr>
          <a:xfrm>
            <a:off x="4626864" y="96926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681728" y="96926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Chethana B</a:t>
            </a:r>
            <a:endParaRPr lang="en-US" sz="750"/>
          </a:p>
        </p:txBody>
      </p:sp>
      <p:sp>
        <p:nvSpPr>
          <p:cNvPr id="96" name="Text 94"/>
          <p:cNvSpPr/>
          <p:nvPr/>
        </p:nvSpPr>
        <p:spPr>
          <a:xfrm>
            <a:off x="6266200" y="96926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97" name="Text 95"/>
          <p:cNvSpPr/>
          <p:nvPr/>
        </p:nvSpPr>
        <p:spPr>
          <a:xfrm>
            <a:off x="7725583" y="96926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/>
          </a:p>
        </p:txBody>
      </p:sp>
      <p:sp>
        <p:nvSpPr>
          <p:cNvPr id="108" name="Shape 106"/>
          <p:cNvSpPr/>
          <p:nvPr/>
        </p:nvSpPr>
        <p:spPr>
          <a:xfrm>
            <a:off x="4626864" y="117596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Shape 107"/>
          <p:cNvSpPr/>
          <p:nvPr/>
        </p:nvSpPr>
        <p:spPr>
          <a:xfrm>
            <a:off x="4626864" y="117596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681728" y="117596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Parish</a:t>
            </a:r>
            <a:endParaRPr lang="en-US" sz="750"/>
          </a:p>
        </p:txBody>
      </p:sp>
      <p:sp>
        <p:nvSpPr>
          <p:cNvPr id="111" name="Text 109"/>
          <p:cNvSpPr/>
          <p:nvPr/>
        </p:nvSpPr>
        <p:spPr>
          <a:xfrm>
            <a:off x="6266200" y="117596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112" name="Text 110"/>
          <p:cNvSpPr/>
          <p:nvPr/>
        </p:nvSpPr>
        <p:spPr>
          <a:xfrm>
            <a:off x="7725583" y="117596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13" name="Shape 111"/>
          <p:cNvSpPr/>
          <p:nvPr/>
        </p:nvSpPr>
        <p:spPr>
          <a:xfrm>
            <a:off x="4626864" y="1377130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2"/>
          <p:cNvSpPr/>
          <p:nvPr/>
        </p:nvSpPr>
        <p:spPr>
          <a:xfrm>
            <a:off x="4626864" y="137713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Text 113"/>
          <p:cNvSpPr/>
          <p:nvPr/>
        </p:nvSpPr>
        <p:spPr>
          <a:xfrm>
            <a:off x="4681728" y="137713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Hasan Al Quasem</a:t>
            </a:r>
            <a:endParaRPr lang="en-US" sz="750"/>
          </a:p>
        </p:txBody>
      </p:sp>
      <p:sp>
        <p:nvSpPr>
          <p:cNvPr id="116" name="Text 114"/>
          <p:cNvSpPr/>
          <p:nvPr/>
        </p:nvSpPr>
        <p:spPr>
          <a:xfrm>
            <a:off x="6266200" y="137713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 Analyst</a:t>
            </a:r>
            <a:endParaRPr lang="en-US" sz="700"/>
          </a:p>
        </p:txBody>
      </p:sp>
      <p:sp>
        <p:nvSpPr>
          <p:cNvPr id="117" name="Text 115"/>
          <p:cNvSpPr/>
          <p:nvPr/>
        </p:nvSpPr>
        <p:spPr>
          <a:xfrm>
            <a:off x="7725583" y="137713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18" name="Text 116"/>
          <p:cNvSpPr/>
          <p:nvPr/>
        </p:nvSpPr>
        <p:spPr>
          <a:xfrm>
            <a:off x="4626864" y="201168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950"/>
          </a:p>
        </p:txBody>
      </p:sp>
      <p:sp>
        <p:nvSpPr>
          <p:cNvPr id="119" name="Shape 117"/>
          <p:cNvSpPr/>
          <p:nvPr/>
        </p:nvSpPr>
        <p:spPr>
          <a:xfrm>
            <a:off x="4626864" y="223113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626864" y="223113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81728" y="223113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 M</a:t>
            </a:r>
            <a:endParaRPr lang="en-US" sz="750"/>
          </a:p>
        </p:txBody>
      </p:sp>
      <p:sp>
        <p:nvSpPr>
          <p:cNvPr id="122" name="Text 120"/>
          <p:cNvSpPr/>
          <p:nvPr/>
        </p:nvSpPr>
        <p:spPr>
          <a:xfrm>
            <a:off x="6266200" y="223113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Func/Perf</a:t>
            </a:r>
            <a:endParaRPr lang="en-US" sz="700"/>
          </a:p>
        </p:txBody>
      </p:sp>
      <p:sp>
        <p:nvSpPr>
          <p:cNvPr id="123" name="Text 121"/>
          <p:cNvSpPr/>
          <p:nvPr/>
        </p:nvSpPr>
        <p:spPr>
          <a:xfrm>
            <a:off x="7725583" y="223113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24" name="Shape 122"/>
          <p:cNvSpPr/>
          <p:nvPr/>
        </p:nvSpPr>
        <p:spPr>
          <a:xfrm>
            <a:off x="4626864" y="243230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4626864" y="243230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681728" y="243230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Angela Puent</a:t>
            </a:r>
            <a:endParaRPr lang="en-US" sz="750"/>
          </a:p>
        </p:txBody>
      </p:sp>
      <p:sp>
        <p:nvSpPr>
          <p:cNvPr id="127" name="Text 125"/>
          <p:cNvSpPr/>
          <p:nvPr/>
        </p:nvSpPr>
        <p:spPr>
          <a:xfrm>
            <a:off x="6266200" y="243230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128" name="Text 126"/>
          <p:cNvSpPr/>
          <p:nvPr/>
        </p:nvSpPr>
        <p:spPr>
          <a:xfrm>
            <a:off x="7725583" y="243230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9" name="Shape 127"/>
          <p:cNvSpPr/>
          <p:nvPr/>
        </p:nvSpPr>
        <p:spPr>
          <a:xfrm>
            <a:off x="4626864" y="263347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8"/>
          <p:cNvSpPr/>
          <p:nvPr/>
        </p:nvSpPr>
        <p:spPr>
          <a:xfrm>
            <a:off x="4626864" y="263347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681728" y="263347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Brett Meddaugh</a:t>
            </a:r>
            <a:endParaRPr lang="en-US" sz="750"/>
          </a:p>
        </p:txBody>
      </p:sp>
      <p:sp>
        <p:nvSpPr>
          <p:cNvPr id="132" name="Text 130"/>
          <p:cNvSpPr/>
          <p:nvPr/>
        </p:nvSpPr>
        <p:spPr>
          <a:xfrm>
            <a:off x="6266200" y="263347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700"/>
          </a:p>
        </p:txBody>
      </p:sp>
      <p:sp>
        <p:nvSpPr>
          <p:cNvPr id="133" name="Text 131"/>
          <p:cNvSpPr/>
          <p:nvPr/>
        </p:nvSpPr>
        <p:spPr>
          <a:xfrm>
            <a:off x="7725583" y="263347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4" name="Shape 132"/>
          <p:cNvSpPr/>
          <p:nvPr/>
        </p:nvSpPr>
        <p:spPr>
          <a:xfrm>
            <a:off x="4626864" y="2834640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Shape 133"/>
          <p:cNvSpPr/>
          <p:nvPr/>
        </p:nvSpPr>
        <p:spPr>
          <a:xfrm>
            <a:off x="4626864" y="283464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4681728" y="283464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Chandana Gowda</a:t>
            </a:r>
            <a:endParaRPr lang="en-US" sz="750"/>
          </a:p>
        </p:txBody>
      </p:sp>
      <p:sp>
        <p:nvSpPr>
          <p:cNvPr id="137" name="Text 135"/>
          <p:cNvSpPr/>
          <p:nvPr/>
        </p:nvSpPr>
        <p:spPr>
          <a:xfrm>
            <a:off x="6266200" y="283464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700"/>
          </a:p>
        </p:txBody>
      </p:sp>
      <p:sp>
        <p:nvSpPr>
          <p:cNvPr id="138" name="Text 136"/>
          <p:cNvSpPr/>
          <p:nvPr/>
        </p:nvSpPr>
        <p:spPr>
          <a:xfrm>
            <a:off x="7725583" y="283464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7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463" y="4588179"/>
            <a:ext cx="1097280" cy="475488"/>
          </a:xfrm>
          <a:prstGeom prst="rect">
            <a:avLst/>
          </a:prstGeom>
        </p:spPr>
      </p:pic>
      <p:sp>
        <p:nvSpPr>
          <p:cNvPr id="171" name="Text 168"/>
          <p:cNvSpPr/>
          <p:nvPr/>
        </p:nvSpPr>
        <p:spPr>
          <a:xfrm>
            <a:off x="347472" y="481785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  <p:sp>
        <p:nvSpPr>
          <p:cNvPr id="3" name="Shape 54">
            <a:extLst>
              <a:ext uri="{FF2B5EF4-FFF2-40B4-BE49-F238E27FC236}">
                <a16:creationId xmlns:a16="http://schemas.microsoft.com/office/drawing/2014/main" id="{5718144A-ED56-775E-967D-F504AE12A5B7}"/>
              </a:ext>
            </a:extLst>
          </p:cNvPr>
          <p:cNvSpPr/>
          <p:nvPr/>
        </p:nvSpPr>
        <p:spPr>
          <a:xfrm>
            <a:off x="243597" y="3123239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61">
            <a:extLst>
              <a:ext uri="{FF2B5EF4-FFF2-40B4-BE49-F238E27FC236}">
                <a16:creationId xmlns:a16="http://schemas.microsoft.com/office/drawing/2014/main" id="{C921CF12-6C61-88E9-0EAE-8E88737261EB}"/>
              </a:ext>
            </a:extLst>
          </p:cNvPr>
          <p:cNvSpPr/>
          <p:nvPr/>
        </p:nvSpPr>
        <p:spPr>
          <a:xfrm>
            <a:off x="332617" y="3109169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Drew Rauvola</a:t>
            </a:r>
            <a:endParaRPr lang="en-US" sz="750"/>
          </a:p>
        </p:txBody>
      </p:sp>
      <p:sp>
        <p:nvSpPr>
          <p:cNvPr id="5" name="Text 62">
            <a:extLst>
              <a:ext uri="{FF2B5EF4-FFF2-40B4-BE49-F238E27FC236}">
                <a16:creationId xmlns:a16="http://schemas.microsoft.com/office/drawing/2014/main" id="{2A3830A8-F98B-2121-EBC2-5FA901B7FEF8}"/>
              </a:ext>
            </a:extLst>
          </p:cNvPr>
          <p:cNvSpPr/>
          <p:nvPr/>
        </p:nvSpPr>
        <p:spPr>
          <a:xfrm>
            <a:off x="1882933" y="3109169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Owner</a:t>
            </a:r>
            <a:endParaRPr lang="en-US" sz="700"/>
          </a:p>
        </p:txBody>
      </p:sp>
      <p:sp>
        <p:nvSpPr>
          <p:cNvPr id="6" name="Shape 54">
            <a:extLst>
              <a:ext uri="{FF2B5EF4-FFF2-40B4-BE49-F238E27FC236}">
                <a16:creationId xmlns:a16="http://schemas.microsoft.com/office/drawing/2014/main" id="{9679B51C-13FB-FD0B-61CC-7BF2565BE3B8}"/>
              </a:ext>
            </a:extLst>
          </p:cNvPr>
          <p:cNvSpPr/>
          <p:nvPr/>
        </p:nvSpPr>
        <p:spPr>
          <a:xfrm>
            <a:off x="243597" y="329120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61">
            <a:extLst>
              <a:ext uri="{FF2B5EF4-FFF2-40B4-BE49-F238E27FC236}">
                <a16:creationId xmlns:a16="http://schemas.microsoft.com/office/drawing/2014/main" id="{42EBDBED-1FE9-95EA-4EB0-B7E73583D1C5}"/>
              </a:ext>
            </a:extLst>
          </p:cNvPr>
          <p:cNvSpPr/>
          <p:nvPr/>
        </p:nvSpPr>
        <p:spPr>
          <a:xfrm>
            <a:off x="345679" y="330523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Abby </a:t>
            </a:r>
            <a:r>
              <a:rPr lang="en-US" sz="750" b="1" err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Hoolver</a:t>
            </a: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50"/>
          </a:p>
        </p:txBody>
      </p:sp>
      <p:sp>
        <p:nvSpPr>
          <p:cNvPr id="8" name="Text 62">
            <a:extLst>
              <a:ext uri="{FF2B5EF4-FFF2-40B4-BE49-F238E27FC236}">
                <a16:creationId xmlns:a16="http://schemas.microsoft.com/office/drawing/2014/main" id="{FA284204-1DE7-4D0B-92D4-D77DB783FE30}"/>
              </a:ext>
            </a:extLst>
          </p:cNvPr>
          <p:cNvSpPr/>
          <p:nvPr/>
        </p:nvSpPr>
        <p:spPr>
          <a:xfrm>
            <a:off x="1882933" y="330523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700"/>
          </a:p>
        </p:txBody>
      </p:sp>
      <p:sp>
        <p:nvSpPr>
          <p:cNvPr id="9" name="Shape 75">
            <a:extLst>
              <a:ext uri="{FF2B5EF4-FFF2-40B4-BE49-F238E27FC236}">
                <a16:creationId xmlns:a16="http://schemas.microsoft.com/office/drawing/2014/main" id="{BEB1C369-EEA8-87ED-DE5B-3CA67E2F1DBD}"/>
              </a:ext>
            </a:extLst>
          </p:cNvPr>
          <p:cNvSpPr/>
          <p:nvPr/>
        </p:nvSpPr>
        <p:spPr>
          <a:xfrm>
            <a:off x="272126" y="4467444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7">
            <a:extLst>
              <a:ext uri="{FF2B5EF4-FFF2-40B4-BE49-F238E27FC236}">
                <a16:creationId xmlns:a16="http://schemas.microsoft.com/office/drawing/2014/main" id="{4FB11383-3714-ECB4-C3D7-B9A7C905693E}"/>
              </a:ext>
            </a:extLst>
          </p:cNvPr>
          <p:cNvSpPr/>
          <p:nvPr/>
        </p:nvSpPr>
        <p:spPr>
          <a:xfrm>
            <a:off x="326990" y="4449505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800" b="1"/>
              <a:t>Kreidermacher, Tara</a:t>
            </a:r>
            <a:endParaRPr lang="en-US" sz="800"/>
          </a:p>
        </p:txBody>
      </p:sp>
      <p:sp>
        <p:nvSpPr>
          <p:cNvPr id="11" name="Text 78">
            <a:extLst>
              <a:ext uri="{FF2B5EF4-FFF2-40B4-BE49-F238E27FC236}">
                <a16:creationId xmlns:a16="http://schemas.microsoft.com/office/drawing/2014/main" id="{06A7AC18-996E-4916-FDDF-385EFA6EE6E5}"/>
              </a:ext>
            </a:extLst>
          </p:cNvPr>
          <p:cNvSpPr/>
          <p:nvPr/>
        </p:nvSpPr>
        <p:spPr>
          <a:xfrm>
            <a:off x="1911462" y="44572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" name="Text 84">
            <a:extLst>
              <a:ext uri="{FF2B5EF4-FFF2-40B4-BE49-F238E27FC236}">
                <a16:creationId xmlns:a16="http://schemas.microsoft.com/office/drawing/2014/main" id="{72592F89-0576-7425-E9DE-F230EC39E601}"/>
              </a:ext>
            </a:extLst>
          </p:cNvPr>
          <p:cNvSpPr/>
          <p:nvPr/>
        </p:nvSpPr>
        <p:spPr>
          <a:xfrm>
            <a:off x="3370844" y="4449505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- Trane</a:t>
            </a:r>
            <a:endParaRPr lang="en-US" sz="650"/>
          </a:p>
        </p:txBody>
      </p:sp>
      <p:sp>
        <p:nvSpPr>
          <p:cNvPr id="13" name="Shape 80">
            <a:extLst>
              <a:ext uri="{FF2B5EF4-FFF2-40B4-BE49-F238E27FC236}">
                <a16:creationId xmlns:a16="http://schemas.microsoft.com/office/drawing/2014/main" id="{BF4E7226-71F0-452D-2F57-B1E8AFD6D39F}"/>
              </a:ext>
            </a:extLst>
          </p:cNvPr>
          <p:cNvSpPr/>
          <p:nvPr/>
        </p:nvSpPr>
        <p:spPr>
          <a:xfrm>
            <a:off x="286234" y="4668612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82">
            <a:extLst>
              <a:ext uri="{FF2B5EF4-FFF2-40B4-BE49-F238E27FC236}">
                <a16:creationId xmlns:a16="http://schemas.microsoft.com/office/drawing/2014/main" id="{F0EC4544-EC8F-E343-FC11-13E44E9A59D5}"/>
              </a:ext>
            </a:extLst>
          </p:cNvPr>
          <p:cNvSpPr/>
          <p:nvPr/>
        </p:nvSpPr>
        <p:spPr>
          <a:xfrm>
            <a:off x="308702" y="467140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/>
          </a:p>
        </p:txBody>
      </p:sp>
      <p:sp>
        <p:nvSpPr>
          <p:cNvPr id="15" name="Text 83">
            <a:extLst>
              <a:ext uri="{FF2B5EF4-FFF2-40B4-BE49-F238E27FC236}">
                <a16:creationId xmlns:a16="http://schemas.microsoft.com/office/drawing/2014/main" id="{A2F66140-74BE-D1AC-07A8-F8DC173C4FE8}"/>
              </a:ext>
            </a:extLst>
          </p:cNvPr>
          <p:cNvSpPr/>
          <p:nvPr/>
        </p:nvSpPr>
        <p:spPr>
          <a:xfrm>
            <a:off x="1911462" y="4650673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700"/>
          </a:p>
        </p:txBody>
      </p:sp>
      <p:sp>
        <p:nvSpPr>
          <p:cNvPr id="16" name="Text 84">
            <a:extLst>
              <a:ext uri="{FF2B5EF4-FFF2-40B4-BE49-F238E27FC236}">
                <a16:creationId xmlns:a16="http://schemas.microsoft.com/office/drawing/2014/main" id="{0164B1DE-BFB0-5EB0-48BF-9EAF102E88A8}"/>
              </a:ext>
            </a:extLst>
          </p:cNvPr>
          <p:cNvSpPr/>
          <p:nvPr/>
        </p:nvSpPr>
        <p:spPr>
          <a:xfrm>
            <a:off x="3376472" y="4695343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- Trane</a:t>
            </a:r>
            <a:endParaRPr lang="en-US" sz="650"/>
          </a:p>
        </p:txBody>
      </p:sp>
      <p:sp>
        <p:nvSpPr>
          <p:cNvPr id="20" name="Text 77">
            <a:extLst>
              <a:ext uri="{FF2B5EF4-FFF2-40B4-BE49-F238E27FC236}">
                <a16:creationId xmlns:a16="http://schemas.microsoft.com/office/drawing/2014/main" id="{F70AA1D3-D2CC-0BAD-5C83-4FA14BCAE6B3}"/>
              </a:ext>
            </a:extLst>
          </p:cNvPr>
          <p:cNvSpPr/>
          <p:nvPr/>
        </p:nvSpPr>
        <p:spPr>
          <a:xfrm>
            <a:off x="326990" y="4662347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800"/>
          </a:p>
        </p:txBody>
      </p:sp>
      <p:sp>
        <p:nvSpPr>
          <p:cNvPr id="21" name="Text 77">
            <a:extLst>
              <a:ext uri="{FF2B5EF4-FFF2-40B4-BE49-F238E27FC236}">
                <a16:creationId xmlns:a16="http://schemas.microsoft.com/office/drawing/2014/main" id="{B296D1C1-39DA-C39A-4441-10315AF5A53B}"/>
              </a:ext>
            </a:extLst>
          </p:cNvPr>
          <p:cNvSpPr/>
          <p:nvPr/>
        </p:nvSpPr>
        <p:spPr>
          <a:xfrm>
            <a:off x="326990" y="465581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800" b="1"/>
              <a:t>Pruner, Kenneth</a:t>
            </a:r>
          </a:p>
          <a:p>
            <a:endParaRPr lang="en-US" sz="800"/>
          </a:p>
        </p:txBody>
      </p:sp>
      <p:sp>
        <p:nvSpPr>
          <p:cNvPr id="18" name="Shape 33">
            <a:extLst>
              <a:ext uri="{FF2B5EF4-FFF2-40B4-BE49-F238E27FC236}">
                <a16:creationId xmlns:a16="http://schemas.microsoft.com/office/drawing/2014/main" id="{04363F7B-9A78-DFA0-6186-CC4B13D5D0FE}"/>
              </a:ext>
            </a:extLst>
          </p:cNvPr>
          <p:cNvSpPr/>
          <p:nvPr/>
        </p:nvSpPr>
        <p:spPr>
          <a:xfrm>
            <a:off x="274880" y="1572791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34">
            <a:extLst>
              <a:ext uri="{FF2B5EF4-FFF2-40B4-BE49-F238E27FC236}">
                <a16:creationId xmlns:a16="http://schemas.microsoft.com/office/drawing/2014/main" id="{DD77E165-9BFF-4D49-7DC0-CF49C134F964}"/>
              </a:ext>
            </a:extLst>
          </p:cNvPr>
          <p:cNvSpPr/>
          <p:nvPr/>
        </p:nvSpPr>
        <p:spPr>
          <a:xfrm>
            <a:off x="274880" y="1572791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35">
            <a:extLst>
              <a:ext uri="{FF2B5EF4-FFF2-40B4-BE49-F238E27FC236}">
                <a16:creationId xmlns:a16="http://schemas.microsoft.com/office/drawing/2014/main" id="{1C24F910-2D72-837D-492E-D7BC6200456A}"/>
              </a:ext>
            </a:extLst>
          </p:cNvPr>
          <p:cNvSpPr/>
          <p:nvPr/>
        </p:nvSpPr>
        <p:spPr>
          <a:xfrm>
            <a:off x="329744" y="1572791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/>
          </a:p>
        </p:txBody>
      </p:sp>
      <p:sp>
        <p:nvSpPr>
          <p:cNvPr id="23" name="Text 36">
            <a:extLst>
              <a:ext uri="{FF2B5EF4-FFF2-40B4-BE49-F238E27FC236}">
                <a16:creationId xmlns:a16="http://schemas.microsoft.com/office/drawing/2014/main" id="{9DB71D55-283E-02A1-2FF0-438CBE8E6E8E}"/>
              </a:ext>
            </a:extLst>
          </p:cNvPr>
          <p:cNvSpPr/>
          <p:nvPr/>
        </p:nvSpPr>
        <p:spPr>
          <a:xfrm>
            <a:off x="1914216" y="1572791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– Product Analyst</a:t>
            </a:r>
            <a:endParaRPr lang="en-US" sz="700"/>
          </a:p>
        </p:txBody>
      </p:sp>
      <p:sp>
        <p:nvSpPr>
          <p:cNvPr id="98" name="Text 37">
            <a:extLst>
              <a:ext uri="{FF2B5EF4-FFF2-40B4-BE49-F238E27FC236}">
                <a16:creationId xmlns:a16="http://schemas.microsoft.com/office/drawing/2014/main" id="{741C341E-6316-9AF5-037A-CAB9888EFF81}"/>
              </a:ext>
            </a:extLst>
          </p:cNvPr>
          <p:cNvSpPr/>
          <p:nvPr/>
        </p:nvSpPr>
        <p:spPr>
          <a:xfrm>
            <a:off x="3373599" y="1572791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01" name="Text 35">
            <a:extLst>
              <a:ext uri="{FF2B5EF4-FFF2-40B4-BE49-F238E27FC236}">
                <a16:creationId xmlns:a16="http://schemas.microsoft.com/office/drawing/2014/main" id="{68998971-4704-3F48-F15C-A87421E3ED96}"/>
              </a:ext>
            </a:extLst>
          </p:cNvPr>
          <p:cNvSpPr/>
          <p:nvPr/>
        </p:nvSpPr>
        <p:spPr>
          <a:xfrm>
            <a:off x="347472" y="157276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err="1"/>
              <a:t>Rislow</a:t>
            </a:r>
            <a:r>
              <a:rPr lang="en-US" sz="750" b="1"/>
              <a:t> </a:t>
            </a: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Chad</a:t>
            </a:r>
            <a:r>
              <a:rPr lang="en-US" sz="750" b="1"/>
              <a:t>  </a:t>
            </a:r>
          </a:p>
        </p:txBody>
      </p:sp>
      <p:sp>
        <p:nvSpPr>
          <p:cNvPr id="107" name="Shape 38">
            <a:extLst>
              <a:ext uri="{FF2B5EF4-FFF2-40B4-BE49-F238E27FC236}">
                <a16:creationId xmlns:a16="http://schemas.microsoft.com/office/drawing/2014/main" id="{4D545434-874B-6DC7-2D12-F04B118990DF}"/>
              </a:ext>
            </a:extLst>
          </p:cNvPr>
          <p:cNvSpPr/>
          <p:nvPr/>
        </p:nvSpPr>
        <p:spPr>
          <a:xfrm>
            <a:off x="274882" y="1773945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39">
            <a:extLst>
              <a:ext uri="{FF2B5EF4-FFF2-40B4-BE49-F238E27FC236}">
                <a16:creationId xmlns:a16="http://schemas.microsoft.com/office/drawing/2014/main" id="{8DA0AE1F-B26C-5FB9-B53D-C0AB8D7F4750}"/>
              </a:ext>
            </a:extLst>
          </p:cNvPr>
          <p:cNvSpPr/>
          <p:nvPr/>
        </p:nvSpPr>
        <p:spPr>
          <a:xfrm>
            <a:off x="274882" y="1773945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40">
            <a:extLst>
              <a:ext uri="{FF2B5EF4-FFF2-40B4-BE49-F238E27FC236}">
                <a16:creationId xmlns:a16="http://schemas.microsoft.com/office/drawing/2014/main" id="{9306BF62-CF15-ED38-A490-34C0EB10519F}"/>
              </a:ext>
            </a:extLst>
          </p:cNvPr>
          <p:cNvSpPr/>
          <p:nvPr/>
        </p:nvSpPr>
        <p:spPr>
          <a:xfrm>
            <a:off x="329746" y="1773945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Christopher Brown</a:t>
            </a:r>
            <a:endParaRPr lang="en-US" sz="750"/>
          </a:p>
        </p:txBody>
      </p:sp>
      <p:sp>
        <p:nvSpPr>
          <p:cNvPr id="141" name="Text 41">
            <a:extLst>
              <a:ext uri="{FF2B5EF4-FFF2-40B4-BE49-F238E27FC236}">
                <a16:creationId xmlns:a16="http://schemas.microsoft.com/office/drawing/2014/main" id="{383E8345-F4A8-F286-F6AD-2A80F20EFBEB}"/>
              </a:ext>
            </a:extLst>
          </p:cNvPr>
          <p:cNvSpPr/>
          <p:nvPr/>
        </p:nvSpPr>
        <p:spPr>
          <a:xfrm>
            <a:off x="1914218" y="1773945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– Product Owner</a:t>
            </a:r>
            <a:endParaRPr lang="en-US" sz="700"/>
          </a:p>
        </p:txBody>
      </p:sp>
      <p:sp>
        <p:nvSpPr>
          <p:cNvPr id="142" name="Text 42">
            <a:extLst>
              <a:ext uri="{FF2B5EF4-FFF2-40B4-BE49-F238E27FC236}">
                <a16:creationId xmlns:a16="http://schemas.microsoft.com/office/drawing/2014/main" id="{31EF1D24-1E27-98B1-5131-C7047266F08C}"/>
              </a:ext>
            </a:extLst>
          </p:cNvPr>
          <p:cNvSpPr/>
          <p:nvPr/>
        </p:nvSpPr>
        <p:spPr>
          <a:xfrm>
            <a:off x="3373601" y="1773945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43" name="Shape 33">
            <a:extLst>
              <a:ext uri="{FF2B5EF4-FFF2-40B4-BE49-F238E27FC236}">
                <a16:creationId xmlns:a16="http://schemas.microsoft.com/office/drawing/2014/main" id="{A9FCEBD1-0A30-617F-40A3-98B834171281}"/>
              </a:ext>
            </a:extLst>
          </p:cNvPr>
          <p:cNvSpPr/>
          <p:nvPr/>
        </p:nvSpPr>
        <p:spPr>
          <a:xfrm>
            <a:off x="272009" y="1949467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4" name="Shape 34">
            <a:extLst>
              <a:ext uri="{FF2B5EF4-FFF2-40B4-BE49-F238E27FC236}">
                <a16:creationId xmlns:a16="http://schemas.microsoft.com/office/drawing/2014/main" id="{DBED2AC4-26F4-D39D-EED7-887D8E473D24}"/>
              </a:ext>
            </a:extLst>
          </p:cNvPr>
          <p:cNvSpPr/>
          <p:nvPr/>
        </p:nvSpPr>
        <p:spPr>
          <a:xfrm>
            <a:off x="272009" y="1949467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5" name="Text 35">
            <a:extLst>
              <a:ext uri="{FF2B5EF4-FFF2-40B4-BE49-F238E27FC236}">
                <a16:creationId xmlns:a16="http://schemas.microsoft.com/office/drawing/2014/main" id="{45B74FC5-2ECE-7752-EBCE-EC86A314F467}"/>
              </a:ext>
            </a:extLst>
          </p:cNvPr>
          <p:cNvSpPr/>
          <p:nvPr/>
        </p:nvSpPr>
        <p:spPr>
          <a:xfrm>
            <a:off x="326873" y="1949467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/>
          </a:p>
        </p:txBody>
      </p:sp>
      <p:sp>
        <p:nvSpPr>
          <p:cNvPr id="146" name="Text 36">
            <a:extLst>
              <a:ext uri="{FF2B5EF4-FFF2-40B4-BE49-F238E27FC236}">
                <a16:creationId xmlns:a16="http://schemas.microsoft.com/office/drawing/2014/main" id="{D66CAADD-73F5-077A-618B-AF50153D2DDD}"/>
              </a:ext>
            </a:extLst>
          </p:cNvPr>
          <p:cNvSpPr/>
          <p:nvPr/>
        </p:nvSpPr>
        <p:spPr>
          <a:xfrm>
            <a:off x="1911345" y="1949467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– Product Owner</a:t>
            </a:r>
            <a:endParaRPr lang="en-US" sz="700"/>
          </a:p>
        </p:txBody>
      </p:sp>
      <p:sp>
        <p:nvSpPr>
          <p:cNvPr id="147" name="Text 37">
            <a:extLst>
              <a:ext uri="{FF2B5EF4-FFF2-40B4-BE49-F238E27FC236}">
                <a16:creationId xmlns:a16="http://schemas.microsoft.com/office/drawing/2014/main" id="{248AB13C-749B-2AE8-05ED-3ACB25140C9D}"/>
              </a:ext>
            </a:extLst>
          </p:cNvPr>
          <p:cNvSpPr/>
          <p:nvPr/>
        </p:nvSpPr>
        <p:spPr>
          <a:xfrm>
            <a:off x="3370728" y="1949467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48" name="Text 35">
            <a:extLst>
              <a:ext uri="{FF2B5EF4-FFF2-40B4-BE49-F238E27FC236}">
                <a16:creationId xmlns:a16="http://schemas.microsoft.com/office/drawing/2014/main" id="{4170555D-5735-9D9B-A6D6-246C7181D876}"/>
              </a:ext>
            </a:extLst>
          </p:cNvPr>
          <p:cNvSpPr/>
          <p:nvPr/>
        </p:nvSpPr>
        <p:spPr>
          <a:xfrm>
            <a:off x="344601" y="194944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/>
              <a:t>Kristen Dale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 – Projects &amp; Applications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types: Smoke · System · Regression · Automation · Performance · QA PoC</a:t>
            </a:r>
            <a:endParaRPr lang="en-US" sz="950"/>
          </a:p>
        </p:txBody>
      </p:sp>
      <p:sp>
        <p:nvSpPr>
          <p:cNvPr id="4" name="Shape 2">
            <a:hlinkClick r:id="rId3"/>
          </p:cNvPr>
          <p:cNvSpPr/>
          <p:nvPr/>
        </p:nvSpPr>
        <p:spPr>
          <a:xfrm>
            <a:off x="347472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 Select Assist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Varsha Chitray</a:t>
            </a:r>
            <a:endParaRPr lang="en-US" sz="900" dirty="0"/>
          </a:p>
        </p:txBody>
      </p:sp>
      <p:sp>
        <p:nvSpPr>
          <p:cNvPr id="9" name="Shape 7">
            <a:hlinkClick r:id="rId4"/>
          </p:cNvPr>
          <p:cNvSpPr/>
          <p:nvPr/>
        </p:nvSpPr>
        <p:spPr>
          <a:xfrm>
            <a:off x="3127248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3127248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18688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18688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Brinda S </a:t>
            </a:r>
            <a:endParaRPr lang="en-US" sz="900" dirty="0"/>
          </a:p>
        </p:txBody>
      </p:sp>
      <p:sp>
        <p:nvSpPr>
          <p:cNvPr id="14" name="Shape 12">
            <a:hlinkClick r:id="rId5"/>
          </p:cNvPr>
          <p:cNvSpPr/>
          <p:nvPr/>
        </p:nvSpPr>
        <p:spPr>
          <a:xfrm>
            <a:off x="5861304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07024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98464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5998464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Mahesh Laddi &amp; Anusha G</a:t>
            </a:r>
            <a:endParaRPr lang="en-US" sz="900"/>
          </a:p>
        </p:txBody>
      </p:sp>
      <p:sp>
        <p:nvSpPr>
          <p:cNvPr id="19" name="Shape 17">
            <a:hlinkClick r:id="rId6"/>
          </p:cNvPr>
          <p:cNvSpPr/>
          <p:nvPr/>
        </p:nvSpPr>
        <p:spPr>
          <a:xfrm>
            <a:off x="347472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47472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38912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438912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Rashmi Ranganath</a:t>
            </a:r>
            <a:endParaRPr lang="en-US" sz="900"/>
          </a:p>
        </p:txBody>
      </p:sp>
      <p:sp>
        <p:nvSpPr>
          <p:cNvPr id="24" name="Shape 22">
            <a:hlinkClick r:id="rId7"/>
          </p:cNvPr>
          <p:cNvSpPr/>
          <p:nvPr/>
        </p:nvSpPr>
        <p:spPr>
          <a:xfrm>
            <a:off x="3127248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127248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18688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1,2 (Tax)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218688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Vignesh </a:t>
            </a:r>
            <a:r>
              <a:rPr lang="en-US" sz="90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Sheshababu</a:t>
            </a: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/Preeti k/Srinivas R</a:t>
            </a:r>
            <a:endParaRPr lang="en-US" sz="900"/>
          </a:p>
        </p:txBody>
      </p:sp>
      <p:sp>
        <p:nvSpPr>
          <p:cNvPr id="29" name="Shape 27">
            <a:hlinkClick r:id="rId8"/>
          </p:cNvPr>
          <p:cNvSpPr/>
          <p:nvPr/>
        </p:nvSpPr>
        <p:spPr>
          <a:xfrm>
            <a:off x="5907024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907024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998464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5998464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Naveen H</a:t>
            </a:r>
            <a:endParaRPr lang="en-US" sz="900"/>
          </a:p>
        </p:txBody>
      </p:sp>
      <p:sp>
        <p:nvSpPr>
          <p:cNvPr id="34" name="Shape 32">
            <a:hlinkClick r:id="rId9"/>
          </p:cNvPr>
          <p:cNvSpPr/>
          <p:nvPr/>
        </p:nvSpPr>
        <p:spPr>
          <a:xfrm>
            <a:off x="347472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8912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438912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Likhith Pateel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127248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3127248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18688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3218688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Sandhyarani M</a:t>
            </a:r>
            <a:endParaRPr lang="en-US" sz="900"/>
          </a:p>
        </p:txBody>
      </p:sp>
      <p:sp>
        <p:nvSpPr>
          <p:cNvPr id="44" name="Shape 42">
            <a:hlinkClick r:id="rId10"/>
          </p:cNvPr>
          <p:cNvSpPr/>
          <p:nvPr/>
        </p:nvSpPr>
        <p:spPr>
          <a:xfrm>
            <a:off x="5907024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907024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998464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998464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Frank Murcia</a:t>
            </a:r>
            <a:endParaRPr lang="en-US" sz="90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– Checklist &amp; Application URLs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347472" y="73152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315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731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1819656" y="7315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347472" y="100584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47472" y="10058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1148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819656" y="10058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2" name="Shape 10"/>
          <p:cNvSpPr/>
          <p:nvPr/>
        </p:nvSpPr>
        <p:spPr>
          <a:xfrm>
            <a:off x="347472" y="12801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47472" y="12801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1148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Headphones / Mouse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819656" y="12801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6" name="Shape 14"/>
          <p:cNvSpPr/>
          <p:nvPr/>
        </p:nvSpPr>
        <p:spPr>
          <a:xfrm>
            <a:off x="347472" y="155448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47472" y="15544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1554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ID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1819656" y="155448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20" name="Shape 18"/>
          <p:cNvSpPr/>
          <p:nvPr/>
        </p:nvSpPr>
        <p:spPr>
          <a:xfrm>
            <a:off x="347472" y="182880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47472" y="18288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11480" y="1828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Access/Confluence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819656" y="182880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QA Lead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1148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1819656" y="21031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28" name="Shape 26"/>
          <p:cNvSpPr/>
          <p:nvPr/>
        </p:nvSpPr>
        <p:spPr>
          <a:xfrm>
            <a:off x="347472" y="237744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47472" y="23774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1148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IDE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819656" y="23774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32" name="Shape 30"/>
          <p:cNvSpPr/>
          <p:nvPr/>
        </p:nvSpPr>
        <p:spPr>
          <a:xfrm>
            <a:off x="347472" y="265176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347472" y="26517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11480" y="2651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Bash / GitHub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1819656" y="26517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KB0040682</a:t>
            </a:r>
            <a:endParaRPr lang="en-US" sz="900"/>
          </a:p>
        </p:txBody>
      </p:sp>
      <p:sp>
        <p:nvSpPr>
          <p:cNvPr id="37" name="Shape 35"/>
          <p:cNvSpPr/>
          <p:nvPr/>
        </p:nvSpPr>
        <p:spPr>
          <a:xfrm>
            <a:off x="347472" y="29260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47472" y="32004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397894" y="292608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34747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1148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/ DB Access</a:t>
            </a:r>
            <a:endParaRPr lang="en-US" sz="900"/>
          </a:p>
        </p:txBody>
      </p:sp>
      <p:sp>
        <p:nvSpPr>
          <p:cNvPr id="47" name="Text 45"/>
          <p:cNvSpPr/>
          <p:nvPr/>
        </p:nvSpPr>
        <p:spPr>
          <a:xfrm>
            <a:off x="1819656" y="34747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49" name="Shape 47"/>
          <p:cNvSpPr/>
          <p:nvPr/>
        </p:nvSpPr>
        <p:spPr>
          <a:xfrm>
            <a:off x="347472" y="37490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347472" y="40233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347472" y="40233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11480" y="4023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URLs</a:t>
            </a:r>
            <a:endParaRPr lang="en-US" sz="900"/>
          </a:p>
        </p:txBody>
      </p:sp>
      <p:sp>
        <p:nvSpPr>
          <p:cNvPr id="55" name="Text 53"/>
          <p:cNvSpPr/>
          <p:nvPr/>
        </p:nvSpPr>
        <p:spPr>
          <a:xfrm>
            <a:off x="1819656" y="40233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right column</a:t>
            </a:r>
            <a:endParaRPr lang="en-US" sz="900"/>
          </a:p>
        </p:txBody>
      </p:sp>
      <p:sp>
        <p:nvSpPr>
          <p:cNvPr id="57" name="Shape 55"/>
          <p:cNvSpPr/>
          <p:nvPr/>
        </p:nvSpPr>
        <p:spPr>
          <a:xfrm>
            <a:off x="347472" y="42976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846320" y="5120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URLs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4846320" y="73152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50"/>
          </a:p>
        </p:txBody>
      </p:sp>
      <p:sp>
        <p:nvSpPr>
          <p:cNvPr id="62" name="Shape 60"/>
          <p:cNvSpPr/>
          <p:nvPr/>
        </p:nvSpPr>
        <p:spPr>
          <a:xfrm>
            <a:off x="4846320" y="91440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4901184" y="91440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64" name="Text 62"/>
          <p:cNvSpPr/>
          <p:nvPr/>
        </p:nvSpPr>
        <p:spPr>
          <a:xfrm>
            <a:off x="5806440" y="91440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dev.traneselectassist.com</a:t>
            </a:r>
            <a:endParaRPr lang="en-US" sz="750"/>
          </a:p>
        </p:txBody>
      </p:sp>
      <p:sp>
        <p:nvSpPr>
          <p:cNvPr id="65" name="Shape 63"/>
          <p:cNvSpPr/>
          <p:nvPr/>
        </p:nvSpPr>
        <p:spPr>
          <a:xfrm>
            <a:off x="4846320" y="1152144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01184" y="115214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67" name="Text 65"/>
          <p:cNvSpPr/>
          <p:nvPr/>
        </p:nvSpPr>
        <p:spPr>
          <a:xfrm>
            <a:off x="5806440" y="115214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test.traneselectassist.com</a:t>
            </a:r>
            <a:endParaRPr lang="en-US" sz="750"/>
          </a:p>
        </p:txBody>
      </p:sp>
      <p:sp>
        <p:nvSpPr>
          <p:cNvPr id="68" name="Shape 66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4901184" y="13898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70" name="Text 68"/>
          <p:cNvSpPr/>
          <p:nvPr/>
        </p:nvSpPr>
        <p:spPr>
          <a:xfrm>
            <a:off x="5806440" y="1389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traneselectassist.com</a:t>
            </a:r>
            <a:endParaRPr lang="en-US" sz="750"/>
          </a:p>
        </p:txBody>
      </p:sp>
      <p:sp>
        <p:nvSpPr>
          <p:cNvPr id="71" name="Text 69"/>
          <p:cNvSpPr/>
          <p:nvPr/>
        </p:nvSpPr>
        <p:spPr>
          <a:xfrm>
            <a:off x="4846320" y="16642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TSMT</a:t>
            </a:r>
            <a:endParaRPr lang="en-US" sz="850"/>
          </a:p>
        </p:txBody>
      </p:sp>
      <p:sp>
        <p:nvSpPr>
          <p:cNvPr id="72" name="Shape 70"/>
          <p:cNvSpPr/>
          <p:nvPr/>
        </p:nvSpPr>
        <p:spPr>
          <a:xfrm>
            <a:off x="4846320" y="18470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901184" y="18470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74" name="Text 72"/>
          <p:cNvSpPr/>
          <p:nvPr/>
        </p:nvSpPr>
        <p:spPr>
          <a:xfrm>
            <a:off x="5806440" y="18470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devsalestools.trane.com</a:t>
            </a:r>
            <a:endParaRPr lang="en-US" sz="750"/>
          </a:p>
        </p:txBody>
      </p:sp>
      <p:sp>
        <p:nvSpPr>
          <p:cNvPr id="75" name="Shape 73"/>
          <p:cNvSpPr/>
          <p:nvPr/>
        </p:nvSpPr>
        <p:spPr>
          <a:xfrm>
            <a:off x="4846320" y="2084832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901184" y="208483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77" name="Text 75"/>
          <p:cNvSpPr/>
          <p:nvPr/>
        </p:nvSpPr>
        <p:spPr>
          <a:xfrm>
            <a:off x="5806440" y="20848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uatsalestools.trane.com</a:t>
            </a:r>
            <a:endParaRPr lang="en-US" sz="750"/>
          </a:p>
        </p:txBody>
      </p:sp>
      <p:sp>
        <p:nvSpPr>
          <p:cNvPr id="78" name="Shape 76"/>
          <p:cNvSpPr/>
          <p:nvPr/>
        </p:nvSpPr>
        <p:spPr>
          <a:xfrm>
            <a:off x="4846320" y="23225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901184" y="23225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80" name="Text 78"/>
          <p:cNvSpPr/>
          <p:nvPr/>
        </p:nvSpPr>
        <p:spPr>
          <a:xfrm>
            <a:off x="5806440" y="23225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salestools.trane.com</a:t>
            </a:r>
            <a:endParaRPr lang="en-US" sz="750"/>
          </a:p>
        </p:txBody>
      </p:sp>
      <p:sp>
        <p:nvSpPr>
          <p:cNvPr id="81" name="Text 79"/>
          <p:cNvSpPr/>
          <p:nvPr/>
        </p:nvSpPr>
        <p:spPr>
          <a:xfrm>
            <a:off x="484632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50"/>
          </a:p>
        </p:txBody>
      </p:sp>
      <p:sp>
        <p:nvSpPr>
          <p:cNvPr id="82" name="Shape 80"/>
          <p:cNvSpPr/>
          <p:nvPr/>
        </p:nvSpPr>
        <p:spPr>
          <a:xfrm>
            <a:off x="4846320" y="27797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/>
          <p:nvPr/>
        </p:nvSpPr>
        <p:spPr>
          <a:xfrm>
            <a:off x="4901184" y="27797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84" name="Text 82"/>
          <p:cNvSpPr/>
          <p:nvPr/>
        </p:nvSpPr>
        <p:spPr>
          <a:xfrm>
            <a:off x="5806440" y="27797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devdmc.trane.com</a:t>
            </a:r>
            <a:endParaRPr lang="en-US" sz="750"/>
          </a:p>
        </p:txBody>
      </p:sp>
      <p:sp>
        <p:nvSpPr>
          <p:cNvPr id="85" name="Shape 83"/>
          <p:cNvSpPr/>
          <p:nvPr/>
        </p:nvSpPr>
        <p:spPr>
          <a:xfrm>
            <a:off x="4846320" y="3017520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901184" y="301752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87" name="Text 85"/>
          <p:cNvSpPr/>
          <p:nvPr/>
        </p:nvSpPr>
        <p:spPr>
          <a:xfrm>
            <a:off x="5806440" y="301752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uatdmc.trane.com</a:t>
            </a:r>
            <a:endParaRPr lang="en-US" sz="750"/>
          </a:p>
        </p:txBody>
      </p:sp>
      <p:sp>
        <p:nvSpPr>
          <p:cNvPr id="88" name="Shape 86"/>
          <p:cNvSpPr/>
          <p:nvPr/>
        </p:nvSpPr>
        <p:spPr>
          <a:xfrm>
            <a:off x="4846320" y="32552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901184" y="32552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90" name="Text 88"/>
          <p:cNvSpPr/>
          <p:nvPr/>
        </p:nvSpPr>
        <p:spPr>
          <a:xfrm>
            <a:off x="5806440" y="32552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dmc.trane.com</a:t>
            </a:r>
            <a:endParaRPr lang="en-US" sz="750"/>
          </a:p>
        </p:txBody>
      </p:sp>
      <p:sp>
        <p:nvSpPr>
          <p:cNvPr id="91" name="Text 89"/>
          <p:cNvSpPr/>
          <p:nvPr/>
        </p:nvSpPr>
        <p:spPr>
          <a:xfrm>
            <a:off x="4846320" y="352958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</a:t>
            </a:r>
            <a:endParaRPr lang="en-US" sz="850"/>
          </a:p>
        </p:txBody>
      </p:sp>
      <p:sp>
        <p:nvSpPr>
          <p:cNvPr id="92" name="Shape 90"/>
          <p:cNvSpPr/>
          <p:nvPr/>
        </p:nvSpPr>
        <p:spPr>
          <a:xfrm>
            <a:off x="4846320" y="37124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4901184" y="37124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ServiceNow:</a:t>
            </a:r>
            <a:endParaRPr lang="en-US" sz="850"/>
          </a:p>
        </p:txBody>
      </p:sp>
      <p:sp>
        <p:nvSpPr>
          <p:cNvPr id="94" name="Text 92"/>
          <p:cNvSpPr/>
          <p:nvPr/>
        </p:nvSpPr>
        <p:spPr>
          <a:xfrm>
            <a:off x="5806440" y="37124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tranetechnologies.service-now.com/sp</a:t>
            </a:r>
            <a:endParaRPr lang="en-US" sz="750"/>
          </a:p>
        </p:txBody>
      </p:sp>
      <p:sp>
        <p:nvSpPr>
          <p:cNvPr id="95" name="Shape 93"/>
          <p:cNvSpPr/>
          <p:nvPr/>
        </p:nvSpPr>
        <p:spPr>
          <a:xfrm>
            <a:off x="4846320" y="3950208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901184" y="395020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Confluence:</a:t>
            </a:r>
            <a:endParaRPr lang="en-US" sz="850"/>
          </a:p>
        </p:txBody>
      </p:sp>
      <p:sp>
        <p:nvSpPr>
          <p:cNvPr id="97" name="Text 95"/>
          <p:cNvSpPr/>
          <p:nvPr/>
        </p:nvSpPr>
        <p:spPr>
          <a:xfrm>
            <a:off x="5806440" y="395020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tranetis.jira.com/wiki/spaces/TOPSS</a:t>
            </a:r>
            <a:endParaRPr lang="en-US" sz="750"/>
          </a:p>
        </p:txBody>
      </p:sp>
      <p:sp>
        <p:nvSpPr>
          <p:cNvPr id="98" name="Shape 96"/>
          <p:cNvSpPr/>
          <p:nvPr/>
        </p:nvSpPr>
        <p:spPr>
          <a:xfrm>
            <a:off x="4846320" y="4187952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01184" y="418795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50"/>
          </a:p>
        </p:txBody>
      </p:sp>
      <p:sp>
        <p:nvSpPr>
          <p:cNvPr id="100" name="Text 98"/>
          <p:cNvSpPr/>
          <p:nvPr/>
        </p:nvSpPr>
        <p:spPr>
          <a:xfrm>
            <a:off x="5806440" y="418795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github.com/enterprises/tranetechnologies/sso</a:t>
            </a:r>
            <a:endParaRPr lang="en-US" sz="750"/>
          </a:p>
        </p:txBody>
      </p:sp>
      <p:sp>
        <p:nvSpPr>
          <p:cNvPr id="101" name="Shape 99"/>
          <p:cNvSpPr/>
          <p:nvPr/>
        </p:nvSpPr>
        <p:spPr>
          <a:xfrm>
            <a:off x="4846320" y="4425696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01184" y="44256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Portal:</a:t>
            </a:r>
            <a:endParaRPr lang="en-US" sz="850"/>
          </a:p>
        </p:txBody>
      </p:sp>
      <p:sp>
        <p:nvSpPr>
          <p:cNvPr id="103" name="Text 101"/>
          <p:cNvSpPr/>
          <p:nvPr/>
        </p:nvSpPr>
        <p:spPr>
          <a:xfrm>
            <a:off x="5806440" y="442569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tranetechnologies.service-now.com/hrportal</a:t>
            </a:r>
            <a:endParaRPr lang="en-US" sz="750"/>
          </a:p>
        </p:txBody>
      </p:sp>
      <p:sp>
        <p:nvSpPr>
          <p:cNvPr id="104" name="Shape 102"/>
          <p:cNvSpPr/>
          <p:nvPr/>
        </p:nvSpPr>
        <p:spPr>
          <a:xfrm>
            <a:off x="4846320" y="466344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4901184" y="466344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Citrix:</a:t>
            </a:r>
            <a:endParaRPr lang="en-US" sz="850"/>
          </a:p>
        </p:txBody>
      </p:sp>
      <p:sp>
        <p:nvSpPr>
          <p:cNvPr id="106" name="Text 104"/>
          <p:cNvSpPr/>
          <p:nvPr/>
        </p:nvSpPr>
        <p:spPr>
          <a:xfrm>
            <a:off x="5806440" y="466344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tranecitrix.corp.global</a:t>
            </a:r>
            <a:endParaRPr lang="en-US" sz="750"/>
          </a:p>
        </p:txBody>
      </p:sp>
      <p:pic>
        <p:nvPicPr>
          <p:cNvPr id="10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08" name="Text 10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  <p:sp>
        <p:nvSpPr>
          <p:cNvPr id="111" name="Text 44">
            <a:extLst>
              <a:ext uri="{FF2B5EF4-FFF2-40B4-BE49-F238E27FC236}">
                <a16:creationId xmlns:a16="http://schemas.microsoft.com/office/drawing/2014/main" id="{C2AB565E-C169-1F15-A1AA-06A562914ED1}"/>
              </a:ext>
            </a:extLst>
          </p:cNvPr>
          <p:cNvSpPr/>
          <p:nvPr/>
        </p:nvSpPr>
        <p:spPr>
          <a:xfrm>
            <a:off x="361058" y="29138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DL’s</a:t>
            </a:r>
            <a:endParaRPr lang="en-US" sz="900"/>
          </a:p>
        </p:txBody>
      </p:sp>
      <p:sp>
        <p:nvSpPr>
          <p:cNvPr id="112" name="Text 44">
            <a:extLst>
              <a:ext uri="{FF2B5EF4-FFF2-40B4-BE49-F238E27FC236}">
                <a16:creationId xmlns:a16="http://schemas.microsoft.com/office/drawing/2014/main" id="{4DE9AE0B-4632-74F6-CC3C-4E0D865AFF07}"/>
              </a:ext>
            </a:extLst>
          </p:cNvPr>
          <p:cNvSpPr/>
          <p:nvPr/>
        </p:nvSpPr>
        <p:spPr>
          <a:xfrm>
            <a:off x="338328" y="32030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/>
              <a:t>Add to MS teams</a:t>
            </a:r>
          </a:p>
        </p:txBody>
      </p:sp>
      <p:sp>
        <p:nvSpPr>
          <p:cNvPr id="113" name="Text 45">
            <a:extLst>
              <a:ext uri="{FF2B5EF4-FFF2-40B4-BE49-F238E27FC236}">
                <a16:creationId xmlns:a16="http://schemas.microsoft.com/office/drawing/2014/main" id="{1D5CE06D-F9EB-9340-14CE-9DEA0126B70C}"/>
              </a:ext>
            </a:extLst>
          </p:cNvPr>
          <p:cNvSpPr/>
          <p:nvPr/>
        </p:nvSpPr>
        <p:spPr>
          <a:xfrm>
            <a:off x="1819656" y="3218688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Teams</a:t>
            </a:r>
            <a:endParaRPr lang="en-US" sz="900"/>
          </a:p>
        </p:txBody>
      </p:sp>
      <p:sp>
        <p:nvSpPr>
          <p:cNvPr id="114" name="Text 45">
            <a:extLst>
              <a:ext uri="{FF2B5EF4-FFF2-40B4-BE49-F238E27FC236}">
                <a16:creationId xmlns:a16="http://schemas.microsoft.com/office/drawing/2014/main" id="{BF66B7ED-2545-BA75-C1C2-0B5F2A267D96}"/>
              </a:ext>
            </a:extLst>
          </p:cNvPr>
          <p:cNvSpPr/>
          <p:nvPr/>
        </p:nvSpPr>
        <p:spPr>
          <a:xfrm>
            <a:off x="1796666" y="2924772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to do  ·  KT Plan  ·  Points of Contact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actions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84048" y="804672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84048" y="804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76656" y="768096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certifications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76656" y="950976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LMS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84048" y="1225296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84048" y="1225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" y="118872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setting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6656" y="1371600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Talent Mgmt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47472" y="1591056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84048" y="1645920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84048" y="1645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" y="1609344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People Profile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" y="1792224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SuccessFactors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47472" y="2011680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84048" y="2066544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84048" y="20665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" y="202996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TOPSSQA Site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" y="2212848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sharepoint.com/sites/topss.com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7472" y="2432304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84048" y="2487168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404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" y="2450592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leave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6656" y="2633472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Leave Mgmt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7472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3145536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02336" y="314553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755648" y="314553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Computer Software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7472" y="3364992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02336" y="3364992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ID / Server: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755648" y="3364992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Access Request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7472" y="3584448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02336" y="3584448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755648" y="3584448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KB0040682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47472" y="3803904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02336" y="3803904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License: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755648" y="3803904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RITM0731045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47472" y="4023360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402336" y="4023360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Access: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755648" y="4023360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RITM0731066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47472" y="4242816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424281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MDP/DMC: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755648" y="424281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1,5,8,9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05072" y="5120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5072" y="74980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059936" y="7498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559552" y="7498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005072" y="1060704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059936" y="106070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559552" y="106070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Ranganath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005072" y="1371600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59936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Contracting/Tax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559552" y="137160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005072" y="1682496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4059936" y="168249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59552" y="168249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Laddi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005072" y="1993392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4059936" y="199339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559552" y="199339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005072" y="2304288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59936" y="23042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559552" y="230428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005072" y="2615184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059936" y="261518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(TestNG)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559552" y="261518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05072" y="2926080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59936" y="2926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(Hybrid)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59552" y="29260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Chhabria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005072" y="3236976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059936" y="3236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Auto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559552" y="323697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005072" y="3547872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059936" y="3547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559552" y="354787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Pateel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005072" y="385876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4059936" y="38587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559552" y="385876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 M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748272" y="512064"/>
            <a:ext cx="2048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748272" y="74980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6803136" y="74980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827264" y="74980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48272" y="104241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6803136" y="104241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 &amp; 2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7827264" y="104241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S/Preeti k/Srinivas 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748272" y="1335024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6803136" y="133502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7827264" y="133502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748272" y="1627632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6803136" y="162763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7827264" y="162763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L/Anusha 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748272" y="1920240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6803136" y="192024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7827264" y="192024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6748272" y="2212848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6803136" y="221284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7827264" y="221284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C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6748272" y="2505456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6803136" y="250545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827264" y="250545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6748272" y="2798064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6803136" y="279806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7827264" y="279806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6748272" y="3090672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6803136" y="309067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(Prod)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7827264" y="309067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6748272" y="3383280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6803136" y="338328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7827264" y="338328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748272" y="367588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6803136" y="367588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7827264" y="367588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748272" y="396849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6803136" y="396849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827264" y="396849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</a:t>
            </a:r>
            <a:endParaRPr lang="en-US" sz="750" dirty="0"/>
          </a:p>
        </p:txBody>
      </p:sp>
      <p:pic>
        <p:nvPicPr>
          <p:cNvPr id="1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0" name="Text 11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once again to the team, and hope you have a wonderful journey with us!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4842</TotalTime>
  <Words>1665</Words>
  <Application>Microsoft Office PowerPoint</Application>
  <PresentationFormat>On-screen Show (16:9)</PresentationFormat>
  <Paragraphs>567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Khajji, Preeti</cp:lastModifiedBy>
  <cp:revision>3</cp:revision>
  <dcterms:created xsi:type="dcterms:W3CDTF">2026-05-04T01:27:56Z</dcterms:created>
  <dcterms:modified xsi:type="dcterms:W3CDTF">2026-05-07T16:17:56Z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62845b5-9b70-49d7-b944-decf2d49c436_Enabled">
    <vt:lpwstr>true</vt:lpwstr>
  </property>
  <property fmtid="{D5CDD505-2E9C-101B-9397-08002B2CF9AE}" pid="3" name="MSIP_Label_962845b5-9b70-49d7-b944-decf2d49c436_SetDate">
    <vt:lpwstr>2026-05-04T08:21:12Z</vt:lpwstr>
  </property>
  <property fmtid="{D5CDD505-2E9C-101B-9397-08002B2CF9AE}" pid="4" name="MSIP_Label_962845b5-9b70-49d7-b944-decf2d49c436_Method">
    <vt:lpwstr>Privileged</vt:lpwstr>
  </property>
  <property fmtid="{D5CDD505-2E9C-101B-9397-08002B2CF9AE}" pid="5" name="MSIP_Label_962845b5-9b70-49d7-b944-decf2d49c436_Name">
    <vt:lpwstr>Public</vt:lpwstr>
  </property>
  <property fmtid="{D5CDD505-2E9C-101B-9397-08002B2CF9AE}" pid="6" name="MSIP_Label_962845b5-9b70-49d7-b944-decf2d49c436_SiteId">
    <vt:lpwstr>abf9983b-ca77-4f20-9633-ca9c5a847041</vt:lpwstr>
  </property>
  <property fmtid="{D5CDD505-2E9C-101B-9397-08002B2CF9AE}" pid="7" name="MSIP_Label_962845b5-9b70-49d7-b944-decf2d49c436_ActionId">
    <vt:lpwstr>edce9420-56e3-4e81-bfa9-cf37c5adab1c</vt:lpwstr>
  </property>
  <property fmtid="{D5CDD505-2E9C-101B-9397-08002B2CF9AE}" pid="8" name="MSIP_Label_962845b5-9b70-49d7-b944-decf2d49c436_ContentBits">
    <vt:lpwstr>0</vt:lpwstr>
  </property>
  <property fmtid="{D5CDD505-2E9C-101B-9397-08002B2CF9AE}" pid="9" name="MSIP_Label_962845b5-9b70-49d7-b944-decf2d49c436_Tag">
    <vt:lpwstr>10, 0, 1, 1</vt:lpwstr>
  </property>
</Properties>
</file>