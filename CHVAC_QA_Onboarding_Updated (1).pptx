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FD53693-15AB-4B33-9CF1-1FDE45C8B252}" v="58" dt="2026-05-07T16:17:56.785"/>
    <p1510:client id="{E1002C20-7C07-45EC-B056-14A9E7F205A7}" v="377" dt="2026-05-07T10:02:25.27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8265" autoAdjust="0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125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5/10/relationships/revisionInfo" Target="revisionInfo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99295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ranetis.jira.com/wiki/spaces/TSMT/pages/4088692861/Trane+Select+Assist+TSA" TargetMode="External"/><Relationship Id="rId4" Type="http://schemas.openxmlformats.org/officeDocument/2006/relationships/hyperlink" Target="https://tranetis.jira.com/wiki/spaces/TSMT/pages/4108681299/Equipment+Onboarding" TargetMode="External"/><Relationship Id="rId5" Type="http://schemas.openxmlformats.org/officeDocument/2006/relationships/hyperlink" Target="https://tranetis.jira.com/wiki/spaces/TSMT/pages/4089217110/Data+Maintenance+Center+Manufacturing+Data+Preparation+DMC+MDP" TargetMode="External"/><Relationship Id="rId6" Type="http://schemas.openxmlformats.org/officeDocument/2006/relationships/hyperlink" Target="https://tranetis.jira.com/wiki/spaces/TSMT/pages/4108517505/Jobs+Coordinated+Jobs+COJO" TargetMode="External"/><Relationship Id="rId7" Type="http://schemas.openxmlformats.org/officeDocument/2006/relationships/hyperlink" Target="https://tranetis.jira.com/wiki/spaces/TSMT/pages/4501078104/Contracting+Team" TargetMode="External"/><Relationship Id="rId8" Type="http://schemas.openxmlformats.org/officeDocument/2006/relationships/hyperlink" Target="https://tranetis.jira.com/wiki/spaces/TSMT/pages/4108812330/Trane+Design+Assist+TDA" TargetMode="External"/><Relationship Id="rId9" Type="http://schemas.openxmlformats.org/officeDocument/2006/relationships/hyperlink" Target="https://tranetis.jira.com/wiki/spaces/TSMT/pages/4108812415/Work+Package+Onboarding" TargetMode="External"/><Relationship Id="rId10" Type="http://schemas.openxmlformats.org/officeDocument/2006/relationships/hyperlink" Target="https://tranetis.jira.com/wiki/spaces/TSMT/pages/4501733404/Service" TargetMode="External"/><Relationship Id="rId11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0"/>
            <a:ext cx="4754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1645920"/>
            <a:ext cx="3840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 to CHVAC QA Core team</a:t>
            </a:r>
            <a:endParaRPr lang="en-US" sz="36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109728"/>
            <a:ext cx="84490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 deck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347472" y="658368"/>
            <a:ext cx="2926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94944" y="658368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the team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47472" y="1042416"/>
            <a:ext cx="5943600" cy="0"/>
          </a:xfrm>
          <a:prstGeom prst="line">
            <a:avLst/>
          </a:prstGeom>
          <a:noFill/>
          <a:ln w="635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347472" y="1133856"/>
            <a:ext cx="2926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94944" y="1133856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 we do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7472" y="1517904"/>
            <a:ext cx="5943600" cy="0"/>
          </a:xfrm>
          <a:prstGeom prst="line">
            <a:avLst/>
          </a:prstGeom>
          <a:noFill/>
          <a:ln w="635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347472" y="1609344"/>
            <a:ext cx="2926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94944" y="1609344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things you need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47472" y="1993392"/>
            <a:ext cx="5943600" cy="0"/>
          </a:xfrm>
          <a:prstGeom prst="line">
            <a:avLst/>
          </a:prstGeom>
          <a:noFill/>
          <a:ln w="635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347472" y="2084832"/>
            <a:ext cx="2926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94944" y="2084832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things you need to do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47472" y="2468880"/>
            <a:ext cx="5943600" cy="0"/>
          </a:xfrm>
          <a:prstGeom prst="line">
            <a:avLst/>
          </a:prstGeom>
          <a:noFill/>
          <a:ln w="635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347472" y="2560320"/>
            <a:ext cx="2926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94944" y="256032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KT Plan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47472" y="2944368"/>
            <a:ext cx="5943600" cy="0"/>
          </a:xfrm>
          <a:prstGeom prst="line">
            <a:avLst/>
          </a:prstGeom>
          <a:noFill/>
          <a:ln w="635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347472" y="3035808"/>
            <a:ext cx="2926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94944" y="3035808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of Contact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47472" y="3419856"/>
            <a:ext cx="5943600" cy="0"/>
          </a:xfrm>
          <a:prstGeom prst="line">
            <a:avLst/>
          </a:prstGeom>
          <a:noFill/>
          <a:ln w="635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109728"/>
            <a:ext cx="84490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the team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347472" y="530352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team spans USA and India across multiple delivery tracks under the CHVAC IT OTC QA practice.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47472" y="932688"/>
            <a:ext cx="5029200" cy="548640"/>
          </a:xfrm>
          <a:prstGeom prst="rect">
            <a:avLst/>
          </a:prstGeom>
          <a:solidFill>
            <a:srgbClr val="EDE7F6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347472" y="932688"/>
            <a:ext cx="64008" cy="54864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475488" y="969264"/>
            <a:ext cx="4754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Ramesh Hegde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75488" y="1207008"/>
            <a:ext cx="4754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Sr. Manager – QA Leader  ·  WorkSight QA Lead  ·  Trane-ITC  ·  Offshore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669280" y="530352"/>
            <a:ext cx="3108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at a Glance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0" y="804672"/>
            <a:ext cx="310896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5724144" y="80467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Analysts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7589520" y="804672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25+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669280" y="1078992"/>
            <a:ext cx="3108960" cy="256032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5724144" y="107899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589520" y="1078992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30+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669280" y="1353312"/>
            <a:ext cx="310896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5724144" y="135331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Owners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589520" y="1353312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669280" y="1627632"/>
            <a:ext cx="3108960" cy="256032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5724144" y="162763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Masters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589520" y="1627632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669280" y="1901952"/>
            <a:ext cx="310896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5724144" y="190195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Func. Analysts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589520" y="1901952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10+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669280" y="2176272"/>
            <a:ext cx="3108960" cy="256032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5724144" y="217627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 / PAs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7589520" y="2176272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  <p:pic>
        <p:nvPicPr>
          <p:cNvPr id="3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34" name="Rectangle 33"/>
          <p:cNvSpPr/>
          <p:nvPr/>
        </p:nvSpPr>
        <p:spPr>
          <a:xfrm>
            <a:off x="347472" y="1627632"/>
            <a:ext cx="50292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1000" b="1">
                <a:solidFill>
                  <a:srgbClr val="1F2937"/>
                </a:solidFill>
                <a:latin typeface="Aptos"/>
              </a:rPr>
              <a:t>Delivery Tracks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7472" y="1901952"/>
            <a:ext cx="50292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950" b="1">
                <a:solidFill>
                  <a:srgbClr val="1F2937"/>
                </a:solidFill>
                <a:latin typeface="Aptos"/>
              </a:rPr>
              <a:t>WorkSight Projects: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72" y="2157984"/>
            <a:ext cx="5029200" cy="1554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850" b="0">
                <a:solidFill>
                  <a:srgbClr val="1F2937"/>
                </a:solidFill>
                <a:latin typeface="Aptos"/>
              </a:rPr>
              <a:t>- TSA (Trane Select Assist)</a:t>
            </a:r>
          </a:p>
          <a:p>
            <a:pPr algn="l"/>
            <a:r>
              <a:rPr sz="850" b="0">
                <a:solidFill>
                  <a:srgbClr val="1F2937"/>
                </a:solidFill>
                <a:latin typeface="Aptos"/>
              </a:rPr>
              <a:t>- Equipment (R12)</a:t>
            </a:r>
          </a:p>
          <a:p>
            <a:pPr algn="l"/>
            <a:r>
              <a:rPr sz="850" b="0">
                <a:solidFill>
                  <a:srgbClr val="1F2937"/>
                </a:solidFill>
                <a:latin typeface="Aptos"/>
              </a:rPr>
              <a:t>- DMC / MDP</a:t>
            </a:r>
          </a:p>
          <a:p>
            <a:pPr algn="l"/>
            <a:r>
              <a:rPr sz="850" b="0">
                <a:solidFill>
                  <a:srgbClr val="1F2937"/>
                </a:solidFill>
                <a:latin typeface="Aptos"/>
              </a:rPr>
              <a:t>- Jobs &amp; CoJo</a:t>
            </a:r>
          </a:p>
          <a:p>
            <a:pPr algn="l"/>
            <a:r>
              <a:rPr sz="850" b="0">
                <a:solidFill>
                  <a:srgbClr val="1F2937"/>
                </a:solidFill>
                <a:latin typeface="Aptos"/>
              </a:rPr>
              <a:t>- Contracting (Team 1 &amp; 2)</a:t>
            </a:r>
          </a:p>
          <a:p>
            <a:pPr algn="l"/>
            <a:r>
              <a:rPr sz="850" b="0">
                <a:solidFill>
                  <a:srgbClr val="1F2937"/>
                </a:solidFill>
                <a:latin typeface="Aptos"/>
              </a:rPr>
              <a:t>- Work Package</a:t>
            </a:r>
          </a:p>
          <a:p>
            <a:pPr algn="l"/>
            <a:r>
              <a:rPr sz="850" b="0">
                <a:solidFill>
                  <a:srgbClr val="1F2937"/>
                </a:solidFill>
                <a:latin typeface="Aptos"/>
              </a:rPr>
              <a:t>- Documents (DocGen)</a:t>
            </a:r>
          </a:p>
          <a:p>
            <a:pPr algn="l"/>
            <a:r>
              <a:rPr sz="850" b="0">
                <a:solidFill>
                  <a:srgbClr val="1F2937"/>
                </a:solidFill>
                <a:latin typeface="Aptos"/>
              </a:rPr>
              <a:t>- Service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47472" y="3950208"/>
            <a:ext cx="50292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950" b="1">
                <a:solidFill>
                  <a:srgbClr val="1F2937"/>
                </a:solidFill>
                <a:latin typeface="Aptos"/>
              </a:rPr>
              <a:t>Other Projects: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72" y="4206240"/>
            <a:ext cx="502920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850" b="0">
                <a:solidFill>
                  <a:srgbClr val="1F2937"/>
                </a:solidFill>
                <a:latin typeface="Aptos"/>
              </a:rPr>
              <a:t>- TDA (Trane Design Assist)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  <p:sp>
        <p:nvSpPr>
          <p:cNvPr id="150" name="Text 147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/>
          </a:p>
        </p:txBody>
      </p:sp>
      <p:sp>
        <p:nvSpPr>
          <p:cNvPr id="151" name="Rectangle 150"/>
          <p:cNvSpPr/>
          <p:nvPr/>
        </p:nvSpPr>
        <p:spPr>
          <a:xfrm>
            <a:off x="347472" y="109728"/>
            <a:ext cx="8449056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2000" b="1">
                <a:solidFill>
                  <a:srgbClr val="1F2937"/>
                </a:solidFill>
                <a:latin typeface="Aptos"/>
              </a:rPr>
              <a:t>WorkSight QA – Reporting Structure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347472" y="493776"/>
            <a:ext cx="8449056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900" b="0">
                <a:solidFill>
                  <a:srgbClr val="4B5563"/>
                </a:solidFill>
                <a:latin typeface="Aptos"/>
              </a:rPr>
              <a:t>Ramesh Hegde leads WorkSight and TDA sessions. QA leads and sub-items shown below.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3063240" y="1005840"/>
            <a:ext cx="3017520" cy="402336"/>
          </a:xfrm>
          <a:prstGeom prst="rect">
            <a:avLst/>
          </a:prstGeom>
          <a:solidFill>
            <a:srgbClr val="4A148C"/>
          </a:solidFill>
          <a:ln>
            <a:solidFill>
              <a:srgbClr val="4A14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3063240" y="1005840"/>
            <a:ext cx="3017520" cy="4023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100" b="0">
                <a:solidFill>
                  <a:srgbClr val="FFFFFF"/>
                </a:solidFill>
                <a:latin typeface="Aptos"/>
              </a:rPr>
              <a:t>Ramesh Hegde · WorkSight QA Manager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1828800" y="1901952"/>
            <a:ext cx="1234440" cy="438912"/>
          </a:xfrm>
          <a:prstGeom prst="rect">
            <a:avLst/>
          </a:prstGeom>
          <a:solidFill>
            <a:srgbClr val="F3F0FA"/>
          </a:solidFill>
          <a:ln w="762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1828800" y="1901952"/>
            <a:ext cx="45720" cy="43891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1892807" y="1901952"/>
            <a:ext cx="1161288" cy="4389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750" b="0">
                <a:solidFill>
                  <a:srgbClr val="1F2937"/>
                </a:solidFill>
                <a:latin typeface="Aptos"/>
              </a:rPr>
              <a:t>WorkSight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1828800" y="2432304"/>
            <a:ext cx="123444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750" b="0">
                <a:solidFill>
                  <a:srgbClr val="1F2937"/>
                </a:solidFill>
                <a:latin typeface="Aptos"/>
              </a:rPr>
              <a:t>Projects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6080760" y="1901952"/>
            <a:ext cx="1234440" cy="438912"/>
          </a:xfrm>
          <a:prstGeom prst="rect">
            <a:avLst/>
          </a:prstGeom>
          <a:solidFill>
            <a:srgbClr val="F3F0FA"/>
          </a:solidFill>
          <a:ln w="762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6080760" y="1901952"/>
            <a:ext cx="45720" cy="43891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6144768" y="1901952"/>
            <a:ext cx="1161288" cy="4389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750" b="0">
                <a:solidFill>
                  <a:srgbClr val="1F2937"/>
                </a:solidFill>
                <a:latin typeface="Aptos"/>
              </a:rPr>
              <a:t>TDA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6080760" y="2432304"/>
            <a:ext cx="123444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750" b="0">
                <a:solidFill>
                  <a:srgbClr val="1F2937"/>
                </a:solidFill>
                <a:latin typeface="Aptos"/>
              </a:rPr>
              <a:t>Naveen H</a:t>
            </a:r>
          </a:p>
        </p:txBody>
      </p:sp>
      <p:cxnSp>
        <p:nvCxnSpPr>
          <p:cNvPr id="163" name="Connector 162"/>
          <p:cNvCxnSpPr/>
          <p:nvPr/>
        </p:nvCxnSpPr>
        <p:spPr>
          <a:xfrm>
            <a:off x="4572000" y="1408176"/>
            <a:ext cx="0" cy="256032"/>
          </a:xfrm>
          <a:prstGeom prst="line">
            <a:avLst/>
          </a:prstGeom>
          <a:ln w="11430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>
            <a:off x="2450592" y="1664208"/>
            <a:ext cx="4242816" cy="0"/>
          </a:xfrm>
          <a:prstGeom prst="line">
            <a:avLst/>
          </a:prstGeom>
          <a:ln w="11430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2450592" y="1664208"/>
            <a:ext cx="0" cy="237744"/>
          </a:xfrm>
          <a:prstGeom prst="line">
            <a:avLst/>
          </a:prstGeom>
          <a:ln w="11430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>
            <a:off x="6693408" y="1664208"/>
            <a:ext cx="0" cy="237744"/>
          </a:xfrm>
          <a:prstGeom prst="line">
            <a:avLst/>
          </a:prstGeom>
          <a:ln w="11430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Rectangle 166"/>
          <p:cNvSpPr/>
          <p:nvPr/>
        </p:nvSpPr>
        <p:spPr>
          <a:xfrm>
            <a:off x="411480" y="2907792"/>
            <a:ext cx="950976" cy="438912"/>
          </a:xfrm>
          <a:prstGeom prst="rect">
            <a:avLst/>
          </a:prstGeom>
          <a:solidFill>
            <a:srgbClr val="F3F0FA"/>
          </a:solidFill>
          <a:ln w="762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411480" y="2907792"/>
            <a:ext cx="45720" cy="43891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475488" y="2907792"/>
            <a:ext cx="877824" cy="4389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750" b="0">
                <a:solidFill>
                  <a:srgbClr val="1F2937"/>
                </a:solidFill>
                <a:latin typeface="Aptos"/>
              </a:rPr>
              <a:t>Trane Select Assist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11480" y="3438144"/>
            <a:ext cx="95097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750" b="0">
                <a:solidFill>
                  <a:srgbClr val="1F2937"/>
                </a:solidFill>
                <a:latin typeface="Aptos"/>
              </a:rPr>
              <a:t>Varsha C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1417320" y="2907792"/>
            <a:ext cx="950976" cy="438912"/>
          </a:xfrm>
          <a:prstGeom prst="rect">
            <a:avLst/>
          </a:prstGeom>
          <a:solidFill>
            <a:srgbClr val="F3F0FA"/>
          </a:solidFill>
          <a:ln w="762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1417320" y="2907792"/>
            <a:ext cx="45720" cy="43891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1481328" y="2907792"/>
            <a:ext cx="877824" cy="4389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750" b="0">
                <a:solidFill>
                  <a:srgbClr val="1F2937"/>
                </a:solidFill>
                <a:latin typeface="Aptos"/>
              </a:rPr>
              <a:t>Equipment (R12)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1417320" y="3438144"/>
            <a:ext cx="95097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750" b="0">
                <a:solidFill>
                  <a:srgbClr val="1F2937"/>
                </a:solidFill>
                <a:latin typeface="Aptos"/>
              </a:rPr>
              <a:t>Brinda S/Harikrishnan, Aiswarya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2423160" y="2907792"/>
            <a:ext cx="950976" cy="438912"/>
          </a:xfrm>
          <a:prstGeom prst="rect">
            <a:avLst/>
          </a:prstGeom>
          <a:solidFill>
            <a:srgbClr val="F3F0FA"/>
          </a:solidFill>
          <a:ln w="762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2423160" y="2907792"/>
            <a:ext cx="45720" cy="43891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2487168" y="2907792"/>
            <a:ext cx="877824" cy="4389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750" b="0">
                <a:solidFill>
                  <a:srgbClr val="1F2937"/>
                </a:solidFill>
                <a:latin typeface="Aptos"/>
              </a:rPr>
              <a:t>DMC / MDP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2423160" y="3438144"/>
            <a:ext cx="95097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750" b="0">
                <a:solidFill>
                  <a:srgbClr val="1F2937"/>
                </a:solidFill>
                <a:latin typeface="Aptos"/>
              </a:rPr>
              <a:t>Mahesh L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429000" y="2907792"/>
            <a:ext cx="950976" cy="438912"/>
          </a:xfrm>
          <a:prstGeom prst="rect">
            <a:avLst/>
          </a:prstGeom>
          <a:solidFill>
            <a:srgbClr val="F3F0FA"/>
          </a:solidFill>
          <a:ln w="762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3429000" y="2907792"/>
            <a:ext cx="45720" cy="43891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3493008" y="2907792"/>
            <a:ext cx="877824" cy="4389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750" b="0">
                <a:solidFill>
                  <a:srgbClr val="1F2937"/>
                </a:solidFill>
                <a:latin typeface="Aptos"/>
              </a:rPr>
              <a:t>Jobs &amp; CoJo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3429000" y="3438144"/>
            <a:ext cx="95097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750" b="0">
                <a:solidFill>
                  <a:srgbClr val="1F2937"/>
                </a:solidFill>
                <a:latin typeface="Aptos"/>
              </a:rPr>
              <a:t>Rashmi R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4434840" y="2907792"/>
            <a:ext cx="987552" cy="438912"/>
          </a:xfrm>
          <a:prstGeom prst="rect">
            <a:avLst/>
          </a:prstGeom>
          <a:solidFill>
            <a:srgbClr val="F3F0FA"/>
          </a:solidFill>
          <a:ln w="762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4434840" y="2907792"/>
            <a:ext cx="45720" cy="43891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4498848" y="2907792"/>
            <a:ext cx="914400" cy="4389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750" b="0">
                <a:solidFill>
                  <a:srgbClr val="1F2937"/>
                </a:solidFill>
                <a:latin typeface="Aptos"/>
              </a:rPr>
              <a:t>Contracting(Team 1 &amp; 2) (Tax)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4434840" y="3438144"/>
            <a:ext cx="987552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750" b="0">
                <a:solidFill>
                  <a:srgbClr val="1F2937"/>
                </a:solidFill>
                <a:latin typeface="Aptos"/>
              </a:rPr>
              <a:t>Vignesh S/Preethi Khajji/Srinivasa R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5440680" y="2907792"/>
            <a:ext cx="950976" cy="438912"/>
          </a:xfrm>
          <a:prstGeom prst="rect">
            <a:avLst/>
          </a:prstGeom>
          <a:solidFill>
            <a:srgbClr val="F3F0FA"/>
          </a:solidFill>
          <a:ln w="762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5440680" y="2907792"/>
            <a:ext cx="45720" cy="43891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5504688" y="2907792"/>
            <a:ext cx="877824" cy="4389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750" b="0">
                <a:solidFill>
                  <a:srgbClr val="1F2937"/>
                </a:solidFill>
                <a:latin typeface="Aptos"/>
              </a:rPr>
              <a:t>Work Package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40680" y="3438144"/>
            <a:ext cx="95097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750" b="0">
                <a:solidFill>
                  <a:srgbClr val="1F2937"/>
                </a:solidFill>
                <a:latin typeface="Aptos"/>
              </a:rPr>
              <a:t>Likhith P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6446520" y="2907792"/>
            <a:ext cx="950976" cy="438912"/>
          </a:xfrm>
          <a:prstGeom prst="rect">
            <a:avLst/>
          </a:prstGeom>
          <a:solidFill>
            <a:srgbClr val="F3F0FA"/>
          </a:solidFill>
          <a:ln w="762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6446520" y="2907792"/>
            <a:ext cx="45720" cy="43891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6510528" y="2907792"/>
            <a:ext cx="877824" cy="4389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750" b="0">
                <a:solidFill>
                  <a:srgbClr val="1F2937"/>
                </a:solidFill>
                <a:latin typeface="Aptos"/>
              </a:rPr>
              <a:t>Documents (DocGen)</a:t>
            </a:r>
          </a:p>
        </p:txBody>
      </p:sp>
      <p:sp>
        <p:nvSpPr>
          <p:cNvPr id="194" name="Rectangle 193"/>
          <p:cNvSpPr/>
          <p:nvPr/>
        </p:nvSpPr>
        <p:spPr>
          <a:xfrm>
            <a:off x="6446520" y="3438144"/>
            <a:ext cx="95097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750" b="0">
                <a:solidFill>
                  <a:srgbClr val="1F2937"/>
                </a:solidFill>
                <a:latin typeface="Aptos"/>
              </a:rPr>
              <a:t>Sandhyarani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7452360" y="2907792"/>
            <a:ext cx="950976" cy="438912"/>
          </a:xfrm>
          <a:prstGeom prst="rect">
            <a:avLst/>
          </a:prstGeom>
          <a:solidFill>
            <a:srgbClr val="F3F0FA"/>
          </a:solidFill>
          <a:ln w="762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7452360" y="2907792"/>
            <a:ext cx="45720" cy="43891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7516368" y="2907792"/>
            <a:ext cx="877824" cy="4389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750" b="0">
                <a:solidFill>
                  <a:srgbClr val="1F2937"/>
                </a:solidFill>
                <a:latin typeface="Aptos"/>
              </a:rPr>
              <a:t>Service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7452360" y="3438144"/>
            <a:ext cx="95097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750" b="0">
                <a:solidFill>
                  <a:srgbClr val="1F2937"/>
                </a:solidFill>
                <a:latin typeface="Aptos"/>
              </a:rPr>
              <a:t>Frank 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109728"/>
            <a:ext cx="84490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 Track – Teams A &amp; B</a:t>
            </a:r>
            <a:endParaRPr lang="en-US" sz="2000"/>
          </a:p>
        </p:txBody>
      </p:sp>
      <p:sp>
        <p:nvSpPr>
          <p:cNvPr id="3" name="Text 1"/>
          <p:cNvSpPr/>
          <p:nvPr/>
        </p:nvSpPr>
        <p:spPr>
          <a:xfrm>
            <a:off x="347472" y="548640"/>
            <a:ext cx="41696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 (14 members)</a:t>
            </a:r>
            <a:endParaRPr lang="en-US" sz="950"/>
          </a:p>
        </p:txBody>
      </p:sp>
      <p:sp>
        <p:nvSpPr>
          <p:cNvPr id="4" name="Shape 2"/>
          <p:cNvSpPr/>
          <p:nvPr/>
        </p:nvSpPr>
        <p:spPr>
          <a:xfrm>
            <a:off x="347472" y="768096"/>
            <a:ext cx="4169664" cy="219456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347472" y="768096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402336" y="768096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Jaimie Christianson</a:t>
            </a:r>
            <a:endParaRPr lang="en-US" sz="750"/>
          </a:p>
        </p:txBody>
      </p:sp>
      <p:sp>
        <p:nvSpPr>
          <p:cNvPr id="7" name="Text 5"/>
          <p:cNvSpPr/>
          <p:nvPr/>
        </p:nvSpPr>
        <p:spPr>
          <a:xfrm>
            <a:off x="1986808" y="768096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Owner</a:t>
            </a:r>
            <a:endParaRPr lang="en-US" sz="700"/>
          </a:p>
        </p:txBody>
      </p:sp>
      <p:sp>
        <p:nvSpPr>
          <p:cNvPr id="8" name="Text 6"/>
          <p:cNvSpPr/>
          <p:nvPr/>
        </p:nvSpPr>
        <p:spPr>
          <a:xfrm>
            <a:off x="3446191" y="768096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/>
          </a:p>
        </p:txBody>
      </p:sp>
      <p:sp>
        <p:nvSpPr>
          <p:cNvPr id="9" name="Shape 7"/>
          <p:cNvSpPr/>
          <p:nvPr/>
        </p:nvSpPr>
        <p:spPr>
          <a:xfrm>
            <a:off x="347472" y="987552"/>
            <a:ext cx="4169664" cy="219456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347472" y="987552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402336" y="987552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Vijay Patti Reddy</a:t>
            </a:r>
            <a:endParaRPr lang="en-US" sz="750"/>
          </a:p>
        </p:txBody>
      </p:sp>
      <p:sp>
        <p:nvSpPr>
          <p:cNvPr id="12" name="Text 10"/>
          <p:cNvSpPr/>
          <p:nvPr/>
        </p:nvSpPr>
        <p:spPr>
          <a:xfrm>
            <a:off x="1986808" y="987552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Analyst</a:t>
            </a:r>
            <a:endParaRPr lang="en-US" sz="700"/>
          </a:p>
        </p:txBody>
      </p:sp>
      <p:sp>
        <p:nvSpPr>
          <p:cNvPr id="13" name="Text 11"/>
          <p:cNvSpPr/>
          <p:nvPr/>
        </p:nvSpPr>
        <p:spPr>
          <a:xfrm>
            <a:off x="3446191" y="987552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Cognizant</a:t>
            </a:r>
            <a:endParaRPr lang="en-US" sz="650"/>
          </a:p>
        </p:txBody>
      </p:sp>
      <p:sp>
        <p:nvSpPr>
          <p:cNvPr id="14" name="Shape 12"/>
          <p:cNvSpPr/>
          <p:nvPr/>
        </p:nvSpPr>
        <p:spPr>
          <a:xfrm>
            <a:off x="347472" y="1207008"/>
            <a:ext cx="4169664" cy="219456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347472" y="1207008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02336" y="1207008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Pradeesh Kumar</a:t>
            </a:r>
            <a:endParaRPr lang="en-US" sz="750"/>
          </a:p>
        </p:txBody>
      </p:sp>
      <p:sp>
        <p:nvSpPr>
          <p:cNvPr id="17" name="Text 15"/>
          <p:cNvSpPr/>
          <p:nvPr/>
        </p:nvSpPr>
        <p:spPr>
          <a:xfrm>
            <a:off x="1986808" y="1207008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Analyst</a:t>
            </a:r>
            <a:endParaRPr lang="en-US" sz="700"/>
          </a:p>
        </p:txBody>
      </p:sp>
      <p:sp>
        <p:nvSpPr>
          <p:cNvPr id="18" name="Text 16"/>
          <p:cNvSpPr/>
          <p:nvPr/>
        </p:nvSpPr>
        <p:spPr>
          <a:xfrm>
            <a:off x="3446191" y="1207008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Cognizant</a:t>
            </a:r>
            <a:endParaRPr lang="en-US" sz="650"/>
          </a:p>
        </p:txBody>
      </p:sp>
      <p:sp>
        <p:nvSpPr>
          <p:cNvPr id="54" name="Shape 52"/>
          <p:cNvSpPr/>
          <p:nvPr/>
        </p:nvSpPr>
        <p:spPr>
          <a:xfrm>
            <a:off x="347472" y="1453896"/>
            <a:ext cx="4169664" cy="219456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Shape 53"/>
          <p:cNvSpPr/>
          <p:nvPr/>
        </p:nvSpPr>
        <p:spPr>
          <a:xfrm>
            <a:off x="347472" y="1453896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6" name="Text 54"/>
          <p:cNvSpPr/>
          <p:nvPr/>
        </p:nvSpPr>
        <p:spPr>
          <a:xfrm>
            <a:off x="402336" y="1453896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Brinda S</a:t>
            </a:r>
            <a:endParaRPr lang="en-US" sz="750"/>
          </a:p>
        </p:txBody>
      </p:sp>
      <p:sp>
        <p:nvSpPr>
          <p:cNvPr id="57" name="Text 55"/>
          <p:cNvSpPr/>
          <p:nvPr/>
        </p:nvSpPr>
        <p:spPr>
          <a:xfrm>
            <a:off x="1986808" y="1453896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Func Lead</a:t>
            </a:r>
            <a:endParaRPr lang="en-US" sz="700"/>
          </a:p>
        </p:txBody>
      </p:sp>
      <p:sp>
        <p:nvSpPr>
          <p:cNvPr id="58" name="Text 56"/>
          <p:cNvSpPr/>
          <p:nvPr/>
        </p:nvSpPr>
        <p:spPr>
          <a:xfrm>
            <a:off x="3446191" y="1453896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/>
          </a:p>
        </p:txBody>
      </p:sp>
      <p:sp>
        <p:nvSpPr>
          <p:cNvPr id="59" name="Shape 57"/>
          <p:cNvSpPr/>
          <p:nvPr/>
        </p:nvSpPr>
        <p:spPr>
          <a:xfrm>
            <a:off x="347472" y="1673352"/>
            <a:ext cx="4169664" cy="219456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8"/>
          <p:cNvSpPr/>
          <p:nvPr/>
        </p:nvSpPr>
        <p:spPr>
          <a:xfrm>
            <a:off x="347472" y="1673352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1" name="Text 59"/>
          <p:cNvSpPr/>
          <p:nvPr/>
        </p:nvSpPr>
        <p:spPr>
          <a:xfrm>
            <a:off x="402336" y="1673352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Devendra E</a:t>
            </a:r>
            <a:endParaRPr lang="en-US" sz="750"/>
          </a:p>
        </p:txBody>
      </p:sp>
      <p:sp>
        <p:nvSpPr>
          <p:cNvPr id="62" name="Text 60"/>
          <p:cNvSpPr/>
          <p:nvPr/>
        </p:nvSpPr>
        <p:spPr>
          <a:xfrm>
            <a:off x="1986808" y="1673352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Func / Auto</a:t>
            </a:r>
            <a:endParaRPr lang="en-US" sz="700"/>
          </a:p>
        </p:txBody>
      </p:sp>
      <p:sp>
        <p:nvSpPr>
          <p:cNvPr id="63" name="Text 61"/>
          <p:cNvSpPr/>
          <p:nvPr/>
        </p:nvSpPr>
        <p:spPr>
          <a:xfrm>
            <a:off x="3446191" y="1673352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/>
          </a:p>
        </p:txBody>
      </p:sp>
      <p:sp>
        <p:nvSpPr>
          <p:cNvPr id="64" name="Shape 62"/>
          <p:cNvSpPr/>
          <p:nvPr/>
        </p:nvSpPr>
        <p:spPr>
          <a:xfrm>
            <a:off x="347472" y="1892808"/>
            <a:ext cx="4169664" cy="219456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5" name="Shape 63"/>
          <p:cNvSpPr/>
          <p:nvPr/>
        </p:nvSpPr>
        <p:spPr>
          <a:xfrm>
            <a:off x="347472" y="1892808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6" name="Text 64"/>
          <p:cNvSpPr/>
          <p:nvPr/>
        </p:nvSpPr>
        <p:spPr>
          <a:xfrm>
            <a:off x="402336" y="1892808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Praveen Nagaraj</a:t>
            </a:r>
            <a:endParaRPr lang="en-US" sz="750"/>
          </a:p>
        </p:txBody>
      </p:sp>
      <p:sp>
        <p:nvSpPr>
          <p:cNvPr id="67" name="Text 65"/>
          <p:cNvSpPr/>
          <p:nvPr/>
        </p:nvSpPr>
        <p:spPr>
          <a:xfrm>
            <a:off x="1986808" y="1892808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Functional</a:t>
            </a:r>
            <a:endParaRPr lang="en-US" sz="700"/>
          </a:p>
        </p:txBody>
      </p:sp>
      <p:sp>
        <p:nvSpPr>
          <p:cNvPr id="68" name="Text 66"/>
          <p:cNvSpPr/>
          <p:nvPr/>
        </p:nvSpPr>
        <p:spPr>
          <a:xfrm>
            <a:off x="3446191" y="1892808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/>
          </a:p>
        </p:txBody>
      </p:sp>
      <p:sp>
        <p:nvSpPr>
          <p:cNvPr id="69" name="Shape 67"/>
          <p:cNvSpPr/>
          <p:nvPr/>
        </p:nvSpPr>
        <p:spPr>
          <a:xfrm>
            <a:off x="347472" y="2112264"/>
            <a:ext cx="4169664" cy="219456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0" name="Shape 68"/>
          <p:cNvSpPr/>
          <p:nvPr/>
        </p:nvSpPr>
        <p:spPr>
          <a:xfrm>
            <a:off x="347472" y="2112264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1" name="Text 69"/>
          <p:cNvSpPr/>
          <p:nvPr/>
        </p:nvSpPr>
        <p:spPr>
          <a:xfrm>
            <a:off x="402336" y="2112264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Jashwanth Sai</a:t>
            </a:r>
            <a:endParaRPr lang="en-US" sz="750"/>
          </a:p>
        </p:txBody>
      </p:sp>
      <p:sp>
        <p:nvSpPr>
          <p:cNvPr id="72" name="Text 70"/>
          <p:cNvSpPr/>
          <p:nvPr/>
        </p:nvSpPr>
        <p:spPr>
          <a:xfrm>
            <a:off x="1986808" y="2112264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Func / Auto</a:t>
            </a:r>
            <a:endParaRPr lang="en-US" sz="700"/>
          </a:p>
        </p:txBody>
      </p:sp>
      <p:sp>
        <p:nvSpPr>
          <p:cNvPr id="73" name="Text 71"/>
          <p:cNvSpPr/>
          <p:nvPr/>
        </p:nvSpPr>
        <p:spPr>
          <a:xfrm>
            <a:off x="3446191" y="2112264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/>
          </a:p>
        </p:txBody>
      </p:sp>
      <p:sp>
        <p:nvSpPr>
          <p:cNvPr id="74" name="Text 72"/>
          <p:cNvSpPr/>
          <p:nvPr/>
        </p:nvSpPr>
        <p:spPr>
          <a:xfrm>
            <a:off x="4626864" y="548640"/>
            <a:ext cx="41696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B (17 members)</a:t>
            </a:r>
            <a:endParaRPr lang="en-US" sz="950"/>
          </a:p>
        </p:txBody>
      </p:sp>
      <p:sp>
        <p:nvSpPr>
          <p:cNvPr id="75" name="Shape 73"/>
          <p:cNvSpPr/>
          <p:nvPr/>
        </p:nvSpPr>
        <p:spPr>
          <a:xfrm>
            <a:off x="4626864" y="768096"/>
            <a:ext cx="4169664" cy="219456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6" name="Shape 74"/>
          <p:cNvSpPr/>
          <p:nvPr/>
        </p:nvSpPr>
        <p:spPr>
          <a:xfrm>
            <a:off x="4626864" y="768096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7" name="Text 75"/>
          <p:cNvSpPr/>
          <p:nvPr/>
        </p:nvSpPr>
        <p:spPr>
          <a:xfrm>
            <a:off x="4681728" y="768096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 White</a:t>
            </a:r>
            <a:endParaRPr lang="en-US" sz="750"/>
          </a:p>
        </p:txBody>
      </p:sp>
      <p:sp>
        <p:nvSpPr>
          <p:cNvPr id="78" name="Text 76"/>
          <p:cNvSpPr/>
          <p:nvPr/>
        </p:nvSpPr>
        <p:spPr>
          <a:xfrm>
            <a:off x="6266200" y="768096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Owner</a:t>
            </a:r>
            <a:endParaRPr lang="en-US" sz="700"/>
          </a:p>
        </p:txBody>
      </p:sp>
      <p:sp>
        <p:nvSpPr>
          <p:cNvPr id="79" name="Text 77"/>
          <p:cNvSpPr/>
          <p:nvPr/>
        </p:nvSpPr>
        <p:spPr>
          <a:xfrm>
            <a:off x="7725583" y="768096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/>
          </a:p>
        </p:txBody>
      </p:sp>
      <p:sp>
        <p:nvSpPr>
          <p:cNvPr id="80" name="Shape 78"/>
          <p:cNvSpPr/>
          <p:nvPr/>
        </p:nvSpPr>
        <p:spPr>
          <a:xfrm>
            <a:off x="4626864" y="987552"/>
            <a:ext cx="4169664" cy="219456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1" name="Shape 79"/>
          <p:cNvSpPr/>
          <p:nvPr/>
        </p:nvSpPr>
        <p:spPr>
          <a:xfrm>
            <a:off x="4626864" y="987552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2" name="Text 80"/>
          <p:cNvSpPr/>
          <p:nvPr/>
        </p:nvSpPr>
        <p:spPr>
          <a:xfrm>
            <a:off x="4681728" y="987552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Cassi Key</a:t>
            </a:r>
            <a:endParaRPr lang="en-US" sz="750"/>
          </a:p>
        </p:txBody>
      </p:sp>
      <p:sp>
        <p:nvSpPr>
          <p:cNvPr id="83" name="Text 81"/>
          <p:cNvSpPr/>
          <p:nvPr/>
        </p:nvSpPr>
        <p:spPr>
          <a:xfrm>
            <a:off x="6266200" y="987552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 Business</a:t>
            </a:r>
            <a:endParaRPr lang="en-US" sz="700"/>
          </a:p>
        </p:txBody>
      </p:sp>
      <p:sp>
        <p:nvSpPr>
          <p:cNvPr id="84" name="Text 82"/>
          <p:cNvSpPr/>
          <p:nvPr/>
        </p:nvSpPr>
        <p:spPr>
          <a:xfrm>
            <a:off x="7725583" y="987552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/>
          </a:p>
        </p:txBody>
      </p:sp>
      <p:sp>
        <p:nvSpPr>
          <p:cNvPr id="85" name="Shape 83"/>
          <p:cNvSpPr/>
          <p:nvPr/>
        </p:nvSpPr>
        <p:spPr>
          <a:xfrm>
            <a:off x="4626864" y="1207008"/>
            <a:ext cx="4169664" cy="219456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6" name="Shape 84"/>
          <p:cNvSpPr/>
          <p:nvPr/>
        </p:nvSpPr>
        <p:spPr>
          <a:xfrm>
            <a:off x="4626864" y="1207008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7" name="Text 85"/>
          <p:cNvSpPr/>
          <p:nvPr/>
        </p:nvSpPr>
        <p:spPr>
          <a:xfrm>
            <a:off x="4681728" y="1207008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Harish Chintakuntla</a:t>
            </a:r>
            <a:endParaRPr lang="en-US" sz="750"/>
          </a:p>
        </p:txBody>
      </p:sp>
      <p:sp>
        <p:nvSpPr>
          <p:cNvPr id="88" name="Text 86"/>
          <p:cNvSpPr/>
          <p:nvPr/>
        </p:nvSpPr>
        <p:spPr>
          <a:xfrm>
            <a:off x="6266200" y="1207008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 Analyst (R12)</a:t>
            </a:r>
            <a:endParaRPr lang="en-US" sz="700"/>
          </a:p>
        </p:txBody>
      </p:sp>
      <p:sp>
        <p:nvSpPr>
          <p:cNvPr id="89" name="Text 87"/>
          <p:cNvSpPr/>
          <p:nvPr/>
        </p:nvSpPr>
        <p:spPr>
          <a:xfrm>
            <a:off x="7725583" y="1207008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/>
          </a:p>
        </p:txBody>
      </p:sp>
      <p:sp>
        <p:nvSpPr>
          <p:cNvPr id="90" name="Shape 88"/>
          <p:cNvSpPr/>
          <p:nvPr/>
        </p:nvSpPr>
        <p:spPr>
          <a:xfrm>
            <a:off x="4626864" y="1426464"/>
            <a:ext cx="4169664" cy="219456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1" name="Shape 89"/>
          <p:cNvSpPr/>
          <p:nvPr/>
        </p:nvSpPr>
        <p:spPr>
          <a:xfrm>
            <a:off x="4626864" y="1426464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2" name="Text 90"/>
          <p:cNvSpPr/>
          <p:nvPr/>
        </p:nvSpPr>
        <p:spPr>
          <a:xfrm>
            <a:off x="4681728" y="1426464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Chirag Gandhi</a:t>
            </a:r>
            <a:endParaRPr lang="en-US" sz="750"/>
          </a:p>
        </p:txBody>
      </p:sp>
      <p:sp>
        <p:nvSpPr>
          <p:cNvPr id="93" name="Text 91"/>
          <p:cNvSpPr/>
          <p:nvPr/>
        </p:nvSpPr>
        <p:spPr>
          <a:xfrm>
            <a:off x="6266200" y="1426464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 Analyst (R12)</a:t>
            </a:r>
            <a:endParaRPr lang="en-US" sz="700"/>
          </a:p>
        </p:txBody>
      </p:sp>
      <p:sp>
        <p:nvSpPr>
          <p:cNvPr id="94" name="Text 92"/>
          <p:cNvSpPr/>
          <p:nvPr/>
        </p:nvSpPr>
        <p:spPr>
          <a:xfrm>
            <a:off x="7725583" y="1426464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/>
          </a:p>
        </p:txBody>
      </p:sp>
      <p:sp>
        <p:nvSpPr>
          <p:cNvPr id="125" name="Shape 123"/>
          <p:cNvSpPr/>
          <p:nvPr/>
        </p:nvSpPr>
        <p:spPr>
          <a:xfrm>
            <a:off x="4626864" y="1673352"/>
            <a:ext cx="4169664" cy="219456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6" name="Shape 124"/>
          <p:cNvSpPr/>
          <p:nvPr/>
        </p:nvSpPr>
        <p:spPr>
          <a:xfrm>
            <a:off x="4626864" y="1673352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7" name="Text 125"/>
          <p:cNvSpPr/>
          <p:nvPr/>
        </p:nvSpPr>
        <p:spPr>
          <a:xfrm>
            <a:off x="4681728" y="1673352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Blessing</a:t>
            </a:r>
            <a:endParaRPr lang="en-US" sz="750"/>
          </a:p>
        </p:txBody>
      </p:sp>
      <p:sp>
        <p:nvSpPr>
          <p:cNvPr id="128" name="Text 126"/>
          <p:cNvSpPr/>
          <p:nvPr/>
        </p:nvSpPr>
        <p:spPr>
          <a:xfrm>
            <a:off x="6266200" y="1673352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Master</a:t>
            </a:r>
            <a:endParaRPr lang="en-US" sz="700"/>
          </a:p>
        </p:txBody>
      </p:sp>
      <p:sp>
        <p:nvSpPr>
          <p:cNvPr id="129" name="Text 127"/>
          <p:cNvSpPr/>
          <p:nvPr/>
        </p:nvSpPr>
        <p:spPr>
          <a:xfrm>
            <a:off x="7725583" y="1673352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/>
          </a:p>
        </p:txBody>
      </p:sp>
      <p:sp>
        <p:nvSpPr>
          <p:cNvPr id="135" name="Shape 133"/>
          <p:cNvSpPr/>
          <p:nvPr/>
        </p:nvSpPr>
        <p:spPr>
          <a:xfrm>
            <a:off x="4626864" y="1892808"/>
            <a:ext cx="4169664" cy="219456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6" name="Shape 134"/>
          <p:cNvSpPr/>
          <p:nvPr/>
        </p:nvSpPr>
        <p:spPr>
          <a:xfrm>
            <a:off x="4626864" y="1892808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7" name="Text 135"/>
          <p:cNvSpPr/>
          <p:nvPr/>
        </p:nvSpPr>
        <p:spPr>
          <a:xfrm>
            <a:off x="4681728" y="1892808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Aiswarya H</a:t>
            </a:r>
            <a:endParaRPr lang="en-US" sz="750"/>
          </a:p>
        </p:txBody>
      </p:sp>
      <p:sp>
        <p:nvSpPr>
          <p:cNvPr id="138" name="Text 136"/>
          <p:cNvSpPr/>
          <p:nvPr/>
        </p:nvSpPr>
        <p:spPr>
          <a:xfrm>
            <a:off x="6266200" y="1892808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Func Lead</a:t>
            </a:r>
            <a:endParaRPr lang="en-US" sz="700"/>
          </a:p>
        </p:txBody>
      </p:sp>
      <p:sp>
        <p:nvSpPr>
          <p:cNvPr id="139" name="Text 137"/>
          <p:cNvSpPr/>
          <p:nvPr/>
        </p:nvSpPr>
        <p:spPr>
          <a:xfrm>
            <a:off x="7725583" y="1892808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/>
          </a:p>
        </p:txBody>
      </p:sp>
      <p:sp>
        <p:nvSpPr>
          <p:cNvPr id="140" name="Shape 138"/>
          <p:cNvSpPr/>
          <p:nvPr/>
        </p:nvSpPr>
        <p:spPr>
          <a:xfrm>
            <a:off x="4626864" y="2112264"/>
            <a:ext cx="4169664" cy="219456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1" name="Shape 139"/>
          <p:cNvSpPr/>
          <p:nvPr/>
        </p:nvSpPr>
        <p:spPr>
          <a:xfrm>
            <a:off x="4626864" y="2112264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2" name="Text 140"/>
          <p:cNvSpPr/>
          <p:nvPr/>
        </p:nvSpPr>
        <p:spPr>
          <a:xfrm>
            <a:off x="4681728" y="2112264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Sowmya Shetty</a:t>
            </a:r>
            <a:endParaRPr lang="en-US" sz="750"/>
          </a:p>
        </p:txBody>
      </p:sp>
      <p:sp>
        <p:nvSpPr>
          <p:cNvPr id="143" name="Text 141"/>
          <p:cNvSpPr/>
          <p:nvPr/>
        </p:nvSpPr>
        <p:spPr>
          <a:xfrm>
            <a:off x="6266200" y="2112264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Func / R12</a:t>
            </a:r>
            <a:endParaRPr lang="en-US" sz="700"/>
          </a:p>
        </p:txBody>
      </p:sp>
      <p:sp>
        <p:nvSpPr>
          <p:cNvPr id="144" name="Text 142"/>
          <p:cNvSpPr/>
          <p:nvPr/>
        </p:nvSpPr>
        <p:spPr>
          <a:xfrm>
            <a:off x="7725583" y="2112264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/>
          </a:p>
        </p:txBody>
      </p:sp>
      <p:sp>
        <p:nvSpPr>
          <p:cNvPr id="145" name="Shape 143"/>
          <p:cNvSpPr/>
          <p:nvPr/>
        </p:nvSpPr>
        <p:spPr>
          <a:xfrm>
            <a:off x="4626864" y="2331720"/>
            <a:ext cx="4169664" cy="219456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6" name="Shape 144"/>
          <p:cNvSpPr/>
          <p:nvPr/>
        </p:nvSpPr>
        <p:spPr>
          <a:xfrm>
            <a:off x="4626864" y="2331720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7" name="Text 145"/>
          <p:cNvSpPr/>
          <p:nvPr/>
        </p:nvSpPr>
        <p:spPr>
          <a:xfrm>
            <a:off x="4681728" y="2331720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Greeshma Balan</a:t>
            </a:r>
            <a:endParaRPr lang="en-US" sz="750"/>
          </a:p>
        </p:txBody>
      </p:sp>
      <p:sp>
        <p:nvSpPr>
          <p:cNvPr id="148" name="Text 146"/>
          <p:cNvSpPr/>
          <p:nvPr/>
        </p:nvSpPr>
        <p:spPr>
          <a:xfrm>
            <a:off x="6266200" y="2331720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Functional</a:t>
            </a:r>
            <a:endParaRPr lang="en-US" sz="700"/>
          </a:p>
        </p:txBody>
      </p:sp>
      <p:sp>
        <p:nvSpPr>
          <p:cNvPr id="149" name="Text 147"/>
          <p:cNvSpPr/>
          <p:nvPr/>
        </p:nvSpPr>
        <p:spPr>
          <a:xfrm>
            <a:off x="7725583" y="2331720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/>
          </a:p>
        </p:txBody>
      </p:sp>
      <p:sp>
        <p:nvSpPr>
          <p:cNvPr id="150" name="Shape 148"/>
          <p:cNvSpPr/>
          <p:nvPr/>
        </p:nvSpPr>
        <p:spPr>
          <a:xfrm>
            <a:off x="4626864" y="2551176"/>
            <a:ext cx="4169664" cy="219456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1" name="Shape 149"/>
          <p:cNvSpPr/>
          <p:nvPr/>
        </p:nvSpPr>
        <p:spPr>
          <a:xfrm>
            <a:off x="4626864" y="2551176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2" name="Text 150"/>
          <p:cNvSpPr/>
          <p:nvPr/>
        </p:nvSpPr>
        <p:spPr>
          <a:xfrm>
            <a:off x="4681728" y="2551176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Brahmananda R</a:t>
            </a:r>
            <a:endParaRPr lang="en-US" sz="750"/>
          </a:p>
        </p:txBody>
      </p:sp>
      <p:sp>
        <p:nvSpPr>
          <p:cNvPr id="153" name="Text 151"/>
          <p:cNvSpPr/>
          <p:nvPr/>
        </p:nvSpPr>
        <p:spPr>
          <a:xfrm>
            <a:off x="6266200" y="2551176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Functional</a:t>
            </a:r>
            <a:endParaRPr lang="en-US" sz="700"/>
          </a:p>
        </p:txBody>
      </p:sp>
      <p:sp>
        <p:nvSpPr>
          <p:cNvPr id="154" name="Text 152"/>
          <p:cNvSpPr/>
          <p:nvPr/>
        </p:nvSpPr>
        <p:spPr>
          <a:xfrm>
            <a:off x="7725583" y="2551176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/>
          </a:p>
        </p:txBody>
      </p:sp>
      <p:sp>
        <p:nvSpPr>
          <p:cNvPr id="155" name="Shape 153"/>
          <p:cNvSpPr/>
          <p:nvPr/>
        </p:nvSpPr>
        <p:spPr>
          <a:xfrm>
            <a:off x="4626864" y="2770632"/>
            <a:ext cx="4169664" cy="219456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6" name="Shape 154"/>
          <p:cNvSpPr/>
          <p:nvPr/>
        </p:nvSpPr>
        <p:spPr>
          <a:xfrm>
            <a:off x="4626864" y="2770632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7" name="Text 155"/>
          <p:cNvSpPr/>
          <p:nvPr/>
        </p:nvSpPr>
        <p:spPr>
          <a:xfrm>
            <a:off x="4681728" y="2770632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Kavya B N</a:t>
            </a:r>
            <a:endParaRPr lang="en-US" sz="750"/>
          </a:p>
        </p:txBody>
      </p:sp>
      <p:sp>
        <p:nvSpPr>
          <p:cNvPr id="158" name="Text 156"/>
          <p:cNvSpPr/>
          <p:nvPr/>
        </p:nvSpPr>
        <p:spPr>
          <a:xfrm>
            <a:off x="6266200" y="2770632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Automation</a:t>
            </a:r>
            <a:endParaRPr lang="en-US" sz="700"/>
          </a:p>
        </p:txBody>
      </p:sp>
      <p:sp>
        <p:nvSpPr>
          <p:cNvPr id="159" name="Text 157"/>
          <p:cNvSpPr/>
          <p:nvPr/>
        </p:nvSpPr>
        <p:spPr>
          <a:xfrm>
            <a:off x="7725583" y="2770632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/>
          </a:p>
        </p:txBody>
      </p:sp>
      <p:pic>
        <p:nvPicPr>
          <p:cNvPr id="16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3108960"/>
            <a:ext cx="1097280" cy="475488"/>
          </a:xfrm>
          <a:prstGeom prst="rect">
            <a:avLst/>
          </a:prstGeom>
        </p:spPr>
      </p:pic>
      <p:sp>
        <p:nvSpPr>
          <p:cNvPr id="161" name="Text 158"/>
          <p:cNvSpPr/>
          <p:nvPr/>
        </p:nvSpPr>
        <p:spPr>
          <a:xfrm>
            <a:off x="347472" y="329184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  <p:sp>
        <p:nvSpPr>
          <p:cNvPr id="74" name="Text 71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/>
          </a:p>
        </p:txBody>
      </p:sp>
      <p:sp>
        <p:nvSpPr>
          <p:cNvPr id="75" name="Rectangle 74"/>
          <p:cNvSpPr/>
          <p:nvPr/>
        </p:nvSpPr>
        <p:spPr>
          <a:xfrm>
            <a:off x="347472" y="109728"/>
            <a:ext cx="8449056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2000" b="1">
                <a:solidFill>
                  <a:srgbClr val="1F2937"/>
                </a:solidFill>
                <a:latin typeface="Aptos"/>
              </a:rPr>
              <a:t>DMC / MDP Track – Full Team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47472" y="548640"/>
            <a:ext cx="8449056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950" b="0">
                <a:solidFill>
                  <a:srgbClr val="1F2937"/>
                </a:solidFill>
                <a:latin typeface="Aptos"/>
              </a:rPr>
              <a:t>DMC / MDP Team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47472" y="786384"/>
            <a:ext cx="8449056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7472" y="786384"/>
            <a:ext cx="36576" cy="21945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02336" y="786384"/>
            <a:ext cx="2377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Brian Brockman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779776" y="786384"/>
            <a:ext cx="297180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Product Owner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751576" y="786384"/>
            <a:ext cx="28346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Onshore · Trane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47472" y="1005840"/>
            <a:ext cx="8449056" cy="219456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47472" y="1005840"/>
            <a:ext cx="36576" cy="21945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02336" y="1005840"/>
            <a:ext cx="2377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Bryan Lainhart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779776" y="1005840"/>
            <a:ext cx="297180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Product Owner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751576" y="1005840"/>
            <a:ext cx="28346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Onshore · Trane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47472" y="1225295"/>
            <a:ext cx="8449056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47472" y="1225295"/>
            <a:ext cx="36576" cy="21945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402336" y="1225295"/>
            <a:ext cx="2377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Vipin Saroha</a:t>
            </a:r>
          </a:p>
        </p:txBody>
      </p:sp>
      <p:sp>
        <p:nvSpPr>
          <p:cNvPr id="90" name="Rectangle 89"/>
          <p:cNvSpPr/>
          <p:nvPr/>
        </p:nvSpPr>
        <p:spPr>
          <a:xfrm>
            <a:off x="2779776" y="1225295"/>
            <a:ext cx="297180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Product Analyst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751576" y="1225295"/>
            <a:ext cx="28346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Onshore · Trane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47472" y="1444752"/>
            <a:ext cx="8449056" cy="219456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47472" y="1444752"/>
            <a:ext cx="36576" cy="21945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02336" y="1444752"/>
            <a:ext cx="2377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Praveen Gopal</a:t>
            </a:r>
          </a:p>
        </p:txBody>
      </p:sp>
      <p:sp>
        <p:nvSpPr>
          <p:cNvPr id="95" name="Rectangle 94"/>
          <p:cNvSpPr/>
          <p:nvPr/>
        </p:nvSpPr>
        <p:spPr>
          <a:xfrm>
            <a:off x="2779776" y="1444752"/>
            <a:ext cx="297180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Business Analyst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751576" y="1444752"/>
            <a:ext cx="28346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Offshore · Cognizant</a:t>
            </a:r>
          </a:p>
        </p:txBody>
      </p:sp>
      <p:sp>
        <p:nvSpPr>
          <p:cNvPr id="97" name="Rectangle 96"/>
          <p:cNvSpPr/>
          <p:nvPr/>
        </p:nvSpPr>
        <p:spPr>
          <a:xfrm>
            <a:off x="347472" y="1664207"/>
            <a:ext cx="8449056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347472" y="1664207"/>
            <a:ext cx="36576" cy="21945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402336" y="1664207"/>
            <a:ext cx="2377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Snehalata Shidling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2779776" y="1664207"/>
            <a:ext cx="297180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Scrum Master / Dev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5751576" y="1664207"/>
            <a:ext cx="28346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Offshore · Trane-ITC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347472" y="1883664"/>
            <a:ext cx="8449056" cy="219456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347472" y="1883664"/>
            <a:ext cx="36576" cy="21945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402336" y="1883664"/>
            <a:ext cx="2377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Mahesh Laddi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2779776" y="1883664"/>
            <a:ext cx="297180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QA – Functional / Automation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751576" y="1883664"/>
            <a:ext cx="28346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Offshore · Trane-ITC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347472" y="2103120"/>
            <a:ext cx="8449056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347472" y="2103120"/>
            <a:ext cx="36576" cy="21945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402336" y="2103120"/>
            <a:ext cx="2377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Anusha Gadade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2779776" y="2103120"/>
            <a:ext cx="297180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QA – Functional / Automation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751576" y="2103120"/>
            <a:ext cx="28346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Offshore · Trane-ITC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347472" y="2322576"/>
            <a:ext cx="8449056" cy="219456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347472" y="2322576"/>
            <a:ext cx="36576" cy="21945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402336" y="2322576"/>
            <a:ext cx="2377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Sarala V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2779776" y="2322576"/>
            <a:ext cx="297180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QA – Functional / R12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751576" y="2322576"/>
            <a:ext cx="28346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Offshore · Trane-ITC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347472" y="2788920"/>
            <a:ext cx="8449056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950" b="0">
                <a:solidFill>
                  <a:srgbClr val="1F2937"/>
                </a:solidFill>
                <a:latin typeface="Aptos"/>
              </a:rPr>
              <a:t>S&amp;C Contracting – Team 1 (WorkSight &amp; R12 Devs / FAs)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47472" y="3026664"/>
            <a:ext cx="8449056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347472" y="3026664"/>
            <a:ext cx="36576" cy="21945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402336" y="3026664"/>
            <a:ext cx="2377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Albin Xavier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2779776" y="3026664"/>
            <a:ext cx="297180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WorkSight FA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751576" y="3026664"/>
            <a:ext cx="28346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Onshore · Cognizant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347472" y="3246120"/>
            <a:ext cx="8449056" cy="219456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347472" y="3246120"/>
            <a:ext cx="36576" cy="21945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402336" y="3246120"/>
            <a:ext cx="2377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Narayan Kapali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2779776" y="3246120"/>
            <a:ext cx="297180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WorkSight FA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5751576" y="3246120"/>
            <a:ext cx="28346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Onshore · Cognizant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347472" y="3465576"/>
            <a:ext cx="8449056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347472" y="3465576"/>
            <a:ext cx="36576" cy="21945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402336" y="3465576"/>
            <a:ext cx="2377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Sachin Salvi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2779776" y="3465576"/>
            <a:ext cx="297180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R12 FA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5751576" y="3465576"/>
            <a:ext cx="28346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Onshore · Contractor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347472" y="3685032"/>
            <a:ext cx="8449056" cy="219456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347472" y="3685032"/>
            <a:ext cx="36576" cy="21945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402336" y="3685032"/>
            <a:ext cx="2377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Elizabeth Garcia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2779776" y="3685032"/>
            <a:ext cx="297180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R12 FA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5751576" y="3685032"/>
            <a:ext cx="28346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Onshore · Trane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347472" y="3904487"/>
            <a:ext cx="8449056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347472" y="3904487"/>
            <a:ext cx="36576" cy="21945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402336" y="3904487"/>
            <a:ext cx="2377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Krishna Kumar G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2779776" y="3904487"/>
            <a:ext cx="297180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R12 FA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751576" y="3904487"/>
            <a:ext cx="28346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Onshore · Contractor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109728"/>
            <a:ext cx="84490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&amp; Contracting – QA Team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347472" y="502920"/>
            <a:ext cx="8449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i="1" dirty="0">
                <a:solidFill>
                  <a:srgbClr val="703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Contracting Teams 1 &amp; 2 </a:t>
            </a:r>
            <a:endParaRPr lang="en-US" sz="900" b="1" dirty="0">
              <a:solidFill>
                <a:srgbClr val="7030A0"/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347472" y="749808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347472" y="749808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402336" y="749808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Vignesh Sheshababu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986808" y="749808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Lead · T1,2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3446191" y="749808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Cognizant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4626864" y="749808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4626864" y="749808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4681728" y="749808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Preeti Khajji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6266200" y="749808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Func/Auto · T2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7725583" y="749808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 dirty="0"/>
          </a:p>
        </p:txBody>
      </p:sp>
      <p:sp>
        <p:nvSpPr>
          <p:cNvPr id="14" name="Shape 12"/>
          <p:cNvSpPr/>
          <p:nvPr/>
        </p:nvSpPr>
        <p:spPr>
          <a:xfrm>
            <a:off x="347472" y="987552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347472" y="987552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02336" y="987552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Srinivasa R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986808" y="987552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Func/Auto/Perf · T2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3446191" y="987552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 dirty="0"/>
          </a:p>
        </p:txBody>
      </p:sp>
      <p:sp>
        <p:nvSpPr>
          <p:cNvPr id="19" name="Shape 17"/>
          <p:cNvSpPr/>
          <p:nvPr/>
        </p:nvSpPr>
        <p:spPr>
          <a:xfrm>
            <a:off x="4626864" y="987552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4626864" y="987552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681728" y="987552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Jinu Joy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6266200" y="987552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Func/Auto · T2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7725583" y="987552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Trane-ITC-C2H</a:t>
            </a:r>
            <a:endParaRPr lang="en-US" sz="650" dirty="0"/>
          </a:p>
        </p:txBody>
      </p:sp>
      <p:sp>
        <p:nvSpPr>
          <p:cNvPr id="24" name="Shape 22"/>
          <p:cNvSpPr/>
          <p:nvPr/>
        </p:nvSpPr>
        <p:spPr>
          <a:xfrm>
            <a:off x="347472" y="1225296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347472" y="1225296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402336" y="1225296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Ajay Kumar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986808" y="1225296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Auto · T2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3446191" y="1225296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Trane-ITC-C2H</a:t>
            </a:r>
            <a:endParaRPr lang="en-US" sz="650" dirty="0"/>
          </a:p>
        </p:txBody>
      </p:sp>
      <p:sp>
        <p:nvSpPr>
          <p:cNvPr id="29" name="Shape 27"/>
          <p:cNvSpPr/>
          <p:nvPr/>
        </p:nvSpPr>
        <p:spPr>
          <a:xfrm>
            <a:off x="4626864" y="1225296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Shape 28"/>
          <p:cNvSpPr/>
          <p:nvPr/>
        </p:nvSpPr>
        <p:spPr>
          <a:xfrm>
            <a:off x="4626864" y="1225296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4681728" y="1225296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Rakshita N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6266200" y="1225296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Auto · T2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7725583" y="1225296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Trane-ITC-C2H</a:t>
            </a:r>
            <a:endParaRPr lang="en-US" sz="650" dirty="0"/>
          </a:p>
        </p:txBody>
      </p:sp>
      <p:sp>
        <p:nvSpPr>
          <p:cNvPr id="34" name="Shape 32"/>
          <p:cNvSpPr/>
          <p:nvPr/>
        </p:nvSpPr>
        <p:spPr>
          <a:xfrm>
            <a:off x="347472" y="1463040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Shape 33"/>
          <p:cNvSpPr/>
          <p:nvPr/>
        </p:nvSpPr>
        <p:spPr>
          <a:xfrm>
            <a:off x="347472" y="1463040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/>
          <p:nvPr/>
        </p:nvSpPr>
        <p:spPr>
          <a:xfrm>
            <a:off x="402336" y="1463040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Yana Zapanti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1986808" y="1463040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Auto · T1,2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3446191" y="1463040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Contractor</a:t>
            </a:r>
            <a:endParaRPr lang="en-US" sz="650" dirty="0"/>
          </a:p>
        </p:txBody>
      </p:sp>
      <p:sp>
        <p:nvSpPr>
          <p:cNvPr id="39" name="Shape 37"/>
          <p:cNvSpPr/>
          <p:nvPr/>
        </p:nvSpPr>
        <p:spPr>
          <a:xfrm>
            <a:off x="4626864" y="1463040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Shape 38"/>
          <p:cNvSpPr/>
          <p:nvPr/>
        </p:nvSpPr>
        <p:spPr>
          <a:xfrm>
            <a:off x="4626864" y="1463040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4681728" y="1463040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Amrit Chatterjee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6266200" y="1463040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T2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7725583" y="1463040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44" name="Shape 42"/>
          <p:cNvSpPr/>
          <p:nvPr/>
        </p:nvSpPr>
        <p:spPr>
          <a:xfrm>
            <a:off x="347472" y="1700784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5" name="Shape 43"/>
          <p:cNvSpPr/>
          <p:nvPr/>
        </p:nvSpPr>
        <p:spPr>
          <a:xfrm>
            <a:off x="347472" y="1700784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402336" y="1700784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Vijitha E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1986808" y="1700784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T2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3446191" y="1700784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49" name="Shape 47"/>
          <p:cNvSpPr/>
          <p:nvPr/>
        </p:nvSpPr>
        <p:spPr>
          <a:xfrm>
            <a:off x="4626864" y="1700784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0" name="Shape 48"/>
          <p:cNvSpPr/>
          <p:nvPr/>
        </p:nvSpPr>
        <p:spPr>
          <a:xfrm>
            <a:off x="4626864" y="1700784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1" name="Text 49"/>
          <p:cNvSpPr/>
          <p:nvPr/>
        </p:nvSpPr>
        <p:spPr>
          <a:xfrm>
            <a:off x="4681728" y="1700784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Pragati Kumari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6266200" y="1700784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T2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7725583" y="1700784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54" name="Shape 52"/>
          <p:cNvSpPr/>
          <p:nvPr/>
        </p:nvSpPr>
        <p:spPr>
          <a:xfrm>
            <a:off x="347472" y="1938528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Shape 53"/>
          <p:cNvSpPr/>
          <p:nvPr/>
        </p:nvSpPr>
        <p:spPr>
          <a:xfrm>
            <a:off x="347472" y="1938528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6" name="Text 54"/>
          <p:cNvSpPr/>
          <p:nvPr/>
        </p:nvSpPr>
        <p:spPr>
          <a:xfrm>
            <a:off x="402336" y="1938528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Anusha Patnana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1986808" y="1938528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T2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3446191" y="1938528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59" name="Shape 57"/>
          <p:cNvSpPr/>
          <p:nvPr/>
        </p:nvSpPr>
        <p:spPr>
          <a:xfrm>
            <a:off x="4626864" y="1938528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8"/>
          <p:cNvSpPr/>
          <p:nvPr/>
        </p:nvSpPr>
        <p:spPr>
          <a:xfrm>
            <a:off x="4626864" y="1938528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1" name="Text 59"/>
          <p:cNvSpPr/>
          <p:nvPr/>
        </p:nvSpPr>
        <p:spPr>
          <a:xfrm>
            <a:off x="4681728" y="1938528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Pavan D S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6266200" y="1938528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T2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7725583" y="1938528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Trane-ITC-C2H</a:t>
            </a:r>
            <a:endParaRPr lang="en-US" sz="650" dirty="0"/>
          </a:p>
        </p:txBody>
      </p:sp>
      <p:sp>
        <p:nvSpPr>
          <p:cNvPr id="64" name="Shape 62"/>
          <p:cNvSpPr/>
          <p:nvPr/>
        </p:nvSpPr>
        <p:spPr>
          <a:xfrm>
            <a:off x="347472" y="2176272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5" name="Shape 63"/>
          <p:cNvSpPr/>
          <p:nvPr/>
        </p:nvSpPr>
        <p:spPr>
          <a:xfrm>
            <a:off x="347472" y="2176272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6" name="Text 64"/>
          <p:cNvSpPr/>
          <p:nvPr/>
        </p:nvSpPr>
        <p:spPr>
          <a:xfrm>
            <a:off x="402336" y="2176272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Pramad Manohara</a:t>
            </a:r>
            <a:endParaRPr lang="en-US" sz="750" dirty="0"/>
          </a:p>
        </p:txBody>
      </p:sp>
      <p:sp>
        <p:nvSpPr>
          <p:cNvPr id="67" name="Text 65"/>
          <p:cNvSpPr/>
          <p:nvPr/>
        </p:nvSpPr>
        <p:spPr>
          <a:xfrm>
            <a:off x="1986808" y="2176272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T2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3446191" y="2176272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Trane-ITC-C2H</a:t>
            </a:r>
            <a:endParaRPr lang="en-US" sz="650" dirty="0"/>
          </a:p>
        </p:txBody>
      </p:sp>
      <p:sp>
        <p:nvSpPr>
          <p:cNvPr id="69" name="Shape 67"/>
          <p:cNvSpPr/>
          <p:nvPr/>
        </p:nvSpPr>
        <p:spPr>
          <a:xfrm>
            <a:off x="4626864" y="2176272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0" name="Shape 68"/>
          <p:cNvSpPr/>
          <p:nvPr/>
        </p:nvSpPr>
        <p:spPr>
          <a:xfrm>
            <a:off x="4626864" y="2176272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1" name="Text 69"/>
          <p:cNvSpPr/>
          <p:nvPr/>
        </p:nvSpPr>
        <p:spPr>
          <a:xfrm>
            <a:off x="4681728" y="2176272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Sudar Subramanian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6266200" y="2176272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Auto · T1,2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7725583" y="2176272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74" name="Shape 72"/>
          <p:cNvSpPr/>
          <p:nvPr/>
        </p:nvSpPr>
        <p:spPr>
          <a:xfrm>
            <a:off x="347472" y="2414016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5" name="Shape 73"/>
          <p:cNvSpPr/>
          <p:nvPr/>
        </p:nvSpPr>
        <p:spPr>
          <a:xfrm>
            <a:off x="347472" y="2414016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6" name="Text 74"/>
          <p:cNvSpPr/>
          <p:nvPr/>
        </p:nvSpPr>
        <p:spPr>
          <a:xfrm>
            <a:off x="402336" y="2414016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Vibin</a:t>
            </a:r>
            <a:endParaRPr lang="en-US" sz="750" dirty="0"/>
          </a:p>
        </p:txBody>
      </p:sp>
      <p:sp>
        <p:nvSpPr>
          <p:cNvPr id="77" name="Text 75"/>
          <p:cNvSpPr/>
          <p:nvPr/>
        </p:nvSpPr>
        <p:spPr>
          <a:xfrm>
            <a:off x="1986808" y="2414016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Auto · T1,2</a:t>
            </a:r>
            <a:endParaRPr lang="en-US" sz="700" dirty="0"/>
          </a:p>
        </p:txBody>
      </p:sp>
      <p:sp>
        <p:nvSpPr>
          <p:cNvPr id="78" name="Text 76"/>
          <p:cNvSpPr/>
          <p:nvPr/>
        </p:nvSpPr>
        <p:spPr>
          <a:xfrm>
            <a:off x="3446191" y="2414016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79" name="Shape 77"/>
          <p:cNvSpPr/>
          <p:nvPr/>
        </p:nvSpPr>
        <p:spPr>
          <a:xfrm>
            <a:off x="4626864" y="2414016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0" name="Shape 78"/>
          <p:cNvSpPr/>
          <p:nvPr/>
        </p:nvSpPr>
        <p:spPr>
          <a:xfrm>
            <a:off x="4626864" y="2414016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1" name="Text 79"/>
          <p:cNvSpPr/>
          <p:nvPr/>
        </p:nvSpPr>
        <p:spPr>
          <a:xfrm>
            <a:off x="4681728" y="2414016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Sivakumar R</a:t>
            </a:r>
            <a:endParaRPr lang="en-US" sz="750" dirty="0"/>
          </a:p>
        </p:txBody>
      </p:sp>
      <p:sp>
        <p:nvSpPr>
          <p:cNvPr id="82" name="Text 80"/>
          <p:cNvSpPr/>
          <p:nvPr/>
        </p:nvSpPr>
        <p:spPr>
          <a:xfrm>
            <a:off x="6266200" y="2414016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T1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7725583" y="2414016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84" name="Shape 82"/>
          <p:cNvSpPr/>
          <p:nvPr/>
        </p:nvSpPr>
        <p:spPr>
          <a:xfrm>
            <a:off x="347472" y="2651760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5" name="Shape 83"/>
          <p:cNvSpPr/>
          <p:nvPr/>
        </p:nvSpPr>
        <p:spPr>
          <a:xfrm>
            <a:off x="347472" y="2651760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6" name="Text 84"/>
          <p:cNvSpPr/>
          <p:nvPr/>
        </p:nvSpPr>
        <p:spPr>
          <a:xfrm>
            <a:off x="402336" y="2651760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Shalini N</a:t>
            </a:r>
            <a:endParaRPr lang="en-US" sz="750" dirty="0"/>
          </a:p>
        </p:txBody>
      </p:sp>
      <p:sp>
        <p:nvSpPr>
          <p:cNvPr id="87" name="Text 85"/>
          <p:cNvSpPr/>
          <p:nvPr/>
        </p:nvSpPr>
        <p:spPr>
          <a:xfrm>
            <a:off x="1986808" y="2651760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T1</a:t>
            </a:r>
            <a:endParaRPr lang="en-US" sz="700" dirty="0"/>
          </a:p>
        </p:txBody>
      </p:sp>
      <p:sp>
        <p:nvSpPr>
          <p:cNvPr id="88" name="Text 86"/>
          <p:cNvSpPr/>
          <p:nvPr/>
        </p:nvSpPr>
        <p:spPr>
          <a:xfrm>
            <a:off x="3446191" y="2651760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89" name="Shape 87"/>
          <p:cNvSpPr/>
          <p:nvPr/>
        </p:nvSpPr>
        <p:spPr>
          <a:xfrm>
            <a:off x="4626864" y="2651760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0" name="Shape 88"/>
          <p:cNvSpPr/>
          <p:nvPr/>
        </p:nvSpPr>
        <p:spPr>
          <a:xfrm>
            <a:off x="4626864" y="2651760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1" name="Text 89"/>
          <p:cNvSpPr/>
          <p:nvPr/>
        </p:nvSpPr>
        <p:spPr>
          <a:xfrm>
            <a:off x="4681728" y="2651760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Subhashini S</a:t>
            </a:r>
            <a:endParaRPr lang="en-US" sz="750" dirty="0"/>
          </a:p>
        </p:txBody>
      </p:sp>
      <p:sp>
        <p:nvSpPr>
          <p:cNvPr id="92" name="Text 90"/>
          <p:cNvSpPr/>
          <p:nvPr/>
        </p:nvSpPr>
        <p:spPr>
          <a:xfrm>
            <a:off x="6266200" y="2651760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T1</a:t>
            </a:r>
            <a:endParaRPr lang="en-US" sz="700" dirty="0"/>
          </a:p>
        </p:txBody>
      </p:sp>
      <p:sp>
        <p:nvSpPr>
          <p:cNvPr id="93" name="Text 91"/>
          <p:cNvSpPr/>
          <p:nvPr/>
        </p:nvSpPr>
        <p:spPr>
          <a:xfrm>
            <a:off x="7725583" y="2651760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94" name="Shape 92"/>
          <p:cNvSpPr/>
          <p:nvPr/>
        </p:nvSpPr>
        <p:spPr>
          <a:xfrm>
            <a:off x="347472" y="2889504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5" name="Shape 93"/>
          <p:cNvSpPr/>
          <p:nvPr/>
        </p:nvSpPr>
        <p:spPr>
          <a:xfrm>
            <a:off x="347472" y="2889504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6" name="Text 94"/>
          <p:cNvSpPr/>
          <p:nvPr/>
        </p:nvSpPr>
        <p:spPr>
          <a:xfrm>
            <a:off x="402336" y="2889504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Rangesh R</a:t>
            </a:r>
            <a:endParaRPr lang="en-US" sz="750" dirty="0"/>
          </a:p>
        </p:txBody>
      </p:sp>
      <p:sp>
        <p:nvSpPr>
          <p:cNvPr id="97" name="Text 95"/>
          <p:cNvSpPr/>
          <p:nvPr/>
        </p:nvSpPr>
        <p:spPr>
          <a:xfrm>
            <a:off x="1986808" y="2889504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T1</a:t>
            </a:r>
            <a:endParaRPr lang="en-US" sz="700" dirty="0"/>
          </a:p>
        </p:txBody>
      </p:sp>
      <p:sp>
        <p:nvSpPr>
          <p:cNvPr id="98" name="Text 96"/>
          <p:cNvSpPr/>
          <p:nvPr/>
        </p:nvSpPr>
        <p:spPr>
          <a:xfrm>
            <a:off x="3446191" y="2889504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99" name="Shape 97"/>
          <p:cNvSpPr/>
          <p:nvPr/>
        </p:nvSpPr>
        <p:spPr>
          <a:xfrm>
            <a:off x="4626864" y="2889504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0" name="Shape 98"/>
          <p:cNvSpPr/>
          <p:nvPr/>
        </p:nvSpPr>
        <p:spPr>
          <a:xfrm>
            <a:off x="4626864" y="2889504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1" name="Text 99"/>
          <p:cNvSpPr/>
          <p:nvPr/>
        </p:nvSpPr>
        <p:spPr>
          <a:xfrm>
            <a:off x="4681728" y="2889504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Lakshmi P</a:t>
            </a:r>
            <a:endParaRPr lang="en-US" sz="750" dirty="0"/>
          </a:p>
        </p:txBody>
      </p:sp>
      <p:sp>
        <p:nvSpPr>
          <p:cNvPr id="102" name="Text 100"/>
          <p:cNvSpPr/>
          <p:nvPr/>
        </p:nvSpPr>
        <p:spPr>
          <a:xfrm>
            <a:off x="6266200" y="2889504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T1</a:t>
            </a:r>
            <a:endParaRPr lang="en-US" sz="700" dirty="0"/>
          </a:p>
        </p:txBody>
      </p:sp>
      <p:sp>
        <p:nvSpPr>
          <p:cNvPr id="103" name="Text 101"/>
          <p:cNvSpPr/>
          <p:nvPr/>
        </p:nvSpPr>
        <p:spPr>
          <a:xfrm>
            <a:off x="7725583" y="2889504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104" name="Shape 102"/>
          <p:cNvSpPr/>
          <p:nvPr/>
        </p:nvSpPr>
        <p:spPr>
          <a:xfrm>
            <a:off x="347472" y="3127248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05" name="Shape 103"/>
          <p:cNvSpPr/>
          <p:nvPr/>
        </p:nvSpPr>
        <p:spPr>
          <a:xfrm>
            <a:off x="347472" y="3127248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6" name="Text 104"/>
          <p:cNvSpPr/>
          <p:nvPr/>
        </p:nvSpPr>
        <p:spPr>
          <a:xfrm>
            <a:off x="402336" y="3127248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Ankur Bhattacharjee</a:t>
            </a:r>
            <a:endParaRPr lang="en-US" sz="750" dirty="0"/>
          </a:p>
        </p:txBody>
      </p:sp>
      <p:sp>
        <p:nvSpPr>
          <p:cNvPr id="107" name="Text 105"/>
          <p:cNvSpPr/>
          <p:nvPr/>
        </p:nvSpPr>
        <p:spPr>
          <a:xfrm>
            <a:off x="1986808" y="3127248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T1</a:t>
            </a:r>
            <a:endParaRPr lang="en-US" sz="700" dirty="0"/>
          </a:p>
        </p:txBody>
      </p:sp>
      <p:sp>
        <p:nvSpPr>
          <p:cNvPr id="108" name="Text 106"/>
          <p:cNvSpPr/>
          <p:nvPr/>
        </p:nvSpPr>
        <p:spPr>
          <a:xfrm>
            <a:off x="3446191" y="3127248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 dirty="0"/>
          </a:p>
        </p:txBody>
      </p:sp>
      <p:pic>
        <p:nvPicPr>
          <p:cNvPr id="10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  <p:sp>
        <p:nvSpPr>
          <p:cNvPr id="110" name="Text 107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111" name="Shape 138">
            <a:extLst>
              <a:ext uri="{FF2B5EF4-FFF2-40B4-BE49-F238E27FC236}">
                <a16:creationId xmlns:a16="http://schemas.microsoft.com/office/drawing/2014/main" id="{867533B2-76B0-CA7A-CBCC-CC47C666F0A1}"/>
              </a:ext>
            </a:extLst>
          </p:cNvPr>
          <p:cNvSpPr/>
          <p:nvPr/>
        </p:nvSpPr>
        <p:spPr>
          <a:xfrm>
            <a:off x="2452309" y="3648456"/>
            <a:ext cx="4169664" cy="201168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2" name="Shape 139">
            <a:extLst>
              <a:ext uri="{FF2B5EF4-FFF2-40B4-BE49-F238E27FC236}">
                <a16:creationId xmlns:a16="http://schemas.microsoft.com/office/drawing/2014/main" id="{644364E0-6BAC-BA44-E108-8C2DB008A033}"/>
              </a:ext>
            </a:extLst>
          </p:cNvPr>
          <p:cNvSpPr/>
          <p:nvPr/>
        </p:nvSpPr>
        <p:spPr>
          <a:xfrm>
            <a:off x="2452309" y="3648456"/>
            <a:ext cx="36576" cy="201168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3" name="Text 140">
            <a:extLst>
              <a:ext uri="{FF2B5EF4-FFF2-40B4-BE49-F238E27FC236}">
                <a16:creationId xmlns:a16="http://schemas.microsoft.com/office/drawing/2014/main" id="{15E7DD2A-C233-4D0D-4FD5-77955C57B118}"/>
              </a:ext>
            </a:extLst>
          </p:cNvPr>
          <p:cNvSpPr/>
          <p:nvPr/>
        </p:nvSpPr>
        <p:spPr>
          <a:xfrm>
            <a:off x="2507173" y="3648456"/>
            <a:ext cx="1584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 Murcia</a:t>
            </a:r>
            <a:endParaRPr lang="en-US" sz="750" dirty="0"/>
          </a:p>
        </p:txBody>
      </p:sp>
      <p:sp>
        <p:nvSpPr>
          <p:cNvPr id="114" name="Text 141">
            <a:extLst>
              <a:ext uri="{FF2B5EF4-FFF2-40B4-BE49-F238E27FC236}">
                <a16:creationId xmlns:a16="http://schemas.microsoft.com/office/drawing/2014/main" id="{11D10F93-08C3-D807-6099-D55FDEC3A1F6}"/>
              </a:ext>
            </a:extLst>
          </p:cNvPr>
          <p:cNvSpPr/>
          <p:nvPr/>
        </p:nvSpPr>
        <p:spPr>
          <a:xfrm>
            <a:off x="4091645" y="3648456"/>
            <a:ext cx="14593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/ Scrum Master</a:t>
            </a:r>
            <a:endParaRPr lang="en-US" sz="700" dirty="0"/>
          </a:p>
        </p:txBody>
      </p:sp>
      <p:sp>
        <p:nvSpPr>
          <p:cNvPr id="115" name="Text 142">
            <a:extLst>
              <a:ext uri="{FF2B5EF4-FFF2-40B4-BE49-F238E27FC236}">
                <a16:creationId xmlns:a16="http://schemas.microsoft.com/office/drawing/2014/main" id="{2468DEA5-FA6B-B367-F1F7-BFF3F3F4B514}"/>
              </a:ext>
            </a:extLst>
          </p:cNvPr>
          <p:cNvSpPr/>
          <p:nvPr/>
        </p:nvSpPr>
        <p:spPr>
          <a:xfrm>
            <a:off x="5551028" y="3648456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Contractor</a:t>
            </a:r>
            <a:endParaRPr lang="en-US" sz="650" dirty="0"/>
          </a:p>
        </p:txBody>
      </p:sp>
      <p:sp>
        <p:nvSpPr>
          <p:cNvPr id="116" name="Shape 143">
            <a:extLst>
              <a:ext uri="{FF2B5EF4-FFF2-40B4-BE49-F238E27FC236}">
                <a16:creationId xmlns:a16="http://schemas.microsoft.com/office/drawing/2014/main" id="{AB2342D9-0366-7A1F-FDA7-B5EDD9949C75}"/>
              </a:ext>
            </a:extLst>
          </p:cNvPr>
          <p:cNvSpPr/>
          <p:nvPr/>
        </p:nvSpPr>
        <p:spPr>
          <a:xfrm>
            <a:off x="2452309" y="3849624"/>
            <a:ext cx="4169664" cy="201168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7" name="Shape 144">
            <a:extLst>
              <a:ext uri="{FF2B5EF4-FFF2-40B4-BE49-F238E27FC236}">
                <a16:creationId xmlns:a16="http://schemas.microsoft.com/office/drawing/2014/main" id="{E31CEC15-3473-9B95-7632-D85A58D042E6}"/>
              </a:ext>
            </a:extLst>
          </p:cNvPr>
          <p:cNvSpPr/>
          <p:nvPr/>
        </p:nvSpPr>
        <p:spPr>
          <a:xfrm>
            <a:off x="2452309" y="3849624"/>
            <a:ext cx="36576" cy="201168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8" name="Text 145">
            <a:extLst>
              <a:ext uri="{FF2B5EF4-FFF2-40B4-BE49-F238E27FC236}">
                <a16:creationId xmlns:a16="http://schemas.microsoft.com/office/drawing/2014/main" id="{3FA3DA98-C763-9463-617E-749E2DE3DD27}"/>
              </a:ext>
            </a:extLst>
          </p:cNvPr>
          <p:cNvSpPr/>
          <p:nvPr/>
        </p:nvSpPr>
        <p:spPr>
          <a:xfrm>
            <a:off x="2507173" y="3849624"/>
            <a:ext cx="1584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Yohalakshmi J</a:t>
            </a:r>
            <a:endParaRPr lang="en-US" sz="750" dirty="0"/>
          </a:p>
        </p:txBody>
      </p:sp>
      <p:sp>
        <p:nvSpPr>
          <p:cNvPr id="119" name="Text 146">
            <a:extLst>
              <a:ext uri="{FF2B5EF4-FFF2-40B4-BE49-F238E27FC236}">
                <a16:creationId xmlns:a16="http://schemas.microsoft.com/office/drawing/2014/main" id="{3469FDE8-1848-A2F2-9138-0946886EF27B}"/>
              </a:ext>
            </a:extLst>
          </p:cNvPr>
          <p:cNvSpPr/>
          <p:nvPr/>
        </p:nvSpPr>
        <p:spPr>
          <a:xfrm>
            <a:off x="4091645" y="3849624"/>
            <a:ext cx="14593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Functional</a:t>
            </a:r>
            <a:endParaRPr lang="en-US" sz="700" dirty="0"/>
          </a:p>
        </p:txBody>
      </p:sp>
      <p:sp>
        <p:nvSpPr>
          <p:cNvPr id="120" name="Text 147">
            <a:extLst>
              <a:ext uri="{FF2B5EF4-FFF2-40B4-BE49-F238E27FC236}">
                <a16:creationId xmlns:a16="http://schemas.microsoft.com/office/drawing/2014/main" id="{929B2146-8121-4D79-7B8B-11DFF02E5BCF}"/>
              </a:ext>
            </a:extLst>
          </p:cNvPr>
          <p:cNvSpPr/>
          <p:nvPr/>
        </p:nvSpPr>
        <p:spPr>
          <a:xfrm>
            <a:off x="5551028" y="3849624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121" name="Shape 148">
            <a:extLst>
              <a:ext uri="{FF2B5EF4-FFF2-40B4-BE49-F238E27FC236}">
                <a16:creationId xmlns:a16="http://schemas.microsoft.com/office/drawing/2014/main" id="{3BBE816B-0629-8A26-118D-24E2090FBF4F}"/>
              </a:ext>
            </a:extLst>
          </p:cNvPr>
          <p:cNvSpPr/>
          <p:nvPr/>
        </p:nvSpPr>
        <p:spPr>
          <a:xfrm>
            <a:off x="2452309" y="4050792"/>
            <a:ext cx="4169664" cy="201168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2" name="Shape 149">
            <a:extLst>
              <a:ext uri="{FF2B5EF4-FFF2-40B4-BE49-F238E27FC236}">
                <a16:creationId xmlns:a16="http://schemas.microsoft.com/office/drawing/2014/main" id="{552CD430-DA4C-E65A-2366-B8E503582AD2}"/>
              </a:ext>
            </a:extLst>
          </p:cNvPr>
          <p:cNvSpPr/>
          <p:nvPr/>
        </p:nvSpPr>
        <p:spPr>
          <a:xfrm>
            <a:off x="2452309" y="4050792"/>
            <a:ext cx="36576" cy="201168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3" name="Text 150">
            <a:extLst>
              <a:ext uri="{FF2B5EF4-FFF2-40B4-BE49-F238E27FC236}">
                <a16:creationId xmlns:a16="http://schemas.microsoft.com/office/drawing/2014/main" id="{74EFB674-22FC-BC98-9335-E736B1E9D2A0}"/>
              </a:ext>
            </a:extLst>
          </p:cNvPr>
          <p:cNvSpPr/>
          <p:nvPr/>
        </p:nvSpPr>
        <p:spPr>
          <a:xfrm>
            <a:off x="2507173" y="4050792"/>
            <a:ext cx="1584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Vivek Patil</a:t>
            </a:r>
            <a:endParaRPr lang="en-US" sz="750" dirty="0"/>
          </a:p>
        </p:txBody>
      </p:sp>
      <p:sp>
        <p:nvSpPr>
          <p:cNvPr id="124" name="Text 151">
            <a:extLst>
              <a:ext uri="{FF2B5EF4-FFF2-40B4-BE49-F238E27FC236}">
                <a16:creationId xmlns:a16="http://schemas.microsoft.com/office/drawing/2014/main" id="{CF4DD83F-3C00-5209-4DC2-70EFC58DF100}"/>
              </a:ext>
            </a:extLst>
          </p:cNvPr>
          <p:cNvSpPr/>
          <p:nvPr/>
        </p:nvSpPr>
        <p:spPr>
          <a:xfrm>
            <a:off x="4091645" y="4050792"/>
            <a:ext cx="14593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Automation</a:t>
            </a:r>
            <a:endParaRPr lang="en-US" sz="700" dirty="0"/>
          </a:p>
        </p:txBody>
      </p:sp>
      <p:sp>
        <p:nvSpPr>
          <p:cNvPr id="125" name="Text 152">
            <a:extLst>
              <a:ext uri="{FF2B5EF4-FFF2-40B4-BE49-F238E27FC236}">
                <a16:creationId xmlns:a16="http://schemas.microsoft.com/office/drawing/2014/main" id="{EF21A035-C4EC-10A5-A2BB-68A31597E6FC}"/>
              </a:ext>
            </a:extLst>
          </p:cNvPr>
          <p:cNvSpPr/>
          <p:nvPr/>
        </p:nvSpPr>
        <p:spPr>
          <a:xfrm>
            <a:off x="5551028" y="4050792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126" name="Shape 153">
            <a:extLst>
              <a:ext uri="{FF2B5EF4-FFF2-40B4-BE49-F238E27FC236}">
                <a16:creationId xmlns:a16="http://schemas.microsoft.com/office/drawing/2014/main" id="{0D57628C-B8DC-794B-DDBA-74D7FE67A969}"/>
              </a:ext>
            </a:extLst>
          </p:cNvPr>
          <p:cNvSpPr/>
          <p:nvPr/>
        </p:nvSpPr>
        <p:spPr>
          <a:xfrm>
            <a:off x="2488885" y="4251960"/>
            <a:ext cx="4133088" cy="201168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7" name="Shape 154">
            <a:extLst>
              <a:ext uri="{FF2B5EF4-FFF2-40B4-BE49-F238E27FC236}">
                <a16:creationId xmlns:a16="http://schemas.microsoft.com/office/drawing/2014/main" id="{0E83DAD4-3CE4-6447-6DD3-7C2B561CFF91}"/>
              </a:ext>
            </a:extLst>
          </p:cNvPr>
          <p:cNvSpPr/>
          <p:nvPr/>
        </p:nvSpPr>
        <p:spPr>
          <a:xfrm>
            <a:off x="2452309" y="4251960"/>
            <a:ext cx="36576" cy="201168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8" name="Text 155">
            <a:extLst>
              <a:ext uri="{FF2B5EF4-FFF2-40B4-BE49-F238E27FC236}">
                <a16:creationId xmlns:a16="http://schemas.microsoft.com/office/drawing/2014/main" id="{89E7CF45-ACAD-A0FC-94A2-B2599B0FC779}"/>
              </a:ext>
            </a:extLst>
          </p:cNvPr>
          <p:cNvSpPr/>
          <p:nvPr/>
        </p:nvSpPr>
        <p:spPr>
          <a:xfrm>
            <a:off x="2507173" y="4251960"/>
            <a:ext cx="1584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Amelia Mann</a:t>
            </a:r>
            <a:endParaRPr lang="en-US" sz="750" dirty="0"/>
          </a:p>
        </p:txBody>
      </p:sp>
      <p:sp>
        <p:nvSpPr>
          <p:cNvPr id="129" name="Text 156">
            <a:extLst>
              <a:ext uri="{FF2B5EF4-FFF2-40B4-BE49-F238E27FC236}">
                <a16:creationId xmlns:a16="http://schemas.microsoft.com/office/drawing/2014/main" id="{E13D2A14-251B-9F61-D5D5-D28CFFBBD821}"/>
              </a:ext>
            </a:extLst>
          </p:cNvPr>
          <p:cNvSpPr/>
          <p:nvPr/>
        </p:nvSpPr>
        <p:spPr>
          <a:xfrm>
            <a:off x="4091645" y="4251960"/>
            <a:ext cx="14593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Owner</a:t>
            </a:r>
            <a:endParaRPr lang="en-US" sz="700" dirty="0"/>
          </a:p>
        </p:txBody>
      </p:sp>
      <p:sp>
        <p:nvSpPr>
          <p:cNvPr id="130" name="Text 157">
            <a:extLst>
              <a:ext uri="{FF2B5EF4-FFF2-40B4-BE49-F238E27FC236}">
                <a16:creationId xmlns:a16="http://schemas.microsoft.com/office/drawing/2014/main" id="{6076CDB1-506B-79EF-A91C-1102FF0ABA21}"/>
              </a:ext>
            </a:extLst>
          </p:cNvPr>
          <p:cNvSpPr/>
          <p:nvPr/>
        </p:nvSpPr>
        <p:spPr>
          <a:xfrm>
            <a:off x="5551028" y="4251960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 dirty="0"/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5E28A5AD-726F-E401-56B0-FBF3982030D2}"/>
              </a:ext>
            </a:extLst>
          </p:cNvPr>
          <p:cNvSpPr txBox="1"/>
          <p:nvPr/>
        </p:nvSpPr>
        <p:spPr>
          <a:xfrm>
            <a:off x="2340864" y="3364992"/>
            <a:ext cx="4572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900" b="1" i="1" dirty="0">
                <a:solidFill>
                  <a:srgbClr val="703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Teams </a:t>
            </a:r>
            <a:endParaRPr lang="en-US" sz="900" b="1" dirty="0">
              <a:solidFill>
                <a:srgbClr val="7030A0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109728"/>
            <a:ext cx="84490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S&amp;C Contracting – POs, BAs, Developers &amp; Scrum (T1 &amp; T2)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47472" y="548640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347472" y="548640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402336" y="548640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Nikki Johann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1986808" y="548640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Owner · T2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446191" y="548640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 dirty="0"/>
          </a:p>
        </p:txBody>
      </p:sp>
      <p:sp>
        <p:nvSpPr>
          <p:cNvPr id="8" name="Shape 6"/>
          <p:cNvSpPr/>
          <p:nvPr/>
        </p:nvSpPr>
        <p:spPr>
          <a:xfrm>
            <a:off x="4626864" y="548640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4626864" y="548640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4681728" y="548640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Bethany Bornheimer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266200" y="548640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Owner · T2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7725583" y="548640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 dirty="0"/>
          </a:p>
        </p:txBody>
      </p:sp>
      <p:sp>
        <p:nvSpPr>
          <p:cNvPr id="13" name="Shape 11"/>
          <p:cNvSpPr/>
          <p:nvPr/>
        </p:nvSpPr>
        <p:spPr>
          <a:xfrm>
            <a:off x="347472" y="786384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347472" y="786384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402336" y="786384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Iza Czapnik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986808" y="786384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Product Owner · T1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3446191" y="786384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4626864" y="786384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4626864" y="786384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4681728" y="786384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Joe Christian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6266200" y="786384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Analyst · T2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725583" y="786384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347472" y="1024128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Shape 22"/>
          <p:cNvSpPr/>
          <p:nvPr/>
        </p:nvSpPr>
        <p:spPr>
          <a:xfrm>
            <a:off x="347472" y="1024128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402336" y="1024128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Rufeeda Khan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986808" y="1024128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Analyst · T2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3446191" y="1024128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Contractor</a:t>
            </a:r>
            <a:endParaRPr lang="en-US" sz="650" dirty="0"/>
          </a:p>
        </p:txBody>
      </p:sp>
      <p:sp>
        <p:nvSpPr>
          <p:cNvPr id="28" name="Shape 26"/>
          <p:cNvSpPr/>
          <p:nvPr/>
        </p:nvSpPr>
        <p:spPr>
          <a:xfrm>
            <a:off x="4626864" y="1024128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Shape 27"/>
          <p:cNvSpPr/>
          <p:nvPr/>
        </p:nvSpPr>
        <p:spPr>
          <a:xfrm>
            <a:off x="4626864" y="1024128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4681728" y="1024128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Varun Ved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6266200" y="1024128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Analyst · T2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7725583" y="1024128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TCS</a:t>
            </a:r>
            <a:endParaRPr lang="en-US" sz="650" dirty="0"/>
          </a:p>
        </p:txBody>
      </p:sp>
      <p:sp>
        <p:nvSpPr>
          <p:cNvPr id="33" name="Shape 31"/>
          <p:cNvSpPr/>
          <p:nvPr/>
        </p:nvSpPr>
        <p:spPr>
          <a:xfrm>
            <a:off x="347472" y="1261872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Shape 32"/>
          <p:cNvSpPr/>
          <p:nvPr/>
        </p:nvSpPr>
        <p:spPr>
          <a:xfrm>
            <a:off x="347472" y="1261872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Text 33"/>
          <p:cNvSpPr/>
          <p:nvPr/>
        </p:nvSpPr>
        <p:spPr>
          <a:xfrm>
            <a:off x="402336" y="1261872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Arvind Gupta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1986808" y="1261872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Analyst · T2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3446191" y="1261872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Contractor</a:t>
            </a:r>
            <a:endParaRPr lang="en-US" sz="650" dirty="0"/>
          </a:p>
        </p:txBody>
      </p:sp>
      <p:sp>
        <p:nvSpPr>
          <p:cNvPr id="38" name="Shape 36"/>
          <p:cNvSpPr/>
          <p:nvPr/>
        </p:nvSpPr>
        <p:spPr>
          <a:xfrm>
            <a:off x="4626864" y="1261872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9" name="Shape 37"/>
          <p:cNvSpPr/>
          <p:nvPr/>
        </p:nvSpPr>
        <p:spPr>
          <a:xfrm>
            <a:off x="4626864" y="1261872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Text 38"/>
          <p:cNvSpPr/>
          <p:nvPr/>
        </p:nvSpPr>
        <p:spPr>
          <a:xfrm>
            <a:off x="4681728" y="1261872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Vishnuraj Jayaraj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6266200" y="1261872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Analyst · T2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7725583" y="1261872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43" name="Shape 41"/>
          <p:cNvSpPr/>
          <p:nvPr/>
        </p:nvSpPr>
        <p:spPr>
          <a:xfrm>
            <a:off x="347472" y="1499616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44" name="Shape 42"/>
          <p:cNvSpPr/>
          <p:nvPr/>
        </p:nvSpPr>
        <p:spPr>
          <a:xfrm>
            <a:off x="347472" y="1499616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5" name="Text 43"/>
          <p:cNvSpPr/>
          <p:nvPr/>
        </p:nvSpPr>
        <p:spPr>
          <a:xfrm>
            <a:off x="402336" y="1499616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IN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OConnor</a:t>
            </a:r>
            <a:r>
              <a:rPr lang="en-IN" b="1" dirty="0"/>
              <a:t>, </a:t>
            </a:r>
            <a:r>
              <a:rPr lang="en-IN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Andrew</a:t>
            </a:r>
          </a:p>
          <a:p>
            <a:pPr marL="0" indent="0">
              <a:buNone/>
            </a:pP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1986808" y="1499616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Master · T2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3446191" y="1499616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626864" y="1499616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9" name="Shape 47"/>
          <p:cNvSpPr/>
          <p:nvPr/>
        </p:nvSpPr>
        <p:spPr>
          <a:xfrm>
            <a:off x="4626864" y="1499616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0" name="Text 48"/>
          <p:cNvSpPr/>
          <p:nvPr/>
        </p:nvSpPr>
        <p:spPr>
          <a:xfrm>
            <a:off x="4681728" y="1499616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Diana Blidarescu</a:t>
            </a:r>
            <a:endParaRPr lang="en-US" sz="750" dirty="0"/>
          </a:p>
        </p:txBody>
      </p:sp>
      <p:sp>
        <p:nvSpPr>
          <p:cNvPr id="51" name="Text 49"/>
          <p:cNvSpPr/>
          <p:nvPr/>
        </p:nvSpPr>
        <p:spPr>
          <a:xfrm>
            <a:off x="6266200" y="1499616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Master · T1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7725583" y="1499616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Slalom</a:t>
            </a:r>
            <a:endParaRPr lang="en-US" sz="650" dirty="0"/>
          </a:p>
        </p:txBody>
      </p:sp>
      <p:sp>
        <p:nvSpPr>
          <p:cNvPr id="53" name="Shape 51"/>
          <p:cNvSpPr/>
          <p:nvPr/>
        </p:nvSpPr>
        <p:spPr>
          <a:xfrm>
            <a:off x="347472" y="1737360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4" name="Shape 52"/>
          <p:cNvSpPr/>
          <p:nvPr/>
        </p:nvSpPr>
        <p:spPr>
          <a:xfrm>
            <a:off x="347472" y="1737360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Text 53"/>
          <p:cNvSpPr/>
          <p:nvPr/>
        </p:nvSpPr>
        <p:spPr>
          <a:xfrm>
            <a:off x="402336" y="1737360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Ashish Verma</a:t>
            </a:r>
            <a:endParaRPr lang="en-US" sz="750" dirty="0"/>
          </a:p>
        </p:txBody>
      </p:sp>
      <p:sp>
        <p:nvSpPr>
          <p:cNvPr id="56" name="Text 54"/>
          <p:cNvSpPr/>
          <p:nvPr/>
        </p:nvSpPr>
        <p:spPr>
          <a:xfrm>
            <a:off x="1986808" y="1737360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Middleware · T1,2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3446191" y="1737360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Contractor</a:t>
            </a:r>
            <a:endParaRPr lang="en-US" sz="650" dirty="0"/>
          </a:p>
        </p:txBody>
      </p:sp>
      <p:sp>
        <p:nvSpPr>
          <p:cNvPr id="58" name="Shape 56"/>
          <p:cNvSpPr/>
          <p:nvPr/>
        </p:nvSpPr>
        <p:spPr>
          <a:xfrm>
            <a:off x="4626864" y="1737360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9" name="Shape 57"/>
          <p:cNvSpPr/>
          <p:nvPr/>
        </p:nvSpPr>
        <p:spPr>
          <a:xfrm>
            <a:off x="4626864" y="1737360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Text 58"/>
          <p:cNvSpPr/>
          <p:nvPr/>
        </p:nvSpPr>
        <p:spPr>
          <a:xfrm>
            <a:off x="4681728" y="1737360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Lavanya Nagarajan</a:t>
            </a:r>
            <a:endParaRPr lang="en-US" sz="750" dirty="0"/>
          </a:p>
        </p:txBody>
      </p:sp>
      <p:sp>
        <p:nvSpPr>
          <p:cNvPr id="61" name="Text 59"/>
          <p:cNvSpPr/>
          <p:nvPr/>
        </p:nvSpPr>
        <p:spPr>
          <a:xfrm>
            <a:off x="6266200" y="1737360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Middleware · T1,2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7725583" y="1737360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Contractor</a:t>
            </a:r>
            <a:endParaRPr lang="en-US" sz="650" dirty="0"/>
          </a:p>
        </p:txBody>
      </p:sp>
      <p:sp>
        <p:nvSpPr>
          <p:cNvPr id="64" name="Shape 62"/>
          <p:cNvSpPr/>
          <p:nvPr/>
        </p:nvSpPr>
        <p:spPr>
          <a:xfrm>
            <a:off x="347472" y="1975104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5" name="Text 63"/>
          <p:cNvSpPr/>
          <p:nvPr/>
        </p:nvSpPr>
        <p:spPr>
          <a:xfrm>
            <a:off x="402336" y="1975104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750" dirty="0"/>
          </a:p>
        </p:txBody>
      </p:sp>
      <p:sp>
        <p:nvSpPr>
          <p:cNvPr id="66" name="Text 64"/>
          <p:cNvSpPr/>
          <p:nvPr/>
        </p:nvSpPr>
        <p:spPr>
          <a:xfrm>
            <a:off x="1986808" y="1975104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3446191" y="1975104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650" dirty="0"/>
          </a:p>
        </p:txBody>
      </p:sp>
      <p:sp>
        <p:nvSpPr>
          <p:cNvPr id="68" name="Shape 66"/>
          <p:cNvSpPr/>
          <p:nvPr/>
        </p:nvSpPr>
        <p:spPr>
          <a:xfrm>
            <a:off x="4626864" y="1975104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9" name="Shape 67"/>
          <p:cNvSpPr/>
          <p:nvPr/>
        </p:nvSpPr>
        <p:spPr>
          <a:xfrm>
            <a:off x="4626864" y="1975104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0" name="Text 68"/>
          <p:cNvSpPr/>
          <p:nvPr/>
        </p:nvSpPr>
        <p:spPr>
          <a:xfrm>
            <a:off x="4681728" y="1975104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Anne Kelly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6266200" y="1975104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PMO · T1,2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7725583" y="1975104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Contractor</a:t>
            </a:r>
            <a:endParaRPr lang="en-US" sz="650" dirty="0"/>
          </a:p>
        </p:txBody>
      </p:sp>
      <p:pic>
        <p:nvPicPr>
          <p:cNvPr id="12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  <p:sp>
        <p:nvSpPr>
          <p:cNvPr id="124" name="Text 121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145" name="Shape 2">
            <a:extLst>
              <a:ext uri="{FF2B5EF4-FFF2-40B4-BE49-F238E27FC236}">
                <a16:creationId xmlns:a16="http://schemas.microsoft.com/office/drawing/2014/main" id="{EBD55432-CB5C-6A70-48E3-874C09F1A249}"/>
              </a:ext>
            </a:extLst>
          </p:cNvPr>
          <p:cNvSpPr/>
          <p:nvPr/>
        </p:nvSpPr>
        <p:spPr>
          <a:xfrm>
            <a:off x="2380254" y="3342132"/>
            <a:ext cx="4169664" cy="201168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6" name="Shape 3">
            <a:extLst>
              <a:ext uri="{FF2B5EF4-FFF2-40B4-BE49-F238E27FC236}">
                <a16:creationId xmlns:a16="http://schemas.microsoft.com/office/drawing/2014/main" id="{A12CADC4-5840-2AE2-1507-F107FB98E9DC}"/>
              </a:ext>
            </a:extLst>
          </p:cNvPr>
          <p:cNvSpPr/>
          <p:nvPr/>
        </p:nvSpPr>
        <p:spPr>
          <a:xfrm>
            <a:off x="2380254" y="3342132"/>
            <a:ext cx="36576" cy="201168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7" name="Text 4">
            <a:extLst>
              <a:ext uri="{FF2B5EF4-FFF2-40B4-BE49-F238E27FC236}">
                <a16:creationId xmlns:a16="http://schemas.microsoft.com/office/drawing/2014/main" id="{0F5F05F8-39B8-C501-0269-3CEFBD26BCAB}"/>
              </a:ext>
            </a:extLst>
          </p:cNvPr>
          <p:cNvSpPr/>
          <p:nvPr/>
        </p:nvSpPr>
        <p:spPr>
          <a:xfrm>
            <a:off x="2435118" y="3342132"/>
            <a:ext cx="1584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Corinne Kreuger</a:t>
            </a:r>
            <a:endParaRPr lang="en-US" sz="750" dirty="0"/>
          </a:p>
        </p:txBody>
      </p:sp>
      <p:sp>
        <p:nvSpPr>
          <p:cNvPr id="148" name="Text 5">
            <a:extLst>
              <a:ext uri="{FF2B5EF4-FFF2-40B4-BE49-F238E27FC236}">
                <a16:creationId xmlns:a16="http://schemas.microsoft.com/office/drawing/2014/main" id="{54868EC8-D42F-34FE-825D-840D98950BFD}"/>
              </a:ext>
            </a:extLst>
          </p:cNvPr>
          <p:cNvSpPr/>
          <p:nvPr/>
        </p:nvSpPr>
        <p:spPr>
          <a:xfrm>
            <a:off x="4019590" y="3342132"/>
            <a:ext cx="14593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 / BA</a:t>
            </a:r>
            <a:endParaRPr lang="en-US" sz="700" dirty="0"/>
          </a:p>
        </p:txBody>
      </p:sp>
      <p:sp>
        <p:nvSpPr>
          <p:cNvPr id="149" name="Text 6">
            <a:extLst>
              <a:ext uri="{FF2B5EF4-FFF2-40B4-BE49-F238E27FC236}">
                <a16:creationId xmlns:a16="http://schemas.microsoft.com/office/drawing/2014/main" id="{10478DEC-618D-52F5-B823-6F84D3B56BE4}"/>
              </a:ext>
            </a:extLst>
          </p:cNvPr>
          <p:cNvSpPr/>
          <p:nvPr/>
        </p:nvSpPr>
        <p:spPr>
          <a:xfrm>
            <a:off x="5478973" y="3342132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Contractor</a:t>
            </a:r>
            <a:endParaRPr lang="en-US" sz="650" dirty="0"/>
          </a:p>
        </p:txBody>
      </p:sp>
      <p:sp>
        <p:nvSpPr>
          <p:cNvPr id="150" name="Shape 7">
            <a:extLst>
              <a:ext uri="{FF2B5EF4-FFF2-40B4-BE49-F238E27FC236}">
                <a16:creationId xmlns:a16="http://schemas.microsoft.com/office/drawing/2014/main" id="{4443177F-14E0-0524-DFC0-4733EA1C2BD1}"/>
              </a:ext>
            </a:extLst>
          </p:cNvPr>
          <p:cNvSpPr/>
          <p:nvPr/>
        </p:nvSpPr>
        <p:spPr>
          <a:xfrm>
            <a:off x="2380254" y="3543300"/>
            <a:ext cx="4169664" cy="201168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1" name="Shape 8">
            <a:extLst>
              <a:ext uri="{FF2B5EF4-FFF2-40B4-BE49-F238E27FC236}">
                <a16:creationId xmlns:a16="http://schemas.microsoft.com/office/drawing/2014/main" id="{92AFBA6A-20D8-9B13-6D3A-2635A7165980}"/>
              </a:ext>
            </a:extLst>
          </p:cNvPr>
          <p:cNvSpPr/>
          <p:nvPr/>
        </p:nvSpPr>
        <p:spPr>
          <a:xfrm>
            <a:off x="2380254" y="3543300"/>
            <a:ext cx="36576" cy="201168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2" name="Text 9">
            <a:extLst>
              <a:ext uri="{FF2B5EF4-FFF2-40B4-BE49-F238E27FC236}">
                <a16:creationId xmlns:a16="http://schemas.microsoft.com/office/drawing/2014/main" id="{8293E44D-2214-F26F-AC03-4E46E527B51B}"/>
              </a:ext>
            </a:extLst>
          </p:cNvPr>
          <p:cNvSpPr/>
          <p:nvPr/>
        </p:nvSpPr>
        <p:spPr>
          <a:xfrm>
            <a:off x="2435118" y="3543300"/>
            <a:ext cx="1584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Sathish Kumar E</a:t>
            </a:r>
            <a:endParaRPr lang="en-US" sz="750" dirty="0"/>
          </a:p>
        </p:txBody>
      </p:sp>
      <p:sp>
        <p:nvSpPr>
          <p:cNvPr id="153" name="Text 10">
            <a:extLst>
              <a:ext uri="{FF2B5EF4-FFF2-40B4-BE49-F238E27FC236}">
                <a16:creationId xmlns:a16="http://schemas.microsoft.com/office/drawing/2014/main" id="{8FBE0BFC-7338-4067-6030-71B2F471C9AC}"/>
              </a:ext>
            </a:extLst>
          </p:cNvPr>
          <p:cNvSpPr/>
          <p:nvPr/>
        </p:nvSpPr>
        <p:spPr>
          <a:xfrm>
            <a:off x="4019590" y="3543300"/>
            <a:ext cx="14593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Analyst</a:t>
            </a:r>
            <a:endParaRPr lang="en-US" sz="700" dirty="0"/>
          </a:p>
        </p:txBody>
      </p:sp>
      <p:sp>
        <p:nvSpPr>
          <p:cNvPr id="154" name="Text 11">
            <a:extLst>
              <a:ext uri="{FF2B5EF4-FFF2-40B4-BE49-F238E27FC236}">
                <a16:creationId xmlns:a16="http://schemas.microsoft.com/office/drawing/2014/main" id="{6B5BE7CA-4378-263F-C8B2-389089267078}"/>
              </a:ext>
            </a:extLst>
          </p:cNvPr>
          <p:cNvSpPr/>
          <p:nvPr/>
        </p:nvSpPr>
        <p:spPr>
          <a:xfrm>
            <a:off x="5478973" y="3543300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Contractor</a:t>
            </a:r>
            <a:endParaRPr lang="en-US" sz="650" dirty="0"/>
          </a:p>
        </p:txBody>
      </p:sp>
      <p:sp>
        <p:nvSpPr>
          <p:cNvPr id="155" name="Shape 12">
            <a:extLst>
              <a:ext uri="{FF2B5EF4-FFF2-40B4-BE49-F238E27FC236}">
                <a16:creationId xmlns:a16="http://schemas.microsoft.com/office/drawing/2014/main" id="{B4C2B65F-E474-0D53-DF6C-C8BB6BC0737C}"/>
              </a:ext>
            </a:extLst>
          </p:cNvPr>
          <p:cNvSpPr/>
          <p:nvPr/>
        </p:nvSpPr>
        <p:spPr>
          <a:xfrm>
            <a:off x="2380254" y="3744468"/>
            <a:ext cx="4169664" cy="201168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6" name="Shape 13">
            <a:extLst>
              <a:ext uri="{FF2B5EF4-FFF2-40B4-BE49-F238E27FC236}">
                <a16:creationId xmlns:a16="http://schemas.microsoft.com/office/drawing/2014/main" id="{B8F67448-0909-5BD8-5749-CCFCB639755B}"/>
              </a:ext>
            </a:extLst>
          </p:cNvPr>
          <p:cNvSpPr/>
          <p:nvPr/>
        </p:nvSpPr>
        <p:spPr>
          <a:xfrm>
            <a:off x="2380254" y="3744468"/>
            <a:ext cx="36576" cy="201168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7" name="Text 14">
            <a:extLst>
              <a:ext uri="{FF2B5EF4-FFF2-40B4-BE49-F238E27FC236}">
                <a16:creationId xmlns:a16="http://schemas.microsoft.com/office/drawing/2014/main" id="{DE89FAED-E141-476A-AC02-760DC47BA5C7}"/>
              </a:ext>
            </a:extLst>
          </p:cNvPr>
          <p:cNvSpPr/>
          <p:nvPr/>
        </p:nvSpPr>
        <p:spPr>
          <a:xfrm>
            <a:off x="2435118" y="3744468"/>
            <a:ext cx="1584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Tushar Joshi</a:t>
            </a:r>
            <a:endParaRPr lang="en-US" sz="750" dirty="0"/>
          </a:p>
        </p:txBody>
      </p:sp>
      <p:sp>
        <p:nvSpPr>
          <p:cNvPr id="158" name="Text 15">
            <a:extLst>
              <a:ext uri="{FF2B5EF4-FFF2-40B4-BE49-F238E27FC236}">
                <a16:creationId xmlns:a16="http://schemas.microsoft.com/office/drawing/2014/main" id="{A07C819E-320B-7A85-0FC2-E7F59921852C}"/>
              </a:ext>
            </a:extLst>
          </p:cNvPr>
          <p:cNvSpPr/>
          <p:nvPr/>
        </p:nvSpPr>
        <p:spPr>
          <a:xfrm>
            <a:off x="4019590" y="3744468"/>
            <a:ext cx="14593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Analyst</a:t>
            </a:r>
            <a:endParaRPr lang="en-US" sz="700" dirty="0"/>
          </a:p>
        </p:txBody>
      </p:sp>
      <p:sp>
        <p:nvSpPr>
          <p:cNvPr id="159" name="Text 16">
            <a:extLst>
              <a:ext uri="{FF2B5EF4-FFF2-40B4-BE49-F238E27FC236}">
                <a16:creationId xmlns:a16="http://schemas.microsoft.com/office/drawing/2014/main" id="{CB26AB6A-DD24-EABD-1A51-D7CD7896BF37}"/>
              </a:ext>
            </a:extLst>
          </p:cNvPr>
          <p:cNvSpPr/>
          <p:nvPr/>
        </p:nvSpPr>
        <p:spPr>
          <a:xfrm>
            <a:off x="5478973" y="3744468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Contractor</a:t>
            </a:r>
            <a:endParaRPr lang="en-US" sz="650" dirty="0"/>
          </a:p>
        </p:txBody>
      </p:sp>
      <p:sp>
        <p:nvSpPr>
          <p:cNvPr id="160" name="Shape 17">
            <a:extLst>
              <a:ext uri="{FF2B5EF4-FFF2-40B4-BE49-F238E27FC236}">
                <a16:creationId xmlns:a16="http://schemas.microsoft.com/office/drawing/2014/main" id="{D654ED4B-65D7-FA75-EBE8-E46A457FE070}"/>
              </a:ext>
            </a:extLst>
          </p:cNvPr>
          <p:cNvSpPr/>
          <p:nvPr/>
        </p:nvSpPr>
        <p:spPr>
          <a:xfrm>
            <a:off x="2380254" y="3945636"/>
            <a:ext cx="4169664" cy="201168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1" name="Shape 18">
            <a:extLst>
              <a:ext uri="{FF2B5EF4-FFF2-40B4-BE49-F238E27FC236}">
                <a16:creationId xmlns:a16="http://schemas.microsoft.com/office/drawing/2014/main" id="{AE5C8E96-7579-A445-58F2-50C7ACA98194}"/>
              </a:ext>
            </a:extLst>
          </p:cNvPr>
          <p:cNvSpPr/>
          <p:nvPr/>
        </p:nvSpPr>
        <p:spPr>
          <a:xfrm>
            <a:off x="2380254" y="3945636"/>
            <a:ext cx="36576" cy="201168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2" name="Text 19">
            <a:extLst>
              <a:ext uri="{FF2B5EF4-FFF2-40B4-BE49-F238E27FC236}">
                <a16:creationId xmlns:a16="http://schemas.microsoft.com/office/drawing/2014/main" id="{42CA1252-B350-8BF4-7EFD-484B6DF2E02B}"/>
              </a:ext>
            </a:extLst>
          </p:cNvPr>
          <p:cNvSpPr/>
          <p:nvPr/>
        </p:nvSpPr>
        <p:spPr>
          <a:xfrm>
            <a:off x="2435118" y="3945636"/>
            <a:ext cx="1584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Daniel Brenner</a:t>
            </a:r>
            <a:endParaRPr lang="en-US" sz="750" dirty="0"/>
          </a:p>
        </p:txBody>
      </p:sp>
      <p:sp>
        <p:nvSpPr>
          <p:cNvPr id="163" name="Text 20">
            <a:extLst>
              <a:ext uri="{FF2B5EF4-FFF2-40B4-BE49-F238E27FC236}">
                <a16:creationId xmlns:a16="http://schemas.microsoft.com/office/drawing/2014/main" id="{73F2728A-635E-A718-5A4F-80882D1AACB4}"/>
              </a:ext>
            </a:extLst>
          </p:cNvPr>
          <p:cNvSpPr/>
          <p:nvPr/>
        </p:nvSpPr>
        <p:spPr>
          <a:xfrm>
            <a:off x="4019590" y="3945636"/>
            <a:ext cx="14593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Master</a:t>
            </a:r>
            <a:endParaRPr lang="en-US" sz="700" dirty="0"/>
          </a:p>
        </p:txBody>
      </p:sp>
      <p:sp>
        <p:nvSpPr>
          <p:cNvPr id="164" name="Text 21">
            <a:extLst>
              <a:ext uri="{FF2B5EF4-FFF2-40B4-BE49-F238E27FC236}">
                <a16:creationId xmlns:a16="http://schemas.microsoft.com/office/drawing/2014/main" id="{2E29BC59-0035-A450-4E0F-185B36D52FE7}"/>
              </a:ext>
            </a:extLst>
          </p:cNvPr>
          <p:cNvSpPr/>
          <p:nvPr/>
        </p:nvSpPr>
        <p:spPr>
          <a:xfrm>
            <a:off x="5478973" y="3945636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 dirty="0"/>
          </a:p>
        </p:txBody>
      </p:sp>
      <p:sp>
        <p:nvSpPr>
          <p:cNvPr id="165" name="Text 1"/>
          <p:cNvSpPr/>
          <p:nvPr/>
        </p:nvSpPr>
        <p:spPr>
          <a:xfrm>
            <a:off x="2380254" y="3106498"/>
            <a:ext cx="41696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 Team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109728"/>
            <a:ext cx="84490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S&amp;C Contracting – Team 1 (WorkSight &amp; R12 Devs / FAs)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47472" y="548640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347472" y="548640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402336" y="548640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Albin Xavier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1986808" y="548640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WorkSight FA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446191" y="548640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Cognizant</a:t>
            </a:r>
            <a:endParaRPr lang="en-US" sz="650" dirty="0"/>
          </a:p>
        </p:txBody>
      </p:sp>
      <p:sp>
        <p:nvSpPr>
          <p:cNvPr id="8" name="Shape 6"/>
          <p:cNvSpPr/>
          <p:nvPr/>
        </p:nvSpPr>
        <p:spPr>
          <a:xfrm>
            <a:off x="4626864" y="548640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4626864" y="548640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4681728" y="548640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Narayan Kapali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266200" y="548640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WorkSight FA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7725583" y="548640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Cognizant</a:t>
            </a:r>
            <a:endParaRPr lang="en-US" sz="650" dirty="0"/>
          </a:p>
        </p:txBody>
      </p:sp>
      <p:sp>
        <p:nvSpPr>
          <p:cNvPr id="13" name="Shape 11"/>
          <p:cNvSpPr/>
          <p:nvPr/>
        </p:nvSpPr>
        <p:spPr>
          <a:xfrm>
            <a:off x="347472" y="786384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347472" y="786384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402336" y="786384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Sachin Salvi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986808" y="786384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 FA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3446191" y="786384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Contractor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4626864" y="786384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4626864" y="786384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4681728" y="786384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Elizabeth Garcia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6266200" y="786384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 FA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725583" y="786384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347472" y="1024128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Shape 22"/>
          <p:cNvSpPr/>
          <p:nvPr/>
        </p:nvSpPr>
        <p:spPr>
          <a:xfrm>
            <a:off x="347472" y="1024128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402336" y="1024128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Krishna Kumar G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986808" y="1024128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 FA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3446191" y="1024128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Contractor</a:t>
            </a:r>
            <a:endParaRPr lang="en-US" sz="650" dirty="0"/>
          </a:p>
        </p:txBody>
      </p:sp>
      <p:pic>
        <p:nvPicPr>
          <p:cNvPr id="13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  <p:sp>
        <p:nvSpPr>
          <p:cNvPr id="139" name="Text 136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8463" y="4588179"/>
            <a:ext cx="1097280" cy="475488"/>
          </a:xfrm>
          <a:prstGeom prst="rect">
            <a:avLst/>
          </a:prstGeom>
        </p:spPr>
      </p:pic>
      <p:sp>
        <p:nvSpPr>
          <p:cNvPr id="171" name="Text 168"/>
          <p:cNvSpPr/>
          <p:nvPr/>
        </p:nvSpPr>
        <p:spPr>
          <a:xfrm>
            <a:off x="347472" y="4817852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/>
          </a:p>
        </p:txBody>
      </p:sp>
      <p:sp>
        <p:nvSpPr>
          <p:cNvPr id="172" name="Rectangle 171"/>
          <p:cNvSpPr/>
          <p:nvPr/>
        </p:nvSpPr>
        <p:spPr>
          <a:xfrm>
            <a:off x="347472" y="109728"/>
            <a:ext cx="8449056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2000" b="1">
                <a:solidFill>
                  <a:srgbClr val="1F2937"/>
                </a:solidFill>
                <a:latin typeface="Aptos"/>
              </a:rPr>
              <a:t>Other Teams – WorkPackage, TSA, TDA, Jobs CoJo, Documents, Service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265176" y="548640"/>
            <a:ext cx="4169663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950" b="0">
                <a:solidFill>
                  <a:srgbClr val="1F2937"/>
                </a:solidFill>
                <a:latin typeface="Aptos"/>
              </a:rPr>
              <a:t>WorkPackage QA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265176" y="786384"/>
            <a:ext cx="4169663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265176" y="786384"/>
            <a:ext cx="36576" cy="192024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320040" y="786384"/>
            <a:ext cx="1581912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Likhith Pateel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1901952" y="786384"/>
            <a:ext cx="1463040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QA Lead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3364992" y="786384"/>
            <a:ext cx="1042415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Offshore · Trane-ITC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265176" y="978408"/>
            <a:ext cx="4169663" cy="192024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265176" y="978408"/>
            <a:ext cx="36576" cy="192024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320040" y="978408"/>
            <a:ext cx="1581912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Sudha Malbhage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1901952" y="978408"/>
            <a:ext cx="1463040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QA – Functional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3364992" y="978408"/>
            <a:ext cx="1042415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Offshore · Trane-ITC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265176" y="1170432"/>
            <a:ext cx="4169663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265176" y="1170432"/>
            <a:ext cx="36576" cy="192024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320040" y="1170432"/>
            <a:ext cx="1581912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Nitesh Achari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1901952" y="1170432"/>
            <a:ext cx="1463040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QA – Functional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3364992" y="1170432"/>
            <a:ext cx="1042415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Offshore · Trane-ITC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265176" y="1362456"/>
            <a:ext cx="4169663" cy="192024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265176" y="1362456"/>
            <a:ext cx="36576" cy="192024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320040" y="1362456"/>
            <a:ext cx="1581912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Pradeep K Battula</a:t>
            </a:r>
          </a:p>
        </p:txBody>
      </p:sp>
      <p:sp>
        <p:nvSpPr>
          <p:cNvPr id="192" name="Rectangle 191"/>
          <p:cNvSpPr/>
          <p:nvPr/>
        </p:nvSpPr>
        <p:spPr>
          <a:xfrm>
            <a:off x="1901952" y="1362456"/>
            <a:ext cx="1463040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QA – Automation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3364992" y="1362456"/>
            <a:ext cx="1042415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Offshore · Trane-ITC</a:t>
            </a:r>
          </a:p>
        </p:txBody>
      </p:sp>
      <p:sp>
        <p:nvSpPr>
          <p:cNvPr id="194" name="Rectangle 193"/>
          <p:cNvSpPr/>
          <p:nvPr/>
        </p:nvSpPr>
        <p:spPr>
          <a:xfrm>
            <a:off x="265176" y="1664208"/>
            <a:ext cx="4169663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950" b="0">
                <a:solidFill>
                  <a:srgbClr val="1F2937"/>
                </a:solidFill>
                <a:latin typeface="Aptos"/>
              </a:rPr>
              <a:t>TSA QA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265176" y="1901952"/>
            <a:ext cx="4169663" cy="173736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265176" y="1901952"/>
            <a:ext cx="36576" cy="17373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320040" y="1901952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Varsha Chitray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1901952" y="1901952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QA Lead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3364992" y="1901952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Offshore · Trane-ITC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265176" y="2075688"/>
            <a:ext cx="4169663" cy="173736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265176" y="2075688"/>
            <a:ext cx="36576" cy="17373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320040" y="2075688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Prarthana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1901952" y="2075688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QA – Functional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3364992" y="2075688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Offshore · Trane-ITC-C2H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265176" y="2249424"/>
            <a:ext cx="4169663" cy="173736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265176" y="2249424"/>
            <a:ext cx="36576" cy="17373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320040" y="2249424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Sandhyarani Mothukuri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1901952" y="2249424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QA – Functional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3364992" y="2249424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Offshore · Trane-ITC-C2H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265176" y="2423160"/>
            <a:ext cx="4169663" cy="173736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265176" y="2423160"/>
            <a:ext cx="36576" cy="17373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320040" y="2423160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Aastha Tripathi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1901952" y="2423160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QA – Func/Auto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3364992" y="2423160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Offshore · Trane-ITC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265176" y="2596896"/>
            <a:ext cx="4169663" cy="173736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265176" y="2596896"/>
            <a:ext cx="36576" cy="17373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320040" y="2596896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Rislow Chad</a:t>
            </a:r>
          </a:p>
        </p:txBody>
      </p:sp>
      <p:sp>
        <p:nvSpPr>
          <p:cNvPr id="218" name="Rectangle 217"/>
          <p:cNvSpPr/>
          <p:nvPr/>
        </p:nvSpPr>
        <p:spPr>
          <a:xfrm>
            <a:off x="1901952" y="2596896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PA – Product Analyst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3364992" y="2596896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Onshore · Trane</a:t>
            </a:r>
          </a:p>
        </p:txBody>
      </p:sp>
      <p:sp>
        <p:nvSpPr>
          <p:cNvPr id="220" name="Rectangle 219"/>
          <p:cNvSpPr/>
          <p:nvPr/>
        </p:nvSpPr>
        <p:spPr>
          <a:xfrm>
            <a:off x="265176" y="2770632"/>
            <a:ext cx="4169663" cy="173736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265176" y="2770632"/>
            <a:ext cx="36576" cy="17373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320040" y="2770632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Christopher Brown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1901952" y="2770632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PO – Product Owner</a:t>
            </a:r>
          </a:p>
        </p:txBody>
      </p:sp>
      <p:sp>
        <p:nvSpPr>
          <p:cNvPr id="224" name="Rectangle 223"/>
          <p:cNvSpPr/>
          <p:nvPr/>
        </p:nvSpPr>
        <p:spPr>
          <a:xfrm>
            <a:off x="3364992" y="2770632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Onshore · Trane</a:t>
            </a:r>
          </a:p>
        </p:txBody>
      </p:sp>
      <p:sp>
        <p:nvSpPr>
          <p:cNvPr id="225" name="Rectangle 224"/>
          <p:cNvSpPr/>
          <p:nvPr/>
        </p:nvSpPr>
        <p:spPr>
          <a:xfrm>
            <a:off x="265176" y="2944368"/>
            <a:ext cx="4169663" cy="173736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265176" y="2944368"/>
            <a:ext cx="36576" cy="17373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320040" y="2944368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Kristen Dale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1901952" y="2944368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PO – Product Owner</a:t>
            </a:r>
          </a:p>
        </p:txBody>
      </p:sp>
      <p:sp>
        <p:nvSpPr>
          <p:cNvPr id="229" name="Rectangle 228"/>
          <p:cNvSpPr/>
          <p:nvPr/>
        </p:nvSpPr>
        <p:spPr>
          <a:xfrm>
            <a:off x="3364992" y="2944368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Onshore · Trane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265176" y="3310128"/>
            <a:ext cx="4169663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950" b="0">
                <a:solidFill>
                  <a:srgbClr val="1F2937"/>
                </a:solidFill>
                <a:latin typeface="Aptos"/>
              </a:rPr>
              <a:t>TDA QA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265176" y="3547872"/>
            <a:ext cx="4169663" cy="173736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265176" y="3547872"/>
            <a:ext cx="36576" cy="17373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320040" y="3547872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Naveen H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1901952" y="3547872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QA Lead</a:t>
            </a:r>
          </a:p>
        </p:txBody>
      </p:sp>
      <p:sp>
        <p:nvSpPr>
          <p:cNvPr id="235" name="Rectangle 234"/>
          <p:cNvSpPr/>
          <p:nvPr/>
        </p:nvSpPr>
        <p:spPr>
          <a:xfrm>
            <a:off x="3364992" y="3547872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Offshore · Trane-ITC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265176" y="3721608"/>
            <a:ext cx="4169663" cy="173736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265176" y="3721608"/>
            <a:ext cx="36576" cy="17373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320040" y="3721608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Navya B R</a:t>
            </a:r>
          </a:p>
        </p:txBody>
      </p:sp>
      <p:sp>
        <p:nvSpPr>
          <p:cNvPr id="239" name="Rectangle 238"/>
          <p:cNvSpPr/>
          <p:nvPr/>
        </p:nvSpPr>
        <p:spPr>
          <a:xfrm>
            <a:off x="1901952" y="3721608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QA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3364992" y="3721608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Offshore · Trane-ITC-C2H</a:t>
            </a:r>
          </a:p>
        </p:txBody>
      </p:sp>
      <p:sp>
        <p:nvSpPr>
          <p:cNvPr id="241" name="Rectangle 240"/>
          <p:cNvSpPr/>
          <p:nvPr/>
        </p:nvSpPr>
        <p:spPr>
          <a:xfrm>
            <a:off x="265176" y="3895344"/>
            <a:ext cx="4169663" cy="173736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265176" y="3895344"/>
            <a:ext cx="36576" cy="17373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320040" y="3895344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Manoj Kulkarni</a:t>
            </a:r>
          </a:p>
        </p:txBody>
      </p:sp>
      <p:sp>
        <p:nvSpPr>
          <p:cNvPr id="244" name="Rectangle 243"/>
          <p:cNvSpPr/>
          <p:nvPr/>
        </p:nvSpPr>
        <p:spPr>
          <a:xfrm>
            <a:off x="1901952" y="3895344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QA</a:t>
            </a:r>
          </a:p>
        </p:txBody>
      </p:sp>
      <p:sp>
        <p:nvSpPr>
          <p:cNvPr id="245" name="Rectangle 244"/>
          <p:cNvSpPr/>
          <p:nvPr/>
        </p:nvSpPr>
        <p:spPr>
          <a:xfrm>
            <a:off x="3364992" y="3895344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Offshore · Trane-ITC-C2H</a:t>
            </a:r>
          </a:p>
        </p:txBody>
      </p:sp>
      <p:sp>
        <p:nvSpPr>
          <p:cNvPr id="246" name="Rectangle 245"/>
          <p:cNvSpPr/>
          <p:nvPr/>
        </p:nvSpPr>
        <p:spPr>
          <a:xfrm>
            <a:off x="265176" y="4069080"/>
            <a:ext cx="4169663" cy="173736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265176" y="4069080"/>
            <a:ext cx="36576" cy="17373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320040" y="4069080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Gurulingappa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1901952" y="4069080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QA</a:t>
            </a:r>
          </a:p>
        </p:txBody>
      </p:sp>
      <p:sp>
        <p:nvSpPr>
          <p:cNvPr id="250" name="Rectangle 249"/>
          <p:cNvSpPr/>
          <p:nvPr/>
        </p:nvSpPr>
        <p:spPr>
          <a:xfrm>
            <a:off x="3364992" y="4069080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Offshore · Trane-ITC-C2H</a:t>
            </a:r>
          </a:p>
        </p:txBody>
      </p:sp>
      <p:sp>
        <p:nvSpPr>
          <p:cNvPr id="251" name="Rectangle 250"/>
          <p:cNvSpPr/>
          <p:nvPr/>
        </p:nvSpPr>
        <p:spPr>
          <a:xfrm>
            <a:off x="265176" y="4242816"/>
            <a:ext cx="4169663" cy="173736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265176" y="4242816"/>
            <a:ext cx="36576" cy="17373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320040" y="4242816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Drew Rauvola</a:t>
            </a:r>
          </a:p>
        </p:txBody>
      </p:sp>
      <p:sp>
        <p:nvSpPr>
          <p:cNvPr id="254" name="Rectangle 253"/>
          <p:cNvSpPr/>
          <p:nvPr/>
        </p:nvSpPr>
        <p:spPr>
          <a:xfrm>
            <a:off x="1901952" y="4242816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Application Owner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3364992" y="4242816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/>
            </a:r>
          </a:p>
        </p:txBody>
      </p:sp>
      <p:sp>
        <p:nvSpPr>
          <p:cNvPr id="256" name="Rectangle 255"/>
          <p:cNvSpPr/>
          <p:nvPr/>
        </p:nvSpPr>
        <p:spPr>
          <a:xfrm>
            <a:off x="265176" y="4416552"/>
            <a:ext cx="4169663" cy="173736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265176" y="4416552"/>
            <a:ext cx="36576" cy="17373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320040" y="4416552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Abby Hoolver</a:t>
            </a:r>
          </a:p>
        </p:txBody>
      </p:sp>
      <p:sp>
        <p:nvSpPr>
          <p:cNvPr id="259" name="Rectangle 258"/>
          <p:cNvSpPr/>
          <p:nvPr/>
        </p:nvSpPr>
        <p:spPr>
          <a:xfrm>
            <a:off x="1901952" y="4416552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Business Owner</a:t>
            </a:r>
          </a:p>
        </p:txBody>
      </p:sp>
      <p:sp>
        <p:nvSpPr>
          <p:cNvPr id="260" name="Rectangle 259"/>
          <p:cNvSpPr/>
          <p:nvPr/>
        </p:nvSpPr>
        <p:spPr>
          <a:xfrm>
            <a:off x="3364992" y="4416552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/>
            </a:r>
          </a:p>
        </p:txBody>
      </p:sp>
      <p:sp>
        <p:nvSpPr>
          <p:cNvPr id="261" name="Rectangle 260"/>
          <p:cNvSpPr/>
          <p:nvPr/>
        </p:nvSpPr>
        <p:spPr>
          <a:xfrm>
            <a:off x="4626864" y="548640"/>
            <a:ext cx="4169663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950" b="0">
                <a:solidFill>
                  <a:srgbClr val="1F2937"/>
                </a:solidFill>
                <a:latin typeface="Aptos"/>
              </a:rPr>
              <a:t>Jobs CoJo QA &amp; Key</a:t>
            </a:r>
          </a:p>
        </p:txBody>
      </p:sp>
      <p:sp>
        <p:nvSpPr>
          <p:cNvPr id="262" name="Rectangle 261"/>
          <p:cNvSpPr/>
          <p:nvPr/>
        </p:nvSpPr>
        <p:spPr>
          <a:xfrm>
            <a:off x="4626864" y="786384"/>
            <a:ext cx="4169663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4626864" y="786384"/>
            <a:ext cx="36576" cy="192024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4681727" y="786384"/>
            <a:ext cx="1581912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Rashmi Ranganath</a:t>
            </a:r>
          </a:p>
        </p:txBody>
      </p:sp>
      <p:sp>
        <p:nvSpPr>
          <p:cNvPr id="265" name="Rectangle 264"/>
          <p:cNvSpPr/>
          <p:nvPr/>
        </p:nvSpPr>
        <p:spPr>
          <a:xfrm>
            <a:off x="6263640" y="786384"/>
            <a:ext cx="1463040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QA Lead/Scrum Master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7726679" y="786384"/>
            <a:ext cx="1042415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Offshore · Trane-ITC</a:t>
            </a:r>
          </a:p>
        </p:txBody>
      </p:sp>
      <p:sp>
        <p:nvSpPr>
          <p:cNvPr id="267" name="Rectangle 266"/>
          <p:cNvSpPr/>
          <p:nvPr/>
        </p:nvSpPr>
        <p:spPr>
          <a:xfrm>
            <a:off x="4626864" y="978408"/>
            <a:ext cx="4169663" cy="192024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4626864" y="978408"/>
            <a:ext cx="36576" cy="192024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Rectangle 268"/>
          <p:cNvSpPr/>
          <p:nvPr/>
        </p:nvSpPr>
        <p:spPr>
          <a:xfrm>
            <a:off x="4681727" y="978408"/>
            <a:ext cx="1581912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Chethana B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6263640" y="978408"/>
            <a:ext cx="1463040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QA – Functional</a:t>
            </a:r>
          </a:p>
        </p:txBody>
      </p:sp>
      <p:sp>
        <p:nvSpPr>
          <p:cNvPr id="271" name="Rectangle 270"/>
          <p:cNvSpPr/>
          <p:nvPr/>
        </p:nvSpPr>
        <p:spPr>
          <a:xfrm>
            <a:off x="7726679" y="978408"/>
            <a:ext cx="1042415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Offshore · Trane-ITC-C2H</a:t>
            </a:r>
          </a:p>
        </p:txBody>
      </p:sp>
      <p:sp>
        <p:nvSpPr>
          <p:cNvPr id="272" name="Rectangle 271"/>
          <p:cNvSpPr/>
          <p:nvPr/>
        </p:nvSpPr>
        <p:spPr>
          <a:xfrm>
            <a:off x="4626864" y="1170432"/>
            <a:ext cx="4169663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4626864" y="1170432"/>
            <a:ext cx="36576" cy="192024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4681727" y="1170432"/>
            <a:ext cx="1581912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Matt Parish</a:t>
            </a:r>
          </a:p>
        </p:txBody>
      </p:sp>
      <p:sp>
        <p:nvSpPr>
          <p:cNvPr id="275" name="Rectangle 274"/>
          <p:cNvSpPr/>
          <p:nvPr/>
        </p:nvSpPr>
        <p:spPr>
          <a:xfrm>
            <a:off x="6263640" y="1170432"/>
            <a:ext cx="1463040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Product Owner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7726679" y="1170432"/>
            <a:ext cx="1042415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Onshore · Trane</a:t>
            </a:r>
          </a:p>
        </p:txBody>
      </p:sp>
      <p:sp>
        <p:nvSpPr>
          <p:cNvPr id="277" name="Rectangle 276"/>
          <p:cNvSpPr/>
          <p:nvPr/>
        </p:nvSpPr>
        <p:spPr>
          <a:xfrm>
            <a:off x="4626864" y="1362456"/>
            <a:ext cx="4169663" cy="192024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4626864" y="1362456"/>
            <a:ext cx="36576" cy="192024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Rectangle 278"/>
          <p:cNvSpPr/>
          <p:nvPr/>
        </p:nvSpPr>
        <p:spPr>
          <a:xfrm>
            <a:off x="4681727" y="1362456"/>
            <a:ext cx="1581912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Hasan Al Quasem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6263640" y="1362456"/>
            <a:ext cx="1463040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IT Prod Analyst</a:t>
            </a:r>
          </a:p>
        </p:txBody>
      </p:sp>
      <p:sp>
        <p:nvSpPr>
          <p:cNvPr id="281" name="Rectangle 280"/>
          <p:cNvSpPr/>
          <p:nvPr/>
        </p:nvSpPr>
        <p:spPr>
          <a:xfrm>
            <a:off x="7726679" y="1362456"/>
            <a:ext cx="1042415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Onshore · Trane</a:t>
            </a:r>
          </a:p>
        </p:txBody>
      </p:sp>
      <p:sp>
        <p:nvSpPr>
          <p:cNvPr id="282" name="Rectangle 281"/>
          <p:cNvSpPr/>
          <p:nvPr/>
        </p:nvSpPr>
        <p:spPr>
          <a:xfrm>
            <a:off x="4626864" y="1847088"/>
            <a:ext cx="4169663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950" b="0">
                <a:solidFill>
                  <a:srgbClr val="1F2937"/>
                </a:solidFill>
                <a:latin typeface="Aptos"/>
              </a:rPr>
              <a:t>Documents / DocGen</a:t>
            </a:r>
          </a:p>
        </p:txBody>
      </p:sp>
      <p:sp>
        <p:nvSpPr>
          <p:cNvPr id="283" name="Rectangle 282"/>
          <p:cNvSpPr/>
          <p:nvPr/>
        </p:nvSpPr>
        <p:spPr>
          <a:xfrm>
            <a:off x="4626864" y="2084831"/>
            <a:ext cx="4169663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4626864" y="2084831"/>
            <a:ext cx="36576" cy="192024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4681727" y="2084831"/>
            <a:ext cx="1581912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Sandhyarani M</a:t>
            </a:r>
          </a:p>
        </p:txBody>
      </p:sp>
      <p:sp>
        <p:nvSpPr>
          <p:cNvPr id="286" name="Rectangle 285"/>
          <p:cNvSpPr/>
          <p:nvPr/>
        </p:nvSpPr>
        <p:spPr>
          <a:xfrm>
            <a:off x="6263640" y="2084831"/>
            <a:ext cx="1463040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QA – Func/Perf</a:t>
            </a:r>
          </a:p>
        </p:txBody>
      </p:sp>
      <p:sp>
        <p:nvSpPr>
          <p:cNvPr id="287" name="Rectangle 286"/>
          <p:cNvSpPr/>
          <p:nvPr/>
        </p:nvSpPr>
        <p:spPr>
          <a:xfrm>
            <a:off x="7726679" y="2084831"/>
            <a:ext cx="1042415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Offshore · Trane-ITC</a:t>
            </a:r>
          </a:p>
        </p:txBody>
      </p:sp>
      <p:sp>
        <p:nvSpPr>
          <p:cNvPr id="288" name="Rectangle 287"/>
          <p:cNvSpPr/>
          <p:nvPr/>
        </p:nvSpPr>
        <p:spPr>
          <a:xfrm>
            <a:off x="4626864" y="2276856"/>
            <a:ext cx="4169663" cy="192024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Rectangle 288"/>
          <p:cNvSpPr/>
          <p:nvPr/>
        </p:nvSpPr>
        <p:spPr>
          <a:xfrm>
            <a:off x="4626864" y="2276856"/>
            <a:ext cx="36576" cy="192024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Rectangle 289"/>
          <p:cNvSpPr/>
          <p:nvPr/>
        </p:nvSpPr>
        <p:spPr>
          <a:xfrm>
            <a:off x="4681727" y="2276856"/>
            <a:ext cx="1581912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Angela Puent</a:t>
            </a:r>
          </a:p>
        </p:txBody>
      </p:sp>
      <p:sp>
        <p:nvSpPr>
          <p:cNvPr id="291" name="Rectangle 290"/>
          <p:cNvSpPr/>
          <p:nvPr/>
        </p:nvSpPr>
        <p:spPr>
          <a:xfrm>
            <a:off x="6263640" y="2276856"/>
            <a:ext cx="1463040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Product Owner</a:t>
            </a:r>
          </a:p>
        </p:txBody>
      </p:sp>
      <p:sp>
        <p:nvSpPr>
          <p:cNvPr id="292" name="Rectangle 291"/>
          <p:cNvSpPr/>
          <p:nvPr/>
        </p:nvSpPr>
        <p:spPr>
          <a:xfrm>
            <a:off x="7726679" y="2276856"/>
            <a:ext cx="1042415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Onshore · Trane</a:t>
            </a:r>
          </a:p>
        </p:txBody>
      </p:sp>
      <p:sp>
        <p:nvSpPr>
          <p:cNvPr id="293" name="Rectangle 292"/>
          <p:cNvSpPr/>
          <p:nvPr/>
        </p:nvSpPr>
        <p:spPr>
          <a:xfrm>
            <a:off x="4626864" y="2468879"/>
            <a:ext cx="4169663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Rectangle 293"/>
          <p:cNvSpPr/>
          <p:nvPr/>
        </p:nvSpPr>
        <p:spPr>
          <a:xfrm>
            <a:off x="4626864" y="2468879"/>
            <a:ext cx="36576" cy="192024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Rectangle 294"/>
          <p:cNvSpPr/>
          <p:nvPr/>
        </p:nvSpPr>
        <p:spPr>
          <a:xfrm>
            <a:off x="4681727" y="2468879"/>
            <a:ext cx="1581912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Brett Meddaugh</a:t>
            </a:r>
          </a:p>
        </p:txBody>
      </p:sp>
      <p:sp>
        <p:nvSpPr>
          <p:cNvPr id="296" name="Rectangle 295"/>
          <p:cNvSpPr/>
          <p:nvPr/>
        </p:nvSpPr>
        <p:spPr>
          <a:xfrm>
            <a:off x="6263640" y="2468879"/>
            <a:ext cx="1463040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Architect</a:t>
            </a:r>
          </a:p>
        </p:txBody>
      </p:sp>
      <p:sp>
        <p:nvSpPr>
          <p:cNvPr id="297" name="Rectangle 296"/>
          <p:cNvSpPr/>
          <p:nvPr/>
        </p:nvSpPr>
        <p:spPr>
          <a:xfrm>
            <a:off x="7726679" y="2468879"/>
            <a:ext cx="1042415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Onshore · Trane</a:t>
            </a:r>
          </a:p>
        </p:txBody>
      </p:sp>
      <p:sp>
        <p:nvSpPr>
          <p:cNvPr id="298" name="Rectangle 297"/>
          <p:cNvSpPr/>
          <p:nvPr/>
        </p:nvSpPr>
        <p:spPr>
          <a:xfrm>
            <a:off x="4626864" y="2660903"/>
            <a:ext cx="4169663" cy="192024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Rectangle 298"/>
          <p:cNvSpPr/>
          <p:nvPr/>
        </p:nvSpPr>
        <p:spPr>
          <a:xfrm>
            <a:off x="4626864" y="2660903"/>
            <a:ext cx="36576" cy="192024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Rectangle 299"/>
          <p:cNvSpPr/>
          <p:nvPr/>
        </p:nvSpPr>
        <p:spPr>
          <a:xfrm>
            <a:off x="4681727" y="2660903"/>
            <a:ext cx="1581912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Chandana Gowda</a:t>
            </a:r>
          </a:p>
        </p:txBody>
      </p:sp>
      <p:sp>
        <p:nvSpPr>
          <p:cNvPr id="301" name="Rectangle 300"/>
          <p:cNvSpPr/>
          <p:nvPr/>
        </p:nvSpPr>
        <p:spPr>
          <a:xfrm>
            <a:off x="6263640" y="2660903"/>
            <a:ext cx="1463040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Developer</a:t>
            </a:r>
          </a:p>
        </p:txBody>
      </p:sp>
      <p:sp>
        <p:nvSpPr>
          <p:cNvPr id="302" name="Rectangle 301"/>
          <p:cNvSpPr/>
          <p:nvPr/>
        </p:nvSpPr>
        <p:spPr>
          <a:xfrm>
            <a:off x="7726679" y="2660903"/>
            <a:ext cx="1042415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Offshore · Trane-ITC</a:t>
            </a:r>
          </a:p>
        </p:txBody>
      </p:sp>
      <p:sp>
        <p:nvSpPr>
          <p:cNvPr id="303" name="Rectangle 302"/>
          <p:cNvSpPr/>
          <p:nvPr/>
        </p:nvSpPr>
        <p:spPr>
          <a:xfrm>
            <a:off x="4626864" y="3145536"/>
            <a:ext cx="4169663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950" b="0">
                <a:solidFill>
                  <a:srgbClr val="1F2937"/>
                </a:solidFill>
                <a:latin typeface="Aptos"/>
              </a:rPr>
              <a:t>Service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626864" y="3383280"/>
            <a:ext cx="4169663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Rectangle 304"/>
          <p:cNvSpPr/>
          <p:nvPr/>
        </p:nvSpPr>
        <p:spPr>
          <a:xfrm>
            <a:off x="4626864" y="3383280"/>
            <a:ext cx="36576" cy="192024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Rectangle 305"/>
          <p:cNvSpPr/>
          <p:nvPr/>
        </p:nvSpPr>
        <p:spPr>
          <a:xfrm>
            <a:off x="4681727" y="3383280"/>
            <a:ext cx="1581912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Kreidermacher, Tara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6263640" y="3383280"/>
            <a:ext cx="1463040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Scrum Master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7726679" y="3383280"/>
            <a:ext cx="1042415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Onshore - Trane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626864" y="3575304"/>
            <a:ext cx="4169663" cy="192024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Rectangle 309"/>
          <p:cNvSpPr/>
          <p:nvPr/>
        </p:nvSpPr>
        <p:spPr>
          <a:xfrm>
            <a:off x="4626864" y="3575304"/>
            <a:ext cx="36576" cy="192024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Rectangle 310"/>
          <p:cNvSpPr/>
          <p:nvPr/>
        </p:nvSpPr>
        <p:spPr>
          <a:xfrm>
            <a:off x="4681727" y="3575304"/>
            <a:ext cx="1581912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Pruner, Kenneth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6263640" y="3575304"/>
            <a:ext cx="1463040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Project Manager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7726679" y="3575304"/>
            <a:ext cx="1042415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Onshore - Trane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109728"/>
            <a:ext cx="84490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 we do – Projects &amp; Applications</a:t>
            </a:r>
            <a:endParaRPr lang="en-US" sz="2000"/>
          </a:p>
        </p:txBody>
      </p:sp>
      <p:sp>
        <p:nvSpPr>
          <p:cNvPr id="3" name="Text 1"/>
          <p:cNvSpPr/>
          <p:nvPr/>
        </p:nvSpPr>
        <p:spPr>
          <a:xfrm>
            <a:off x="347472" y="512064"/>
            <a:ext cx="8449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types: Smoke · System · Regression · Automation · Performance · QA PoC</a:t>
            </a:r>
            <a:endParaRPr lang="en-US" sz="950"/>
          </a:p>
        </p:txBody>
      </p:sp>
      <p:sp>
        <p:nvSpPr>
          <p:cNvPr id="4" name="Shape 2">
            <a:hlinkClick r:id="rId3"/>
          </p:cNvPr>
          <p:cNvSpPr/>
          <p:nvPr/>
        </p:nvSpPr>
        <p:spPr>
          <a:xfrm>
            <a:off x="347472" y="768096"/>
            <a:ext cx="2651760" cy="868680"/>
          </a:xfrm>
          <a:prstGeom prst="rect">
            <a:avLst/>
          </a:prstGeom>
          <a:solidFill>
            <a:srgbClr val="F3F0FA"/>
          </a:solidFill>
          <a:ln w="8890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347472" y="768096"/>
            <a:ext cx="50292" cy="86868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438912" y="841248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Trane Select Assist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38912" y="1225296"/>
            <a:ext cx="2514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PoC: Varsha Chitray</a:t>
            </a:r>
            <a:endParaRPr lang="en-US" sz="900" dirty="0"/>
          </a:p>
        </p:txBody>
      </p:sp>
      <p:sp>
        <p:nvSpPr>
          <p:cNvPr id="9" name="Shape 7">
            <a:hlinkClick r:id="rId4"/>
          </p:cNvPr>
          <p:cNvSpPr/>
          <p:nvPr/>
        </p:nvSpPr>
        <p:spPr>
          <a:xfrm>
            <a:off x="3127248" y="768096"/>
            <a:ext cx="2651760" cy="868680"/>
          </a:xfrm>
          <a:prstGeom prst="rect">
            <a:avLst/>
          </a:prstGeom>
          <a:solidFill>
            <a:srgbClr val="F3F0FA"/>
          </a:solidFill>
          <a:ln w="8890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0" name="Shape 8"/>
          <p:cNvSpPr/>
          <p:nvPr/>
        </p:nvSpPr>
        <p:spPr>
          <a:xfrm>
            <a:off x="3127248" y="768096"/>
            <a:ext cx="50292" cy="86868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3218688" y="841248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218688" y="1225296"/>
            <a:ext cx="2514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PoC: Brinda S </a:t>
            </a:r>
            <a:endParaRPr lang="en-US" sz="900" dirty="0"/>
          </a:p>
        </p:txBody>
      </p:sp>
      <p:sp>
        <p:nvSpPr>
          <p:cNvPr id="14" name="Shape 12">
            <a:hlinkClick r:id="rId5"/>
          </p:cNvPr>
          <p:cNvSpPr/>
          <p:nvPr/>
        </p:nvSpPr>
        <p:spPr>
          <a:xfrm>
            <a:off x="5861304" y="768096"/>
            <a:ext cx="2651760" cy="868680"/>
          </a:xfrm>
          <a:prstGeom prst="rect">
            <a:avLst/>
          </a:prstGeom>
          <a:solidFill>
            <a:srgbClr val="F3F0FA"/>
          </a:solidFill>
          <a:ln w="8890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5907024" y="768096"/>
            <a:ext cx="50292" cy="86868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5998464" y="841248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DMC / MDP</a:t>
            </a:r>
            <a:endParaRPr lang="en-US" sz="1100"/>
          </a:p>
        </p:txBody>
      </p:sp>
      <p:sp>
        <p:nvSpPr>
          <p:cNvPr id="17" name="Text 15"/>
          <p:cNvSpPr/>
          <p:nvPr/>
        </p:nvSpPr>
        <p:spPr>
          <a:xfrm>
            <a:off x="5998464" y="1225296"/>
            <a:ext cx="2514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PoC: Mahesh Laddi &amp; Anusha G</a:t>
            </a:r>
            <a:endParaRPr lang="en-US" sz="900"/>
          </a:p>
        </p:txBody>
      </p:sp>
      <p:sp>
        <p:nvSpPr>
          <p:cNvPr id="19" name="Shape 17">
            <a:hlinkClick r:id="rId6"/>
          </p:cNvPr>
          <p:cNvSpPr/>
          <p:nvPr/>
        </p:nvSpPr>
        <p:spPr>
          <a:xfrm>
            <a:off x="347472" y="1746504"/>
            <a:ext cx="2651760" cy="868680"/>
          </a:xfrm>
          <a:prstGeom prst="rect">
            <a:avLst/>
          </a:prstGeom>
          <a:solidFill>
            <a:srgbClr val="F3F0FA"/>
          </a:solidFill>
          <a:ln w="8890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347472" y="1746504"/>
            <a:ext cx="50292" cy="86868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38912" y="1819656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Jobs &amp; CoJo</a:t>
            </a:r>
            <a:endParaRPr lang="en-US" sz="1100"/>
          </a:p>
        </p:txBody>
      </p:sp>
      <p:sp>
        <p:nvSpPr>
          <p:cNvPr id="22" name="Text 20"/>
          <p:cNvSpPr/>
          <p:nvPr/>
        </p:nvSpPr>
        <p:spPr>
          <a:xfrm>
            <a:off x="438912" y="2203704"/>
            <a:ext cx="2514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PoC: Rashmi Ranganath</a:t>
            </a:r>
            <a:endParaRPr lang="en-US" sz="900"/>
          </a:p>
        </p:txBody>
      </p:sp>
      <p:sp>
        <p:nvSpPr>
          <p:cNvPr id="24" name="Shape 22">
            <a:hlinkClick r:id="rId7"/>
          </p:cNvPr>
          <p:cNvSpPr/>
          <p:nvPr/>
        </p:nvSpPr>
        <p:spPr>
          <a:xfrm>
            <a:off x="3127248" y="1746504"/>
            <a:ext cx="2651760" cy="868680"/>
          </a:xfrm>
          <a:prstGeom prst="rect">
            <a:avLst/>
          </a:prstGeom>
          <a:solidFill>
            <a:srgbClr val="F3F0FA"/>
          </a:solidFill>
          <a:ln w="8890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3127248" y="1746504"/>
            <a:ext cx="50292" cy="86868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3218688" y="1819656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Contracting Team 1,2 (Tax)</a:t>
            </a:r>
            <a:endParaRPr lang="en-US" sz="1100"/>
          </a:p>
        </p:txBody>
      </p:sp>
      <p:sp>
        <p:nvSpPr>
          <p:cNvPr id="27" name="Text 25"/>
          <p:cNvSpPr/>
          <p:nvPr/>
        </p:nvSpPr>
        <p:spPr>
          <a:xfrm>
            <a:off x="3218688" y="2203704"/>
            <a:ext cx="2514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PoC: Vignesh </a:t>
            </a:r>
            <a:r>
              <a:rPr lang="en-US" sz="900" err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Sheshababu</a:t>
            </a: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/Preeti k/Srinivas R</a:t>
            </a:r>
            <a:endParaRPr lang="en-US" sz="900"/>
          </a:p>
        </p:txBody>
      </p:sp>
      <p:sp>
        <p:nvSpPr>
          <p:cNvPr id="29" name="Shape 27">
            <a:hlinkClick r:id="rId8"/>
          </p:cNvPr>
          <p:cNvSpPr/>
          <p:nvPr/>
        </p:nvSpPr>
        <p:spPr>
          <a:xfrm>
            <a:off x="5907024" y="1746504"/>
            <a:ext cx="2651760" cy="868680"/>
          </a:xfrm>
          <a:prstGeom prst="rect">
            <a:avLst/>
          </a:prstGeom>
          <a:solidFill>
            <a:srgbClr val="F3F0FA"/>
          </a:solidFill>
          <a:ln w="8890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Shape 28"/>
          <p:cNvSpPr/>
          <p:nvPr/>
        </p:nvSpPr>
        <p:spPr>
          <a:xfrm>
            <a:off x="5907024" y="1746504"/>
            <a:ext cx="50292" cy="86868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5998464" y="1819656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TDA</a:t>
            </a:r>
            <a:endParaRPr lang="en-US" sz="1100"/>
          </a:p>
        </p:txBody>
      </p:sp>
      <p:sp>
        <p:nvSpPr>
          <p:cNvPr id="32" name="Text 30"/>
          <p:cNvSpPr/>
          <p:nvPr/>
        </p:nvSpPr>
        <p:spPr>
          <a:xfrm>
            <a:off x="5998464" y="2203704"/>
            <a:ext cx="2514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PoC: Naveen H</a:t>
            </a:r>
            <a:endParaRPr lang="en-US" sz="900"/>
          </a:p>
        </p:txBody>
      </p:sp>
      <p:sp>
        <p:nvSpPr>
          <p:cNvPr id="34" name="Shape 32">
            <a:hlinkClick r:id="rId9"/>
          </p:cNvPr>
          <p:cNvSpPr/>
          <p:nvPr/>
        </p:nvSpPr>
        <p:spPr>
          <a:xfrm>
            <a:off x="347472" y="2724912"/>
            <a:ext cx="2651760" cy="868680"/>
          </a:xfrm>
          <a:prstGeom prst="rect">
            <a:avLst/>
          </a:prstGeom>
          <a:solidFill>
            <a:srgbClr val="F3F0FA"/>
          </a:solidFill>
          <a:ln w="8890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Shape 33"/>
          <p:cNvSpPr/>
          <p:nvPr/>
        </p:nvSpPr>
        <p:spPr>
          <a:xfrm>
            <a:off x="347472" y="2724912"/>
            <a:ext cx="50292" cy="86868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/>
          <p:nvPr/>
        </p:nvSpPr>
        <p:spPr>
          <a:xfrm>
            <a:off x="438912" y="2798064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Package</a:t>
            </a:r>
            <a:endParaRPr lang="en-US" sz="1100"/>
          </a:p>
        </p:txBody>
      </p:sp>
      <p:sp>
        <p:nvSpPr>
          <p:cNvPr id="37" name="Text 35"/>
          <p:cNvSpPr/>
          <p:nvPr/>
        </p:nvSpPr>
        <p:spPr>
          <a:xfrm>
            <a:off x="438912" y="3182112"/>
            <a:ext cx="2514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PoC: Likhith Pateel</a:t>
            </a:r>
            <a:endParaRPr lang="en-US" sz="900"/>
          </a:p>
        </p:txBody>
      </p:sp>
      <p:sp>
        <p:nvSpPr>
          <p:cNvPr id="39" name="Shape 37"/>
          <p:cNvSpPr/>
          <p:nvPr/>
        </p:nvSpPr>
        <p:spPr>
          <a:xfrm>
            <a:off x="3127248" y="2724912"/>
            <a:ext cx="2651760" cy="868680"/>
          </a:xfrm>
          <a:prstGeom prst="rect">
            <a:avLst/>
          </a:prstGeom>
          <a:solidFill>
            <a:srgbClr val="F3F0FA"/>
          </a:solidFill>
          <a:ln w="8890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Shape 38"/>
          <p:cNvSpPr/>
          <p:nvPr/>
        </p:nvSpPr>
        <p:spPr>
          <a:xfrm>
            <a:off x="3127248" y="2724912"/>
            <a:ext cx="50292" cy="86868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218688" y="2798064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/ DocGen</a:t>
            </a:r>
            <a:endParaRPr lang="en-US" sz="1100"/>
          </a:p>
        </p:txBody>
      </p:sp>
      <p:sp>
        <p:nvSpPr>
          <p:cNvPr id="42" name="Text 40"/>
          <p:cNvSpPr/>
          <p:nvPr/>
        </p:nvSpPr>
        <p:spPr>
          <a:xfrm>
            <a:off x="3218688" y="3182112"/>
            <a:ext cx="2514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PoC: Sandhyarani M</a:t>
            </a:r>
            <a:endParaRPr lang="en-US" sz="900"/>
          </a:p>
        </p:txBody>
      </p:sp>
      <p:sp>
        <p:nvSpPr>
          <p:cNvPr id="44" name="Shape 42">
            <a:hlinkClick r:id="rId10"/>
          </p:cNvPr>
          <p:cNvSpPr/>
          <p:nvPr/>
        </p:nvSpPr>
        <p:spPr>
          <a:xfrm>
            <a:off x="5907024" y="2724912"/>
            <a:ext cx="2651760" cy="868680"/>
          </a:xfrm>
          <a:prstGeom prst="rect">
            <a:avLst/>
          </a:prstGeom>
          <a:solidFill>
            <a:srgbClr val="F3F0FA"/>
          </a:solidFill>
          <a:ln w="8890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5" name="Shape 43"/>
          <p:cNvSpPr/>
          <p:nvPr/>
        </p:nvSpPr>
        <p:spPr>
          <a:xfrm>
            <a:off x="5907024" y="2724912"/>
            <a:ext cx="50292" cy="86868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5998464" y="2798064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</a:t>
            </a:r>
            <a:endParaRPr lang="en-US" sz="1100"/>
          </a:p>
        </p:txBody>
      </p:sp>
      <p:sp>
        <p:nvSpPr>
          <p:cNvPr id="47" name="Text 45"/>
          <p:cNvSpPr/>
          <p:nvPr/>
        </p:nvSpPr>
        <p:spPr>
          <a:xfrm>
            <a:off x="5998464" y="3182112"/>
            <a:ext cx="2514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PoC: Frank Murcia</a:t>
            </a:r>
            <a:endParaRPr lang="en-US" sz="900" dirty="0"/>
          </a:p>
        </p:txBody>
      </p:sp>
      <p:pic>
        <p:nvPicPr>
          <p:cNvPr id="49" name="Image 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  <p:sp>
        <p:nvSpPr>
          <p:cNvPr id="50" name="Text 47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109728"/>
            <a:ext cx="84490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things you need – Checklist &amp; Application URLs</a:t>
            </a:r>
            <a:endParaRPr lang="en-US" sz="2000"/>
          </a:p>
        </p:txBody>
      </p:sp>
      <p:sp>
        <p:nvSpPr>
          <p:cNvPr id="3" name="Text 1"/>
          <p:cNvSpPr/>
          <p:nvPr/>
        </p:nvSpPr>
        <p:spPr>
          <a:xfrm>
            <a:off x="347472" y="512064"/>
            <a:ext cx="4297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need</a:t>
            </a:r>
            <a:endParaRPr lang="en-US" sz="1000"/>
          </a:p>
        </p:txBody>
      </p:sp>
      <p:sp>
        <p:nvSpPr>
          <p:cNvPr id="4" name="Shape 2"/>
          <p:cNvSpPr/>
          <p:nvPr/>
        </p:nvSpPr>
        <p:spPr>
          <a:xfrm>
            <a:off x="347472" y="731520"/>
            <a:ext cx="4297680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347472" y="731520"/>
            <a:ext cx="43891" cy="27432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411480" y="731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Laptop</a:t>
            </a:r>
            <a:endParaRPr lang="en-US" sz="900"/>
          </a:p>
        </p:txBody>
      </p:sp>
      <p:sp>
        <p:nvSpPr>
          <p:cNvPr id="7" name="Text 5"/>
          <p:cNvSpPr/>
          <p:nvPr/>
        </p:nvSpPr>
        <p:spPr>
          <a:xfrm>
            <a:off x="1819656" y="731520"/>
            <a:ext cx="2807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FST Team</a:t>
            </a:r>
            <a:endParaRPr lang="en-US" sz="900"/>
          </a:p>
        </p:txBody>
      </p:sp>
      <p:sp>
        <p:nvSpPr>
          <p:cNvPr id="8" name="Shape 6"/>
          <p:cNvSpPr/>
          <p:nvPr/>
        </p:nvSpPr>
        <p:spPr>
          <a:xfrm>
            <a:off x="347472" y="1005840"/>
            <a:ext cx="4297680" cy="274320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347472" y="1005840"/>
            <a:ext cx="43891" cy="27432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411480" y="10058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VPN</a:t>
            </a:r>
            <a:endParaRPr lang="en-US" sz="900"/>
          </a:p>
        </p:txBody>
      </p:sp>
      <p:sp>
        <p:nvSpPr>
          <p:cNvPr id="11" name="Text 9"/>
          <p:cNvSpPr/>
          <p:nvPr/>
        </p:nvSpPr>
        <p:spPr>
          <a:xfrm>
            <a:off x="1819656" y="1005840"/>
            <a:ext cx="2807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FST Team</a:t>
            </a:r>
            <a:endParaRPr lang="en-US" sz="900"/>
          </a:p>
        </p:txBody>
      </p:sp>
      <p:sp>
        <p:nvSpPr>
          <p:cNvPr id="12" name="Shape 10"/>
          <p:cNvSpPr/>
          <p:nvPr/>
        </p:nvSpPr>
        <p:spPr>
          <a:xfrm>
            <a:off x="347472" y="1280160"/>
            <a:ext cx="4297680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347472" y="1280160"/>
            <a:ext cx="43891" cy="27432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411480" y="12801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Headphones / Mouse</a:t>
            </a:r>
            <a:endParaRPr lang="en-US" sz="900"/>
          </a:p>
        </p:txBody>
      </p:sp>
      <p:sp>
        <p:nvSpPr>
          <p:cNvPr id="15" name="Text 13"/>
          <p:cNvSpPr/>
          <p:nvPr/>
        </p:nvSpPr>
        <p:spPr>
          <a:xfrm>
            <a:off x="1819656" y="1280160"/>
            <a:ext cx="2807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FST Team</a:t>
            </a:r>
            <a:endParaRPr lang="en-US" sz="900"/>
          </a:p>
        </p:txBody>
      </p:sp>
      <p:sp>
        <p:nvSpPr>
          <p:cNvPr id="16" name="Shape 14"/>
          <p:cNvSpPr/>
          <p:nvPr/>
        </p:nvSpPr>
        <p:spPr>
          <a:xfrm>
            <a:off x="347472" y="1554480"/>
            <a:ext cx="4297680" cy="274320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347472" y="1554480"/>
            <a:ext cx="43891" cy="27432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411480" y="15544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Administrator ID</a:t>
            </a:r>
            <a:endParaRPr lang="en-US" sz="900"/>
          </a:p>
        </p:txBody>
      </p:sp>
      <p:sp>
        <p:nvSpPr>
          <p:cNvPr id="19" name="Text 17"/>
          <p:cNvSpPr/>
          <p:nvPr/>
        </p:nvSpPr>
        <p:spPr>
          <a:xfrm>
            <a:off x="1819656" y="1554480"/>
            <a:ext cx="2807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 Request</a:t>
            </a:r>
            <a:endParaRPr lang="en-US" sz="900"/>
          </a:p>
        </p:txBody>
      </p:sp>
      <p:sp>
        <p:nvSpPr>
          <p:cNvPr id="20" name="Shape 18"/>
          <p:cNvSpPr/>
          <p:nvPr/>
        </p:nvSpPr>
        <p:spPr>
          <a:xfrm>
            <a:off x="347472" y="1828800"/>
            <a:ext cx="4297680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347472" y="1828800"/>
            <a:ext cx="43891" cy="27432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11480" y="1828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Jira Access/Confluence</a:t>
            </a:r>
            <a:endParaRPr lang="en-US" sz="900"/>
          </a:p>
        </p:txBody>
      </p:sp>
      <p:sp>
        <p:nvSpPr>
          <p:cNvPr id="23" name="Text 21"/>
          <p:cNvSpPr/>
          <p:nvPr/>
        </p:nvSpPr>
        <p:spPr>
          <a:xfrm>
            <a:off x="1819656" y="1828800"/>
            <a:ext cx="2807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QA Lead</a:t>
            </a:r>
            <a:endParaRPr lang="en-US" sz="900"/>
          </a:p>
        </p:txBody>
      </p:sp>
      <p:sp>
        <p:nvSpPr>
          <p:cNvPr id="24" name="Shape 22"/>
          <p:cNvSpPr/>
          <p:nvPr/>
        </p:nvSpPr>
        <p:spPr>
          <a:xfrm>
            <a:off x="347472" y="2103120"/>
            <a:ext cx="4297680" cy="274320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347472" y="2103120"/>
            <a:ext cx="43891" cy="27432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411480" y="21031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</a:t>
            </a:r>
            <a:endParaRPr lang="en-US" sz="900"/>
          </a:p>
        </p:txBody>
      </p:sp>
      <p:sp>
        <p:nvSpPr>
          <p:cNvPr id="27" name="Text 25"/>
          <p:cNvSpPr/>
          <p:nvPr/>
        </p:nvSpPr>
        <p:spPr>
          <a:xfrm>
            <a:off x="1819656" y="2103120"/>
            <a:ext cx="2807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 – Computer Software</a:t>
            </a:r>
            <a:endParaRPr lang="en-US" sz="900"/>
          </a:p>
        </p:txBody>
      </p:sp>
      <p:sp>
        <p:nvSpPr>
          <p:cNvPr id="28" name="Shape 26"/>
          <p:cNvSpPr/>
          <p:nvPr/>
        </p:nvSpPr>
        <p:spPr>
          <a:xfrm>
            <a:off x="347472" y="2377440"/>
            <a:ext cx="4297680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Shape 27"/>
          <p:cNvSpPr/>
          <p:nvPr/>
        </p:nvSpPr>
        <p:spPr>
          <a:xfrm>
            <a:off x="347472" y="2377440"/>
            <a:ext cx="43891" cy="27432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411480" y="23774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Eclipse IDE</a:t>
            </a:r>
            <a:endParaRPr lang="en-US" sz="900"/>
          </a:p>
        </p:txBody>
      </p:sp>
      <p:sp>
        <p:nvSpPr>
          <p:cNvPr id="31" name="Text 29"/>
          <p:cNvSpPr/>
          <p:nvPr/>
        </p:nvSpPr>
        <p:spPr>
          <a:xfrm>
            <a:off x="1819656" y="2377440"/>
            <a:ext cx="2807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 – Computer Software</a:t>
            </a:r>
            <a:endParaRPr lang="en-US" sz="900"/>
          </a:p>
        </p:txBody>
      </p:sp>
      <p:sp>
        <p:nvSpPr>
          <p:cNvPr id="32" name="Shape 30"/>
          <p:cNvSpPr/>
          <p:nvPr/>
        </p:nvSpPr>
        <p:spPr>
          <a:xfrm>
            <a:off x="347472" y="2651760"/>
            <a:ext cx="4297680" cy="274320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Shape 31"/>
          <p:cNvSpPr/>
          <p:nvPr/>
        </p:nvSpPr>
        <p:spPr>
          <a:xfrm>
            <a:off x="347472" y="2651760"/>
            <a:ext cx="43891" cy="27432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/>
          <p:nvPr/>
        </p:nvSpPr>
        <p:spPr>
          <a:xfrm>
            <a:off x="411480" y="26517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Bash / GitHub</a:t>
            </a:r>
            <a:endParaRPr lang="en-US" sz="900"/>
          </a:p>
        </p:txBody>
      </p:sp>
      <p:sp>
        <p:nvSpPr>
          <p:cNvPr id="35" name="Text 33"/>
          <p:cNvSpPr/>
          <p:nvPr/>
        </p:nvSpPr>
        <p:spPr>
          <a:xfrm>
            <a:off x="1819656" y="2651760"/>
            <a:ext cx="2807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 – KB0040682</a:t>
            </a:r>
            <a:endParaRPr lang="en-US" sz="900"/>
          </a:p>
        </p:txBody>
      </p:sp>
      <p:sp>
        <p:nvSpPr>
          <p:cNvPr id="37" name="Shape 35"/>
          <p:cNvSpPr/>
          <p:nvPr/>
        </p:nvSpPr>
        <p:spPr>
          <a:xfrm>
            <a:off x="347472" y="2926080"/>
            <a:ext cx="43891" cy="27432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Shape 39"/>
          <p:cNvSpPr/>
          <p:nvPr/>
        </p:nvSpPr>
        <p:spPr>
          <a:xfrm>
            <a:off x="347472" y="3200400"/>
            <a:ext cx="43891" cy="27432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4" name="Shape 42"/>
          <p:cNvSpPr/>
          <p:nvPr/>
        </p:nvSpPr>
        <p:spPr>
          <a:xfrm>
            <a:off x="397894" y="2926080"/>
            <a:ext cx="4297680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5" name="Shape 43"/>
          <p:cNvSpPr/>
          <p:nvPr/>
        </p:nvSpPr>
        <p:spPr>
          <a:xfrm>
            <a:off x="347472" y="3474720"/>
            <a:ext cx="43891" cy="27432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411480" y="34747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/ DB Access</a:t>
            </a:r>
            <a:endParaRPr lang="en-US" sz="900"/>
          </a:p>
        </p:txBody>
      </p:sp>
      <p:sp>
        <p:nvSpPr>
          <p:cNvPr id="47" name="Text 45"/>
          <p:cNvSpPr/>
          <p:nvPr/>
        </p:nvSpPr>
        <p:spPr>
          <a:xfrm>
            <a:off x="1819656" y="3474720"/>
            <a:ext cx="2807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 Request</a:t>
            </a:r>
            <a:endParaRPr lang="en-US" sz="900"/>
          </a:p>
        </p:txBody>
      </p:sp>
      <p:sp>
        <p:nvSpPr>
          <p:cNvPr id="49" name="Shape 47"/>
          <p:cNvSpPr/>
          <p:nvPr/>
        </p:nvSpPr>
        <p:spPr>
          <a:xfrm>
            <a:off x="347472" y="3749040"/>
            <a:ext cx="43891" cy="27432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2" name="Shape 50"/>
          <p:cNvSpPr/>
          <p:nvPr/>
        </p:nvSpPr>
        <p:spPr>
          <a:xfrm>
            <a:off x="347472" y="4023360"/>
            <a:ext cx="4297680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3" name="Shape 51"/>
          <p:cNvSpPr/>
          <p:nvPr/>
        </p:nvSpPr>
        <p:spPr>
          <a:xfrm>
            <a:off x="347472" y="4023360"/>
            <a:ext cx="43891" cy="27432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4" name="Text 52"/>
          <p:cNvSpPr/>
          <p:nvPr/>
        </p:nvSpPr>
        <p:spPr>
          <a:xfrm>
            <a:off x="411480" y="4023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URLs</a:t>
            </a:r>
            <a:endParaRPr lang="en-US" sz="900"/>
          </a:p>
        </p:txBody>
      </p:sp>
      <p:sp>
        <p:nvSpPr>
          <p:cNvPr id="55" name="Text 53"/>
          <p:cNvSpPr/>
          <p:nvPr/>
        </p:nvSpPr>
        <p:spPr>
          <a:xfrm>
            <a:off x="1819656" y="4023360"/>
            <a:ext cx="2807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right column</a:t>
            </a:r>
            <a:endParaRPr lang="en-US" sz="900"/>
          </a:p>
        </p:txBody>
      </p:sp>
      <p:sp>
        <p:nvSpPr>
          <p:cNvPr id="57" name="Shape 55"/>
          <p:cNvSpPr/>
          <p:nvPr/>
        </p:nvSpPr>
        <p:spPr>
          <a:xfrm>
            <a:off x="347472" y="4297680"/>
            <a:ext cx="43891" cy="27432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Text 58"/>
          <p:cNvSpPr/>
          <p:nvPr/>
        </p:nvSpPr>
        <p:spPr>
          <a:xfrm>
            <a:off x="4846320" y="51206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URLs</a:t>
            </a:r>
            <a:endParaRPr lang="en-US" sz="1000"/>
          </a:p>
        </p:txBody>
      </p:sp>
      <p:sp>
        <p:nvSpPr>
          <p:cNvPr id="61" name="Text 59"/>
          <p:cNvSpPr/>
          <p:nvPr/>
        </p:nvSpPr>
        <p:spPr>
          <a:xfrm>
            <a:off x="4846320" y="73152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TSA</a:t>
            </a:r>
            <a:endParaRPr lang="en-US" sz="850"/>
          </a:p>
        </p:txBody>
      </p:sp>
      <p:sp>
        <p:nvSpPr>
          <p:cNvPr id="62" name="Shape 60"/>
          <p:cNvSpPr/>
          <p:nvPr/>
        </p:nvSpPr>
        <p:spPr>
          <a:xfrm>
            <a:off x="4846320" y="914400"/>
            <a:ext cx="393192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3" name="Text 61"/>
          <p:cNvSpPr/>
          <p:nvPr/>
        </p:nvSpPr>
        <p:spPr>
          <a:xfrm>
            <a:off x="4901184" y="914400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Dev:</a:t>
            </a:r>
            <a:endParaRPr lang="en-US" sz="850"/>
          </a:p>
        </p:txBody>
      </p:sp>
      <p:sp>
        <p:nvSpPr>
          <p:cNvPr id="64" name="Text 62"/>
          <p:cNvSpPr/>
          <p:nvPr/>
        </p:nvSpPr>
        <p:spPr>
          <a:xfrm>
            <a:off x="5806440" y="914400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dev.traneselectassist.com</a:t>
            </a:r>
            <a:endParaRPr lang="en-US" sz="750"/>
          </a:p>
        </p:txBody>
      </p:sp>
      <p:sp>
        <p:nvSpPr>
          <p:cNvPr id="65" name="Shape 63"/>
          <p:cNvSpPr/>
          <p:nvPr/>
        </p:nvSpPr>
        <p:spPr>
          <a:xfrm>
            <a:off x="4846320" y="1152144"/>
            <a:ext cx="3931920" cy="237744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6" name="Text 64"/>
          <p:cNvSpPr/>
          <p:nvPr/>
        </p:nvSpPr>
        <p:spPr>
          <a:xfrm>
            <a:off x="4901184" y="1152144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</a:t>
            </a:r>
            <a:endParaRPr lang="en-US" sz="850"/>
          </a:p>
        </p:txBody>
      </p:sp>
      <p:sp>
        <p:nvSpPr>
          <p:cNvPr id="67" name="Text 65"/>
          <p:cNvSpPr/>
          <p:nvPr/>
        </p:nvSpPr>
        <p:spPr>
          <a:xfrm>
            <a:off x="5806440" y="1152144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test.traneselectassist.com</a:t>
            </a:r>
            <a:endParaRPr lang="en-US" sz="750"/>
          </a:p>
        </p:txBody>
      </p:sp>
      <p:sp>
        <p:nvSpPr>
          <p:cNvPr id="68" name="Shape 66"/>
          <p:cNvSpPr/>
          <p:nvPr/>
        </p:nvSpPr>
        <p:spPr>
          <a:xfrm>
            <a:off x="4846320" y="1389888"/>
            <a:ext cx="393192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9" name="Text 67"/>
          <p:cNvSpPr/>
          <p:nvPr/>
        </p:nvSpPr>
        <p:spPr>
          <a:xfrm>
            <a:off x="4901184" y="1389888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Prod:</a:t>
            </a:r>
            <a:endParaRPr lang="en-US" sz="850"/>
          </a:p>
        </p:txBody>
      </p:sp>
      <p:sp>
        <p:nvSpPr>
          <p:cNvPr id="70" name="Text 68"/>
          <p:cNvSpPr/>
          <p:nvPr/>
        </p:nvSpPr>
        <p:spPr>
          <a:xfrm>
            <a:off x="5806440" y="1389888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traneselectassist.com</a:t>
            </a:r>
            <a:endParaRPr lang="en-US" sz="750"/>
          </a:p>
        </p:txBody>
      </p:sp>
      <p:sp>
        <p:nvSpPr>
          <p:cNvPr id="71" name="Text 69"/>
          <p:cNvSpPr/>
          <p:nvPr/>
        </p:nvSpPr>
        <p:spPr>
          <a:xfrm>
            <a:off x="4846320" y="1664208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TSMT</a:t>
            </a:r>
            <a:endParaRPr lang="en-US" sz="850"/>
          </a:p>
        </p:txBody>
      </p:sp>
      <p:sp>
        <p:nvSpPr>
          <p:cNvPr id="72" name="Shape 70"/>
          <p:cNvSpPr/>
          <p:nvPr/>
        </p:nvSpPr>
        <p:spPr>
          <a:xfrm>
            <a:off x="4846320" y="1847088"/>
            <a:ext cx="393192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3" name="Text 71"/>
          <p:cNvSpPr/>
          <p:nvPr/>
        </p:nvSpPr>
        <p:spPr>
          <a:xfrm>
            <a:off x="4901184" y="1847088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Dev:</a:t>
            </a:r>
            <a:endParaRPr lang="en-US" sz="850"/>
          </a:p>
        </p:txBody>
      </p:sp>
      <p:sp>
        <p:nvSpPr>
          <p:cNvPr id="74" name="Text 72"/>
          <p:cNvSpPr/>
          <p:nvPr/>
        </p:nvSpPr>
        <p:spPr>
          <a:xfrm>
            <a:off x="5806440" y="1847088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devsalestools.trane.com</a:t>
            </a:r>
            <a:endParaRPr lang="en-US" sz="750"/>
          </a:p>
        </p:txBody>
      </p:sp>
      <p:sp>
        <p:nvSpPr>
          <p:cNvPr id="75" name="Shape 73"/>
          <p:cNvSpPr/>
          <p:nvPr/>
        </p:nvSpPr>
        <p:spPr>
          <a:xfrm>
            <a:off x="4846320" y="2084832"/>
            <a:ext cx="3931920" cy="237744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6" name="Text 74"/>
          <p:cNvSpPr/>
          <p:nvPr/>
        </p:nvSpPr>
        <p:spPr>
          <a:xfrm>
            <a:off x="4901184" y="2084832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</a:t>
            </a:r>
            <a:endParaRPr lang="en-US" sz="850"/>
          </a:p>
        </p:txBody>
      </p:sp>
      <p:sp>
        <p:nvSpPr>
          <p:cNvPr id="77" name="Text 75"/>
          <p:cNvSpPr/>
          <p:nvPr/>
        </p:nvSpPr>
        <p:spPr>
          <a:xfrm>
            <a:off x="5806440" y="2084832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uatsalestools.trane.com</a:t>
            </a:r>
            <a:endParaRPr lang="en-US" sz="750"/>
          </a:p>
        </p:txBody>
      </p:sp>
      <p:sp>
        <p:nvSpPr>
          <p:cNvPr id="78" name="Shape 76"/>
          <p:cNvSpPr/>
          <p:nvPr/>
        </p:nvSpPr>
        <p:spPr>
          <a:xfrm>
            <a:off x="4846320" y="2322576"/>
            <a:ext cx="393192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9" name="Text 77"/>
          <p:cNvSpPr/>
          <p:nvPr/>
        </p:nvSpPr>
        <p:spPr>
          <a:xfrm>
            <a:off x="4901184" y="2322576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Prod:</a:t>
            </a:r>
            <a:endParaRPr lang="en-US" sz="850"/>
          </a:p>
        </p:txBody>
      </p:sp>
      <p:sp>
        <p:nvSpPr>
          <p:cNvPr id="80" name="Text 78"/>
          <p:cNvSpPr/>
          <p:nvPr/>
        </p:nvSpPr>
        <p:spPr>
          <a:xfrm>
            <a:off x="5806440" y="2322576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salestools.trane.com</a:t>
            </a:r>
            <a:endParaRPr lang="en-US" sz="750"/>
          </a:p>
        </p:txBody>
      </p:sp>
      <p:sp>
        <p:nvSpPr>
          <p:cNvPr id="81" name="Text 79"/>
          <p:cNvSpPr/>
          <p:nvPr/>
        </p:nvSpPr>
        <p:spPr>
          <a:xfrm>
            <a:off x="4846320" y="2596896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MDP/DMC</a:t>
            </a:r>
            <a:endParaRPr lang="en-US" sz="850"/>
          </a:p>
        </p:txBody>
      </p:sp>
      <p:sp>
        <p:nvSpPr>
          <p:cNvPr id="82" name="Shape 80"/>
          <p:cNvSpPr/>
          <p:nvPr/>
        </p:nvSpPr>
        <p:spPr>
          <a:xfrm>
            <a:off x="4846320" y="2779776"/>
            <a:ext cx="393192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3" name="Text 81"/>
          <p:cNvSpPr/>
          <p:nvPr/>
        </p:nvSpPr>
        <p:spPr>
          <a:xfrm>
            <a:off x="4901184" y="2779776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Dev:</a:t>
            </a:r>
            <a:endParaRPr lang="en-US" sz="850"/>
          </a:p>
        </p:txBody>
      </p:sp>
      <p:sp>
        <p:nvSpPr>
          <p:cNvPr id="84" name="Text 82"/>
          <p:cNvSpPr/>
          <p:nvPr/>
        </p:nvSpPr>
        <p:spPr>
          <a:xfrm>
            <a:off x="5806440" y="2779776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devdmc.trane.com</a:t>
            </a:r>
            <a:endParaRPr lang="en-US" sz="750"/>
          </a:p>
        </p:txBody>
      </p:sp>
      <p:sp>
        <p:nvSpPr>
          <p:cNvPr id="85" name="Shape 83"/>
          <p:cNvSpPr/>
          <p:nvPr/>
        </p:nvSpPr>
        <p:spPr>
          <a:xfrm>
            <a:off x="4846320" y="3017520"/>
            <a:ext cx="3931920" cy="237744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6" name="Text 84"/>
          <p:cNvSpPr/>
          <p:nvPr/>
        </p:nvSpPr>
        <p:spPr>
          <a:xfrm>
            <a:off x="4901184" y="3017520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</a:t>
            </a:r>
            <a:endParaRPr lang="en-US" sz="850"/>
          </a:p>
        </p:txBody>
      </p:sp>
      <p:sp>
        <p:nvSpPr>
          <p:cNvPr id="87" name="Text 85"/>
          <p:cNvSpPr/>
          <p:nvPr/>
        </p:nvSpPr>
        <p:spPr>
          <a:xfrm>
            <a:off x="5806440" y="3017520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uatdmc.trane.com</a:t>
            </a:r>
            <a:endParaRPr lang="en-US" sz="750"/>
          </a:p>
        </p:txBody>
      </p:sp>
      <p:sp>
        <p:nvSpPr>
          <p:cNvPr id="88" name="Shape 86"/>
          <p:cNvSpPr/>
          <p:nvPr/>
        </p:nvSpPr>
        <p:spPr>
          <a:xfrm>
            <a:off x="4846320" y="3255264"/>
            <a:ext cx="393192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9" name="Text 87"/>
          <p:cNvSpPr/>
          <p:nvPr/>
        </p:nvSpPr>
        <p:spPr>
          <a:xfrm>
            <a:off x="4901184" y="3255264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Prod:</a:t>
            </a:r>
            <a:endParaRPr lang="en-US" sz="850"/>
          </a:p>
        </p:txBody>
      </p:sp>
      <p:sp>
        <p:nvSpPr>
          <p:cNvPr id="90" name="Text 88"/>
          <p:cNvSpPr/>
          <p:nvPr/>
        </p:nvSpPr>
        <p:spPr>
          <a:xfrm>
            <a:off x="5806440" y="3255264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dmc.trane.com</a:t>
            </a:r>
            <a:endParaRPr lang="en-US" sz="750"/>
          </a:p>
        </p:txBody>
      </p:sp>
      <p:sp>
        <p:nvSpPr>
          <p:cNvPr id="91" name="Text 89"/>
          <p:cNvSpPr/>
          <p:nvPr/>
        </p:nvSpPr>
        <p:spPr>
          <a:xfrm>
            <a:off x="4846320" y="3529584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Portals</a:t>
            </a:r>
            <a:endParaRPr lang="en-US" sz="850"/>
          </a:p>
        </p:txBody>
      </p:sp>
      <p:sp>
        <p:nvSpPr>
          <p:cNvPr id="92" name="Shape 90"/>
          <p:cNvSpPr/>
          <p:nvPr/>
        </p:nvSpPr>
        <p:spPr>
          <a:xfrm>
            <a:off x="4846320" y="3712464"/>
            <a:ext cx="393192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3" name="Text 91"/>
          <p:cNvSpPr/>
          <p:nvPr/>
        </p:nvSpPr>
        <p:spPr>
          <a:xfrm>
            <a:off x="4901184" y="3712464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ServiceNow:</a:t>
            </a:r>
            <a:endParaRPr lang="en-US" sz="850"/>
          </a:p>
        </p:txBody>
      </p:sp>
      <p:sp>
        <p:nvSpPr>
          <p:cNvPr id="94" name="Text 92"/>
          <p:cNvSpPr/>
          <p:nvPr/>
        </p:nvSpPr>
        <p:spPr>
          <a:xfrm>
            <a:off x="5806440" y="3712464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tranetechnologies.service-now.com/sp</a:t>
            </a:r>
            <a:endParaRPr lang="en-US" sz="750"/>
          </a:p>
        </p:txBody>
      </p:sp>
      <p:sp>
        <p:nvSpPr>
          <p:cNvPr id="95" name="Shape 93"/>
          <p:cNvSpPr/>
          <p:nvPr/>
        </p:nvSpPr>
        <p:spPr>
          <a:xfrm>
            <a:off x="4846320" y="3950208"/>
            <a:ext cx="3931920" cy="237744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6" name="Text 94"/>
          <p:cNvSpPr/>
          <p:nvPr/>
        </p:nvSpPr>
        <p:spPr>
          <a:xfrm>
            <a:off x="4901184" y="3950208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Confluence:</a:t>
            </a:r>
            <a:endParaRPr lang="en-US" sz="850"/>
          </a:p>
        </p:txBody>
      </p:sp>
      <p:sp>
        <p:nvSpPr>
          <p:cNvPr id="97" name="Text 95"/>
          <p:cNvSpPr/>
          <p:nvPr/>
        </p:nvSpPr>
        <p:spPr>
          <a:xfrm>
            <a:off x="5806440" y="3950208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tranetis.jira.com/wiki/spaces/TOPSS</a:t>
            </a:r>
            <a:endParaRPr lang="en-US" sz="750"/>
          </a:p>
        </p:txBody>
      </p:sp>
      <p:sp>
        <p:nvSpPr>
          <p:cNvPr id="98" name="Shape 96"/>
          <p:cNvSpPr/>
          <p:nvPr/>
        </p:nvSpPr>
        <p:spPr>
          <a:xfrm>
            <a:off x="4846320" y="4187952"/>
            <a:ext cx="393192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9" name="Text 97"/>
          <p:cNvSpPr/>
          <p:nvPr/>
        </p:nvSpPr>
        <p:spPr>
          <a:xfrm>
            <a:off x="4901184" y="4187952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</a:t>
            </a:r>
            <a:endParaRPr lang="en-US" sz="850"/>
          </a:p>
        </p:txBody>
      </p:sp>
      <p:sp>
        <p:nvSpPr>
          <p:cNvPr id="100" name="Text 98"/>
          <p:cNvSpPr/>
          <p:nvPr/>
        </p:nvSpPr>
        <p:spPr>
          <a:xfrm>
            <a:off x="5806440" y="4187952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github.com/enterprises/tranetechnologies/sso</a:t>
            </a:r>
            <a:endParaRPr lang="en-US" sz="750"/>
          </a:p>
        </p:txBody>
      </p:sp>
      <p:sp>
        <p:nvSpPr>
          <p:cNvPr id="101" name="Shape 99"/>
          <p:cNvSpPr/>
          <p:nvPr/>
        </p:nvSpPr>
        <p:spPr>
          <a:xfrm>
            <a:off x="4846320" y="4425696"/>
            <a:ext cx="3931920" cy="237744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2" name="Text 100"/>
          <p:cNvSpPr/>
          <p:nvPr/>
        </p:nvSpPr>
        <p:spPr>
          <a:xfrm>
            <a:off x="4901184" y="4425696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Portal:</a:t>
            </a:r>
            <a:endParaRPr lang="en-US" sz="850"/>
          </a:p>
        </p:txBody>
      </p:sp>
      <p:sp>
        <p:nvSpPr>
          <p:cNvPr id="103" name="Text 101"/>
          <p:cNvSpPr/>
          <p:nvPr/>
        </p:nvSpPr>
        <p:spPr>
          <a:xfrm>
            <a:off x="5806440" y="4425696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tranetechnologies.service-now.com/hrportal</a:t>
            </a:r>
            <a:endParaRPr lang="en-US" sz="750"/>
          </a:p>
        </p:txBody>
      </p:sp>
      <p:sp>
        <p:nvSpPr>
          <p:cNvPr id="104" name="Shape 102"/>
          <p:cNvSpPr/>
          <p:nvPr/>
        </p:nvSpPr>
        <p:spPr>
          <a:xfrm>
            <a:off x="4846320" y="4663440"/>
            <a:ext cx="393192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5" name="Text 103"/>
          <p:cNvSpPr/>
          <p:nvPr/>
        </p:nvSpPr>
        <p:spPr>
          <a:xfrm>
            <a:off x="4901184" y="4663440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Citrix:</a:t>
            </a:r>
            <a:endParaRPr lang="en-US" sz="850"/>
          </a:p>
        </p:txBody>
      </p:sp>
      <p:sp>
        <p:nvSpPr>
          <p:cNvPr id="106" name="Text 104"/>
          <p:cNvSpPr/>
          <p:nvPr/>
        </p:nvSpPr>
        <p:spPr>
          <a:xfrm>
            <a:off x="5806440" y="4663440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tranecitrix.corp.global</a:t>
            </a:r>
            <a:endParaRPr lang="en-US" sz="750"/>
          </a:p>
        </p:txBody>
      </p:sp>
      <p:pic>
        <p:nvPicPr>
          <p:cNvPr id="10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  <p:sp>
        <p:nvSpPr>
          <p:cNvPr id="108" name="Text 105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/>
          </a:p>
        </p:txBody>
      </p:sp>
      <p:sp>
        <p:nvSpPr>
          <p:cNvPr id="111" name="Text 44">
            <a:extLst>
              <a:ext uri="{FF2B5EF4-FFF2-40B4-BE49-F238E27FC236}">
                <a16:creationId xmlns:a16="http://schemas.microsoft.com/office/drawing/2014/main" id="{C2AB565E-C169-1F15-A1AA-06A562914ED1}"/>
              </a:ext>
            </a:extLst>
          </p:cNvPr>
          <p:cNvSpPr/>
          <p:nvPr/>
        </p:nvSpPr>
        <p:spPr>
          <a:xfrm>
            <a:off x="361058" y="291388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DL’s</a:t>
            </a:r>
            <a:endParaRPr lang="en-US" sz="900"/>
          </a:p>
        </p:txBody>
      </p:sp>
      <p:sp>
        <p:nvSpPr>
          <p:cNvPr id="112" name="Text 44">
            <a:extLst>
              <a:ext uri="{FF2B5EF4-FFF2-40B4-BE49-F238E27FC236}">
                <a16:creationId xmlns:a16="http://schemas.microsoft.com/office/drawing/2014/main" id="{4DE9AE0B-4632-74F6-CC3C-4E0D865AFF07}"/>
              </a:ext>
            </a:extLst>
          </p:cNvPr>
          <p:cNvSpPr/>
          <p:nvPr/>
        </p:nvSpPr>
        <p:spPr>
          <a:xfrm>
            <a:off x="338328" y="320301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/>
              <a:t>Add to MS teams</a:t>
            </a:r>
          </a:p>
        </p:txBody>
      </p:sp>
      <p:sp>
        <p:nvSpPr>
          <p:cNvPr id="113" name="Text 45">
            <a:extLst>
              <a:ext uri="{FF2B5EF4-FFF2-40B4-BE49-F238E27FC236}">
                <a16:creationId xmlns:a16="http://schemas.microsoft.com/office/drawing/2014/main" id="{1D5CE06D-F9EB-9340-14CE-9DEA0126B70C}"/>
              </a:ext>
            </a:extLst>
          </p:cNvPr>
          <p:cNvSpPr/>
          <p:nvPr/>
        </p:nvSpPr>
        <p:spPr>
          <a:xfrm>
            <a:off x="1819656" y="3218688"/>
            <a:ext cx="2807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 Teams</a:t>
            </a:r>
            <a:endParaRPr lang="en-US" sz="900"/>
          </a:p>
        </p:txBody>
      </p:sp>
      <p:sp>
        <p:nvSpPr>
          <p:cNvPr id="114" name="Text 45">
            <a:extLst>
              <a:ext uri="{FF2B5EF4-FFF2-40B4-BE49-F238E27FC236}">
                <a16:creationId xmlns:a16="http://schemas.microsoft.com/office/drawing/2014/main" id="{BF66B7ED-2545-BA75-C1C2-0B5F2A267D96}"/>
              </a:ext>
            </a:extLst>
          </p:cNvPr>
          <p:cNvSpPr/>
          <p:nvPr/>
        </p:nvSpPr>
        <p:spPr>
          <a:xfrm>
            <a:off x="1796666" y="2924772"/>
            <a:ext cx="2807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109728"/>
            <a:ext cx="84490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Things to do  ·  KT Plan  ·  Points of Contact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347472" y="512064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actions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47472" y="749808"/>
            <a:ext cx="3474720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384048" y="804672"/>
            <a:ext cx="237744" cy="237744"/>
          </a:xfrm>
          <a:prstGeom prst="ellipse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384048" y="8046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76656" y="768096"/>
            <a:ext cx="3090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Mandatory certifications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76656" y="987552"/>
            <a:ext cx="309067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Portal → LMS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47472" y="1170432"/>
            <a:ext cx="3474720" cy="384048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384048" y="1225296"/>
            <a:ext cx="237744" cy="237744"/>
          </a:xfrm>
          <a:prstGeom prst="ellipse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384048" y="12252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76656" y="1188720"/>
            <a:ext cx="3090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setting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76656" y="1408176"/>
            <a:ext cx="309067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Portal → Talent Mgmt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47472" y="1591056"/>
            <a:ext cx="3474720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384048" y="1645920"/>
            <a:ext cx="237744" cy="237744"/>
          </a:xfrm>
          <a:prstGeom prst="ellipse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384048" y="164592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76656" y="1609344"/>
            <a:ext cx="3090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People Profile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76656" y="1828800"/>
            <a:ext cx="309067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SuccessFactors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47472" y="2011680"/>
            <a:ext cx="3474720" cy="384048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384048" y="2066544"/>
            <a:ext cx="237744" cy="237744"/>
          </a:xfrm>
          <a:prstGeom prst="ellipse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384048" y="206654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4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76656" y="2029968"/>
            <a:ext cx="3090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TOPSSQA Site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76656" y="2249424"/>
            <a:ext cx="309067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sharepoint.com/sites/topss.com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347472" y="2432304"/>
            <a:ext cx="3474720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384048" y="2487168"/>
            <a:ext cx="237744" cy="237744"/>
          </a:xfrm>
          <a:prstGeom prst="ellipse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384048" y="24871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5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76656" y="2450592"/>
            <a:ext cx="3090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leave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76656" y="2670048"/>
            <a:ext cx="309067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Portal → Leave Mgmt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47472" y="2907792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 Requests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47472" y="3145536"/>
            <a:ext cx="3474720" cy="210312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402336" y="3145536"/>
            <a:ext cx="13258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Software: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755648" y="3145536"/>
            <a:ext cx="2029968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 → Computer Software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347472" y="3364992"/>
            <a:ext cx="3474720" cy="210312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/>
          <p:nvPr/>
        </p:nvSpPr>
        <p:spPr>
          <a:xfrm>
            <a:off x="402336" y="3364992"/>
            <a:ext cx="13258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ID / Server: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1755648" y="3364992"/>
            <a:ext cx="2029968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 → Access Request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347472" y="3584448"/>
            <a:ext cx="3474720" cy="210312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402336" y="3584448"/>
            <a:ext cx="13258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755648" y="3584448"/>
            <a:ext cx="2029968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KB0040682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347472" y="3803904"/>
            <a:ext cx="3474720" cy="210312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Text 38"/>
          <p:cNvSpPr/>
          <p:nvPr/>
        </p:nvSpPr>
        <p:spPr>
          <a:xfrm>
            <a:off x="402336" y="3803904"/>
            <a:ext cx="13258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TOSCA License: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1755648" y="3803904"/>
            <a:ext cx="2029968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RITM0731045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347472" y="4023360"/>
            <a:ext cx="3474720" cy="210312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3" name="Text 41"/>
          <p:cNvSpPr/>
          <p:nvPr/>
        </p:nvSpPr>
        <p:spPr>
          <a:xfrm>
            <a:off x="402336" y="4023360"/>
            <a:ext cx="13258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TOSCA Access: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755648" y="4023360"/>
            <a:ext cx="2029968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RITM0731066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347472" y="4242816"/>
            <a:ext cx="3474720" cy="210312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402336" y="4242816"/>
            <a:ext cx="13258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MDP/DMC: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1755648" y="4242816"/>
            <a:ext cx="2029968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 1,5,8,9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4005072" y="512064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KT Plan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005072" y="749808"/>
            <a:ext cx="256032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0" name="Text 48"/>
          <p:cNvSpPr/>
          <p:nvPr/>
        </p:nvSpPr>
        <p:spPr>
          <a:xfrm>
            <a:off x="4059936" y="749808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TSA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5559552" y="749808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Varsha Chitray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4005072" y="1060704"/>
            <a:ext cx="2560320" cy="292608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3" name="Text 51"/>
          <p:cNvSpPr/>
          <p:nvPr/>
        </p:nvSpPr>
        <p:spPr>
          <a:xfrm>
            <a:off x="4059936" y="1060704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Jobs &amp; CoJo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5559552" y="1060704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Rashmi Ranganath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4005072" y="1371600"/>
            <a:ext cx="256032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6" name="Text 54"/>
          <p:cNvSpPr/>
          <p:nvPr/>
        </p:nvSpPr>
        <p:spPr>
          <a:xfrm>
            <a:off x="4059936" y="137160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Contracting/Tax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5559552" y="1371600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Vignesh S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4005072" y="1682496"/>
            <a:ext cx="2560320" cy="292608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9" name="Text 57"/>
          <p:cNvSpPr/>
          <p:nvPr/>
        </p:nvSpPr>
        <p:spPr>
          <a:xfrm>
            <a:off x="4059936" y="1682496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MDP/DMC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5559552" y="1682496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Mahesh Laddi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4005072" y="1993392"/>
            <a:ext cx="256032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2" name="Text 60"/>
          <p:cNvSpPr/>
          <p:nvPr/>
        </p:nvSpPr>
        <p:spPr>
          <a:xfrm>
            <a:off x="4059936" y="1993392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TDA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5559552" y="1993392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Naveen H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4005072" y="2304288"/>
            <a:ext cx="2560320" cy="292608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5" name="Text 63"/>
          <p:cNvSpPr/>
          <p:nvPr/>
        </p:nvSpPr>
        <p:spPr>
          <a:xfrm>
            <a:off x="4059936" y="2304288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800" dirty="0"/>
          </a:p>
        </p:txBody>
      </p:sp>
      <p:sp>
        <p:nvSpPr>
          <p:cNvPr id="66" name="Text 64"/>
          <p:cNvSpPr/>
          <p:nvPr/>
        </p:nvSpPr>
        <p:spPr>
          <a:xfrm>
            <a:off x="5559552" y="2304288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Srinivasa R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4005072" y="2615184"/>
            <a:ext cx="256032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8" name="Text 66"/>
          <p:cNvSpPr/>
          <p:nvPr/>
        </p:nvSpPr>
        <p:spPr>
          <a:xfrm>
            <a:off x="4059936" y="2615184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Selenium (TestNG)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5559552" y="2615184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Varsha Chitray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4005072" y="2926080"/>
            <a:ext cx="2560320" cy="292608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1" name="Text 69"/>
          <p:cNvSpPr/>
          <p:nvPr/>
        </p:nvSpPr>
        <p:spPr>
          <a:xfrm>
            <a:off x="4059936" y="292608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Selenium (Hybrid)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5559552" y="2926080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Deepak Chhabria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4005072" y="3236976"/>
            <a:ext cx="256032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4" name="Text 72"/>
          <p:cNvSpPr/>
          <p:nvPr/>
        </p:nvSpPr>
        <p:spPr>
          <a:xfrm>
            <a:off x="4059936" y="3236976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TOSCA Auto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5559552" y="3236976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Lead</a:t>
            </a:r>
            <a:endParaRPr lang="en-US" sz="750" dirty="0"/>
          </a:p>
        </p:txBody>
      </p:sp>
      <p:sp>
        <p:nvSpPr>
          <p:cNvPr id="76" name="Shape 74"/>
          <p:cNvSpPr/>
          <p:nvPr/>
        </p:nvSpPr>
        <p:spPr>
          <a:xfrm>
            <a:off x="4005072" y="3547872"/>
            <a:ext cx="2560320" cy="292608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7" name="Text 75"/>
          <p:cNvSpPr/>
          <p:nvPr/>
        </p:nvSpPr>
        <p:spPr>
          <a:xfrm>
            <a:off x="4059936" y="3547872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Package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5559552" y="3547872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Likhith Pateel</a:t>
            </a:r>
            <a:endParaRPr lang="en-US" sz="750" dirty="0"/>
          </a:p>
        </p:txBody>
      </p:sp>
      <p:sp>
        <p:nvSpPr>
          <p:cNvPr id="79" name="Shape 77"/>
          <p:cNvSpPr/>
          <p:nvPr/>
        </p:nvSpPr>
        <p:spPr>
          <a:xfrm>
            <a:off x="4005072" y="3858768"/>
            <a:ext cx="256032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0" name="Text 78"/>
          <p:cNvSpPr/>
          <p:nvPr/>
        </p:nvSpPr>
        <p:spPr>
          <a:xfrm>
            <a:off x="4059936" y="3858768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DocGen</a:t>
            </a:r>
            <a:endParaRPr lang="en-US" sz="800" dirty="0"/>
          </a:p>
        </p:txBody>
      </p:sp>
      <p:sp>
        <p:nvSpPr>
          <p:cNvPr id="81" name="Text 79"/>
          <p:cNvSpPr/>
          <p:nvPr/>
        </p:nvSpPr>
        <p:spPr>
          <a:xfrm>
            <a:off x="5559552" y="3858768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Sandhyarani M</a:t>
            </a:r>
            <a:endParaRPr lang="en-US" sz="750" dirty="0"/>
          </a:p>
        </p:txBody>
      </p:sp>
      <p:sp>
        <p:nvSpPr>
          <p:cNvPr id="82" name="Text 80"/>
          <p:cNvSpPr/>
          <p:nvPr/>
        </p:nvSpPr>
        <p:spPr>
          <a:xfrm>
            <a:off x="6748272" y="512064"/>
            <a:ext cx="20482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of Contact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6748272" y="749808"/>
            <a:ext cx="2048256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4" name="Text 82"/>
          <p:cNvSpPr/>
          <p:nvPr/>
        </p:nvSpPr>
        <p:spPr>
          <a:xfrm>
            <a:off x="6803136" y="749808"/>
            <a:ext cx="987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TSA</a:t>
            </a:r>
            <a:endParaRPr lang="en-US" sz="800" dirty="0"/>
          </a:p>
        </p:txBody>
      </p:sp>
      <p:sp>
        <p:nvSpPr>
          <p:cNvPr id="85" name="Text 83"/>
          <p:cNvSpPr/>
          <p:nvPr/>
        </p:nvSpPr>
        <p:spPr>
          <a:xfrm>
            <a:off x="7827264" y="749808"/>
            <a:ext cx="93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Varsha C</a:t>
            </a:r>
            <a:endParaRPr lang="en-US" sz="750" dirty="0"/>
          </a:p>
        </p:txBody>
      </p:sp>
      <p:sp>
        <p:nvSpPr>
          <p:cNvPr id="86" name="Shape 84"/>
          <p:cNvSpPr/>
          <p:nvPr/>
        </p:nvSpPr>
        <p:spPr>
          <a:xfrm>
            <a:off x="6748272" y="1042416"/>
            <a:ext cx="2048256" cy="274320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7" name="Text 85"/>
          <p:cNvSpPr/>
          <p:nvPr/>
        </p:nvSpPr>
        <p:spPr>
          <a:xfrm>
            <a:off x="6803136" y="1042416"/>
            <a:ext cx="987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Contracting Team 1 &amp; 2</a:t>
            </a:r>
            <a:endParaRPr lang="en-US" sz="800" dirty="0"/>
          </a:p>
        </p:txBody>
      </p:sp>
      <p:sp>
        <p:nvSpPr>
          <p:cNvPr id="88" name="Text 86"/>
          <p:cNvSpPr/>
          <p:nvPr/>
        </p:nvSpPr>
        <p:spPr>
          <a:xfrm>
            <a:off x="7827264" y="1042416"/>
            <a:ext cx="93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Vignesh S/Preeti k/Srinivas R</a:t>
            </a:r>
            <a:endParaRPr lang="en-US" sz="750" dirty="0"/>
          </a:p>
        </p:txBody>
      </p:sp>
      <p:sp>
        <p:nvSpPr>
          <p:cNvPr id="89" name="Shape 87"/>
          <p:cNvSpPr/>
          <p:nvPr/>
        </p:nvSpPr>
        <p:spPr>
          <a:xfrm>
            <a:off x="6748272" y="1335024"/>
            <a:ext cx="2048256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0" name="Text 88"/>
          <p:cNvSpPr/>
          <p:nvPr/>
        </p:nvSpPr>
        <p:spPr>
          <a:xfrm>
            <a:off x="6803136" y="1335024"/>
            <a:ext cx="987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Jobs &amp; CoJo</a:t>
            </a:r>
            <a:endParaRPr lang="en-US" sz="800" dirty="0"/>
          </a:p>
        </p:txBody>
      </p:sp>
      <p:sp>
        <p:nvSpPr>
          <p:cNvPr id="91" name="Text 89"/>
          <p:cNvSpPr/>
          <p:nvPr/>
        </p:nvSpPr>
        <p:spPr>
          <a:xfrm>
            <a:off x="7827264" y="1335024"/>
            <a:ext cx="93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Rashmi R</a:t>
            </a:r>
            <a:endParaRPr lang="en-US" sz="750" dirty="0"/>
          </a:p>
        </p:txBody>
      </p:sp>
      <p:sp>
        <p:nvSpPr>
          <p:cNvPr id="92" name="Shape 90"/>
          <p:cNvSpPr/>
          <p:nvPr/>
        </p:nvSpPr>
        <p:spPr>
          <a:xfrm>
            <a:off x="6748272" y="1627632"/>
            <a:ext cx="2048256" cy="274320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3" name="Text 91"/>
          <p:cNvSpPr/>
          <p:nvPr/>
        </p:nvSpPr>
        <p:spPr>
          <a:xfrm>
            <a:off x="6803136" y="1627632"/>
            <a:ext cx="987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MDP/DMC</a:t>
            </a:r>
            <a:endParaRPr lang="en-US" sz="800" dirty="0"/>
          </a:p>
        </p:txBody>
      </p:sp>
      <p:sp>
        <p:nvSpPr>
          <p:cNvPr id="94" name="Text 92"/>
          <p:cNvSpPr/>
          <p:nvPr/>
        </p:nvSpPr>
        <p:spPr>
          <a:xfrm>
            <a:off x="7827264" y="1627632"/>
            <a:ext cx="93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Mahesh L/Anusha </a:t>
            </a:r>
            <a:endParaRPr lang="en-US" sz="750" dirty="0"/>
          </a:p>
        </p:txBody>
      </p:sp>
      <p:sp>
        <p:nvSpPr>
          <p:cNvPr id="95" name="Shape 93"/>
          <p:cNvSpPr/>
          <p:nvPr/>
        </p:nvSpPr>
        <p:spPr>
          <a:xfrm>
            <a:off x="6748272" y="1920240"/>
            <a:ext cx="2048256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6" name="Text 94"/>
          <p:cNvSpPr/>
          <p:nvPr/>
        </p:nvSpPr>
        <p:spPr>
          <a:xfrm>
            <a:off x="6803136" y="1920240"/>
            <a:ext cx="987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TDA</a:t>
            </a:r>
            <a:endParaRPr lang="en-US" sz="800" dirty="0"/>
          </a:p>
        </p:txBody>
      </p:sp>
      <p:sp>
        <p:nvSpPr>
          <p:cNvPr id="97" name="Text 95"/>
          <p:cNvSpPr/>
          <p:nvPr/>
        </p:nvSpPr>
        <p:spPr>
          <a:xfrm>
            <a:off x="7827264" y="1920240"/>
            <a:ext cx="93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Naveen H</a:t>
            </a:r>
            <a:endParaRPr lang="en-US" sz="750" dirty="0"/>
          </a:p>
        </p:txBody>
      </p:sp>
      <p:sp>
        <p:nvSpPr>
          <p:cNvPr id="98" name="Shape 96"/>
          <p:cNvSpPr/>
          <p:nvPr/>
        </p:nvSpPr>
        <p:spPr>
          <a:xfrm>
            <a:off x="6748272" y="2212848"/>
            <a:ext cx="2048256" cy="274320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9" name="Text 97"/>
          <p:cNvSpPr/>
          <p:nvPr/>
        </p:nvSpPr>
        <p:spPr>
          <a:xfrm>
            <a:off x="6803136" y="2212848"/>
            <a:ext cx="987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</a:t>
            </a:r>
            <a:endParaRPr lang="en-US" sz="800" dirty="0"/>
          </a:p>
        </p:txBody>
      </p:sp>
      <p:sp>
        <p:nvSpPr>
          <p:cNvPr id="100" name="Text 98"/>
          <p:cNvSpPr/>
          <p:nvPr/>
        </p:nvSpPr>
        <p:spPr>
          <a:xfrm>
            <a:off x="7827264" y="2212848"/>
            <a:ext cx="93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sz="750">
                <a:solidFill>
                  <a:srgbClr val="1F2937"/>
                </a:solidFill>
                <a:latin typeface="Aptos"/>
              </a:rPr>
              <a:t>Brinda S</a:t>
            </a:r>
          </a:p>
        </p:txBody>
      </p:sp>
      <p:sp>
        <p:nvSpPr>
          <p:cNvPr id="101" name="Shape 99"/>
          <p:cNvSpPr/>
          <p:nvPr/>
        </p:nvSpPr>
        <p:spPr>
          <a:xfrm>
            <a:off x="6748272" y="2505456"/>
            <a:ext cx="2048256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2" name="Text 100"/>
          <p:cNvSpPr/>
          <p:nvPr/>
        </p:nvSpPr>
        <p:spPr>
          <a:xfrm>
            <a:off x="6803136" y="2505456"/>
            <a:ext cx="987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</a:t>
            </a:r>
            <a:endParaRPr lang="en-US" sz="800" dirty="0"/>
          </a:p>
        </p:txBody>
      </p:sp>
      <p:sp>
        <p:nvSpPr>
          <p:cNvPr id="103" name="Text 101"/>
          <p:cNvSpPr/>
          <p:nvPr/>
        </p:nvSpPr>
        <p:spPr>
          <a:xfrm>
            <a:off x="7827264" y="2505456"/>
            <a:ext cx="93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Varsha C</a:t>
            </a:r>
            <a:endParaRPr lang="en-US" sz="750" dirty="0"/>
          </a:p>
        </p:txBody>
      </p:sp>
      <p:sp>
        <p:nvSpPr>
          <p:cNvPr id="104" name="Shape 102"/>
          <p:cNvSpPr/>
          <p:nvPr/>
        </p:nvSpPr>
        <p:spPr>
          <a:xfrm>
            <a:off x="6748272" y="2798064"/>
            <a:ext cx="2048256" cy="274320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5" name="Text 103"/>
          <p:cNvSpPr/>
          <p:nvPr/>
        </p:nvSpPr>
        <p:spPr>
          <a:xfrm>
            <a:off x="6803136" y="2798064"/>
            <a:ext cx="987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800" dirty="0"/>
          </a:p>
        </p:txBody>
      </p:sp>
      <p:sp>
        <p:nvSpPr>
          <p:cNvPr id="106" name="Text 104"/>
          <p:cNvSpPr/>
          <p:nvPr/>
        </p:nvSpPr>
        <p:spPr>
          <a:xfrm>
            <a:off x="7827264" y="2798064"/>
            <a:ext cx="93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Srinivasa R</a:t>
            </a:r>
            <a:endParaRPr lang="en-US" sz="750" dirty="0"/>
          </a:p>
        </p:txBody>
      </p:sp>
      <p:sp>
        <p:nvSpPr>
          <p:cNvPr id="107" name="Shape 105"/>
          <p:cNvSpPr/>
          <p:nvPr/>
        </p:nvSpPr>
        <p:spPr>
          <a:xfrm>
            <a:off x="6748272" y="3090672"/>
            <a:ext cx="2048256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8" name="Text 106"/>
          <p:cNvSpPr/>
          <p:nvPr/>
        </p:nvSpPr>
        <p:spPr>
          <a:xfrm>
            <a:off x="6803136" y="3090672"/>
            <a:ext cx="987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Smoke (Prod)</a:t>
            </a:r>
            <a:endParaRPr lang="en-US" sz="800" dirty="0"/>
          </a:p>
        </p:txBody>
      </p:sp>
      <p:sp>
        <p:nvSpPr>
          <p:cNvPr id="109" name="Text 107"/>
          <p:cNvSpPr/>
          <p:nvPr/>
        </p:nvSpPr>
        <p:spPr>
          <a:xfrm>
            <a:off x="7827264" y="3090672"/>
            <a:ext cx="93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Mahesh L</a:t>
            </a:r>
            <a:endParaRPr lang="en-US" sz="750" dirty="0"/>
          </a:p>
        </p:txBody>
      </p:sp>
      <p:sp>
        <p:nvSpPr>
          <p:cNvPr id="110" name="Shape 108"/>
          <p:cNvSpPr/>
          <p:nvPr/>
        </p:nvSpPr>
        <p:spPr>
          <a:xfrm>
            <a:off x="6748272" y="3383280"/>
            <a:ext cx="2048256" cy="274320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1" name="Text 109"/>
          <p:cNvSpPr/>
          <p:nvPr/>
        </p:nvSpPr>
        <p:spPr>
          <a:xfrm>
            <a:off x="6803136" y="3383280"/>
            <a:ext cx="987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Package</a:t>
            </a:r>
            <a:endParaRPr lang="en-US" sz="800" dirty="0"/>
          </a:p>
        </p:txBody>
      </p:sp>
      <p:sp>
        <p:nvSpPr>
          <p:cNvPr id="112" name="Text 110"/>
          <p:cNvSpPr/>
          <p:nvPr/>
        </p:nvSpPr>
        <p:spPr>
          <a:xfrm>
            <a:off x="7827264" y="3383280"/>
            <a:ext cx="93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Likhith P</a:t>
            </a:r>
            <a:endParaRPr lang="en-US" sz="750" dirty="0"/>
          </a:p>
        </p:txBody>
      </p:sp>
      <p:sp>
        <p:nvSpPr>
          <p:cNvPr id="113" name="Shape 111"/>
          <p:cNvSpPr/>
          <p:nvPr/>
        </p:nvSpPr>
        <p:spPr>
          <a:xfrm>
            <a:off x="6748272" y="3675888"/>
            <a:ext cx="2048256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4" name="Text 112"/>
          <p:cNvSpPr/>
          <p:nvPr/>
        </p:nvSpPr>
        <p:spPr>
          <a:xfrm>
            <a:off x="6803136" y="3675888"/>
            <a:ext cx="987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DocGen</a:t>
            </a:r>
            <a:endParaRPr lang="en-US" sz="800" dirty="0"/>
          </a:p>
        </p:txBody>
      </p:sp>
      <p:sp>
        <p:nvSpPr>
          <p:cNvPr id="115" name="Text 113"/>
          <p:cNvSpPr/>
          <p:nvPr/>
        </p:nvSpPr>
        <p:spPr>
          <a:xfrm>
            <a:off x="7827264" y="3675888"/>
            <a:ext cx="93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Sandhyarani</a:t>
            </a:r>
            <a:endParaRPr lang="en-US" sz="750" dirty="0"/>
          </a:p>
        </p:txBody>
      </p:sp>
      <p:sp>
        <p:nvSpPr>
          <p:cNvPr id="116" name="Shape 114"/>
          <p:cNvSpPr/>
          <p:nvPr/>
        </p:nvSpPr>
        <p:spPr>
          <a:xfrm>
            <a:off x="6748272" y="3968496"/>
            <a:ext cx="2048256" cy="274320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7" name="Text 115"/>
          <p:cNvSpPr/>
          <p:nvPr/>
        </p:nvSpPr>
        <p:spPr>
          <a:xfrm>
            <a:off x="6803136" y="3968496"/>
            <a:ext cx="987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</a:t>
            </a:r>
            <a:endParaRPr lang="en-US" sz="800" dirty="0"/>
          </a:p>
        </p:txBody>
      </p:sp>
      <p:sp>
        <p:nvSpPr>
          <p:cNvPr id="118" name="Text 116"/>
          <p:cNvSpPr/>
          <p:nvPr/>
        </p:nvSpPr>
        <p:spPr>
          <a:xfrm>
            <a:off x="7827264" y="3968496"/>
            <a:ext cx="93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 M</a:t>
            </a:r>
            <a:endParaRPr lang="en-US" sz="750" dirty="0"/>
          </a:p>
        </p:txBody>
      </p:sp>
      <p:pic>
        <p:nvPicPr>
          <p:cNvPr id="11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  <p:sp>
        <p:nvSpPr>
          <p:cNvPr id="120" name="Text 117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0"/>
            <a:ext cx="4754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164592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 once again to the team, and hope you have a wonderful journey with us!</a:t>
            </a:r>
            <a:endParaRPr lang="en-US" sz="22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4842</TotalTime>
  <Words>1665</Words>
  <Application>Microsoft Office PowerPoint</Application>
  <PresentationFormat>On-screen Show (16:9)</PresentationFormat>
  <Paragraphs>567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Khajji, Preeti</cp:lastModifiedBy>
  <cp:revision>3</cp:revision>
  <dcterms:created xsi:type="dcterms:W3CDTF">2026-05-04T01:27:56Z</dcterms:created>
  <dcterms:modified xsi:type="dcterms:W3CDTF">2026-05-07T16:17:56Z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962845b5-9b70-49d7-b944-decf2d49c436_Enabled">
    <vt:lpwstr>true</vt:lpwstr>
  </property>
  <property fmtid="{D5CDD505-2E9C-101B-9397-08002B2CF9AE}" pid="3" name="MSIP_Label_962845b5-9b70-49d7-b944-decf2d49c436_SetDate">
    <vt:lpwstr>2026-05-04T08:21:12Z</vt:lpwstr>
  </property>
  <property fmtid="{D5CDD505-2E9C-101B-9397-08002B2CF9AE}" pid="4" name="MSIP_Label_962845b5-9b70-49d7-b944-decf2d49c436_Method">
    <vt:lpwstr>Privileged</vt:lpwstr>
  </property>
  <property fmtid="{D5CDD505-2E9C-101B-9397-08002B2CF9AE}" pid="5" name="MSIP_Label_962845b5-9b70-49d7-b944-decf2d49c436_Name">
    <vt:lpwstr>Public</vt:lpwstr>
  </property>
  <property fmtid="{D5CDD505-2E9C-101B-9397-08002B2CF9AE}" pid="6" name="MSIP_Label_962845b5-9b70-49d7-b944-decf2d49c436_SiteId">
    <vt:lpwstr>abf9983b-ca77-4f20-9633-ca9c5a847041</vt:lpwstr>
  </property>
  <property fmtid="{D5CDD505-2E9C-101B-9397-08002B2CF9AE}" pid="7" name="MSIP_Label_962845b5-9b70-49d7-b944-decf2d49c436_ActionId">
    <vt:lpwstr>edce9420-56e3-4e81-bfa9-cf37c5adab1c</vt:lpwstr>
  </property>
  <property fmtid="{D5CDD505-2E9C-101B-9397-08002B2CF9AE}" pid="8" name="MSIP_Label_962845b5-9b70-49d7-b944-decf2d49c436_ContentBits">
    <vt:lpwstr>0</vt:lpwstr>
  </property>
  <property fmtid="{D5CDD505-2E9C-101B-9397-08002B2CF9AE}" pid="9" name="MSIP_Label_962845b5-9b70-49d7-b944-decf2d49c436_Tag">
    <vt:lpwstr>10, 0, 1, 1</vt:lpwstr>
  </property>
</Properties>
</file>