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0560" y="2621280"/>
            <a:ext cx="3657600" cy="85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to CHVAC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QA Core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365760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Welcome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3962400" y="1036320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364736" y="1036320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About the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01440" y="130454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962400" y="1548384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4736" y="1548384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work we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01440" y="1816608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962400" y="206044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736" y="206044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01440" y="2328672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962400" y="2572512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4736" y="2572512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 to 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01440" y="2840736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962400" y="3084576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4736" y="3084576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KT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01440" y="3352800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962400" y="359663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4736" y="359663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Points of Contact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1440" y="386486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2</a:t>
            </a:r>
          </a:p>
        </p:txBody>
      </p:sp>
      <p:pic>
        <p:nvPicPr>
          <p:cNvPr id="22" name="Picture 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About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82752"/>
            <a:ext cx="6583680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Our team spans USA and India across multiple delivery tracks under the CHVAC IT</a:t>
            </a:r>
          </a:p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OTC QA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280160"/>
            <a:ext cx="6766560" cy="731520"/>
          </a:xfrm>
          <a:prstGeom prst="rect">
            <a:avLst/>
          </a:prstGeom>
          <a:solidFill>
            <a:srgbClr val="EDE7F6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328928"/>
            <a:ext cx="6400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Ramesh Hegde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82496"/>
            <a:ext cx="64008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Sr. Manager – QA Leader  ·  WorkSight QA Lead  ·  Trane-ITC  ·  Offshore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296" y="2170176"/>
            <a:ext cx="6583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Delivery Tracks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474974"/>
            <a:ext cx="6461760" cy="1402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• Equipment (Team A &amp; B)</a:t>
            </a:r>
          </a:p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• DMC / MDP</a:t>
            </a:r>
          </a:p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• S&amp;C Contracting (Teams 1 &amp; 2)</a:t>
            </a:r>
          </a:p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• WorkSight – TSA, WorkPackage, Jobs CoJo, Documents, Service</a:t>
            </a:r>
          </a:p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• Other Projects – TDA (Trane Design Assist)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3424" y="914400"/>
            <a:ext cx="41452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Team at a Glance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3424" y="1292352"/>
            <a:ext cx="414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9728" y="131673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Quality Analysts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68000" y="131673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25+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3424" y="1658112"/>
            <a:ext cx="4145280" cy="32918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29728" y="168249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Developers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68000" y="168249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30+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3424" y="2023872"/>
            <a:ext cx="414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29728" y="204825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Product Owners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04825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3424" y="2389632"/>
            <a:ext cx="4145280" cy="32918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29728" y="241401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Scrum Masters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68000" y="241401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424" y="2755390"/>
            <a:ext cx="414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29728" y="2779774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Func. Analysts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2779774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3424" y="3121152"/>
            <a:ext cx="4145280" cy="32918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29728" y="314553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BAs / PAs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668000" y="314553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3</a:t>
            </a:r>
          </a:p>
        </p:txBody>
      </p:sp>
      <p:pic>
        <p:nvPicPr>
          <p:cNvPr id="29" name="Picture 2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9" name="Rectangle 58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4</a:t>
            </a:r>
          </a:p>
        </p:txBody>
      </p:sp>
      <p:pic>
        <p:nvPicPr>
          <p:cNvPr id="60" name="Picture 5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57200" y="164592"/>
            <a:ext cx="112471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" y="621792"/>
            <a:ext cx="10515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Ramesh Hegde leads two separate branches: WorkSight teams and TDA team.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960120"/>
            <a:ext cx="3657600" cy="384048"/>
          </a:xfrm>
          <a:prstGeom prst="rect">
            <a:avLst/>
          </a:prstGeom>
          <a:solidFill>
            <a:srgbClr val="4A148C"/>
          </a:solidFill>
          <a:ln w="1016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0120" y="1737360"/>
            <a:ext cx="7269480" cy="384048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WorkSight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15400" y="1737360"/>
            <a:ext cx="2514600" cy="384048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TDA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080760" y="1344168"/>
            <a:ext cx="0" cy="192024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97480" y="1536192"/>
            <a:ext cx="7470648" cy="0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97480" y="1536192"/>
            <a:ext cx="0" cy="201168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168128" y="1536192"/>
            <a:ext cx="0" cy="201168"/>
          </a:xfrm>
          <a:prstGeom prst="line">
            <a:avLst/>
          </a:prstGeom>
          <a:ln w="1397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457200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7200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0352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0352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Functional / 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(Trane)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Drew 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359152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359152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32304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32304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Brinda 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32304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Func/R12 / 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Oracle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Cami W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61104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61104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334256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334256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34256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TL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Brian B / Scrum Sneha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63056" y="2487168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63056" y="2487168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236208" y="2532888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36208" y="2816352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36208" y="3054096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Functional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Srikanth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Scrum Ajay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57200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0352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Contracting (Tax)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30352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Vignesh 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30352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Func/Auto / Perf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T1&amp;2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Tax Team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359152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359152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432304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432304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432304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 / Auto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Team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Kristen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261104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261104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34256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Documents (DocGen)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334256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34256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Func/Perf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Chandana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PO Angela / Architect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163056" y="3867912"/>
            <a:ext cx="1664208" cy="1078992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163056" y="3867912"/>
            <a:ext cx="54864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36208" y="3913632"/>
            <a:ext cx="15544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36208" y="4197096"/>
            <a:ext cx="1554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Frank 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36208" y="4434840"/>
            <a:ext cx="1554480" cy="47548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/ Scrum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Service Team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32520" y="2487168"/>
            <a:ext cx="2788920" cy="1508760"/>
          </a:xfrm>
          <a:prstGeom prst="rect">
            <a:avLst/>
          </a:prstGeom>
          <a:solidFill>
            <a:srgbClr val="F3F0FA"/>
          </a:solidFill>
          <a:ln w="1016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732520" y="2487168"/>
            <a:ext cx="54864" cy="1508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05672" y="2532888"/>
            <a:ext cx="2679191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111111"/>
                </a:solidFill>
                <a:latin typeface="Aptos"/>
              </a:rPr>
              <a:t>Trane Design Assist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05672" y="2816352"/>
            <a:ext cx="2679191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05672" y="3054096"/>
            <a:ext cx="2679191" cy="90525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9144" bIns="9144"/>
          <a:lstStyle/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QA (4 members)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Dev (Vasanth)</a:t>
            </a:r>
          </a:p>
          <a:p>
            <a:pPr algn="ctr"/>
            <a:r>
              <a:rPr sz="1000" b="0">
                <a:solidFill>
                  <a:srgbClr val="777777"/>
                </a:solidFill>
                <a:latin typeface="Aptos"/>
              </a:rPr>
              <a:t>TDA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Equipment Track – Teams A &amp;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70713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Team A (14 members)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01193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101193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101193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Jaimie Christianson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101193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101193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26187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26187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26187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Vijay Patti Reddy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26187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Functional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26187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51180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51180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51180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Pradeesh Kumar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51180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51180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6174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6174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6174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Saranya Manian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6174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Front End TL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6174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01168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201168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256" y="201168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Ukesh Kumar 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201168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Back End TL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84192" y="201168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296" y="226161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296" y="226161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256" y="226161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Sowmya Yedduri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472" y="226161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(Invest.)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192" y="226161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3296" y="251155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3296" y="251155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4256" y="251155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Akanksha Tiwari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3472" y="251155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84192" y="251155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296" y="276148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296" y="276148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4256" y="276148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Aatish Bansal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3472" y="276148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84192" y="276148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301142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301142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" y="301142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Abhijith Krishnan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301142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84192" y="301142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296" y="326136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296" y="3261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24256" y="3261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Nitis S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33472" y="3261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84192" y="3261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3296" y="351129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3296" y="3511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4256" y="3511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Brinda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33472" y="3511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4192" y="3511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3296" y="376123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3296" y="3761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4256" y="3761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Devendra 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33472" y="3761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84192" y="3761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3296" y="401116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3296" y="4011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4256" y="4011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Praveen Nagaraj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33472" y="4011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84192" y="4011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3296" y="426110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3296" y="4261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24256" y="4261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Jashwanth Sai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33472" y="4261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84192" y="4261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6960" y="70713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Team B (17 members)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60" y="1011936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56960" y="101193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17920" y="101193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Cami White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27136" y="101193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277856" y="101193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56960" y="124967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56960" y="124967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124967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Cassi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27136" y="124967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 Business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277856" y="124967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60" y="1487424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56960" y="1487424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217920" y="1487424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Harish Chintakuntla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27136" y="1487424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277856" y="1487424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56960" y="172516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56960" y="172516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217920" y="172516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Chirag Gandhi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27136" y="172516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6" y="172516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156960" y="1962912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56960" y="196291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196291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Sundararajan 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327136" y="196291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6" y="196291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56960" y="2200656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56960" y="220065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17920" y="220065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Karim Mohammed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327136" y="220065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277856" y="220065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156960" y="2438400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156960" y="243840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17920" y="243840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Arnab Chakroborty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327136" y="243840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Oracle TL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277856" y="243840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56960" y="2676142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156960" y="267614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217920" y="267614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Chirantan Nandi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327136" y="267614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Oracle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277856" y="267614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56960" y="2913888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56960" y="291388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217920" y="291388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Rajvarma Naidu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327136" y="291388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277856" y="291388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156960" y="3151632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156960" y="315163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217920" y="315163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Jack Mullen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27136" y="315163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77856" y="315163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56960" y="3389376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156960" y="338937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217920" y="338937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Blessing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327136" y="338937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7856" y="338937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156960" y="3627120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156960" y="362712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217920" y="362712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Deepak Chhabria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327136" y="362712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277856" y="362712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156960" y="3864864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156960" y="3864864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217920" y="3864864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Aiswarya 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327136" y="3864864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277856" y="3864864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56960" y="410260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56960" y="410260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217920" y="410260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Sowmya Shetty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327136" y="410260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277856" y="410260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156960" y="4340352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56960" y="434035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217920" y="434035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Greeshma Balan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327136" y="434035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277856" y="434035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156960" y="4578096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156960" y="457809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457809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Brahmananda R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327136" y="457809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277856" y="457809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156960" y="4815840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156960" y="481584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217920" y="481584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Kavya B 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327136" y="481584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277856" y="481584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5</a:t>
            </a:r>
          </a:p>
        </p:txBody>
      </p:sp>
      <p:pic>
        <p:nvPicPr>
          <p:cNvPr id="161" name="Picture 16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77824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7782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7782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7782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7782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158240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15824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15824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15824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15824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438656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438656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438656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438656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438656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719072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719072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719072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719072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719072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999488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999488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999488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999488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999488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2279904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227990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227990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Irfan Khan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227990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Tech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227990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560320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56032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56032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Vrushali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56032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56032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6960" y="877824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56960" y="87782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87782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Kanika Gupta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7136" y="87782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77856" y="87782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6960" y="1158240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6960" y="115824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115824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Shivaraj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7136" y="115824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77856" y="115824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56960" y="1438656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56960" y="1438656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920" y="1438656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Brock Hansen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7136" y="1438656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277856" y="1438656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56960" y="1719072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56960" y="1719072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1719072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Ethan Wateski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7136" y="1719072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277856" y="1719072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56960" y="1999488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56960" y="1999488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1999488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7136" y="1999488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77856" y="1999488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56960" y="2279904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56960" y="227990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227990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7136" y="227990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77856" y="227990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56960" y="2560320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56960" y="256032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17920" y="256032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7136" y="256032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7856" y="256032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3296" y="3230880"/>
            <a:ext cx="112166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3296" y="357225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3296" y="357225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24256" y="357225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3472" y="357225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84192" y="357225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3296" y="381609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3296" y="381609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24256" y="381609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33472" y="381609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84192" y="381609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63296" y="405993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3296" y="405993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256" y="405993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33472" y="405993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84192" y="405993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3296" y="430377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3296" y="430377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24256" y="430377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33472" y="430377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84192" y="430377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3296" y="454761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3296" y="454761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4256" y="454761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633472" y="454761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84192" y="454761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56960" y="357225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56960" y="357225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7920" y="357225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7136" y="357225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277856" y="357225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56960" y="381609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56960" y="381609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381609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327136" y="381609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277856" y="381609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56960" y="405993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56960" y="405993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17920" y="405993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327136" y="405993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277856" y="405993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156960" y="430377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156960" y="430377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217920" y="430377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327136" y="430377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277856" y="430377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56960" y="454761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56960" y="454761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17920" y="454761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27136" y="454761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277856" y="454761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6</a:t>
            </a:r>
          </a:p>
        </p:txBody>
      </p:sp>
      <p:pic>
        <p:nvPicPr>
          <p:cNvPr id="125" name="Picture 12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Service &amp; Contracting – QA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112166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Contracting Teams 1 &amp;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97536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975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975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Vignesh Sheshababu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975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 · T1,2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975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22529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225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225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Preeti Khajji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225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225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47523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475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475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Srinivasa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475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Func/Auto/Perf ·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475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25168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25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25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Jinu Joy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25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25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197510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1975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256" y="1975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Ajay Kumar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1975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84192" y="1975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296" y="222504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296" y="222504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256" y="222504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Rakshita 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472" y="222504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192" y="222504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3296" y="247497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3296" y="247497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4256" y="247497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Yana Zapanti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3472" y="247497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84192" y="247497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296" y="272491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296" y="272491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4256" y="272491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Amrit Chatterjee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3472" y="272491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84192" y="272491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297484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297484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" y="297484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Vijitha 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297484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84192" y="297484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296" y="322478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296" y="322478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24256" y="322478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Pragati Kumari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33472" y="322478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84192" y="322478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3296" y="347471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3296" y="347471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4256" y="347471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Anusha Patnana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33472" y="347471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4192" y="347471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56960" y="97536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56960" y="975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975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Pavan D 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7136" y="975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277856" y="975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56960" y="122529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56960" y="1225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1225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Pramad Manohara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7136" y="1225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77856" y="1225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56960" y="147523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56960" y="1475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17920" y="1475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Sudar Subramanian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7136" y="1475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7856" y="1475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6960" y="1725168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6960" y="1725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17920" y="1725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Vibin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7136" y="1725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277856" y="1725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56960" y="197510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56960" y="1975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1975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Sivakumar 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7136" y="1975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77856" y="1975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56960" y="222504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56960" y="222504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17920" y="222504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Shalini 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27136" y="222504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277856" y="222504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56960" y="247497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156960" y="247497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217920" y="247497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Subhashini 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7136" y="247497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6" y="247497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6960" y="272491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56960" y="272491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217920" y="272491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Rangesh 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327136" y="272491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6" y="272491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56960" y="297484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56960" y="297484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7920" y="297484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Lakshmi P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7136" y="297484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277856" y="297484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56960" y="322478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56960" y="322478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322478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Ankur Bhattacharjee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327136" y="322478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277856" y="322478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352800" y="469392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Service Teams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52800" y="499871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352800" y="499871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413760" y="499871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Frank Murcia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22974" y="499871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/ Scrum Master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473694" y="499871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352800" y="523036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52800" y="523036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413760" y="523036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Yohalakshmi J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2974" y="523036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473694" y="523036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52800" y="546201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352800" y="546201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413760" y="546201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Vivek Patil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22974" y="546201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473694" y="546201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352800" y="569366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352800" y="569366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13760" y="569366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Amelia Mann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522974" y="569366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473694" y="569366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352800" y="592531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352800" y="592531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413760" y="592531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Kevin Efurd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22974" y="592531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473694" y="592531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352800" y="615696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52800" y="615696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413760" y="615696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Jessica Ly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522974" y="615696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473694" y="615696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7</a:t>
            </a:r>
          </a:p>
        </p:txBody>
      </p:sp>
      <p:pic>
        <p:nvPicPr>
          <p:cNvPr id="141" name="Picture 14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5344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5344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5344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Nikki Johann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5344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5344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07899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07899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07899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Bethany Bornheimer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07899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07899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304542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30454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30454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Iza Czapnik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30454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IT Product Owner · T1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30454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530096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530096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530096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Joe Christian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530096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530096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755648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75564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75564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Rufeeda Khan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75564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75564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1981200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198120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198120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Varun 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198120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198120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20675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20675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20675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Arvind Gupta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20675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20675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3296" y="2432304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3296" y="243230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4256" y="243230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Vishnuraj Jayaraj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243230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84192" y="243230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3296" y="2657854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3296" y="265785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4256" y="265785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33472" y="265785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 · T2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84192" y="265785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2883408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288340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" y="288340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Diana Blidarescu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33472" y="288340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 · T1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84192" y="288340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Slalom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296" y="310896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3296" y="310896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256" y="310896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Ashish Verma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33472" y="310896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84192" y="310896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3296" y="333451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3296" y="333451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4256" y="333451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Lavanya Nagarajan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33472" y="333451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84192" y="333451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56960" y="85344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56960" y="85344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85344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Hannah O'Connor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7136" y="85344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77856" y="85344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56960" y="107899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56960" y="107899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17920" y="107899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Anne Kelly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7136" y="107899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7856" y="107899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56960" y="1304542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56960" y="130454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130454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Prabakaran 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7136" y="130454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Tech Lead · T2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77856" y="130454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56960" y="1530096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56960" y="1530096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17920" y="1530096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John Jeyasingh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7136" y="1530096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6B21D4"/>
                </a:solidFill>
                <a:latin typeface="Aptos"/>
              </a:rPr>
              <a:t>Dev Offshore Lead · T2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77856" y="1530096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56960" y="1755648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56960" y="175564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17920" y="175564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Rishad 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7136" y="175564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277856" y="175564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56960" y="1981200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56960" y="198120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17920" y="198120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Pratiksha Kalamkar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327136" y="198120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77856" y="198120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56960" y="220675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56960" y="220675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17920" y="220675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Pradnya Khutwad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7136" y="220675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6" y="220675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2432304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243230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243230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Dhanasekara P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243230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243230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2657854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265785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265785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Praveen Ponnada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265785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265785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2883408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288340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288340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Kirupa Selvam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288340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288340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310896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310896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310896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Keerthana 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310896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310896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333451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56960" y="333451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17920" y="333451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Sowmya V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7136" y="333451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77856" y="333451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657600" y="5218176"/>
            <a:ext cx="46329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Tax Team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0" y="5510782"/>
            <a:ext cx="463296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657600" y="5510782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18560" y="551078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Corinne Kreuger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364480" y="551078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 / BA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010400" y="5510782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657600" y="5730238"/>
            <a:ext cx="463296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657600" y="5730238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718560" y="5730238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Sathish Kumar 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364480" y="5730238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010400" y="5730238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0" y="5949696"/>
            <a:ext cx="463296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57600" y="5949696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18560" y="5949696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Tushar Joshi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364480" y="5949696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10400" y="5949696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657600" y="6169152"/>
            <a:ext cx="463296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657600" y="6169152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718560" y="616915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64480" y="616915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010400" y="6169152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8</a:t>
            </a:r>
          </a:p>
        </p:txBody>
      </p:sp>
      <p:pic>
        <p:nvPicPr>
          <p:cNvPr id="145" name="Picture 14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2905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2905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2905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2905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2905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06070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06070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06070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06070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06070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29235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29235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29235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29235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29235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52400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52400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52400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52400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52400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75564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75564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75564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75564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75564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198729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198729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198729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198729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198729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2189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2189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2189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2189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2189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3296" y="24505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3296" y="24505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4256" y="24505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24505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84192" y="24505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3296" y="26822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3296" y="26822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4256" y="26822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33472" y="26822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84192" y="26822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29138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29138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" y="29138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33472" y="29138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84192" y="29138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296" y="314553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3296" y="314553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256" y="314553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Venkat 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33472" y="314553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84192" y="314553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3296" y="337718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3296" y="33771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4256" y="33771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Bharathi 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33472" y="33771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84192" y="33771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3296" y="360883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63296" y="36088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4256" y="36088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Karthik 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33472" y="36088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84192" y="36088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3296" y="384048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3296" y="38404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4256" y="38404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Rishabh Soti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33472" y="38404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84192" y="38404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56960" y="82905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56960" y="82905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82905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Vinay Thorat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7136" y="82905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77856" y="82905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56960" y="106070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56960" y="106070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17920" y="106070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Manoj J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7136" y="106070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77856" y="106070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56960" y="129235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56960" y="129235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17920" y="129235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Kalyan Paladugu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7136" y="129235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277856" y="129235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56960" y="152400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56960" y="152400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17920" y="152400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Yamuna 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327136" y="152400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77856" y="152400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56960" y="175564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56960" y="175564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17920" y="175564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Chinna B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7136" y="175564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6" y="175564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198729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198729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198729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Siva Chilamakuri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198729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198729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22189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22189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22189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Sourabh B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22189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22189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24505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24505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24505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Rohan Kollipara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24505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24505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26822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26822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26822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Raghu Maity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26822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26822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29138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56960" y="29138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17920" y="29138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Satheesh Kutuva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7136" y="29138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77856" y="29138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156960" y="314553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156960" y="314553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217920" y="314553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Soumen Ghosh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327136" y="314553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277856" y="314553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156960" y="337718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156960" y="33771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17920" y="33771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Santhosh 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327136" y="33771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77856" y="33771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56960" y="360883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156960" y="36088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17920" y="36088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Sharanappa 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327136" y="36088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277856" y="36088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9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2905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0972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10972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10972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10972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10972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3289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3289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3289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3289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3289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56057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5605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5605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5605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5605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9222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9222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9222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9222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9222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25552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296" y="25237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296" y="25237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4256" y="25237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33472" y="25237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84192" y="25237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3296" y="27553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3296" y="27553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56" y="27553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33472" y="27553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84192" y="27553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3296" y="29870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3296" y="29870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4256" y="29870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Sagar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33472" y="29870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84192" y="29870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32186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32186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24256" y="32186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33472" y="32186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84192" y="32186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3296" y="371856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3296" y="398678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63296" y="39867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4256" y="39867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3472" y="39867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84192" y="39867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3296" y="421843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296" y="42184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4256" y="42184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33472" y="42184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84192" y="42184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296" y="44500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3296" y="44500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4256" y="44500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33472" y="44500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84192" y="44500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3296" y="46817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3296" y="46817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24256" y="46817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33472" y="46817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84192" y="46817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56960" y="82905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60" y="10972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56960" y="10972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10972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7136" y="10972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7856" y="10972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56960" y="13289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56960" y="13289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17920" y="13289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7136" y="13289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77856" y="13289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60" y="156057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56960" y="15605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15605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Ajay Shankar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27136" y="15605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77856" y="15605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56960" y="179222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56960" y="179222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17920" y="179222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Shrideepa Sharath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7136" y="179222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277856" y="179222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60" y="202387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56960" y="202387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202387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27136" y="202387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6" y="202387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56960" y="225552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156960" y="225552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17920" y="225552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27136" y="225552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6" y="225552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56960" y="290169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316992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316992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316992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316992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316992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340156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340156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340156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340156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340156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363321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363321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363321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363321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363321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386486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386486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386486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386486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386486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4413504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Service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56960" y="468172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56960" y="46817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17920" y="46817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27136" y="46817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277856" y="46817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56960" y="491337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56960" y="49133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217920" y="49133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327136" y="49133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7856" y="49133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10</a:t>
            </a:r>
          </a:p>
        </p:txBody>
      </p:sp>
      <p:pic>
        <p:nvPicPr>
          <p:cNvPr id="130" name="Picture 12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work we do – Projects &amp;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82752"/>
            <a:ext cx="109728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Testing types: Smoke · System · Regression · Automation · Performance · QA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Varsha Chitray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377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5008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008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4425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56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56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Mahesh Laddi &amp; Anusha G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DMC / MDP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Rashmi Ranganath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377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5008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 Team 1,2 (Tax)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Vignesh Sheshababu/Preeti k/Srinivas R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425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9056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056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Naveen 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29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Likhith Pateel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377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8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Documents / DocGen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008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Sandhyarani M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425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056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9056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Frank Murcia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11</a:t>
            </a:r>
          </a:p>
        </p:txBody>
      </p:sp>
      <p:pic>
        <p:nvPicPr>
          <p:cNvPr id="32" name="Picture 3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things you need –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57302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99974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9997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997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Laptop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9997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36550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36550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6550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VPN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8400" y="136550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3296" y="173126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3296" y="17312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7312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Headphones / Mouse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312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296" y="209702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3296" y="209702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09702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Administrator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38400" y="209702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3296" y="246278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296" y="246278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46278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Jira Access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38400" y="246278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Contact QA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82854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28285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8285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38400" y="28285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3194302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319430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19430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Eclipse 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38400" y="319430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296" y="356006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3296" y="35600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5600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Git Bash /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8400" y="35600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– KB0040682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3296" y="392582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3296" y="392582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2582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License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8400" y="392582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429158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429158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29158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Access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8400" y="429158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465734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46573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46573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Server / DB Access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8400" y="46573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502310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502310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02310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Jenkins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38400" y="502310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build.webtopss.com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3296" y="538886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3296" y="53888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3888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App URLs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8400" y="53888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See right column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296" y="575462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3296" y="575462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75462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 URLs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8400" y="575462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61760" y="670560"/>
            <a:ext cx="52425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Application URLs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61760" y="999744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TSA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61760" y="1280160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61760" y="1280160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34912" y="1280160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59040" y="1280160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dev.traneselectassist.com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61760" y="153619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61760" y="153619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534912" y="153619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59040" y="153619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test.traneselectassist.com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1760" y="179222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61760" y="179222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34912" y="179222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59040" y="179222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traneselectassist.com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61760" y="2048256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TSMT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61760" y="232867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61760" y="232867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534912" y="232867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59040" y="232867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devsalestools.trane.com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61760" y="258470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1760" y="258470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34912" y="258470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59040" y="258470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uatsalestools.trane.com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61760" y="284073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61760" y="284073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534912" y="284073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9040" y="284073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salestools.trane.com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61760" y="3096768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MDP/DMC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61760" y="337718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461760" y="337718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534912" y="337718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559040" y="337718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devdmc.trane.com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461760" y="363321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61760" y="363321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534912" y="363321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559040" y="363321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uatdmc.trane.com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61760" y="3889248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61760" y="3889248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34912" y="3889248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9040" y="3889248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dmc.trane.com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61760" y="4145280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Portals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61760" y="442569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461760" y="442569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34912" y="442569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ServiceNow: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59040" y="442569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61760" y="4681728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461760" y="4681728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534912" y="4681728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Confluence: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59040" y="4681728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61760" y="4937760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1760" y="4937760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34912" y="4937760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59040" y="4937760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61760" y="519379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461760" y="519379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34912" y="519379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HR Portal: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559040" y="519379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61760" y="544982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461760" y="544982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34912" y="544982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Citrix: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59040" y="544982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tranecitrix.corp.global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12</a:t>
            </a:r>
          </a:p>
        </p:txBody>
      </p:sp>
      <p:pic>
        <p:nvPicPr>
          <p:cNvPr id="122" name="Picture 1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Things to do · KT Plan ·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39014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36320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036320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Mandatory certifications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280160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HR Portal → 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9342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609342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Goal 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853182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HR Portal → Talent Mgmt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82368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82368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Complete People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426208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SuccessFactors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55390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55390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Update TOPSSQA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999232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sharepoint.com/sites/topss.com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28416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328416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Apply leave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72256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HR Portal → Leave 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4084320"/>
            <a:ext cx="43891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ServiceNow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3296" y="4389120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296" y="4389120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Software: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3600" y="4389120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→ Computer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4681728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4681728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681728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Admin ID / Server: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33600" y="4681728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ServiceNow → Access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4974336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4974336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974336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3600" y="4974336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KB0040682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296" y="5266944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3296" y="5266944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License: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3600" y="5266944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3296" y="5559552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3296" y="5559552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559552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Access: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33600" y="5559552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5852160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5852160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852160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33600" y="5852160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Options 1,5,8,9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42560" y="670560"/>
            <a:ext cx="31089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KT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2560" y="999744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0" y="999744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315712" y="99974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66560" y="99974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42560" y="1438656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0" y="1438656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15712" y="143865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66560" y="143865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Rashmi Ranganath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42560" y="1877568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42560" y="187756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315712" y="187756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Contracting/Tax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66560" y="187756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Vignesh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42560" y="2316480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42560" y="231648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15712" y="231648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60" y="231648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42560" y="2755390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42560" y="275539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15712" y="275539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275539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42560" y="3194302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42560" y="3194302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5712" y="3194302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66560" y="3194302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42560" y="3633216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42560" y="3633216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5712" y="363321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Selenium (TestNG)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363321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242560" y="4072128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42560" y="407212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15712" y="407212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Selenium (Hybrid)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407212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Deepak Chhabria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42560" y="4511038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242560" y="451103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315712" y="451103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TOSCA Auto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451103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Team Lead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42560" y="4949950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242560" y="494995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315712" y="494995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494995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Likhith Pateel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42560" y="5388864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2560" y="5388864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15712" y="538886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766560" y="538886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Sandhyarani 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78240" y="670560"/>
            <a:ext cx="292608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4A148C"/>
                </a:solidFill>
                <a:latin typeface="Aptos"/>
              </a:rPr>
              <a:t>Points of Contact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778240" y="99974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78240" y="99974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851392" y="99974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948672" y="99974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1377694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778240" y="137769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851392" y="137769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 T1 &amp;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948672" y="137769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Vignesh S/Preeti k/Srinivas 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78240" y="1755648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778240" y="1755648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851392" y="1755648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948672" y="1755648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Rashmi 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778240" y="2133600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78240" y="2133600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51392" y="2133600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948672" y="2133600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Mahesh L/Anusha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778240" y="2511552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778240" y="2511552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851392" y="2511552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948672" y="2511552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78240" y="2889504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778240" y="288950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51392" y="288950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948672" y="288950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Brinda 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778240" y="326745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778240" y="326745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851392" y="326745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Automation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948672" y="326745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778240" y="3645408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778240" y="3645408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51392" y="3645408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948672" y="3645408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023360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778240" y="4023360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51392" y="4023360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Smoke (Prod)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948672" y="4023360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Mahesh 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778240" y="4401312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778240" y="4401312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851392" y="4401312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948672" y="4401312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Likhith P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778240" y="477926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778240" y="477926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851392" y="477926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948672" y="477926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Sandhyarani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778240" y="5157216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778240" y="5157216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851392" y="5157216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948672" y="5157216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Frank 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13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9200" y="2682240"/>
            <a:ext cx="3901440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once again to the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team, and hope you have a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wonderful journey with us!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