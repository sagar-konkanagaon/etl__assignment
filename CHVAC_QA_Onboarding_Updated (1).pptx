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0560" y="2621280"/>
            <a:ext cx="3657600" cy="8534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Welcome to CHVAC</a:t>
            </a:r>
          </a:p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QA Core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</a:t>
            </a:r>
          </a:p>
        </p:txBody>
      </p:sp>
      <p:pic>
        <p:nvPicPr>
          <p:cNvPr id="7" name="Picture 6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365760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Welcome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3962400" y="1036320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4364736" y="1036320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About the team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01440" y="1304544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3962400" y="1548384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364736" y="1548384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The work we do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01440" y="1816608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962400" y="2060448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4736" y="2060448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The things you need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01440" y="2328672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962400" y="2572512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4736" y="2572512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The things you need to do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901440" y="2840736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962400" y="3084576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4736" y="3084576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KT Plan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01440" y="3352800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962400" y="3596638"/>
            <a:ext cx="219456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64736" y="3596638"/>
            <a:ext cx="390144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111111"/>
                </a:solidFill>
                <a:latin typeface="Aptos"/>
              </a:rPr>
              <a:t>Points of Contact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01440" y="3864864"/>
            <a:ext cx="4389120" cy="0"/>
          </a:xfrm>
          <a:prstGeom prst="line">
            <a:avLst/>
          </a:prstGeom>
          <a:ln>
            <a:solidFill>
              <a:srgbClr val="EEEE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2</a:t>
            </a:r>
          </a:p>
        </p:txBody>
      </p:sp>
      <p:pic>
        <p:nvPicPr>
          <p:cNvPr id="22" name="Picture 21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237744"/>
            <a:ext cx="5394960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2200" b="1">
                <a:solidFill>
                  <a:srgbClr val="6B21D4"/>
                </a:solidFill>
                <a:latin typeface="Aptos"/>
              </a:rPr>
              <a:t>About the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749808"/>
            <a:ext cx="6309360" cy="42062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200" b="0">
                <a:solidFill>
                  <a:srgbClr val="111111"/>
                </a:solidFill>
                <a:latin typeface="Aptos"/>
              </a:rPr>
              <a:t>Our team spans USA and India across multiple delivery tracks under the CHVAC IT</a:t>
            </a:r>
          </a:p>
          <a:p>
            <a:pPr algn="l"/>
            <a:r>
              <a:rPr sz="1200" b="0">
                <a:solidFill>
                  <a:srgbClr val="111111"/>
                </a:solidFill>
                <a:latin typeface="Aptos"/>
              </a:rPr>
              <a:t>OTC QA practice.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" y="1234440"/>
            <a:ext cx="6812280" cy="749808"/>
          </a:xfrm>
          <a:prstGeom prst="rect">
            <a:avLst/>
          </a:prstGeom>
          <a:solidFill>
            <a:srgbClr val="EDE7F6"/>
          </a:solidFill>
          <a:ln w="1270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8912" y="1234440"/>
            <a:ext cx="91440" cy="749808"/>
          </a:xfrm>
          <a:prstGeom prst="rect">
            <a:avLst/>
          </a:prstGeom>
          <a:solidFill>
            <a:srgbClr val="6B21D4"/>
          </a:solidFill>
          <a:ln w="1270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32918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400" b="1">
                <a:solidFill>
                  <a:srgbClr val="111111"/>
                </a:solidFill>
                <a:latin typeface="Aptos"/>
              </a:rPr>
              <a:t>Ramesh Hegde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700784"/>
            <a:ext cx="61264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Sr. Manager – QA Leader  ·  WorkSight QA Lead  ·  Trane-ITC  ·  Offshore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54112" y="768096"/>
            <a:ext cx="393192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200" b="1">
                <a:solidFill>
                  <a:srgbClr val="4A148C"/>
                </a:solidFill>
                <a:latin typeface="Aptos"/>
              </a:rPr>
              <a:t>Team at a Glance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7726679" y="1124712"/>
            <a:ext cx="4114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82127" y="1161288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Quality Analysts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863072" y="1161288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25+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1490472"/>
            <a:ext cx="4114800" cy="365760"/>
          </a:xfrm>
          <a:prstGeom prst="rect">
            <a:avLst/>
          </a:prstGeom>
          <a:solidFill>
            <a:srgbClr val="F3F0FA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82127" y="1527048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Developers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863072" y="1527048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30+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26679" y="1856231"/>
            <a:ext cx="4114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82127" y="1892807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Product Owners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863072" y="1892807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79" y="2221991"/>
            <a:ext cx="4114800" cy="365760"/>
          </a:xfrm>
          <a:prstGeom prst="rect">
            <a:avLst/>
          </a:prstGeom>
          <a:solidFill>
            <a:srgbClr val="F3F0FA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82127" y="2258568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Scrum Masters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63072" y="2258568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26679" y="2587751"/>
            <a:ext cx="4114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82127" y="2624327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Func. Analysts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863072" y="2624327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10+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26679" y="2953511"/>
            <a:ext cx="4114800" cy="365760"/>
          </a:xfrm>
          <a:prstGeom prst="rect">
            <a:avLst/>
          </a:prstGeom>
          <a:solidFill>
            <a:srgbClr val="F3F0FA"/>
          </a:solidFill>
          <a:ln w="1270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82127" y="2990087"/>
            <a:ext cx="20574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BAs / PAs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863072" y="2990087"/>
            <a:ext cx="5029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6B21D4"/>
                </a:solidFill>
                <a:latin typeface="Aptos"/>
              </a:rPr>
              <a:t>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2286000"/>
            <a:ext cx="29718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200" b="1">
                <a:solidFill>
                  <a:srgbClr val="111111"/>
                </a:solidFill>
                <a:latin typeface="Aptos"/>
              </a:rPr>
              <a:t>Delivery Tracks Worksight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2578608"/>
            <a:ext cx="5806440" cy="16642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9144" bIns="9144"/>
          <a:lstStyle/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Jobs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DMC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TSA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COJO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Workpackage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Documents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Equipment(Team A and B)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Service and Contracting(Team 1 and 2)</a:t>
            </a:r>
          </a:p>
          <a:p>
            <a:pPr algn="l"/>
            <a:r>
              <a:rPr sz="1100" b="1">
                <a:solidFill>
                  <a:srgbClr val="111111"/>
                </a:solidFill>
                <a:latin typeface="Aptos"/>
              </a:rPr>
              <a:t>-   MDP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754880"/>
            <a:ext cx="38404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1200" b="1">
                <a:solidFill>
                  <a:srgbClr val="111111"/>
                </a:solidFill>
                <a:latin typeface="Aptos"/>
              </a:rPr>
              <a:t>TDA(Trane Design Assist)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53796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3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WorkSight QA – Reporting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5488" y="640080"/>
            <a:ext cx="1051560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Ramesh Hegde leads WorkSight and TDA sessions. QA leads and sub-items shown below.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4251960" y="960120"/>
            <a:ext cx="3657600" cy="384048"/>
          </a:xfrm>
          <a:prstGeom prst="rect">
            <a:avLst/>
          </a:prstGeom>
          <a:solidFill>
            <a:srgbClr val="4A148C"/>
          </a:solidFill>
          <a:ln w="8890">
            <a:solidFill>
              <a:srgbClr val="4A1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Ramesh Hegde · WorkSight QA Manager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737360"/>
            <a:ext cx="7269480" cy="384048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300" b="1">
                <a:solidFill>
                  <a:srgbClr val="4A148C"/>
                </a:solidFill>
                <a:latin typeface="Aptos"/>
              </a:rPr>
              <a:t>WorkSight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8915400" y="1737360"/>
            <a:ext cx="2514600" cy="384048"/>
          </a:xfrm>
          <a:prstGeom prst="rect">
            <a:avLst/>
          </a:prstGeom>
          <a:solidFill>
            <a:srgbClr val="F3F0FA"/>
          </a:solidFill>
          <a:ln w="889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1300" b="1">
                <a:solidFill>
                  <a:srgbClr val="4A148C"/>
                </a:solidFill>
                <a:latin typeface="Aptos"/>
              </a:rPr>
              <a:t>TDA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0760" y="1344168"/>
            <a:ext cx="0" cy="192024"/>
          </a:xfrm>
          <a:prstGeom prst="line">
            <a:avLst/>
          </a:prstGeom>
          <a:ln w="1270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697480" y="1536192"/>
            <a:ext cx="7470648" cy="0"/>
          </a:xfrm>
          <a:prstGeom prst="line">
            <a:avLst/>
          </a:prstGeom>
          <a:ln w="1270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697480" y="1536192"/>
            <a:ext cx="0" cy="201168"/>
          </a:xfrm>
          <a:prstGeom prst="line">
            <a:avLst/>
          </a:prstGeom>
          <a:ln w="1270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168128" y="1536192"/>
            <a:ext cx="0" cy="201168"/>
          </a:xfrm>
          <a:prstGeom prst="line">
            <a:avLst/>
          </a:prstGeom>
          <a:ln w="12700">
            <a:solidFill>
              <a:srgbClr val="BBBBB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57200" y="2606040"/>
            <a:ext cx="1664208" cy="960120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54864" cy="9601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660904"/>
            <a:ext cx="15544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Trane Select Assist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971800"/>
            <a:ext cx="15544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Varsha 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606040"/>
            <a:ext cx="1664208" cy="960120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359152" y="2606040"/>
            <a:ext cx="54864" cy="9601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32304" y="2660904"/>
            <a:ext cx="15544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Equipment (R12)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32304" y="2971800"/>
            <a:ext cx="15544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Brinda S/Harikrishnan,</a:t>
            </a:r>
          </a:p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Aiswarya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61104" y="2606040"/>
            <a:ext cx="1664208" cy="960120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61104" y="2606040"/>
            <a:ext cx="54864" cy="9601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4256" y="2660904"/>
            <a:ext cx="15544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DMC / MDP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4256" y="2971800"/>
            <a:ext cx="15544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Mahesh 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63056" y="2606040"/>
            <a:ext cx="1664208" cy="960120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63056" y="2606040"/>
            <a:ext cx="54864" cy="9601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6208" y="2660904"/>
            <a:ext cx="15544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2971800"/>
            <a:ext cx="15544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Rashmi 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77639"/>
            <a:ext cx="1664208" cy="960120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77639"/>
            <a:ext cx="54864" cy="9601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0352" y="4032503"/>
            <a:ext cx="15544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Contracting Team 1 &amp; 2</a:t>
            </a:r>
          </a:p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(Tax)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" y="4343400"/>
            <a:ext cx="15544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Vignesh S/Preethi</a:t>
            </a:r>
          </a:p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Khajji/Srinivasa 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59152" y="3977639"/>
            <a:ext cx="1664208" cy="960120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359152" y="3977639"/>
            <a:ext cx="54864" cy="9601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32304" y="4032503"/>
            <a:ext cx="15544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2304" y="4343400"/>
            <a:ext cx="15544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Likhith 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61104" y="3977639"/>
            <a:ext cx="1664208" cy="960120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61104" y="3977639"/>
            <a:ext cx="54864" cy="9601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34256" y="4032503"/>
            <a:ext cx="15544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Documents (DocGen)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34256" y="4343400"/>
            <a:ext cx="15544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Sandhyarani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32520" y="2606040"/>
            <a:ext cx="2788920" cy="960120"/>
          </a:xfrm>
          <a:prstGeom prst="rect">
            <a:avLst/>
          </a:prstGeom>
          <a:solidFill>
            <a:srgbClr val="F3F0FA"/>
          </a:solidFill>
          <a:ln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732520" y="2606040"/>
            <a:ext cx="54864" cy="9601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805672" y="2660904"/>
            <a:ext cx="2679191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950" b="1">
                <a:solidFill>
                  <a:srgbClr val="111111"/>
                </a:solidFill>
                <a:latin typeface="Aptos"/>
              </a:rPr>
              <a:t>Trane Design Assist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05672" y="2971800"/>
            <a:ext cx="2679191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50" b="1">
                <a:solidFill>
                  <a:srgbClr val="4A148C"/>
                </a:solidFill>
                <a:latin typeface="Aptos"/>
              </a:rPr>
              <a:t>Naveen 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4</a:t>
            </a:r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Equipment Track – Teams A &amp; B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85800"/>
            <a:ext cx="54406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Team A (14 members)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1005840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Jaimie Christianson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542032" y="1005840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416552" y="1005840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53312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53312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" y="1353312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Vijay Patti Reddy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42032" y="1353312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Functional Analyst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6552" y="1353312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700784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700784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52" y="1700784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Pradeesh Kumar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42032" y="1700784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16552" y="1700784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048256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048256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" y="2048256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Brinda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42032" y="2048256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QA – Func Lead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6552" y="2048256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95728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95728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0352" y="2395728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Devendra 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42032" y="2395728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16552" y="2395728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743200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2743200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0352" y="2743200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Praveen Nagaraj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42032" y="2743200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16552" y="2743200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090672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3090672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30352" y="3090672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Jashwanth Sai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42032" y="3090672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QA – Func / Auto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16552" y="3090672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685800"/>
            <a:ext cx="54406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Team B (17 members)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1005840"/>
            <a:ext cx="544068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55080" y="1005840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28232" y="1005840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Cami White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39912" y="1005840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14432" y="1005840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55080" y="1316736"/>
            <a:ext cx="5440680" cy="31089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55080" y="1316736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28232" y="1316736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Cassi Key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39912" y="1316736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PO Business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14432" y="1316736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1627632"/>
            <a:ext cx="544068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355080" y="1627632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28232" y="1627632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Harish Chintakuntla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39912" y="1627632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Prod Analyst (R12)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314432" y="1627632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55080" y="1938528"/>
            <a:ext cx="5440680" cy="31089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55080" y="1938528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28232" y="1938528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Chirag Gandhi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39912" y="1938528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Prod Analyst (R12)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14432" y="1938528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2249424"/>
            <a:ext cx="544068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55080" y="2249424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28232" y="2249424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Blessing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439912" y="2249424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314432" y="2249424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55080" y="2560320"/>
            <a:ext cx="5440680" cy="31089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355080" y="2560320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28232" y="2560320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Aiswarya 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439912" y="2560320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QA – Func Lead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314432" y="2560320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2871216"/>
            <a:ext cx="544068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355080" y="2871216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428232" y="2871216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Sowmya Shetty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39912" y="2871216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QA – Func / R12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314432" y="2871216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55080" y="3182112"/>
            <a:ext cx="5440680" cy="31089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55080" y="3182112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428232" y="3182112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Greeshma Balan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439912" y="3182112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314432" y="3182112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355080" y="3493008"/>
            <a:ext cx="5440680" cy="31089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355080" y="3493008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428232" y="3493008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Brahmananda 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439912" y="3493008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314432" y="3493008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355080" y="3803904"/>
            <a:ext cx="5440680" cy="31089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355080" y="3803904"/>
            <a:ext cx="50292" cy="31089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428232" y="3803904"/>
            <a:ext cx="201168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1">
                <a:solidFill>
                  <a:srgbClr val="111111"/>
                </a:solidFill>
                <a:latin typeface="Aptos"/>
              </a:rPr>
              <a:t>Kavya B 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439912" y="3803904"/>
            <a:ext cx="1874519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9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314432" y="3803904"/>
            <a:ext cx="137160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7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5</a:t>
            </a: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DMC / MDP Track – Full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" y="914400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Brian Brockman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032" y="914400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416552" y="914400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61872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1261872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Bryan Lainhart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42032" y="1261872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6552" y="1261872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609344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609344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" y="1609344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Vipin Saroha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42032" y="1609344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16552" y="1609344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956816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1956816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1956816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Praveen Gopal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2032" y="1956816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Business Analyst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6552" y="1956816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914400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5080" y="914400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28232" y="914400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Snehalata Shidling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39912" y="914400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Scrum Master / Dev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14432" y="914400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1261872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55080" y="1261872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28232" y="1261872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Mahesh Laddi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39912" y="1261872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QA – Functional / Automation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14432" y="1261872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5080" y="1609344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55080" y="1609344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28232" y="1609344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Anusha Gadade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39912" y="1609344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QA – Functional / Automation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14432" y="1609344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1956816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55080" y="1956816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28232" y="1956816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Sarala V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39912" y="1956816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QA – Functional / R12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14432" y="1956816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017520"/>
            <a:ext cx="109728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S&amp;C Contracting – Team 1 (WorkSight &amp; R12 Devs / FAs)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3364992"/>
            <a:ext cx="5440680" cy="32918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3364992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0352" y="3364992"/>
            <a:ext cx="20116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0" b="1">
                <a:solidFill>
                  <a:srgbClr val="111111"/>
                </a:solidFill>
                <a:latin typeface="Aptos"/>
              </a:rPr>
              <a:t>Albin Xavier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42032" y="3364992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16552" y="3364992"/>
            <a:ext cx="13716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694176"/>
            <a:ext cx="5440680" cy="32918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7200" y="3694176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0352" y="3694176"/>
            <a:ext cx="20116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0" b="1">
                <a:solidFill>
                  <a:srgbClr val="111111"/>
                </a:solidFill>
                <a:latin typeface="Aptos"/>
              </a:rPr>
              <a:t>Narayan Kapali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42032" y="3694176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16552" y="3694176"/>
            <a:ext cx="13716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4023360"/>
            <a:ext cx="5440680" cy="32918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4023360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30352" y="4023360"/>
            <a:ext cx="20116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0" b="1">
                <a:solidFill>
                  <a:srgbClr val="111111"/>
                </a:solidFill>
                <a:latin typeface="Aptos"/>
              </a:rPr>
              <a:t>Sachin Salvi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542032" y="4023360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416552" y="4023360"/>
            <a:ext cx="13716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4352544"/>
            <a:ext cx="5440680" cy="32918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7200" y="4352544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0352" y="4352544"/>
            <a:ext cx="20116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0" b="1">
                <a:solidFill>
                  <a:srgbClr val="111111"/>
                </a:solidFill>
                <a:latin typeface="Aptos"/>
              </a:rPr>
              <a:t>Elizabeth Garcia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542032" y="4352544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16552" y="4352544"/>
            <a:ext cx="13716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4681728"/>
            <a:ext cx="5440680" cy="32918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7200" y="4681728"/>
            <a:ext cx="50292" cy="32918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30352" y="4681728"/>
            <a:ext cx="20116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0" b="1">
                <a:solidFill>
                  <a:srgbClr val="111111"/>
                </a:solidFill>
                <a:latin typeface="Aptos"/>
              </a:rPr>
              <a:t>Krishna Kumar 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542032" y="4681728"/>
            <a:ext cx="1874519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16552" y="4681728"/>
            <a:ext cx="13716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6</a:t>
            </a:r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Service &amp; Contracting – QA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109728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Contracting Teams 1 &amp;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960120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Vignesh Sheshababu</a:t>
            </a:r>
          </a:p>
        </p:txBody>
      </p:sp>
      <p:sp>
        <p:nvSpPr>
          <p:cNvPr id="7" name="Rectangle 6"/>
          <p:cNvSpPr/>
          <p:nvPr/>
        </p:nvSpPr>
        <p:spPr>
          <a:xfrm>
            <a:off x="2542032" y="960120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Lead · T1,2</a:t>
            </a:r>
          </a:p>
        </p:txBody>
      </p:sp>
      <p:sp>
        <p:nvSpPr>
          <p:cNvPr id="8" name="Rectangle 7"/>
          <p:cNvSpPr/>
          <p:nvPr/>
        </p:nvSpPr>
        <p:spPr>
          <a:xfrm>
            <a:off x="4416552" y="960120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25296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25296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" y="1225296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Preeti Khajji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42032" y="1225296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Func/Auto · T2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6552" y="1225296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90472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490472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52" y="1490472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Srinivasa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42032" y="1490472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Func/Auto/Perf · T2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16552" y="1490472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755648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755648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" y="1755648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Jinu Joy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42032" y="1755648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Func/Auto · T2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6552" y="1755648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020824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020824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0352" y="2020824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Ajay Kumar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42032" y="2020824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Auto · T2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16552" y="2020824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286000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2286000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0352" y="2286000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Rakshita 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42032" y="2286000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Auto · T2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16552" y="2286000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2551176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2551176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30352" y="2551176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Yana Zapanti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42032" y="2551176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16552" y="2551176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2816352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2816352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0352" y="2816352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Amrit Chatterjee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42032" y="2816352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16552" y="2816352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3081528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3081528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0352" y="3081528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Vijitha 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42032" y="3081528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16552" y="3081528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346704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7200" y="3346704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0352" y="3346704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Pragati Kumari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42032" y="3346704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16552" y="3346704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3611880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3611880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30352" y="3611880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Anusha Patnana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542032" y="3611880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416552" y="3611880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55080" y="960120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55080" y="960120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28232" y="960120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Pavan D 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39912" y="960120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314432" y="960120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1225296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55080" y="1225296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428232" y="1225296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Pramad Manohara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439912" y="1225296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14432" y="1225296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55080" y="1490472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55080" y="1490472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28232" y="1490472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Sudar Subramanian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439912" y="1490472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314432" y="1490472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55080" y="1755648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355080" y="1755648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428232" y="1755648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Vibin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39912" y="1755648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Auto · T1,2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314432" y="1755648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55080" y="2020824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355080" y="2020824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428232" y="2020824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Sivakumar 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39912" y="2020824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314432" y="2020824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55080" y="2286000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355080" y="2286000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428232" y="2286000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Shalini 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39912" y="2286000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314432" y="2286000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355080" y="2551176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355080" y="2551176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428232" y="2551176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Subhashini 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39912" y="2551176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314432" y="2551176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355080" y="2816352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355080" y="2816352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428232" y="2816352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Rangesh 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439912" y="2816352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314432" y="2816352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55080" y="3081528"/>
            <a:ext cx="5440680" cy="26517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355080" y="3081528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428232" y="3081528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Lakshmi P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39912" y="3081528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314432" y="3081528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55080" y="3346704"/>
            <a:ext cx="5440680" cy="265176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355080" y="3346704"/>
            <a:ext cx="50292" cy="26517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428232" y="3346704"/>
            <a:ext cx="201168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1">
                <a:solidFill>
                  <a:srgbClr val="111111"/>
                </a:solidFill>
                <a:latin typeface="Aptos"/>
              </a:rPr>
              <a:t>Ankur Bhattacharjee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439912" y="3346704"/>
            <a:ext cx="1874519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30" b="0">
                <a:solidFill>
                  <a:srgbClr val="6B21D4"/>
                </a:solidFill>
                <a:latin typeface="Aptos"/>
              </a:rPr>
              <a:t>QA Func · T1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314432" y="3346704"/>
            <a:ext cx="1371600" cy="2651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337560" y="4572000"/>
            <a:ext cx="54406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Service Teams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337560" y="4864608"/>
            <a:ext cx="5440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337560" y="486460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410712" y="4864608"/>
            <a:ext cx="20116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Frank Murcia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422392" y="486460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/ Scrum Master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296912" y="4864608"/>
            <a:ext cx="1371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337560" y="5138928"/>
            <a:ext cx="5440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337560" y="513892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410712" y="5138928"/>
            <a:ext cx="20116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Yohalakshmi J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422392" y="513892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7296912" y="5138928"/>
            <a:ext cx="1371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337560" y="5413248"/>
            <a:ext cx="5440680" cy="27432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337560" y="541324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410712" y="5413248"/>
            <a:ext cx="20116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Vivek Patil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422392" y="541324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7296912" y="5413248"/>
            <a:ext cx="1371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337560" y="5687568"/>
            <a:ext cx="5440680" cy="274320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337560" y="5687568"/>
            <a:ext cx="50292" cy="27432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410712" y="5687568"/>
            <a:ext cx="201168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Amelia Mann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422392" y="5687568"/>
            <a:ext cx="187451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296912" y="5687568"/>
            <a:ext cx="1371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7</a:t>
            </a:r>
          </a:p>
        </p:txBody>
      </p:sp>
      <p:pic>
        <p:nvPicPr>
          <p:cNvPr id="131" name="Picture 1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S&amp;C Contracting – POs, BAs, Developers &amp; Scrum (T1 &amp; T2)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5440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86868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" y="868680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Nikki Johann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032" y="86868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Product Owner · T2</a:t>
            </a:r>
          </a:p>
        </p:txBody>
      </p:sp>
      <p:sp>
        <p:nvSpPr>
          <p:cNvPr id="7" name="Rectangle 6"/>
          <p:cNvSpPr/>
          <p:nvPr/>
        </p:nvSpPr>
        <p:spPr>
          <a:xfrm>
            <a:off x="4416552" y="86868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19"/>
            <a:ext cx="5440680" cy="320040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19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1188719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Bethany Bornheimer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42032" y="1188719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Product Owner · T2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6552" y="1188719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08760"/>
            <a:ext cx="5440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50876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" y="1508760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Iza Czapnik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42032" y="150876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IT Product Owner · T1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16552" y="150876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828799"/>
            <a:ext cx="5440680" cy="320040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1828799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1828799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Joe Christian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2032" y="1828799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6552" y="1828799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148839"/>
            <a:ext cx="5440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148839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0352" y="2148839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Rufeeda Khan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42032" y="2148839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6552" y="2148839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468880"/>
            <a:ext cx="5440680" cy="320040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246888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30352" y="2468880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Varun Ved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42032" y="246888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Business Analyst · T2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16552" y="246888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Offshore · TCS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788920"/>
            <a:ext cx="5440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278892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30352" y="2788920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Arvind Gupta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42032" y="278892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Product Analyst · T2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16552" y="278892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868680"/>
            <a:ext cx="5440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55080" y="86868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28232" y="868680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Vishnuraj Jayaraj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39912" y="86868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Product Analyst · T2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14432" y="86868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Offshore · Cognizant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1188719"/>
            <a:ext cx="5440680" cy="320040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1188719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28232" y="1188719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OConnor, Andrew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39912" y="1188719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Scrum Master · T2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14432" y="1188719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55080" y="1508760"/>
            <a:ext cx="5440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55080" y="150876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28232" y="1508760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Diana Blidarescu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39912" y="150876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Scrum Master · T1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314432" y="150876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Slalom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55080" y="1828799"/>
            <a:ext cx="5440680" cy="320040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355080" y="1828799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28232" y="1828799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Ashish Verma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39912" y="1828799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Fusion Middleware · T1,2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314432" y="1828799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55080" y="2148839"/>
            <a:ext cx="5440680" cy="320040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55080" y="2148839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28232" y="2148839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Lavanya Nagarajan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39912" y="2148839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Fusion Middleware · T1,2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14432" y="2148839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55080" y="2468880"/>
            <a:ext cx="5440680" cy="320040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55080" y="2468880"/>
            <a:ext cx="50292" cy="320040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428232" y="2468880"/>
            <a:ext cx="20116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Anne Kelly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439912" y="2468880"/>
            <a:ext cx="1874519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10" b="0">
                <a:solidFill>
                  <a:srgbClr val="6B21D4"/>
                </a:solidFill>
                <a:latin typeface="Aptos"/>
              </a:rPr>
              <a:t>PMO · T1,2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14432" y="2468880"/>
            <a:ext cx="1371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886200" y="4389120"/>
            <a:ext cx="438912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Tax Team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886200" y="4681728"/>
            <a:ext cx="43891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886200" y="4681728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959352" y="4681728"/>
            <a:ext cx="15087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Corinne Kreuger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468112" y="4681728"/>
            <a:ext cx="15087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PO / BA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76872" y="4681728"/>
            <a:ext cx="11430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886200" y="4974336"/>
            <a:ext cx="43891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886200" y="4974336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959352" y="4974336"/>
            <a:ext cx="15087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Sathish Kumar 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68112" y="4974336"/>
            <a:ext cx="15087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76872" y="4974336"/>
            <a:ext cx="11430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86200" y="5266944"/>
            <a:ext cx="438912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886200" y="5266944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959352" y="5266944"/>
            <a:ext cx="15087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Tushar Joshi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468112" y="5266944"/>
            <a:ext cx="15087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Product Analyst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976872" y="5266944"/>
            <a:ext cx="11430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886200" y="5559552"/>
            <a:ext cx="438912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886200" y="5559552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959352" y="5559552"/>
            <a:ext cx="15087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1">
                <a:solidFill>
                  <a:srgbClr val="111111"/>
                </a:solidFill>
                <a:latin typeface="Aptos"/>
              </a:rPr>
              <a:t>Daniel Brenner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468112" y="5559552"/>
            <a:ext cx="15087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76872" y="5559552"/>
            <a:ext cx="114300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0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8</a:t>
            </a:r>
          </a:p>
        </p:txBody>
      </p:sp>
      <p:pic>
        <p:nvPicPr>
          <p:cNvPr id="90" name="Picture 8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S&amp;C Contracting – Team 1 (WorkSight &amp; R12 Devs / FAs)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" y="1051560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Albin Xavier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032" y="1051560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7" name="Rectangle 6"/>
          <p:cNvSpPr/>
          <p:nvPr/>
        </p:nvSpPr>
        <p:spPr>
          <a:xfrm>
            <a:off x="4416552" y="1051560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99031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99031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1399031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Narayan Kapali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42032" y="1399031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WorkSight FA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6552" y="1399031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Cognizant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46504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746504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52" y="1746504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Sachin Salvi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42032" y="1746504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16552" y="1746504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093976"/>
            <a:ext cx="5440680" cy="34747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093976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52" y="2093976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Elizabeth Garcia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2032" y="2093976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6552" y="2093976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441448"/>
            <a:ext cx="5440680" cy="34747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2441448"/>
            <a:ext cx="50292" cy="34747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0352" y="2441448"/>
            <a:ext cx="20116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19" b="1">
                <a:solidFill>
                  <a:srgbClr val="111111"/>
                </a:solidFill>
                <a:latin typeface="Aptos"/>
              </a:rPr>
              <a:t>Krishna Kumar 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42032" y="2441448"/>
            <a:ext cx="1874519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89" b="0">
                <a:solidFill>
                  <a:srgbClr val="6B21D4"/>
                </a:solidFill>
                <a:latin typeface="Aptos"/>
              </a:rPr>
              <a:t>R12 FA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6552" y="2441448"/>
            <a:ext cx="13716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39" b="0">
                <a:solidFill>
                  <a:srgbClr val="777777"/>
                </a:solidFill>
                <a:latin typeface="Aptos"/>
              </a:rPr>
              <a:t>Onshore · Contractor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9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Other Teams – WorkPackage, TSA, TDA, Jobs CoJo, Documents,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54406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WorkPackage QA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69848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69848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" y="1069848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Likhith Pateel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542032" y="1069848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8" name="Rectangle 7"/>
          <p:cNvSpPr/>
          <p:nvPr/>
        </p:nvSpPr>
        <p:spPr>
          <a:xfrm>
            <a:off x="4416552" y="1069848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53312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53312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" y="1353312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Sudha Malbhage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42032" y="1353312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6552" y="1353312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636776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636776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52" y="1636776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Nitesh Achari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42032" y="1636776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16552" y="1636776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1920239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1920239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30352" y="1920239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Pradeep K Battula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42032" y="1920239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–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6552" y="1920239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331720"/>
            <a:ext cx="54406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TSA QA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24327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624327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0352" y="2624327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Varsha Chitray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42032" y="2624327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6552" y="2624327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907791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2907791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0352" y="2907791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Prarthana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542032" y="2907791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16552" y="2907791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191256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3191256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0352" y="3191256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Sandhyarani Mothukuri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42032" y="3191256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16552" y="3191256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474720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474720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30352" y="3474720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Aastha Tripathi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42032" y="3474720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– Func/Auto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16552" y="3474720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3886200"/>
            <a:ext cx="54406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TDA QA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178808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4178808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30352" y="4178808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Naveen 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42032" y="4178808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Lead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16552" y="4178808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4462272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200" y="4462272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30352" y="4462272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Navya B 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42032" y="4462272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416552" y="4462272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4745736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7200" y="4745736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30352" y="4745736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Manoj Kulkarni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42032" y="4745736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16552" y="4745736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5029200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57200" y="5029200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30352" y="5029200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Gurulingappa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542032" y="5029200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16552" y="5029200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55080" y="777240"/>
            <a:ext cx="54406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Jobs CoJo QA &amp; Key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355080" y="1069848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55080" y="1069848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428232" y="1069848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Rashmi Ranganath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39912" y="1069848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Lead/Scrum Master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314432" y="1069848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1353312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55080" y="1353312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28232" y="1353312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Chethana B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39912" y="1353312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– Functional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314432" y="1353312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Trane-ITC-C2H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355080" y="1636776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355080" y="1636776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428232" y="1636776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Matt Parish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439912" y="1636776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314432" y="1636776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55080" y="1920239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355080" y="1920239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428232" y="1920239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Hasan Al Quasem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39912" y="1920239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IT Prod Analyst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314432" y="1920239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55080" y="2331720"/>
            <a:ext cx="544068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Documents / DocGen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55080" y="2624327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355080" y="2624327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428232" y="2624327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Sandhyarani M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439912" y="2624327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QA – Func/Perf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314432" y="2624327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355080" y="2907791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355080" y="2907791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428232" y="2907791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Angela Puent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439912" y="2907791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Product Owner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314432" y="2907791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55080" y="3191256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355080" y="3191256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428232" y="3191256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Brett Meddaugh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439912" y="3191256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Architect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314432" y="3191256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55080" y="3474720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355080" y="3474720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428232" y="3474720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Chandana Gowda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39912" y="3474720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Developer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314432" y="3474720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Offshore · Trane-ITC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57200" y="5440680"/>
            <a:ext cx="544068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57200" y="544068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30352" y="5440680"/>
            <a:ext cx="201168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Drew Rauvola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542032" y="5440680"/>
            <a:ext cx="1874519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20" b="0">
                <a:solidFill>
                  <a:srgbClr val="6B21D4"/>
                </a:solidFill>
                <a:latin typeface="Aptos"/>
              </a:rPr>
              <a:t>Application Owner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416552" y="5440680"/>
            <a:ext cx="13716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57200" y="5678424"/>
            <a:ext cx="544068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57200" y="5678424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30352" y="5678424"/>
            <a:ext cx="201168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Abby Hoolver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542032" y="5678424"/>
            <a:ext cx="1874519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20" b="0">
                <a:solidFill>
                  <a:srgbClr val="6B21D4"/>
                </a:solidFill>
                <a:latin typeface="Aptos"/>
              </a:rPr>
              <a:t>Business Owner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416552" y="5678424"/>
            <a:ext cx="13716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6355080" y="3977639"/>
            <a:ext cx="5440680" cy="28346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355080" y="3977639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428232" y="3977639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Kreidermacher, Tara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39912" y="3977639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Scrum Master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314432" y="3977639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Onshore - Trane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55080" y="4261103"/>
            <a:ext cx="5440680" cy="28346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355080" y="4261103"/>
            <a:ext cx="50292" cy="28346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428232" y="4261103"/>
            <a:ext cx="201168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90" b="1">
                <a:solidFill>
                  <a:srgbClr val="111111"/>
                </a:solidFill>
                <a:latin typeface="Aptos"/>
              </a:rPr>
              <a:t>Pruner, Kenneth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439912" y="4261103"/>
            <a:ext cx="1874519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60" b="0">
                <a:solidFill>
                  <a:srgbClr val="6B21D4"/>
                </a:solidFill>
                <a:latin typeface="Aptos"/>
              </a:rPr>
              <a:t>Project Manager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314432" y="4261103"/>
            <a:ext cx="1371600" cy="2834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Onshore - Trane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355080" y="4800600"/>
            <a:ext cx="544068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355080" y="480060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428232" y="4800600"/>
            <a:ext cx="201168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Rislow Chad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439912" y="4800600"/>
            <a:ext cx="1874519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20" b="0">
                <a:solidFill>
                  <a:srgbClr val="6B21D4"/>
                </a:solidFill>
                <a:latin typeface="Aptos"/>
              </a:rPr>
              <a:t>PA – Product Analyst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0314432" y="4800600"/>
            <a:ext cx="13716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355080" y="5038344"/>
            <a:ext cx="544068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355080" y="5038344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428232" y="5038344"/>
            <a:ext cx="201168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Christopher Brown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439912" y="5038344"/>
            <a:ext cx="1874519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20" b="0">
                <a:solidFill>
                  <a:srgbClr val="6B21D4"/>
                </a:solidFill>
                <a:latin typeface="Aptos"/>
              </a:rPr>
              <a:t>PO – Product Owner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0314432" y="5038344"/>
            <a:ext cx="13716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355080" y="5276088"/>
            <a:ext cx="544068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355080" y="5276088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6428232" y="5276088"/>
            <a:ext cx="201168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Kristen Dale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439912" y="5276088"/>
            <a:ext cx="1874519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20" b="0">
                <a:solidFill>
                  <a:srgbClr val="6B21D4"/>
                </a:solidFill>
                <a:latin typeface="Aptos"/>
              </a:rPr>
              <a:t>PO – Product Owner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0314432" y="5276088"/>
            <a:ext cx="137160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70" b="0">
                <a:solidFill>
                  <a:srgbClr val="777777"/>
                </a:solidFill>
                <a:latin typeface="Aptos"/>
              </a:rPr>
              <a:t>Onshore · Trane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10</a:t>
            </a:r>
          </a:p>
        </p:txBody>
      </p:sp>
      <p:pic>
        <p:nvPicPr>
          <p:cNvPr id="144" name="Picture 14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63296" y="158496"/>
            <a:ext cx="11265408" cy="4145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The work we do – Projects &amp; Applications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63296" y="682752"/>
            <a:ext cx="10972800" cy="1950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0">
                <a:solidFill>
                  <a:srgbClr val="777777"/>
                </a:solidFill>
                <a:latin typeface="Aptos"/>
              </a:rPr>
              <a:t>Testing types: Smoke · System · Regression · Automation · Performance · QA PoC</a:t>
            </a:r>
          </a:p>
        </p:txBody>
      </p:sp>
      <p:sp>
        <p:nvSpPr>
          <p:cNvPr id="4" name="Rectangle 3"/>
          <p:cNvSpPr/>
          <p:nvPr/>
        </p:nvSpPr>
        <p:spPr>
          <a:xfrm>
            <a:off x="463296" y="1158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600" y="1304542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Trane Select Assist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670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Varsha Chitray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Equipment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3776" y="1158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50080" y="1304542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Equipment (R12)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0080" y="1670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Equipment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44256" y="1158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90560" y="1304542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DMC / MDP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560" y="1670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Mahesh Laddi &amp; Anusha G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DMC / MDP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296" y="2682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600" y="2828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194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Rashmi Ranganath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 – T1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3776" y="2682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50080" y="2828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Contracting Team 1,2 (Tax)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50080" y="3194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Vignesh Sheshababu/Preeti k/Srinivas R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 – T2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44256" y="2682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90560" y="2828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90560" y="3194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Naveen H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3296" y="4206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600" y="4352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4718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Likhith Pateel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 – T1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03776" y="4206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50080" y="4352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Documents / DocGen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50080" y="4718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Sandhyarani M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S&amp;C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44256" y="4206240"/>
            <a:ext cx="3474720" cy="1158240"/>
          </a:xfrm>
          <a:prstGeom prst="rect">
            <a:avLst/>
          </a:prstGeom>
          <a:solidFill>
            <a:srgbClr val="F3F0FA"/>
          </a:solidFill>
          <a:ln w="635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90560" y="4352544"/>
            <a:ext cx="31699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1000" b="1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90560" y="4718304"/>
            <a:ext cx="316992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4572" bIns="4572"/>
          <a:lstStyle/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PoC: Frank Murcia</a:t>
            </a:r>
          </a:p>
          <a:p>
            <a:pPr algn="l"/>
            <a:r>
              <a:rPr sz="1000" b="0">
                <a:solidFill>
                  <a:srgbClr val="6B21D4"/>
                </a:solidFill>
                <a:latin typeface="Aptos"/>
              </a:rPr>
              <a:t>Service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11</a:t>
            </a:r>
          </a:p>
        </p:txBody>
      </p:sp>
      <p:pic>
        <p:nvPicPr>
          <p:cNvPr id="32" name="Picture 31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The things you need – Checklist &amp; Application URLs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50292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What you need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521208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Laptop</a:t>
            </a:r>
          </a:p>
        </p:txBody>
      </p:sp>
      <p:sp>
        <p:nvSpPr>
          <p:cNvPr id="7" name="Rectangle 6"/>
          <p:cNvSpPr/>
          <p:nvPr/>
        </p:nvSpPr>
        <p:spPr>
          <a:xfrm>
            <a:off x="2514600" y="960120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71016"/>
            <a:ext cx="521208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71016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71016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VPN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14600" y="1271016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581912"/>
            <a:ext cx="521208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581912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Headphones / Mouse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14600" y="1581912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FST Team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892808"/>
            <a:ext cx="521208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1892808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1892808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Administrator 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14600" y="1892808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203704"/>
            <a:ext cx="521208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203704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203704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Jira Access/Confluence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4600" y="2203704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Contact QA Lead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514600"/>
            <a:ext cx="521208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51460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2514600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Java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14600" y="2514600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 – Computer Software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825496"/>
            <a:ext cx="521208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2825496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2825496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Eclipse IDE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14600" y="2825496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 – Computer Software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136392"/>
            <a:ext cx="521208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136392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3136392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Git Bash /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14600" y="3136392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 – KB0040682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447288"/>
            <a:ext cx="521208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3447288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447288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Server / DB Access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14600" y="3447288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 Request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758184"/>
            <a:ext cx="521208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758184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3758184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App URLs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4600" y="3758184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See right column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069080"/>
            <a:ext cx="521208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406908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4069080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Add to DL’s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514600" y="4069080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ServiceNow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379976"/>
            <a:ext cx="521208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379976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4379976"/>
            <a:ext cx="1874519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1">
                <a:solidFill>
                  <a:srgbClr val="111111"/>
                </a:solidFill>
                <a:latin typeface="Aptos"/>
              </a:rPr>
              <a:t>Add to MS teams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14600" y="4379976"/>
            <a:ext cx="2926080" cy="228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50" b="0">
                <a:solidFill>
                  <a:srgbClr val="777777"/>
                </a:solidFill>
                <a:latin typeface="Aptos"/>
              </a:rPr>
              <a:t>MS Teams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640080"/>
            <a:ext cx="512064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Application URLs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960120"/>
            <a:ext cx="5212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4A148C"/>
                </a:solidFill>
                <a:latin typeface="Aptos"/>
              </a:rPr>
              <a:t>TSA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1216152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63640" y="1216152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355080" y="1216152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1216152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dev.traneselectassist.com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63640" y="1444752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63640" y="1444752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55080" y="1444752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69480" y="1444752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test.traneselectassist.com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1673352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63640" y="1673352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55080" y="1673352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269480" y="1673352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traneselectassist.com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63640" y="1901952"/>
            <a:ext cx="5212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4A148C"/>
                </a:solidFill>
                <a:latin typeface="Aptos"/>
              </a:rPr>
              <a:t>TSMT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63640" y="2157984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263640" y="2157984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355080" y="2157984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69480" y="2157984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devsalestools.trane.com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63640" y="2386584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63640" y="2386584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55080" y="2386584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269480" y="2386584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uatsalestools.trane.com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63640" y="2615184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263640" y="2615184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55080" y="2615184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69480" y="2615184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salestools.trane.com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2843784"/>
            <a:ext cx="5212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4A148C"/>
                </a:solidFill>
                <a:latin typeface="Aptos"/>
              </a:rPr>
              <a:t>MDP/DMC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3099816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63640" y="3099816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355080" y="3099816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Dev: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269480" y="3099816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devdmc.trane.com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263640" y="3328416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263640" y="3328416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355080" y="3328416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Test: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69480" y="3328416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uatdmc.trane.com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63640" y="3557016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263640" y="3557016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355080" y="3557016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Prod: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269480" y="3557016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dmc.trane.com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263640" y="3785616"/>
            <a:ext cx="52120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4A148C"/>
                </a:solidFill>
                <a:latin typeface="Aptos"/>
              </a:rPr>
              <a:t>Portals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263640" y="4041648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263640" y="4041648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355080" y="4041648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ServiceNow: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269480" y="4041648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tranetechnologies.service-now.com/sp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263640" y="4270248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263640" y="4270248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355080" y="4270248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Confluence: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269480" y="4270248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tranetis.jira.com/wiki/spaces/TOPSS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263640" y="4498848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263640" y="4498848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355080" y="4498848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GitHub: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269480" y="4498848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github.com/enterprises/tranetechnologies/sso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263640" y="4727448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263640" y="4727448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355080" y="4727448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HR Portal: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269480" y="4727448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tranetechnologies.service-now.com/hrportal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263640" y="4956048"/>
            <a:ext cx="521208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263640" y="4956048"/>
            <a:ext cx="50292" cy="219456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6355080" y="4956048"/>
            <a:ext cx="91440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Citrix: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269480" y="4956048"/>
            <a:ext cx="393192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tranecitrix.corp.global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12</a:t>
            </a:r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4592"/>
            <a:ext cx="111556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2400" b="1">
                <a:solidFill>
                  <a:srgbClr val="6B21D4"/>
                </a:solidFill>
                <a:latin typeface="Aptos"/>
              </a:rPr>
              <a:t>Things to do · KT Plan · Points of Contact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36576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Onboarding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960120"/>
            <a:ext cx="228600" cy="228600"/>
          </a:xfrm>
          <a:prstGeom prst="rect">
            <a:avLst/>
          </a:prstGeom>
          <a:solidFill>
            <a:srgbClr val="6B21D4"/>
          </a:solidFill>
          <a:ln w="889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960120"/>
            <a:ext cx="31546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Mandatory certifications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179576"/>
            <a:ext cx="31546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0">
                <a:solidFill>
                  <a:srgbClr val="777777"/>
                </a:solidFill>
                <a:latin typeface="Aptos"/>
              </a:rPr>
              <a:t>HR Portal → LMS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1435608"/>
            <a:ext cx="228600" cy="228600"/>
          </a:xfrm>
          <a:prstGeom prst="rect">
            <a:avLst/>
          </a:prstGeom>
          <a:solidFill>
            <a:srgbClr val="6B21D4"/>
          </a:solidFill>
          <a:ln w="889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435608"/>
            <a:ext cx="31546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Goal setting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1655064"/>
            <a:ext cx="31546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0">
                <a:solidFill>
                  <a:srgbClr val="777777"/>
                </a:solidFill>
                <a:latin typeface="Aptos"/>
              </a:rPr>
              <a:t>HR Portal → Talent Mgmt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1911095"/>
            <a:ext cx="228600" cy="228600"/>
          </a:xfrm>
          <a:prstGeom prst="rect">
            <a:avLst/>
          </a:prstGeom>
          <a:solidFill>
            <a:srgbClr val="6B21D4"/>
          </a:solidFill>
          <a:ln w="889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1911095"/>
            <a:ext cx="31546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Complete People Profile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2130552"/>
            <a:ext cx="31546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0">
                <a:solidFill>
                  <a:srgbClr val="777777"/>
                </a:solidFill>
                <a:latin typeface="Aptos"/>
              </a:rPr>
              <a:t>SuccessFactors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2386584"/>
            <a:ext cx="228600" cy="228600"/>
          </a:xfrm>
          <a:prstGeom prst="rect">
            <a:avLst/>
          </a:prstGeom>
          <a:solidFill>
            <a:srgbClr val="6B21D4"/>
          </a:solidFill>
          <a:ln w="889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2386584"/>
            <a:ext cx="31546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Update TOPSSQA Site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2606040"/>
            <a:ext cx="31546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0">
                <a:solidFill>
                  <a:srgbClr val="777777"/>
                </a:solidFill>
                <a:latin typeface="Aptos"/>
              </a:rPr>
              <a:t>sharepoint.com/sites/topss.com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2862072"/>
            <a:ext cx="228600" cy="228600"/>
          </a:xfrm>
          <a:prstGeom prst="rect">
            <a:avLst/>
          </a:prstGeom>
          <a:solidFill>
            <a:srgbClr val="6B21D4"/>
          </a:solidFill>
          <a:ln w="8890"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ctr"/>
            <a:r>
              <a:rPr sz="8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2862072"/>
            <a:ext cx="3154680" cy="2011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840" b="1">
                <a:solidFill>
                  <a:srgbClr val="111111"/>
                </a:solidFill>
                <a:latin typeface="Aptos"/>
              </a:rPr>
              <a:t>Apply leave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3081528"/>
            <a:ext cx="315468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80" b="0">
                <a:solidFill>
                  <a:srgbClr val="777777"/>
                </a:solidFill>
                <a:latin typeface="Aptos"/>
              </a:rPr>
              <a:t>HR Portal → Leave Mgmt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20440"/>
            <a:ext cx="41148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ServiceNow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429768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84048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4048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Software: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93392" y="384048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ServiceNow → Computer Software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114800"/>
            <a:ext cx="429768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11480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11480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Admin ID / Server: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93392" y="411480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ServiceNow → Access Request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389120"/>
            <a:ext cx="429768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38912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38912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GitHub: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93392" y="438912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KB0040682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663440"/>
            <a:ext cx="429768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66344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466344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TOSCA License: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93392" y="466344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RITM0731045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937760"/>
            <a:ext cx="4297680" cy="237744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93776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93776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TOSCA Access: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93392" y="493776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RITM0731066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212080"/>
            <a:ext cx="4297680" cy="237744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5212080"/>
            <a:ext cx="50292" cy="237744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212080"/>
            <a:ext cx="1417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50" b="1">
                <a:solidFill>
                  <a:srgbClr val="111111"/>
                </a:solidFill>
                <a:latin typeface="Aptos"/>
              </a:rPr>
              <a:t>MDP/DMC: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993392" y="5212080"/>
            <a:ext cx="25603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710" b="0">
                <a:solidFill>
                  <a:srgbClr val="777777"/>
                </a:solidFill>
                <a:latin typeface="Aptos"/>
              </a:rPr>
              <a:t>Options 1,5,8,9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74920" y="640080"/>
            <a:ext cx="26517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KT Plan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74920" y="960120"/>
            <a:ext cx="265176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74920" y="960120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157216" y="960120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TSA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55080" y="960120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Varsha Chitray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74920" y="1307592"/>
            <a:ext cx="265176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074920" y="1307592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157216" y="1307592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55080" y="1307592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Rashmi Ranganath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74920" y="1655064"/>
            <a:ext cx="265176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74920" y="1655064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157216" y="1655064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Contracting/Tax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55080" y="1655064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Vignesh 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74920" y="2002536"/>
            <a:ext cx="265176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74920" y="2002536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157216" y="2002536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MDP/DMC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2002536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Mahesh Laddi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74920" y="2350008"/>
            <a:ext cx="265176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74920" y="2350008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157216" y="2350008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5080" y="2350008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Naveen 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74920" y="2697480"/>
            <a:ext cx="265176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074920" y="2697480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157216" y="2697480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Performance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2697480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Srinivasa 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74920" y="3044952"/>
            <a:ext cx="265176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074920" y="3044952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157216" y="3044952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Selenium (TestNG)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3044952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Varsha Chitray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74920" y="3392424"/>
            <a:ext cx="265176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074920" y="3392424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157216" y="3392424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Selenium (Hybrid)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3392424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Deepak Chhabria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74920" y="3739896"/>
            <a:ext cx="265176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074920" y="3739896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157216" y="3739896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TOSCA Auto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355080" y="3739896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Team Lead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74920" y="4087368"/>
            <a:ext cx="2651760" cy="292608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074920" y="4087368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157216" y="4087368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55080" y="4087368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Likhith Pateel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74920" y="4434840"/>
            <a:ext cx="2651760" cy="292608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074920" y="4434840"/>
            <a:ext cx="50292" cy="292608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157216" y="4434840"/>
            <a:ext cx="1143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80" b="1">
                <a:solidFill>
                  <a:srgbClr val="111111"/>
                </a:solidFill>
                <a:latin typeface="Aptos"/>
              </a:rPr>
              <a:t>DocGen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55080" y="4434840"/>
            <a:ext cx="12344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0">
                <a:solidFill>
                  <a:srgbClr val="6B21D4"/>
                </a:solidFill>
                <a:latin typeface="Aptos"/>
              </a:rPr>
              <a:t>Sandhyarani 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412480" y="640080"/>
            <a:ext cx="27432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1100" b="1">
                <a:solidFill>
                  <a:srgbClr val="4A148C"/>
                </a:solidFill>
                <a:latin typeface="Aptos"/>
              </a:rPr>
              <a:t>Points of Contact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412480" y="960120"/>
            <a:ext cx="283464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412480" y="96012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503920" y="960120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TSA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619488" y="960120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Varsha C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412480" y="1261872"/>
            <a:ext cx="283464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412480" y="1261872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503920" y="1261872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Contracting Team 1 &amp; 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619488" y="1261872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Vignesh S/Preeti k/Srinivas 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412480" y="1563624"/>
            <a:ext cx="283464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12480" y="1563624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03920" y="1563624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Jobs &amp; CoJo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19488" y="1563624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Rashmi 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12480" y="1865376"/>
            <a:ext cx="283464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412480" y="1865376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503920" y="1865376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MDP/DMC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619488" y="1865376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Mahesh L/Anusha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12480" y="2167128"/>
            <a:ext cx="283464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412480" y="2167128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503920" y="2167128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TDA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619488" y="2167128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Naveen H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412480" y="2468880"/>
            <a:ext cx="283464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8412480" y="246888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503920" y="2468880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Equipment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619488" y="2468880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Deepak C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412480" y="2770632"/>
            <a:ext cx="283464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8412480" y="2770632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503920" y="2770632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Automation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619488" y="2770632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Varsha 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12480" y="3072384"/>
            <a:ext cx="283464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412480" y="3072384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503920" y="3072384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Performance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619488" y="3072384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Srinivasa 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412480" y="3374136"/>
            <a:ext cx="283464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412480" y="3374136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503920" y="3374136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Smoke (Prod)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619488" y="3374136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Mahesh 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412480" y="3675888"/>
            <a:ext cx="283464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412480" y="3675888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8503920" y="3675888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Work Package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619488" y="3675888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Likhith P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12480" y="3977640"/>
            <a:ext cx="2834640" cy="256032"/>
          </a:xfrm>
          <a:prstGeom prst="rect">
            <a:avLst/>
          </a:prstGeom>
          <a:solidFill>
            <a:srgbClr val="FFFFFF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8412480" y="3977640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8503920" y="3977640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DocGen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619488" y="3977640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Sandhyarani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412480" y="4279392"/>
            <a:ext cx="2834640" cy="256032"/>
          </a:xfrm>
          <a:prstGeom prst="rect">
            <a:avLst/>
          </a:prstGeom>
          <a:solidFill>
            <a:srgbClr val="F3F0FA"/>
          </a:solidFill>
          <a:ln w="5080">
            <a:solidFill>
              <a:srgbClr val="EEE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8412480" y="4279392"/>
            <a:ext cx="50292" cy="256032"/>
          </a:xfrm>
          <a:prstGeom prst="rect">
            <a:avLst/>
          </a:prstGeom>
          <a:solidFill>
            <a:srgbClr val="6B21D4"/>
          </a:solidFill>
          <a:ln>
            <a:solidFill>
              <a:srgbClr val="6B21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8503920" y="4279392"/>
            <a:ext cx="105156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50" b="1">
                <a:solidFill>
                  <a:srgbClr val="111111"/>
                </a:solidFill>
                <a:latin typeface="Aptos"/>
              </a:rPr>
              <a:t>Service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619488" y="4279392"/>
            <a:ext cx="1417320" cy="2377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620" b="0">
                <a:solidFill>
                  <a:srgbClr val="6B21D4"/>
                </a:solidFill>
                <a:latin typeface="Aptos"/>
              </a:rPr>
              <a:t>Frank M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57200" y="6446520"/>
            <a:ext cx="320040" cy="1645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" rIns="32004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13</a:t>
            </a:r>
          </a:p>
        </p:txBody>
      </p:sp>
      <p:pic>
        <p:nvPicPr>
          <p:cNvPr id="139" name="Picture 1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6172200"/>
            <a:ext cx="1417320" cy="6126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9200" y="2682240"/>
            <a:ext cx="3901440" cy="975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Welcome once again to the</a:t>
            </a:r>
          </a:p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team, and hope you have a</a:t>
            </a:r>
          </a:p>
          <a:p>
            <a:pPr algn="l"/>
            <a:r>
              <a:rPr sz="2400" b="0">
                <a:solidFill>
                  <a:srgbClr val="111111"/>
                </a:solidFill>
                <a:latin typeface="Aptos"/>
              </a:rPr>
              <a:t>wonderful journey with us!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296" y="6388608"/>
            <a:ext cx="426720" cy="21945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4572" bIns="4572"/>
          <a:lstStyle/>
          <a:p>
            <a:pPr algn="l"/>
            <a:r>
              <a:rPr sz="900" b="0">
                <a:solidFill>
                  <a:srgbClr val="777777"/>
                </a:solidFill>
                <a:latin typeface="Aptos"/>
              </a:rPr>
              <a:t>14</a:t>
            </a:r>
          </a:p>
        </p:txBody>
      </p:sp>
      <p:pic>
        <p:nvPicPr>
          <p:cNvPr id="7" name="Picture 6" descr="trane_real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156960"/>
            <a:ext cx="1463040" cy="6339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