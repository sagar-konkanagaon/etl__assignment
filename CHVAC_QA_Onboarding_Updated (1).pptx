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70560" y="2621280"/>
            <a:ext cx="3657600" cy="85344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4572" bIns="4572"/>
          <a:lstStyle/>
          <a:p>
            <a:pPr algn="l"/>
            <a:r>
              <a:rPr sz="2400" b="0">
                <a:solidFill>
                  <a:srgbClr val="111111"/>
                </a:solidFill>
                <a:latin typeface="Aptos"/>
              </a:rPr>
              <a:t>Welcome to CHVAC</a:t>
            </a:r>
          </a:p>
          <a:p>
            <a:pPr algn="l"/>
            <a:r>
              <a:rPr sz="2400" b="0">
                <a:solidFill>
                  <a:srgbClr val="111111"/>
                </a:solidFill>
                <a:latin typeface="Aptos"/>
              </a:rPr>
              <a:t>QA Core team</a:t>
            </a:r>
          </a:p>
        </p:txBody>
      </p:sp>
      <p:sp>
        <p:nvSpPr>
          <p:cNvPr id="6" name="Rectangle 5"/>
          <p:cNvSpPr/>
          <p:nvPr/>
        </p:nvSpPr>
        <p:spPr>
          <a:xfrm>
            <a:off x="463296" y="6388608"/>
            <a:ext cx="426720" cy="219456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4572" bIns="4572"/>
          <a:lstStyle/>
          <a:p>
            <a:pPr algn="l"/>
            <a:r>
              <a:rPr sz="900" b="0">
                <a:solidFill>
                  <a:srgbClr val="777777"/>
                </a:solidFill>
                <a:latin typeface="Aptos"/>
              </a:rPr>
              <a:t>1</a:t>
            </a:r>
          </a:p>
        </p:txBody>
      </p:sp>
      <p:pic>
        <p:nvPicPr>
          <p:cNvPr id="7" name="Picture 6" descr="trane_real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424160" y="6156960"/>
            <a:ext cx="1463040" cy="633984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63296" y="365760"/>
            <a:ext cx="11265408" cy="41452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4572" bIns="4572"/>
          <a:lstStyle/>
          <a:p>
            <a:pPr algn="l"/>
            <a:r>
              <a:rPr sz="2400" b="1">
                <a:solidFill>
                  <a:srgbClr val="6B21D4"/>
                </a:solidFill>
                <a:latin typeface="Aptos"/>
              </a:rPr>
              <a:t>Welcome deck</a:t>
            </a:r>
          </a:p>
        </p:txBody>
      </p:sp>
      <p:sp>
        <p:nvSpPr>
          <p:cNvPr id="3" name="Rectangle 2"/>
          <p:cNvSpPr/>
          <p:nvPr/>
        </p:nvSpPr>
        <p:spPr>
          <a:xfrm>
            <a:off x="3962400" y="1036320"/>
            <a:ext cx="219456" cy="219456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4572" bIns="4572"/>
          <a:lstStyle/>
          <a:p>
            <a:pPr algn="ctr"/>
            <a:r>
              <a:rPr sz="1000" b="1">
                <a:solidFill>
                  <a:srgbClr val="6B21D4"/>
                </a:solidFill>
                <a:latin typeface="Aptos"/>
              </a:rPr>
              <a:t>1</a:t>
            </a:r>
          </a:p>
        </p:txBody>
      </p:sp>
      <p:sp>
        <p:nvSpPr>
          <p:cNvPr id="4" name="Rectangle 3"/>
          <p:cNvSpPr/>
          <p:nvPr/>
        </p:nvSpPr>
        <p:spPr>
          <a:xfrm>
            <a:off x="4364736" y="1036320"/>
            <a:ext cx="3901440" cy="219456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4572" bIns="4572"/>
          <a:lstStyle/>
          <a:p>
            <a:pPr algn="l"/>
            <a:r>
              <a:rPr sz="1000" b="0">
                <a:solidFill>
                  <a:srgbClr val="111111"/>
                </a:solidFill>
                <a:latin typeface="Aptos"/>
              </a:rPr>
              <a:t>About the team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3901440" y="1304544"/>
            <a:ext cx="4389120" cy="0"/>
          </a:xfrm>
          <a:prstGeom prst="line">
            <a:avLst/>
          </a:prstGeom>
          <a:ln>
            <a:solidFill>
              <a:srgbClr val="EEEEE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Rectangle 5"/>
          <p:cNvSpPr/>
          <p:nvPr/>
        </p:nvSpPr>
        <p:spPr>
          <a:xfrm>
            <a:off x="3962400" y="1548384"/>
            <a:ext cx="219456" cy="219456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4572" bIns="4572"/>
          <a:lstStyle/>
          <a:p>
            <a:pPr algn="ctr"/>
            <a:r>
              <a:rPr sz="1000" b="1">
                <a:solidFill>
                  <a:srgbClr val="6B21D4"/>
                </a:solidFill>
                <a:latin typeface="Aptos"/>
              </a:rPr>
              <a:t>2</a:t>
            </a:r>
          </a:p>
        </p:txBody>
      </p:sp>
      <p:sp>
        <p:nvSpPr>
          <p:cNvPr id="7" name="Rectangle 6"/>
          <p:cNvSpPr/>
          <p:nvPr/>
        </p:nvSpPr>
        <p:spPr>
          <a:xfrm>
            <a:off x="4364736" y="1548384"/>
            <a:ext cx="3901440" cy="219456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4572" bIns="4572"/>
          <a:lstStyle/>
          <a:p>
            <a:pPr algn="l"/>
            <a:r>
              <a:rPr sz="1000" b="0">
                <a:solidFill>
                  <a:srgbClr val="111111"/>
                </a:solidFill>
                <a:latin typeface="Aptos"/>
              </a:rPr>
              <a:t>The work we do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3901440" y="1816608"/>
            <a:ext cx="4389120" cy="0"/>
          </a:xfrm>
          <a:prstGeom prst="line">
            <a:avLst/>
          </a:prstGeom>
          <a:ln>
            <a:solidFill>
              <a:srgbClr val="EEEEE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ctangle 8"/>
          <p:cNvSpPr/>
          <p:nvPr/>
        </p:nvSpPr>
        <p:spPr>
          <a:xfrm>
            <a:off x="3962400" y="2060448"/>
            <a:ext cx="219456" cy="219456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4572" bIns="4572"/>
          <a:lstStyle/>
          <a:p>
            <a:pPr algn="ctr"/>
            <a:r>
              <a:rPr sz="1000" b="1">
                <a:solidFill>
                  <a:srgbClr val="6B21D4"/>
                </a:solidFill>
                <a:latin typeface="Aptos"/>
              </a:rPr>
              <a:t>3</a:t>
            </a:r>
          </a:p>
        </p:txBody>
      </p:sp>
      <p:sp>
        <p:nvSpPr>
          <p:cNvPr id="10" name="Rectangle 9"/>
          <p:cNvSpPr/>
          <p:nvPr/>
        </p:nvSpPr>
        <p:spPr>
          <a:xfrm>
            <a:off x="4364736" y="2060448"/>
            <a:ext cx="3901440" cy="219456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4572" bIns="4572"/>
          <a:lstStyle/>
          <a:p>
            <a:pPr algn="l"/>
            <a:r>
              <a:rPr sz="1000" b="0">
                <a:solidFill>
                  <a:srgbClr val="111111"/>
                </a:solidFill>
                <a:latin typeface="Aptos"/>
              </a:rPr>
              <a:t>The things you need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3901440" y="2328672"/>
            <a:ext cx="4389120" cy="0"/>
          </a:xfrm>
          <a:prstGeom prst="line">
            <a:avLst/>
          </a:prstGeom>
          <a:ln>
            <a:solidFill>
              <a:srgbClr val="EEEEE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Rectangle 11"/>
          <p:cNvSpPr/>
          <p:nvPr/>
        </p:nvSpPr>
        <p:spPr>
          <a:xfrm>
            <a:off x="3962400" y="2572512"/>
            <a:ext cx="219456" cy="219456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4572" bIns="4572"/>
          <a:lstStyle/>
          <a:p>
            <a:pPr algn="ctr"/>
            <a:r>
              <a:rPr sz="1000" b="1">
                <a:solidFill>
                  <a:srgbClr val="6B21D4"/>
                </a:solidFill>
                <a:latin typeface="Aptos"/>
              </a:rPr>
              <a:t>4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364736" y="2572512"/>
            <a:ext cx="3901440" cy="219456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4572" bIns="4572"/>
          <a:lstStyle/>
          <a:p>
            <a:pPr algn="l"/>
            <a:r>
              <a:rPr sz="1000" b="0">
                <a:solidFill>
                  <a:srgbClr val="111111"/>
                </a:solidFill>
                <a:latin typeface="Aptos"/>
              </a:rPr>
              <a:t>The things you need to do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3901440" y="2840736"/>
            <a:ext cx="4389120" cy="0"/>
          </a:xfrm>
          <a:prstGeom prst="line">
            <a:avLst/>
          </a:prstGeom>
          <a:ln>
            <a:solidFill>
              <a:srgbClr val="EEEEE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Rectangle 14"/>
          <p:cNvSpPr/>
          <p:nvPr/>
        </p:nvSpPr>
        <p:spPr>
          <a:xfrm>
            <a:off x="3962400" y="3084576"/>
            <a:ext cx="219456" cy="219456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4572" bIns="4572"/>
          <a:lstStyle/>
          <a:p>
            <a:pPr algn="ctr"/>
            <a:r>
              <a:rPr sz="1000" b="1">
                <a:solidFill>
                  <a:srgbClr val="6B21D4"/>
                </a:solidFill>
                <a:latin typeface="Aptos"/>
              </a:rPr>
              <a:t>5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364736" y="3084576"/>
            <a:ext cx="3901440" cy="219456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4572" bIns="4572"/>
          <a:lstStyle/>
          <a:p>
            <a:pPr algn="l"/>
            <a:r>
              <a:rPr sz="1000" b="0">
                <a:solidFill>
                  <a:srgbClr val="111111"/>
                </a:solidFill>
                <a:latin typeface="Aptos"/>
              </a:rPr>
              <a:t>KT Plan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3901440" y="3352800"/>
            <a:ext cx="4389120" cy="0"/>
          </a:xfrm>
          <a:prstGeom prst="line">
            <a:avLst/>
          </a:prstGeom>
          <a:ln>
            <a:solidFill>
              <a:srgbClr val="EEEEE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Rectangle 17"/>
          <p:cNvSpPr/>
          <p:nvPr/>
        </p:nvSpPr>
        <p:spPr>
          <a:xfrm>
            <a:off x="3962400" y="3596638"/>
            <a:ext cx="219456" cy="219456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4572" bIns="4572"/>
          <a:lstStyle/>
          <a:p>
            <a:pPr algn="ctr"/>
            <a:r>
              <a:rPr sz="1000" b="1">
                <a:solidFill>
                  <a:srgbClr val="6B21D4"/>
                </a:solidFill>
                <a:latin typeface="Aptos"/>
              </a:rPr>
              <a:t>6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364736" y="3596638"/>
            <a:ext cx="3901440" cy="219456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4572" bIns="4572"/>
          <a:lstStyle/>
          <a:p>
            <a:pPr algn="l"/>
            <a:r>
              <a:rPr sz="1000" b="0">
                <a:solidFill>
                  <a:srgbClr val="111111"/>
                </a:solidFill>
                <a:latin typeface="Aptos"/>
              </a:rPr>
              <a:t>Points of Contact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3901440" y="3864864"/>
            <a:ext cx="4389120" cy="0"/>
          </a:xfrm>
          <a:prstGeom prst="line">
            <a:avLst/>
          </a:prstGeom>
          <a:ln>
            <a:solidFill>
              <a:srgbClr val="EEEEE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Rectangle 20"/>
          <p:cNvSpPr/>
          <p:nvPr/>
        </p:nvSpPr>
        <p:spPr>
          <a:xfrm>
            <a:off x="463296" y="6388608"/>
            <a:ext cx="426720" cy="219456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4572" bIns="4572"/>
          <a:lstStyle/>
          <a:p>
            <a:pPr algn="l"/>
            <a:r>
              <a:rPr sz="900" b="0">
                <a:solidFill>
                  <a:srgbClr val="777777"/>
                </a:solidFill>
                <a:latin typeface="Aptos"/>
              </a:rPr>
              <a:t>2</a:t>
            </a:r>
          </a:p>
        </p:txBody>
      </p:sp>
      <p:pic>
        <p:nvPicPr>
          <p:cNvPr id="22" name="Picture 21" descr="trane_real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424160" y="6156960"/>
            <a:ext cx="1463040" cy="633984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66928" y="237744"/>
            <a:ext cx="5394960" cy="438912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9144" bIns="9144"/>
          <a:lstStyle/>
          <a:p>
            <a:pPr algn="l"/>
            <a:r>
              <a:rPr sz="2200" b="1">
                <a:solidFill>
                  <a:srgbClr val="6B21D4"/>
                </a:solidFill>
                <a:latin typeface="Aptos"/>
              </a:rPr>
              <a:t>About the team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749808"/>
            <a:ext cx="6309360" cy="420624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9144" bIns="9144"/>
          <a:lstStyle/>
          <a:p>
            <a:pPr algn="l"/>
            <a:r>
              <a:rPr sz="1200" b="0">
                <a:solidFill>
                  <a:srgbClr val="111111"/>
                </a:solidFill>
                <a:latin typeface="Aptos"/>
              </a:rPr>
              <a:t>Our team spans USA and India across multiple delivery tracks under the CHVAC IT</a:t>
            </a:r>
          </a:p>
          <a:p>
            <a:pPr algn="l"/>
            <a:r>
              <a:rPr sz="1200" b="0">
                <a:solidFill>
                  <a:srgbClr val="111111"/>
                </a:solidFill>
                <a:latin typeface="Aptos"/>
              </a:rPr>
              <a:t>OTC QA practice.</a:t>
            </a:r>
          </a:p>
        </p:txBody>
      </p:sp>
      <p:sp>
        <p:nvSpPr>
          <p:cNvPr id="4" name="Rectangle 3"/>
          <p:cNvSpPr/>
          <p:nvPr/>
        </p:nvSpPr>
        <p:spPr>
          <a:xfrm>
            <a:off x="438912" y="1234440"/>
            <a:ext cx="6812280" cy="749808"/>
          </a:xfrm>
          <a:prstGeom prst="rect">
            <a:avLst/>
          </a:prstGeom>
          <a:solidFill>
            <a:srgbClr val="EDE7F6"/>
          </a:solidFill>
          <a:ln w="12700">
            <a:solidFill>
              <a:srgbClr val="6B21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9144" bIns="9144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38912" y="1234440"/>
            <a:ext cx="91440" cy="749808"/>
          </a:xfrm>
          <a:prstGeom prst="rect">
            <a:avLst/>
          </a:prstGeom>
          <a:solidFill>
            <a:srgbClr val="6B21D4"/>
          </a:solidFill>
          <a:ln w="12700">
            <a:solidFill>
              <a:srgbClr val="6B21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9144" bIns="9144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49808" y="1353312"/>
            <a:ext cx="3291840" cy="256032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9144" bIns="9144"/>
          <a:lstStyle/>
          <a:p>
            <a:pPr algn="l"/>
            <a:r>
              <a:rPr sz="1400" b="1">
                <a:solidFill>
                  <a:srgbClr val="111111"/>
                </a:solidFill>
                <a:latin typeface="Aptos"/>
              </a:rPr>
              <a:t>Ramesh Hegde</a:t>
            </a:r>
          </a:p>
        </p:txBody>
      </p:sp>
      <p:sp>
        <p:nvSpPr>
          <p:cNvPr id="7" name="Rectangle 6"/>
          <p:cNvSpPr/>
          <p:nvPr/>
        </p:nvSpPr>
        <p:spPr>
          <a:xfrm>
            <a:off x="749808" y="1700784"/>
            <a:ext cx="6126480" cy="20116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9144" bIns="9144"/>
          <a:lstStyle/>
          <a:p>
            <a:pPr algn="l"/>
            <a:r>
              <a:rPr sz="1000" b="0">
                <a:solidFill>
                  <a:srgbClr val="6B21D4"/>
                </a:solidFill>
                <a:latin typeface="Aptos"/>
              </a:rPr>
              <a:t>Sr. Manager – QA Leader  ·  WorkSight QA Lead  ·  Trane-ITC  ·  Offshore</a:t>
            </a:r>
          </a:p>
        </p:txBody>
      </p:sp>
      <p:sp>
        <p:nvSpPr>
          <p:cNvPr id="8" name="Rectangle 7"/>
          <p:cNvSpPr/>
          <p:nvPr/>
        </p:nvSpPr>
        <p:spPr>
          <a:xfrm>
            <a:off x="7754112" y="768096"/>
            <a:ext cx="3931920" cy="256032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9144" bIns="9144"/>
          <a:lstStyle/>
          <a:p>
            <a:pPr algn="l"/>
            <a:r>
              <a:rPr sz="1200" b="1">
                <a:solidFill>
                  <a:srgbClr val="4A148C"/>
                </a:solidFill>
                <a:latin typeface="Aptos"/>
              </a:rPr>
              <a:t>Team at a Glance</a:t>
            </a:r>
          </a:p>
        </p:txBody>
      </p:sp>
      <p:sp>
        <p:nvSpPr>
          <p:cNvPr id="9" name="Rectangle 8"/>
          <p:cNvSpPr/>
          <p:nvPr/>
        </p:nvSpPr>
        <p:spPr>
          <a:xfrm>
            <a:off x="7726679" y="1124712"/>
            <a:ext cx="4114800" cy="365760"/>
          </a:xfrm>
          <a:prstGeom prst="rect">
            <a:avLst/>
          </a:prstGeom>
          <a:solidFill>
            <a:srgbClr val="FFFFFF"/>
          </a:solidFill>
          <a:ln w="12700">
            <a:solidFill>
              <a:srgbClr val="EEEE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9144" bIns="9144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882127" y="1161288"/>
            <a:ext cx="2057400" cy="237744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9144" bIns="9144"/>
          <a:lstStyle/>
          <a:p>
            <a:pPr algn="l"/>
            <a:r>
              <a:rPr sz="1000" b="1">
                <a:solidFill>
                  <a:srgbClr val="111111"/>
                </a:solidFill>
                <a:latin typeface="Aptos"/>
              </a:rPr>
              <a:t>Quality Analysts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0863072" y="1161288"/>
            <a:ext cx="502920" cy="237744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9144" bIns="9144"/>
          <a:lstStyle/>
          <a:p>
            <a:pPr algn="ctr"/>
            <a:r>
              <a:rPr sz="1000" b="1">
                <a:solidFill>
                  <a:srgbClr val="6B21D4"/>
                </a:solidFill>
                <a:latin typeface="Aptos"/>
              </a:rPr>
              <a:t>25+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726679" y="1490472"/>
            <a:ext cx="4114800" cy="365760"/>
          </a:xfrm>
          <a:prstGeom prst="rect">
            <a:avLst/>
          </a:prstGeom>
          <a:solidFill>
            <a:srgbClr val="F3F0FA"/>
          </a:solidFill>
          <a:ln w="12700">
            <a:solidFill>
              <a:srgbClr val="EEEE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9144" bIns="9144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7882127" y="1527048"/>
            <a:ext cx="2057400" cy="237744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9144" bIns="9144"/>
          <a:lstStyle/>
          <a:p>
            <a:pPr algn="l"/>
            <a:r>
              <a:rPr sz="1000" b="1">
                <a:solidFill>
                  <a:srgbClr val="111111"/>
                </a:solidFill>
                <a:latin typeface="Aptos"/>
              </a:rPr>
              <a:t>Developers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0863072" y="1527048"/>
            <a:ext cx="502920" cy="237744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9144" bIns="9144"/>
          <a:lstStyle/>
          <a:p>
            <a:pPr algn="ctr"/>
            <a:r>
              <a:rPr sz="1000" b="1">
                <a:solidFill>
                  <a:srgbClr val="6B21D4"/>
                </a:solidFill>
                <a:latin typeface="Aptos"/>
              </a:rPr>
              <a:t>30+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726679" y="1856231"/>
            <a:ext cx="4114800" cy="365760"/>
          </a:xfrm>
          <a:prstGeom prst="rect">
            <a:avLst/>
          </a:prstGeom>
          <a:solidFill>
            <a:srgbClr val="FFFFFF"/>
          </a:solidFill>
          <a:ln w="12700">
            <a:solidFill>
              <a:srgbClr val="EEEE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9144" bIns="9144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7882127" y="1892807"/>
            <a:ext cx="2057400" cy="237744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9144" bIns="9144"/>
          <a:lstStyle/>
          <a:p>
            <a:pPr algn="l"/>
            <a:r>
              <a:rPr sz="1000" b="1">
                <a:solidFill>
                  <a:srgbClr val="111111"/>
                </a:solidFill>
                <a:latin typeface="Aptos"/>
              </a:rPr>
              <a:t>Product Owners</a:t>
            </a:r>
          </a:p>
        </p:txBody>
      </p:sp>
      <p:sp>
        <p:nvSpPr>
          <p:cNvPr id="17" name="Rectangle 16"/>
          <p:cNvSpPr/>
          <p:nvPr/>
        </p:nvSpPr>
        <p:spPr>
          <a:xfrm>
            <a:off x="10863072" y="1892807"/>
            <a:ext cx="502920" cy="237744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9144" bIns="9144"/>
          <a:lstStyle/>
          <a:p>
            <a:pPr algn="ctr"/>
            <a:r>
              <a:rPr sz="1000" b="1">
                <a:solidFill>
                  <a:srgbClr val="6B21D4"/>
                </a:solidFill>
                <a:latin typeface="Aptos"/>
              </a:rPr>
              <a:t>10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726679" y="2221991"/>
            <a:ext cx="4114800" cy="365760"/>
          </a:xfrm>
          <a:prstGeom prst="rect">
            <a:avLst/>
          </a:prstGeom>
          <a:solidFill>
            <a:srgbClr val="F3F0FA"/>
          </a:solidFill>
          <a:ln w="12700">
            <a:solidFill>
              <a:srgbClr val="EEEE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9144" bIns="9144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7882127" y="2258568"/>
            <a:ext cx="2057400" cy="237744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9144" bIns="9144"/>
          <a:lstStyle/>
          <a:p>
            <a:pPr algn="l"/>
            <a:r>
              <a:rPr sz="1000" b="1">
                <a:solidFill>
                  <a:srgbClr val="111111"/>
                </a:solidFill>
                <a:latin typeface="Aptos"/>
              </a:rPr>
              <a:t>Scrum Masters</a:t>
            </a:r>
          </a:p>
        </p:txBody>
      </p:sp>
      <p:sp>
        <p:nvSpPr>
          <p:cNvPr id="20" name="Rectangle 19"/>
          <p:cNvSpPr/>
          <p:nvPr/>
        </p:nvSpPr>
        <p:spPr>
          <a:xfrm>
            <a:off x="10863072" y="2258568"/>
            <a:ext cx="502920" cy="237744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9144" bIns="9144"/>
          <a:lstStyle/>
          <a:p>
            <a:pPr algn="ctr"/>
            <a:r>
              <a:rPr sz="1000" b="1">
                <a:solidFill>
                  <a:srgbClr val="6B21D4"/>
                </a:solidFill>
                <a:latin typeface="Aptos"/>
              </a:rPr>
              <a:t>5</a:t>
            </a:r>
          </a:p>
        </p:txBody>
      </p:sp>
      <p:sp>
        <p:nvSpPr>
          <p:cNvPr id="21" name="Rectangle 20"/>
          <p:cNvSpPr/>
          <p:nvPr/>
        </p:nvSpPr>
        <p:spPr>
          <a:xfrm>
            <a:off x="7726679" y="2587751"/>
            <a:ext cx="4114800" cy="365760"/>
          </a:xfrm>
          <a:prstGeom prst="rect">
            <a:avLst/>
          </a:prstGeom>
          <a:solidFill>
            <a:srgbClr val="FFFFFF"/>
          </a:solidFill>
          <a:ln w="12700">
            <a:solidFill>
              <a:srgbClr val="EEEE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9144" bIns="9144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7882127" y="2624327"/>
            <a:ext cx="2057400" cy="237744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9144" bIns="9144"/>
          <a:lstStyle/>
          <a:p>
            <a:pPr algn="l"/>
            <a:r>
              <a:rPr sz="1000" b="1">
                <a:solidFill>
                  <a:srgbClr val="111111"/>
                </a:solidFill>
                <a:latin typeface="Aptos"/>
              </a:rPr>
              <a:t>Func. Analysts</a:t>
            </a:r>
          </a:p>
        </p:txBody>
      </p:sp>
      <p:sp>
        <p:nvSpPr>
          <p:cNvPr id="23" name="Rectangle 22"/>
          <p:cNvSpPr/>
          <p:nvPr/>
        </p:nvSpPr>
        <p:spPr>
          <a:xfrm>
            <a:off x="10863072" y="2624327"/>
            <a:ext cx="502920" cy="237744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9144" bIns="9144"/>
          <a:lstStyle/>
          <a:p>
            <a:pPr algn="ctr"/>
            <a:r>
              <a:rPr sz="1000" b="1">
                <a:solidFill>
                  <a:srgbClr val="6B21D4"/>
                </a:solidFill>
                <a:latin typeface="Aptos"/>
              </a:rPr>
              <a:t>10+</a:t>
            </a:r>
          </a:p>
        </p:txBody>
      </p:sp>
      <p:sp>
        <p:nvSpPr>
          <p:cNvPr id="24" name="Rectangle 23"/>
          <p:cNvSpPr/>
          <p:nvPr/>
        </p:nvSpPr>
        <p:spPr>
          <a:xfrm>
            <a:off x="7726679" y="2953511"/>
            <a:ext cx="4114800" cy="365760"/>
          </a:xfrm>
          <a:prstGeom prst="rect">
            <a:avLst/>
          </a:prstGeom>
          <a:solidFill>
            <a:srgbClr val="F3F0FA"/>
          </a:solidFill>
          <a:ln w="12700">
            <a:solidFill>
              <a:srgbClr val="EEEE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9144" bIns="9144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7882127" y="2990087"/>
            <a:ext cx="2057400" cy="237744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9144" bIns="9144"/>
          <a:lstStyle/>
          <a:p>
            <a:pPr algn="l"/>
            <a:r>
              <a:rPr sz="1000" b="1">
                <a:solidFill>
                  <a:srgbClr val="111111"/>
                </a:solidFill>
                <a:latin typeface="Aptos"/>
              </a:rPr>
              <a:t>BAs / PAs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10863072" y="2990087"/>
            <a:ext cx="502920" cy="237744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9144" bIns="9144"/>
          <a:lstStyle/>
          <a:p>
            <a:pPr algn="ctr"/>
            <a:r>
              <a:rPr sz="1000" b="1">
                <a:solidFill>
                  <a:srgbClr val="6B21D4"/>
                </a:solidFill>
                <a:latin typeface="Aptos"/>
              </a:rPr>
              <a:t>8</a:t>
            </a:r>
          </a:p>
        </p:txBody>
      </p:sp>
      <p:sp>
        <p:nvSpPr>
          <p:cNvPr id="27" name="Rectangle 26"/>
          <p:cNvSpPr/>
          <p:nvPr/>
        </p:nvSpPr>
        <p:spPr>
          <a:xfrm>
            <a:off x="566928" y="2286000"/>
            <a:ext cx="2971800" cy="27432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9144" bIns="9144"/>
          <a:lstStyle/>
          <a:p>
            <a:pPr algn="l"/>
            <a:r>
              <a:rPr sz="1200" b="1">
                <a:solidFill>
                  <a:srgbClr val="111111"/>
                </a:solidFill>
                <a:latin typeface="Aptos"/>
              </a:rPr>
              <a:t>Delivery Tracks Worksight</a:t>
            </a:r>
          </a:p>
        </p:txBody>
      </p:sp>
      <p:sp>
        <p:nvSpPr>
          <p:cNvPr id="28" name="Rectangle 27"/>
          <p:cNvSpPr/>
          <p:nvPr/>
        </p:nvSpPr>
        <p:spPr>
          <a:xfrm>
            <a:off x="566928" y="2578608"/>
            <a:ext cx="5806440" cy="166420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7432" rIns="27432" tIns="9144" bIns="9144"/>
          <a:lstStyle/>
          <a:p>
            <a:pPr algn="l"/>
            <a:r>
              <a:rPr sz="1100" b="1">
                <a:solidFill>
                  <a:srgbClr val="111111"/>
                </a:solidFill>
                <a:latin typeface="Aptos"/>
              </a:rPr>
              <a:t>-   Jobs</a:t>
            </a:r>
          </a:p>
          <a:p>
            <a:pPr algn="l"/>
            <a:r>
              <a:rPr sz="1100" b="1">
                <a:solidFill>
                  <a:srgbClr val="111111"/>
                </a:solidFill>
                <a:latin typeface="Aptos"/>
              </a:rPr>
              <a:t>-   DMC</a:t>
            </a:r>
          </a:p>
          <a:p>
            <a:pPr algn="l"/>
            <a:r>
              <a:rPr sz="1100" b="1">
                <a:solidFill>
                  <a:srgbClr val="111111"/>
                </a:solidFill>
                <a:latin typeface="Aptos"/>
              </a:rPr>
              <a:t>-   TSA</a:t>
            </a:r>
          </a:p>
          <a:p>
            <a:pPr algn="l"/>
            <a:r>
              <a:rPr sz="1100" b="1">
                <a:solidFill>
                  <a:srgbClr val="111111"/>
                </a:solidFill>
                <a:latin typeface="Aptos"/>
              </a:rPr>
              <a:t>-   COJO</a:t>
            </a:r>
          </a:p>
          <a:p>
            <a:pPr algn="l"/>
            <a:r>
              <a:rPr sz="1100" b="1">
                <a:solidFill>
                  <a:srgbClr val="111111"/>
                </a:solidFill>
                <a:latin typeface="Aptos"/>
              </a:rPr>
              <a:t>-   Workpackage</a:t>
            </a:r>
          </a:p>
          <a:p>
            <a:pPr algn="l"/>
            <a:r>
              <a:rPr sz="1100" b="1">
                <a:solidFill>
                  <a:srgbClr val="111111"/>
                </a:solidFill>
                <a:latin typeface="Aptos"/>
              </a:rPr>
              <a:t>-   Documents</a:t>
            </a:r>
          </a:p>
          <a:p>
            <a:pPr algn="l"/>
            <a:r>
              <a:rPr sz="1100" b="1">
                <a:solidFill>
                  <a:srgbClr val="111111"/>
                </a:solidFill>
                <a:latin typeface="Aptos"/>
              </a:rPr>
              <a:t>-   Equipment(Team A and B)</a:t>
            </a:r>
          </a:p>
          <a:p>
            <a:pPr algn="l"/>
            <a:r>
              <a:rPr sz="1100" b="1">
                <a:solidFill>
                  <a:srgbClr val="111111"/>
                </a:solidFill>
                <a:latin typeface="Aptos"/>
              </a:rPr>
              <a:t>-   Service and Contracting(Team 1 and 2)</a:t>
            </a:r>
          </a:p>
          <a:p>
            <a:pPr algn="l"/>
            <a:r>
              <a:rPr sz="1100" b="1">
                <a:solidFill>
                  <a:srgbClr val="111111"/>
                </a:solidFill>
                <a:latin typeface="Aptos"/>
              </a:rPr>
              <a:t>-   MDP</a:t>
            </a:r>
          </a:p>
        </p:txBody>
      </p:sp>
      <p:sp>
        <p:nvSpPr>
          <p:cNvPr id="29" name="Rectangle 28"/>
          <p:cNvSpPr/>
          <p:nvPr/>
        </p:nvSpPr>
        <p:spPr>
          <a:xfrm>
            <a:off x="566928" y="4754880"/>
            <a:ext cx="3840480" cy="310896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9144" bIns="9144"/>
          <a:lstStyle/>
          <a:p>
            <a:pPr algn="l"/>
            <a:r>
              <a:rPr sz="1200" b="1">
                <a:solidFill>
                  <a:srgbClr val="111111"/>
                </a:solidFill>
                <a:latin typeface="Aptos"/>
              </a:rPr>
              <a:t>TDA(Trane Design Assist)</a:t>
            </a:r>
          </a:p>
        </p:txBody>
      </p:sp>
      <p:sp>
        <p:nvSpPr>
          <p:cNvPr id="30" name="Rectangle 29"/>
          <p:cNvSpPr/>
          <p:nvPr/>
        </p:nvSpPr>
        <p:spPr>
          <a:xfrm>
            <a:off x="566928" y="6537960"/>
            <a:ext cx="320040" cy="164592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9144" bIns="9144"/>
          <a:lstStyle/>
          <a:p>
            <a:pPr algn="l"/>
            <a:r>
              <a:rPr sz="900" b="0">
                <a:solidFill>
                  <a:srgbClr val="777777"/>
                </a:solidFill>
                <a:latin typeface="Aptos"/>
              </a:rPr>
              <a:t>3</a:t>
            </a:r>
          </a:p>
        </p:txBody>
      </p:sp>
      <p:pic>
        <p:nvPicPr>
          <p:cNvPr id="31" name="Picture 30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469880" y="6172200"/>
            <a:ext cx="1417320" cy="612648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59" name="Rectangle 58"/>
          <p:cNvSpPr/>
          <p:nvPr/>
        </p:nvSpPr>
        <p:spPr>
          <a:xfrm>
            <a:off x="463296" y="6388608"/>
            <a:ext cx="426720" cy="219456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4572" bIns="4572"/>
          <a:lstStyle/>
          <a:p>
            <a:pPr algn="l"/>
            <a:r>
              <a:rPr sz="900" b="0">
                <a:solidFill>
                  <a:srgbClr val="777777"/>
                </a:solidFill>
                <a:latin typeface="Aptos"/>
              </a:rPr>
              <a:t>4</a:t>
            </a:r>
          </a:p>
        </p:txBody>
      </p:sp>
      <p:pic>
        <p:nvPicPr>
          <p:cNvPr id="60" name="Picture 59" descr="trane_real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424160" y="6156960"/>
            <a:ext cx="1463040" cy="633984"/>
          </a:xfrm>
          <a:prstGeom prst="rect">
            <a:avLst/>
          </a:prstGeom>
        </p:spPr>
      </p:pic>
      <p:sp>
        <p:nvSpPr>
          <p:cNvPr id="61" name="Rectangle 60"/>
          <p:cNvSpPr/>
          <p:nvPr/>
        </p:nvSpPr>
        <p:spPr>
          <a:xfrm>
            <a:off x="457200" y="164592"/>
            <a:ext cx="11247120" cy="402336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9144" bIns="9144"/>
          <a:lstStyle/>
          <a:p>
            <a:pPr algn="l"/>
            <a:r>
              <a:rPr sz="2400" b="1">
                <a:solidFill>
                  <a:srgbClr val="6B21D4"/>
                </a:solidFill>
                <a:latin typeface="Aptos"/>
              </a:rPr>
              <a:t>WorkSight QA – Reporting Structure</a:t>
            </a:r>
          </a:p>
        </p:txBody>
      </p:sp>
      <p:sp>
        <p:nvSpPr>
          <p:cNvPr id="62" name="Rectangle 61"/>
          <p:cNvSpPr/>
          <p:nvPr/>
        </p:nvSpPr>
        <p:spPr>
          <a:xfrm>
            <a:off x="475488" y="621792"/>
            <a:ext cx="10515600" cy="219456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9144" bIns="9144"/>
          <a:lstStyle/>
          <a:p>
            <a:pPr algn="l"/>
            <a:r>
              <a:rPr sz="1000" b="0">
                <a:solidFill>
                  <a:srgbClr val="777777"/>
                </a:solidFill>
                <a:latin typeface="Aptos"/>
              </a:rPr>
              <a:t>Ramesh Hegde leads two separate branches: WorkSight teams and TDA team.</a:t>
            </a:r>
          </a:p>
        </p:txBody>
      </p:sp>
      <p:sp>
        <p:nvSpPr>
          <p:cNvPr id="63" name="Rectangle 62"/>
          <p:cNvSpPr/>
          <p:nvPr/>
        </p:nvSpPr>
        <p:spPr>
          <a:xfrm>
            <a:off x="4251960" y="960120"/>
            <a:ext cx="3657600" cy="384048"/>
          </a:xfrm>
          <a:prstGeom prst="rect">
            <a:avLst/>
          </a:prstGeom>
          <a:solidFill>
            <a:srgbClr val="4A148C"/>
          </a:solidFill>
          <a:ln w="10160">
            <a:solidFill>
              <a:srgbClr val="4A148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9144" bIns="9144"/>
          <a:lstStyle/>
          <a:p>
            <a:pPr algn="ctr"/>
            <a:r>
              <a:rPr sz="1000" b="1">
                <a:solidFill>
                  <a:srgbClr val="FFFFFF"/>
                </a:solidFill>
                <a:latin typeface="Aptos"/>
              </a:rPr>
              <a:t>Ramesh Hegde · WorkSight QA Manager</a:t>
            </a:r>
          </a:p>
        </p:txBody>
      </p:sp>
      <p:sp>
        <p:nvSpPr>
          <p:cNvPr id="64" name="Rectangle 63"/>
          <p:cNvSpPr/>
          <p:nvPr/>
        </p:nvSpPr>
        <p:spPr>
          <a:xfrm>
            <a:off x="960120" y="1737360"/>
            <a:ext cx="7269480" cy="384048"/>
          </a:xfrm>
          <a:prstGeom prst="rect">
            <a:avLst/>
          </a:prstGeom>
          <a:solidFill>
            <a:srgbClr val="F3F0FA"/>
          </a:solidFill>
          <a:ln w="10160">
            <a:solidFill>
              <a:srgbClr val="C4B5F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9144" bIns="9144"/>
          <a:lstStyle/>
          <a:p>
            <a:pPr algn="ctr"/>
            <a:r>
              <a:rPr sz="1000" b="1">
                <a:solidFill>
                  <a:srgbClr val="4A148C"/>
                </a:solidFill>
                <a:latin typeface="Aptos"/>
              </a:rPr>
              <a:t>WorkSight</a:t>
            </a:r>
          </a:p>
        </p:txBody>
      </p:sp>
      <p:sp>
        <p:nvSpPr>
          <p:cNvPr id="65" name="Rectangle 64"/>
          <p:cNvSpPr/>
          <p:nvPr/>
        </p:nvSpPr>
        <p:spPr>
          <a:xfrm>
            <a:off x="8915400" y="1737360"/>
            <a:ext cx="2514600" cy="384048"/>
          </a:xfrm>
          <a:prstGeom prst="rect">
            <a:avLst/>
          </a:prstGeom>
          <a:solidFill>
            <a:srgbClr val="F3F0FA"/>
          </a:solidFill>
          <a:ln w="10160">
            <a:solidFill>
              <a:srgbClr val="C4B5F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9144" bIns="9144"/>
          <a:lstStyle/>
          <a:p>
            <a:pPr algn="ctr"/>
            <a:r>
              <a:rPr sz="1000" b="1">
                <a:solidFill>
                  <a:srgbClr val="4A148C"/>
                </a:solidFill>
                <a:latin typeface="Aptos"/>
              </a:rPr>
              <a:t>TDA</a:t>
            </a:r>
          </a:p>
        </p:txBody>
      </p:sp>
      <p:cxnSp>
        <p:nvCxnSpPr>
          <p:cNvPr id="66" name="Connector 65"/>
          <p:cNvCxnSpPr/>
          <p:nvPr/>
        </p:nvCxnSpPr>
        <p:spPr>
          <a:xfrm>
            <a:off x="6080760" y="1344168"/>
            <a:ext cx="0" cy="192024"/>
          </a:xfrm>
          <a:prstGeom prst="line">
            <a:avLst/>
          </a:prstGeom>
          <a:ln w="13970">
            <a:solidFill>
              <a:srgbClr val="BBBBB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7" name="Connector 66"/>
          <p:cNvCxnSpPr/>
          <p:nvPr/>
        </p:nvCxnSpPr>
        <p:spPr>
          <a:xfrm>
            <a:off x="2697480" y="1536192"/>
            <a:ext cx="7470648" cy="0"/>
          </a:xfrm>
          <a:prstGeom prst="line">
            <a:avLst/>
          </a:prstGeom>
          <a:ln w="13970">
            <a:solidFill>
              <a:srgbClr val="BBBBB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8" name="Connector 67"/>
          <p:cNvCxnSpPr/>
          <p:nvPr/>
        </p:nvCxnSpPr>
        <p:spPr>
          <a:xfrm>
            <a:off x="2697480" y="1536192"/>
            <a:ext cx="0" cy="201168"/>
          </a:xfrm>
          <a:prstGeom prst="line">
            <a:avLst/>
          </a:prstGeom>
          <a:ln w="13970">
            <a:solidFill>
              <a:srgbClr val="BBBBB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9" name="Connector 68"/>
          <p:cNvCxnSpPr/>
          <p:nvPr/>
        </p:nvCxnSpPr>
        <p:spPr>
          <a:xfrm>
            <a:off x="10168128" y="1536192"/>
            <a:ext cx="0" cy="201168"/>
          </a:xfrm>
          <a:prstGeom prst="line">
            <a:avLst/>
          </a:prstGeom>
          <a:ln w="13970">
            <a:solidFill>
              <a:srgbClr val="BBBBB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0" name="Rectangle 69"/>
          <p:cNvSpPr/>
          <p:nvPr/>
        </p:nvSpPr>
        <p:spPr>
          <a:xfrm>
            <a:off x="457200" y="2487168"/>
            <a:ext cx="1664208" cy="1078992"/>
          </a:xfrm>
          <a:prstGeom prst="rect">
            <a:avLst/>
          </a:prstGeom>
          <a:solidFill>
            <a:srgbClr val="F3F0FA"/>
          </a:solidFill>
          <a:ln w="10160">
            <a:solidFill>
              <a:srgbClr val="C4B5F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Rectangle 70"/>
          <p:cNvSpPr/>
          <p:nvPr/>
        </p:nvSpPr>
        <p:spPr>
          <a:xfrm>
            <a:off x="457200" y="2487168"/>
            <a:ext cx="54864" cy="1078992"/>
          </a:xfrm>
          <a:prstGeom prst="rect">
            <a:avLst/>
          </a:prstGeom>
          <a:solidFill>
            <a:srgbClr val="6B21D4"/>
          </a:solidFill>
          <a:ln>
            <a:solidFill>
              <a:srgbClr val="6B21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Rectangle 71"/>
          <p:cNvSpPr/>
          <p:nvPr/>
        </p:nvSpPr>
        <p:spPr>
          <a:xfrm>
            <a:off x="530352" y="2532888"/>
            <a:ext cx="1554480" cy="256032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9144" bIns="9144"/>
          <a:lstStyle/>
          <a:p>
            <a:pPr algn="ctr"/>
            <a:r>
              <a:rPr sz="1000" b="1">
                <a:solidFill>
                  <a:srgbClr val="111111"/>
                </a:solidFill>
                <a:latin typeface="Aptos"/>
              </a:rPr>
              <a:t>Trane Select Assist</a:t>
            </a:r>
          </a:p>
        </p:txBody>
      </p:sp>
      <p:sp>
        <p:nvSpPr>
          <p:cNvPr id="73" name="Rectangle 72"/>
          <p:cNvSpPr/>
          <p:nvPr/>
        </p:nvSpPr>
        <p:spPr>
          <a:xfrm>
            <a:off x="530352" y="2816352"/>
            <a:ext cx="1554480" cy="20116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9144" bIns="9144"/>
          <a:lstStyle/>
          <a:p>
            <a:pPr algn="ctr"/>
            <a:r>
              <a:rPr sz="1000" b="1">
                <a:solidFill>
                  <a:srgbClr val="4A148C"/>
                </a:solidFill>
                <a:latin typeface="Aptos"/>
              </a:rPr>
              <a:t>Varsha C</a:t>
            </a:r>
          </a:p>
        </p:txBody>
      </p:sp>
      <p:sp>
        <p:nvSpPr>
          <p:cNvPr id="74" name="Rectangle 73"/>
          <p:cNvSpPr/>
          <p:nvPr/>
        </p:nvSpPr>
        <p:spPr>
          <a:xfrm>
            <a:off x="530352" y="3054096"/>
            <a:ext cx="1554480" cy="475487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36576" rIns="36576" tIns="9144" bIns="9144"/>
          <a:lstStyle/>
          <a:p>
            <a:pPr algn="ctr"/>
            <a:r>
              <a:rPr sz="1000" b="0">
                <a:solidFill>
                  <a:srgbClr val="777777"/>
                </a:solidFill>
                <a:latin typeface="Aptos"/>
              </a:rPr>
              <a:t>QA Functional / Auto</a:t>
            </a:r>
          </a:p>
          <a:p>
            <a:pPr algn="ctr"/>
            <a:r>
              <a:rPr sz="1000" b="0">
                <a:solidFill>
                  <a:srgbClr val="777777"/>
                </a:solidFill>
                <a:latin typeface="Aptos"/>
              </a:rPr>
              <a:t>Dev (Trane)</a:t>
            </a:r>
          </a:p>
          <a:p>
            <a:pPr algn="ctr"/>
            <a:r>
              <a:rPr sz="1000" b="0">
                <a:solidFill>
                  <a:srgbClr val="777777"/>
                </a:solidFill>
                <a:latin typeface="Aptos"/>
              </a:rPr>
              <a:t>PO Drew R</a:t>
            </a:r>
          </a:p>
        </p:txBody>
      </p:sp>
      <p:sp>
        <p:nvSpPr>
          <p:cNvPr id="75" name="Rectangle 74"/>
          <p:cNvSpPr/>
          <p:nvPr/>
        </p:nvSpPr>
        <p:spPr>
          <a:xfrm>
            <a:off x="2359152" y="2487168"/>
            <a:ext cx="1664208" cy="1078992"/>
          </a:xfrm>
          <a:prstGeom prst="rect">
            <a:avLst/>
          </a:prstGeom>
          <a:solidFill>
            <a:srgbClr val="F3F0FA"/>
          </a:solidFill>
          <a:ln w="10160">
            <a:solidFill>
              <a:srgbClr val="C4B5F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Rectangle 75"/>
          <p:cNvSpPr/>
          <p:nvPr/>
        </p:nvSpPr>
        <p:spPr>
          <a:xfrm>
            <a:off x="2359152" y="2487168"/>
            <a:ext cx="54864" cy="1078992"/>
          </a:xfrm>
          <a:prstGeom prst="rect">
            <a:avLst/>
          </a:prstGeom>
          <a:solidFill>
            <a:srgbClr val="6B21D4"/>
          </a:solidFill>
          <a:ln>
            <a:solidFill>
              <a:srgbClr val="6B21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Rectangle 76"/>
          <p:cNvSpPr/>
          <p:nvPr/>
        </p:nvSpPr>
        <p:spPr>
          <a:xfrm>
            <a:off x="2432304" y="2532888"/>
            <a:ext cx="1554480" cy="256032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9144" bIns="9144"/>
          <a:lstStyle/>
          <a:p>
            <a:pPr algn="ctr"/>
            <a:r>
              <a:rPr sz="1000" b="1">
                <a:solidFill>
                  <a:srgbClr val="111111"/>
                </a:solidFill>
                <a:latin typeface="Aptos"/>
              </a:rPr>
              <a:t>Equipment (R12)</a:t>
            </a:r>
          </a:p>
        </p:txBody>
      </p:sp>
      <p:sp>
        <p:nvSpPr>
          <p:cNvPr id="78" name="Rectangle 77"/>
          <p:cNvSpPr/>
          <p:nvPr/>
        </p:nvSpPr>
        <p:spPr>
          <a:xfrm>
            <a:off x="2432304" y="2816352"/>
            <a:ext cx="1554480" cy="20116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9144" bIns="9144"/>
          <a:lstStyle/>
          <a:p>
            <a:pPr algn="ctr"/>
            <a:r>
              <a:rPr sz="1000" b="1">
                <a:solidFill>
                  <a:srgbClr val="4A148C"/>
                </a:solidFill>
                <a:latin typeface="Aptos"/>
              </a:rPr>
              <a:t>Brinda S</a:t>
            </a:r>
          </a:p>
        </p:txBody>
      </p:sp>
      <p:sp>
        <p:nvSpPr>
          <p:cNvPr id="79" name="Rectangle 78"/>
          <p:cNvSpPr/>
          <p:nvPr/>
        </p:nvSpPr>
        <p:spPr>
          <a:xfrm>
            <a:off x="2432304" y="3054096"/>
            <a:ext cx="1554480" cy="475487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36576" rIns="36576" tIns="9144" bIns="9144"/>
          <a:lstStyle/>
          <a:p>
            <a:pPr algn="ctr"/>
            <a:r>
              <a:rPr sz="1000" b="0">
                <a:solidFill>
                  <a:srgbClr val="777777"/>
                </a:solidFill>
                <a:latin typeface="Aptos"/>
              </a:rPr>
              <a:t>QA Func/R12 / Auto</a:t>
            </a:r>
          </a:p>
          <a:p>
            <a:pPr algn="ctr"/>
            <a:r>
              <a:rPr sz="1000" b="0">
                <a:solidFill>
                  <a:srgbClr val="777777"/>
                </a:solidFill>
                <a:latin typeface="Aptos"/>
              </a:rPr>
              <a:t>Dev Oracle</a:t>
            </a:r>
          </a:p>
          <a:p>
            <a:pPr algn="ctr"/>
            <a:r>
              <a:rPr sz="1000" b="0">
                <a:solidFill>
                  <a:srgbClr val="777777"/>
                </a:solidFill>
                <a:latin typeface="Aptos"/>
              </a:rPr>
              <a:t>PO Cami W</a:t>
            </a:r>
          </a:p>
        </p:txBody>
      </p:sp>
      <p:sp>
        <p:nvSpPr>
          <p:cNvPr id="80" name="Rectangle 79"/>
          <p:cNvSpPr/>
          <p:nvPr/>
        </p:nvSpPr>
        <p:spPr>
          <a:xfrm>
            <a:off x="4261104" y="2487168"/>
            <a:ext cx="1664208" cy="1078992"/>
          </a:xfrm>
          <a:prstGeom prst="rect">
            <a:avLst/>
          </a:prstGeom>
          <a:solidFill>
            <a:srgbClr val="F3F0FA"/>
          </a:solidFill>
          <a:ln w="10160">
            <a:solidFill>
              <a:srgbClr val="C4B5F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Rectangle 80"/>
          <p:cNvSpPr/>
          <p:nvPr/>
        </p:nvSpPr>
        <p:spPr>
          <a:xfrm>
            <a:off x="4261104" y="2487168"/>
            <a:ext cx="54864" cy="1078992"/>
          </a:xfrm>
          <a:prstGeom prst="rect">
            <a:avLst/>
          </a:prstGeom>
          <a:solidFill>
            <a:srgbClr val="6B21D4"/>
          </a:solidFill>
          <a:ln>
            <a:solidFill>
              <a:srgbClr val="6B21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Rectangle 81"/>
          <p:cNvSpPr/>
          <p:nvPr/>
        </p:nvSpPr>
        <p:spPr>
          <a:xfrm>
            <a:off x="4334256" y="2532888"/>
            <a:ext cx="1554480" cy="256032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9144" bIns="9144"/>
          <a:lstStyle/>
          <a:p>
            <a:pPr algn="ctr"/>
            <a:r>
              <a:rPr sz="1000" b="1">
                <a:solidFill>
                  <a:srgbClr val="111111"/>
                </a:solidFill>
                <a:latin typeface="Aptos"/>
              </a:rPr>
              <a:t>DMC / MDP</a:t>
            </a:r>
          </a:p>
        </p:txBody>
      </p:sp>
      <p:sp>
        <p:nvSpPr>
          <p:cNvPr id="83" name="Rectangle 82"/>
          <p:cNvSpPr/>
          <p:nvPr/>
        </p:nvSpPr>
        <p:spPr>
          <a:xfrm>
            <a:off x="4334256" y="2816352"/>
            <a:ext cx="1554480" cy="20116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9144" bIns="9144"/>
          <a:lstStyle/>
          <a:p>
            <a:pPr algn="ctr"/>
            <a:r>
              <a:rPr sz="1000" b="1">
                <a:solidFill>
                  <a:srgbClr val="4A148C"/>
                </a:solidFill>
                <a:latin typeface="Aptos"/>
              </a:rPr>
              <a:t>Mahesh L</a:t>
            </a:r>
          </a:p>
        </p:txBody>
      </p:sp>
      <p:sp>
        <p:nvSpPr>
          <p:cNvPr id="84" name="Rectangle 83"/>
          <p:cNvSpPr/>
          <p:nvPr/>
        </p:nvSpPr>
        <p:spPr>
          <a:xfrm>
            <a:off x="4334256" y="3054096"/>
            <a:ext cx="1554480" cy="475487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36576" rIns="36576" tIns="9144" bIns="9144"/>
          <a:lstStyle/>
          <a:p>
            <a:pPr algn="ctr"/>
            <a:r>
              <a:rPr sz="1000" b="0">
                <a:solidFill>
                  <a:srgbClr val="777777"/>
                </a:solidFill>
                <a:latin typeface="Aptos"/>
              </a:rPr>
              <a:t>QA Func/Auto</a:t>
            </a:r>
          </a:p>
          <a:p>
            <a:pPr algn="ctr"/>
            <a:r>
              <a:rPr sz="1000" b="0">
                <a:solidFill>
                  <a:srgbClr val="777777"/>
                </a:solidFill>
                <a:latin typeface="Aptos"/>
              </a:rPr>
              <a:t>Dev TL</a:t>
            </a:r>
          </a:p>
          <a:p>
            <a:pPr algn="ctr"/>
            <a:r>
              <a:rPr sz="1000" b="0">
                <a:solidFill>
                  <a:srgbClr val="777777"/>
                </a:solidFill>
                <a:latin typeface="Aptos"/>
              </a:rPr>
              <a:t>PO Brian B / Scrum Sneha</a:t>
            </a:r>
          </a:p>
        </p:txBody>
      </p:sp>
      <p:sp>
        <p:nvSpPr>
          <p:cNvPr id="85" name="Rectangle 84"/>
          <p:cNvSpPr/>
          <p:nvPr/>
        </p:nvSpPr>
        <p:spPr>
          <a:xfrm>
            <a:off x="6163056" y="2487168"/>
            <a:ext cx="1664208" cy="1078992"/>
          </a:xfrm>
          <a:prstGeom prst="rect">
            <a:avLst/>
          </a:prstGeom>
          <a:solidFill>
            <a:srgbClr val="F3F0FA"/>
          </a:solidFill>
          <a:ln w="10160">
            <a:solidFill>
              <a:srgbClr val="C4B5F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Rectangle 85"/>
          <p:cNvSpPr/>
          <p:nvPr/>
        </p:nvSpPr>
        <p:spPr>
          <a:xfrm>
            <a:off x="6163056" y="2487168"/>
            <a:ext cx="54864" cy="1078992"/>
          </a:xfrm>
          <a:prstGeom prst="rect">
            <a:avLst/>
          </a:prstGeom>
          <a:solidFill>
            <a:srgbClr val="6B21D4"/>
          </a:solidFill>
          <a:ln>
            <a:solidFill>
              <a:srgbClr val="6B21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Rectangle 86"/>
          <p:cNvSpPr/>
          <p:nvPr/>
        </p:nvSpPr>
        <p:spPr>
          <a:xfrm>
            <a:off x="6236208" y="2532888"/>
            <a:ext cx="1554480" cy="256032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9144" bIns="9144"/>
          <a:lstStyle/>
          <a:p>
            <a:pPr algn="ctr"/>
            <a:r>
              <a:rPr sz="1000" b="1">
                <a:solidFill>
                  <a:srgbClr val="111111"/>
                </a:solidFill>
                <a:latin typeface="Aptos"/>
              </a:rPr>
              <a:t>Jobs &amp; CoJo</a:t>
            </a:r>
          </a:p>
        </p:txBody>
      </p:sp>
      <p:sp>
        <p:nvSpPr>
          <p:cNvPr id="88" name="Rectangle 87"/>
          <p:cNvSpPr/>
          <p:nvPr/>
        </p:nvSpPr>
        <p:spPr>
          <a:xfrm>
            <a:off x="6236208" y="2816352"/>
            <a:ext cx="1554480" cy="20116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9144" bIns="9144"/>
          <a:lstStyle/>
          <a:p>
            <a:pPr algn="ctr"/>
            <a:r>
              <a:rPr sz="1000" b="1">
                <a:solidFill>
                  <a:srgbClr val="4A148C"/>
                </a:solidFill>
                <a:latin typeface="Aptos"/>
              </a:rPr>
              <a:t>Rashmi R</a:t>
            </a:r>
          </a:p>
        </p:txBody>
      </p:sp>
      <p:sp>
        <p:nvSpPr>
          <p:cNvPr id="89" name="Rectangle 88"/>
          <p:cNvSpPr/>
          <p:nvPr/>
        </p:nvSpPr>
        <p:spPr>
          <a:xfrm>
            <a:off x="6236208" y="3054096"/>
            <a:ext cx="1554480" cy="475487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36576" rIns="36576" tIns="9144" bIns="9144"/>
          <a:lstStyle/>
          <a:p>
            <a:pPr algn="ctr"/>
            <a:r>
              <a:rPr sz="1000" b="0">
                <a:solidFill>
                  <a:srgbClr val="777777"/>
                </a:solidFill>
                <a:latin typeface="Aptos"/>
              </a:rPr>
              <a:t>QA Functional</a:t>
            </a:r>
          </a:p>
          <a:p>
            <a:pPr algn="ctr"/>
            <a:r>
              <a:rPr sz="1000" b="0">
                <a:solidFill>
                  <a:srgbClr val="777777"/>
                </a:solidFill>
                <a:latin typeface="Aptos"/>
              </a:rPr>
              <a:t>Dev Srikanth</a:t>
            </a:r>
          </a:p>
          <a:p>
            <a:pPr algn="ctr"/>
            <a:r>
              <a:rPr sz="1000" b="0">
                <a:solidFill>
                  <a:srgbClr val="777777"/>
                </a:solidFill>
                <a:latin typeface="Aptos"/>
              </a:rPr>
              <a:t>Scrum Ajay</a:t>
            </a:r>
          </a:p>
        </p:txBody>
      </p:sp>
      <p:sp>
        <p:nvSpPr>
          <p:cNvPr id="90" name="Rectangle 89"/>
          <p:cNvSpPr/>
          <p:nvPr/>
        </p:nvSpPr>
        <p:spPr>
          <a:xfrm>
            <a:off x="457200" y="3867912"/>
            <a:ext cx="1664208" cy="1078992"/>
          </a:xfrm>
          <a:prstGeom prst="rect">
            <a:avLst/>
          </a:prstGeom>
          <a:solidFill>
            <a:srgbClr val="F3F0FA"/>
          </a:solidFill>
          <a:ln w="10160">
            <a:solidFill>
              <a:srgbClr val="C4B5F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Rectangle 90"/>
          <p:cNvSpPr/>
          <p:nvPr/>
        </p:nvSpPr>
        <p:spPr>
          <a:xfrm>
            <a:off x="457200" y="3867912"/>
            <a:ext cx="54864" cy="1078992"/>
          </a:xfrm>
          <a:prstGeom prst="rect">
            <a:avLst/>
          </a:prstGeom>
          <a:solidFill>
            <a:srgbClr val="6B21D4"/>
          </a:solidFill>
          <a:ln>
            <a:solidFill>
              <a:srgbClr val="6B21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Rectangle 91"/>
          <p:cNvSpPr/>
          <p:nvPr/>
        </p:nvSpPr>
        <p:spPr>
          <a:xfrm>
            <a:off x="530352" y="3913632"/>
            <a:ext cx="1554480" cy="256032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9144" bIns="9144"/>
          <a:lstStyle/>
          <a:p>
            <a:pPr algn="ctr"/>
            <a:r>
              <a:rPr sz="1000" b="1">
                <a:solidFill>
                  <a:srgbClr val="111111"/>
                </a:solidFill>
                <a:latin typeface="Aptos"/>
              </a:rPr>
              <a:t>Contracting (Tax)</a:t>
            </a:r>
          </a:p>
        </p:txBody>
      </p:sp>
      <p:sp>
        <p:nvSpPr>
          <p:cNvPr id="93" name="Rectangle 92"/>
          <p:cNvSpPr/>
          <p:nvPr/>
        </p:nvSpPr>
        <p:spPr>
          <a:xfrm>
            <a:off x="530352" y="4197096"/>
            <a:ext cx="1554480" cy="20116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9144" bIns="9144"/>
          <a:lstStyle/>
          <a:p>
            <a:pPr algn="ctr"/>
            <a:r>
              <a:rPr sz="1000" b="1">
                <a:solidFill>
                  <a:srgbClr val="4A148C"/>
                </a:solidFill>
                <a:latin typeface="Aptos"/>
              </a:rPr>
              <a:t>Vignesh S</a:t>
            </a:r>
          </a:p>
        </p:txBody>
      </p:sp>
      <p:sp>
        <p:nvSpPr>
          <p:cNvPr id="94" name="Rectangle 93"/>
          <p:cNvSpPr/>
          <p:nvPr/>
        </p:nvSpPr>
        <p:spPr>
          <a:xfrm>
            <a:off x="530352" y="4434840"/>
            <a:ext cx="1554480" cy="475487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36576" rIns="36576" tIns="9144" bIns="9144"/>
          <a:lstStyle/>
          <a:p>
            <a:pPr algn="ctr"/>
            <a:r>
              <a:rPr sz="1000" b="0">
                <a:solidFill>
                  <a:srgbClr val="777777"/>
                </a:solidFill>
                <a:latin typeface="Aptos"/>
              </a:rPr>
              <a:t>QA Func/Auto / Perf</a:t>
            </a:r>
          </a:p>
          <a:p>
            <a:pPr algn="ctr"/>
            <a:r>
              <a:rPr sz="1000" b="0">
                <a:solidFill>
                  <a:srgbClr val="777777"/>
                </a:solidFill>
                <a:latin typeface="Aptos"/>
              </a:rPr>
              <a:t>Dev T1&amp;2</a:t>
            </a:r>
          </a:p>
          <a:p>
            <a:pPr algn="ctr"/>
            <a:r>
              <a:rPr sz="1000" b="0">
                <a:solidFill>
                  <a:srgbClr val="777777"/>
                </a:solidFill>
                <a:latin typeface="Aptos"/>
              </a:rPr>
              <a:t>Tax Team</a:t>
            </a:r>
          </a:p>
        </p:txBody>
      </p:sp>
      <p:sp>
        <p:nvSpPr>
          <p:cNvPr id="95" name="Rectangle 94"/>
          <p:cNvSpPr/>
          <p:nvPr/>
        </p:nvSpPr>
        <p:spPr>
          <a:xfrm>
            <a:off x="2359152" y="3867912"/>
            <a:ext cx="1664208" cy="1078992"/>
          </a:xfrm>
          <a:prstGeom prst="rect">
            <a:avLst/>
          </a:prstGeom>
          <a:solidFill>
            <a:srgbClr val="F3F0FA"/>
          </a:solidFill>
          <a:ln w="10160">
            <a:solidFill>
              <a:srgbClr val="C4B5F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Rectangle 95"/>
          <p:cNvSpPr/>
          <p:nvPr/>
        </p:nvSpPr>
        <p:spPr>
          <a:xfrm>
            <a:off x="2359152" y="3867912"/>
            <a:ext cx="54864" cy="1078992"/>
          </a:xfrm>
          <a:prstGeom prst="rect">
            <a:avLst/>
          </a:prstGeom>
          <a:solidFill>
            <a:srgbClr val="6B21D4"/>
          </a:solidFill>
          <a:ln>
            <a:solidFill>
              <a:srgbClr val="6B21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Rectangle 96"/>
          <p:cNvSpPr/>
          <p:nvPr/>
        </p:nvSpPr>
        <p:spPr>
          <a:xfrm>
            <a:off x="2432304" y="3913632"/>
            <a:ext cx="1554480" cy="256032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9144" bIns="9144"/>
          <a:lstStyle/>
          <a:p>
            <a:pPr algn="ctr"/>
            <a:r>
              <a:rPr sz="1000" b="1">
                <a:solidFill>
                  <a:srgbClr val="111111"/>
                </a:solidFill>
                <a:latin typeface="Aptos"/>
              </a:rPr>
              <a:t>Work Package</a:t>
            </a:r>
          </a:p>
        </p:txBody>
      </p:sp>
      <p:sp>
        <p:nvSpPr>
          <p:cNvPr id="98" name="Rectangle 97"/>
          <p:cNvSpPr/>
          <p:nvPr/>
        </p:nvSpPr>
        <p:spPr>
          <a:xfrm>
            <a:off x="2432304" y="4197096"/>
            <a:ext cx="1554480" cy="20116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9144" bIns="9144"/>
          <a:lstStyle/>
          <a:p>
            <a:pPr algn="ctr"/>
            <a:r>
              <a:rPr sz="1000" b="1">
                <a:solidFill>
                  <a:srgbClr val="4A148C"/>
                </a:solidFill>
                <a:latin typeface="Aptos"/>
              </a:rPr>
              <a:t>Likhith P</a:t>
            </a:r>
          </a:p>
        </p:txBody>
      </p:sp>
      <p:sp>
        <p:nvSpPr>
          <p:cNvPr id="99" name="Rectangle 98"/>
          <p:cNvSpPr/>
          <p:nvPr/>
        </p:nvSpPr>
        <p:spPr>
          <a:xfrm>
            <a:off x="2432304" y="4434840"/>
            <a:ext cx="1554480" cy="475487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36576" rIns="36576" tIns="9144" bIns="9144"/>
          <a:lstStyle/>
          <a:p>
            <a:pPr algn="ctr"/>
            <a:r>
              <a:rPr sz="1000" b="0">
                <a:solidFill>
                  <a:srgbClr val="777777"/>
                </a:solidFill>
                <a:latin typeface="Aptos"/>
              </a:rPr>
              <a:t>QA Func / Auto</a:t>
            </a:r>
          </a:p>
          <a:p>
            <a:pPr algn="ctr"/>
            <a:r>
              <a:rPr sz="1000" b="0">
                <a:solidFill>
                  <a:srgbClr val="777777"/>
                </a:solidFill>
                <a:latin typeface="Aptos"/>
              </a:rPr>
              <a:t>Dev Team</a:t>
            </a:r>
          </a:p>
          <a:p>
            <a:pPr algn="ctr"/>
            <a:r>
              <a:rPr sz="1000" b="0">
                <a:solidFill>
                  <a:srgbClr val="777777"/>
                </a:solidFill>
                <a:latin typeface="Aptos"/>
              </a:rPr>
              <a:t>PO Kristen</a:t>
            </a:r>
          </a:p>
        </p:txBody>
      </p:sp>
      <p:sp>
        <p:nvSpPr>
          <p:cNvPr id="100" name="Rectangle 99"/>
          <p:cNvSpPr/>
          <p:nvPr/>
        </p:nvSpPr>
        <p:spPr>
          <a:xfrm>
            <a:off x="4261104" y="3867912"/>
            <a:ext cx="1664208" cy="1078992"/>
          </a:xfrm>
          <a:prstGeom prst="rect">
            <a:avLst/>
          </a:prstGeom>
          <a:solidFill>
            <a:srgbClr val="F3F0FA"/>
          </a:solidFill>
          <a:ln w="10160">
            <a:solidFill>
              <a:srgbClr val="C4B5F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Rectangle 100"/>
          <p:cNvSpPr/>
          <p:nvPr/>
        </p:nvSpPr>
        <p:spPr>
          <a:xfrm>
            <a:off x="4261104" y="3867912"/>
            <a:ext cx="54864" cy="1078992"/>
          </a:xfrm>
          <a:prstGeom prst="rect">
            <a:avLst/>
          </a:prstGeom>
          <a:solidFill>
            <a:srgbClr val="6B21D4"/>
          </a:solidFill>
          <a:ln>
            <a:solidFill>
              <a:srgbClr val="6B21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" name="Rectangle 101"/>
          <p:cNvSpPr/>
          <p:nvPr/>
        </p:nvSpPr>
        <p:spPr>
          <a:xfrm>
            <a:off x="4334256" y="3913632"/>
            <a:ext cx="1554480" cy="256032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9144" bIns="9144"/>
          <a:lstStyle/>
          <a:p>
            <a:pPr algn="ctr"/>
            <a:r>
              <a:rPr sz="1000" b="1">
                <a:solidFill>
                  <a:srgbClr val="111111"/>
                </a:solidFill>
                <a:latin typeface="Aptos"/>
              </a:rPr>
              <a:t>Documents (DocGen)</a:t>
            </a:r>
          </a:p>
        </p:txBody>
      </p:sp>
      <p:sp>
        <p:nvSpPr>
          <p:cNvPr id="103" name="Rectangle 102"/>
          <p:cNvSpPr/>
          <p:nvPr/>
        </p:nvSpPr>
        <p:spPr>
          <a:xfrm>
            <a:off x="4334256" y="4197096"/>
            <a:ext cx="1554480" cy="20116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9144" bIns="9144"/>
          <a:lstStyle/>
          <a:p>
            <a:pPr algn="ctr"/>
            <a:r>
              <a:rPr sz="1000" b="1">
                <a:solidFill>
                  <a:srgbClr val="4A148C"/>
                </a:solidFill>
                <a:latin typeface="Aptos"/>
              </a:rPr>
              <a:t>Sandhyarani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4334256" y="4434840"/>
            <a:ext cx="1554480" cy="475487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36576" rIns="36576" tIns="9144" bIns="9144"/>
          <a:lstStyle/>
          <a:p>
            <a:pPr algn="ctr"/>
            <a:r>
              <a:rPr sz="1000" b="0">
                <a:solidFill>
                  <a:srgbClr val="777777"/>
                </a:solidFill>
                <a:latin typeface="Aptos"/>
              </a:rPr>
              <a:t>QA Func/Perf</a:t>
            </a:r>
          </a:p>
          <a:p>
            <a:pPr algn="ctr"/>
            <a:r>
              <a:rPr sz="1000" b="0">
                <a:solidFill>
                  <a:srgbClr val="777777"/>
                </a:solidFill>
                <a:latin typeface="Aptos"/>
              </a:rPr>
              <a:t>Dev Chandana</a:t>
            </a:r>
          </a:p>
          <a:p>
            <a:pPr algn="ctr"/>
            <a:r>
              <a:rPr sz="1000" b="0">
                <a:solidFill>
                  <a:srgbClr val="777777"/>
                </a:solidFill>
                <a:latin typeface="Aptos"/>
              </a:rPr>
              <a:t>PO Angela / Architect</a:t>
            </a:r>
          </a:p>
        </p:txBody>
      </p:sp>
      <p:sp>
        <p:nvSpPr>
          <p:cNvPr id="105" name="Rectangle 104"/>
          <p:cNvSpPr/>
          <p:nvPr/>
        </p:nvSpPr>
        <p:spPr>
          <a:xfrm>
            <a:off x="6163056" y="3867912"/>
            <a:ext cx="1664208" cy="1078992"/>
          </a:xfrm>
          <a:prstGeom prst="rect">
            <a:avLst/>
          </a:prstGeom>
          <a:solidFill>
            <a:srgbClr val="F3F0FA"/>
          </a:solidFill>
          <a:ln w="10160">
            <a:solidFill>
              <a:srgbClr val="C4B5F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" name="Rectangle 105"/>
          <p:cNvSpPr/>
          <p:nvPr/>
        </p:nvSpPr>
        <p:spPr>
          <a:xfrm>
            <a:off x="6163056" y="3867912"/>
            <a:ext cx="54864" cy="1078992"/>
          </a:xfrm>
          <a:prstGeom prst="rect">
            <a:avLst/>
          </a:prstGeom>
          <a:solidFill>
            <a:srgbClr val="6B21D4"/>
          </a:solidFill>
          <a:ln>
            <a:solidFill>
              <a:srgbClr val="6B21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" name="Rectangle 106"/>
          <p:cNvSpPr/>
          <p:nvPr/>
        </p:nvSpPr>
        <p:spPr>
          <a:xfrm>
            <a:off x="6236208" y="3913632"/>
            <a:ext cx="1554480" cy="256032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9144" bIns="9144"/>
          <a:lstStyle/>
          <a:p>
            <a:pPr algn="ctr"/>
            <a:r>
              <a:rPr sz="1000" b="1">
                <a:solidFill>
                  <a:srgbClr val="111111"/>
                </a:solidFill>
                <a:latin typeface="Aptos"/>
              </a:rPr>
              <a:t>Service</a:t>
            </a:r>
          </a:p>
        </p:txBody>
      </p:sp>
      <p:sp>
        <p:nvSpPr>
          <p:cNvPr id="108" name="Rectangle 107"/>
          <p:cNvSpPr/>
          <p:nvPr/>
        </p:nvSpPr>
        <p:spPr>
          <a:xfrm>
            <a:off x="6236208" y="4197096"/>
            <a:ext cx="1554480" cy="20116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9144" bIns="9144"/>
          <a:lstStyle/>
          <a:p>
            <a:pPr algn="ctr"/>
            <a:r>
              <a:rPr sz="1000" b="1">
                <a:solidFill>
                  <a:srgbClr val="4A148C"/>
                </a:solidFill>
                <a:latin typeface="Aptos"/>
              </a:rPr>
              <a:t>Frank M</a:t>
            </a:r>
          </a:p>
        </p:txBody>
      </p:sp>
      <p:sp>
        <p:nvSpPr>
          <p:cNvPr id="109" name="Rectangle 108"/>
          <p:cNvSpPr/>
          <p:nvPr/>
        </p:nvSpPr>
        <p:spPr>
          <a:xfrm>
            <a:off x="6236208" y="4434840"/>
            <a:ext cx="1554480" cy="475487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36576" rIns="36576" tIns="9144" bIns="9144"/>
          <a:lstStyle/>
          <a:p>
            <a:pPr algn="ctr"/>
            <a:r>
              <a:rPr sz="1000" b="0">
                <a:solidFill>
                  <a:srgbClr val="777777"/>
                </a:solidFill>
                <a:latin typeface="Aptos"/>
              </a:rPr>
              <a:t>QA / Scrum</a:t>
            </a:r>
          </a:p>
          <a:p>
            <a:pPr algn="ctr"/>
            <a:r>
              <a:rPr sz="1000" b="0">
                <a:solidFill>
                  <a:srgbClr val="777777"/>
                </a:solidFill>
                <a:latin typeface="Aptos"/>
              </a:rPr>
              <a:t>Service Team</a:t>
            </a:r>
          </a:p>
        </p:txBody>
      </p:sp>
      <p:sp>
        <p:nvSpPr>
          <p:cNvPr id="110" name="Rectangle 109"/>
          <p:cNvSpPr/>
          <p:nvPr/>
        </p:nvSpPr>
        <p:spPr>
          <a:xfrm>
            <a:off x="8732520" y="2487168"/>
            <a:ext cx="2788920" cy="1508760"/>
          </a:xfrm>
          <a:prstGeom prst="rect">
            <a:avLst/>
          </a:prstGeom>
          <a:solidFill>
            <a:srgbClr val="F3F0FA"/>
          </a:solidFill>
          <a:ln w="10160">
            <a:solidFill>
              <a:srgbClr val="C4B5F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Rectangle 110"/>
          <p:cNvSpPr/>
          <p:nvPr/>
        </p:nvSpPr>
        <p:spPr>
          <a:xfrm>
            <a:off x="8732520" y="2487168"/>
            <a:ext cx="54864" cy="1508760"/>
          </a:xfrm>
          <a:prstGeom prst="rect">
            <a:avLst/>
          </a:prstGeom>
          <a:solidFill>
            <a:srgbClr val="6B21D4"/>
          </a:solidFill>
          <a:ln>
            <a:solidFill>
              <a:srgbClr val="6B21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Rectangle 111"/>
          <p:cNvSpPr/>
          <p:nvPr/>
        </p:nvSpPr>
        <p:spPr>
          <a:xfrm>
            <a:off x="8805672" y="2532888"/>
            <a:ext cx="2679191" cy="256032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9144" bIns="9144"/>
          <a:lstStyle/>
          <a:p>
            <a:pPr algn="ctr"/>
            <a:r>
              <a:rPr sz="1000" b="1">
                <a:solidFill>
                  <a:srgbClr val="111111"/>
                </a:solidFill>
                <a:latin typeface="Aptos"/>
              </a:rPr>
              <a:t>Trane Design Assist</a:t>
            </a:r>
          </a:p>
        </p:txBody>
      </p:sp>
      <p:sp>
        <p:nvSpPr>
          <p:cNvPr id="113" name="Rectangle 112"/>
          <p:cNvSpPr/>
          <p:nvPr/>
        </p:nvSpPr>
        <p:spPr>
          <a:xfrm>
            <a:off x="8805672" y="2816352"/>
            <a:ext cx="2679191" cy="20116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9144" bIns="9144"/>
          <a:lstStyle/>
          <a:p>
            <a:pPr algn="ctr"/>
            <a:r>
              <a:rPr sz="1000" b="1">
                <a:solidFill>
                  <a:srgbClr val="4A148C"/>
                </a:solidFill>
                <a:latin typeface="Aptos"/>
              </a:rPr>
              <a:t>Naveen H</a:t>
            </a:r>
          </a:p>
        </p:txBody>
      </p:sp>
      <p:sp>
        <p:nvSpPr>
          <p:cNvPr id="114" name="Rectangle 113"/>
          <p:cNvSpPr/>
          <p:nvPr/>
        </p:nvSpPr>
        <p:spPr>
          <a:xfrm>
            <a:off x="8805672" y="3054096"/>
            <a:ext cx="2679191" cy="905255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36576" rIns="36576" tIns="9144" bIns="9144"/>
          <a:lstStyle/>
          <a:p>
            <a:pPr algn="ctr"/>
            <a:r>
              <a:rPr sz="1000" b="0">
                <a:solidFill>
                  <a:srgbClr val="777777"/>
                </a:solidFill>
                <a:latin typeface="Aptos"/>
              </a:rPr>
              <a:t>QA (4 members)</a:t>
            </a:r>
          </a:p>
          <a:p>
            <a:pPr algn="ctr"/>
            <a:r>
              <a:rPr sz="1000" b="0">
                <a:solidFill>
                  <a:srgbClr val="777777"/>
                </a:solidFill>
                <a:latin typeface="Aptos"/>
              </a:rPr>
              <a:t>Dev (Vasanth)</a:t>
            </a:r>
          </a:p>
          <a:p>
            <a:pPr algn="ctr"/>
            <a:r>
              <a:rPr sz="1000" b="0">
                <a:solidFill>
                  <a:srgbClr val="777777"/>
                </a:solidFill>
                <a:latin typeface="Aptos"/>
              </a:rPr>
              <a:t>TDA Team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63296" y="158496"/>
            <a:ext cx="11265408" cy="41452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4572" bIns="4572"/>
          <a:lstStyle/>
          <a:p>
            <a:pPr algn="l"/>
            <a:r>
              <a:rPr sz="2400" b="1">
                <a:solidFill>
                  <a:srgbClr val="6B21D4"/>
                </a:solidFill>
                <a:latin typeface="Aptos"/>
              </a:rPr>
              <a:t>Equipment Track – Teams A &amp; B</a:t>
            </a:r>
          </a:p>
        </p:txBody>
      </p:sp>
      <p:sp>
        <p:nvSpPr>
          <p:cNvPr id="3" name="Rectangle 2"/>
          <p:cNvSpPr/>
          <p:nvPr/>
        </p:nvSpPr>
        <p:spPr>
          <a:xfrm>
            <a:off x="463296" y="707136"/>
            <a:ext cx="5547360" cy="24384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4572" bIns="4572"/>
          <a:lstStyle/>
          <a:p>
            <a:pPr algn="l"/>
            <a:r>
              <a:rPr sz="1000" b="1">
                <a:solidFill>
                  <a:srgbClr val="4A148C"/>
                </a:solidFill>
                <a:latin typeface="Aptos"/>
              </a:rPr>
              <a:t>Team A (14 members)</a:t>
            </a:r>
          </a:p>
        </p:txBody>
      </p:sp>
      <p:sp>
        <p:nvSpPr>
          <p:cNvPr id="4" name="Rectangle 3"/>
          <p:cNvSpPr/>
          <p:nvPr/>
        </p:nvSpPr>
        <p:spPr>
          <a:xfrm>
            <a:off x="463296" y="1011936"/>
            <a:ext cx="5547360" cy="249936"/>
          </a:xfrm>
          <a:prstGeom prst="rect">
            <a:avLst/>
          </a:prstGeom>
          <a:solidFill>
            <a:srgbClr val="FFFFFF"/>
          </a:solidFill>
          <a:ln w="4445">
            <a:solidFill>
              <a:srgbClr val="EEEE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63296" y="1011936"/>
            <a:ext cx="42672" cy="249936"/>
          </a:xfrm>
          <a:prstGeom prst="rect">
            <a:avLst/>
          </a:prstGeom>
          <a:solidFill>
            <a:srgbClr val="6B21D4"/>
          </a:solidFill>
          <a:ln>
            <a:solidFill>
              <a:srgbClr val="6B21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24256" y="1011936"/>
            <a:ext cx="2109216" cy="249936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144" rIns="9144" tIns="4572" bIns="4572"/>
          <a:lstStyle/>
          <a:p>
            <a:pPr algn="l"/>
            <a:r>
              <a:rPr sz="1000" b="1">
                <a:solidFill>
                  <a:srgbClr val="111111"/>
                </a:solidFill>
                <a:latin typeface="Aptos"/>
              </a:rPr>
              <a:t>Jaimie Christianson</a:t>
            </a:r>
          </a:p>
        </p:txBody>
      </p:sp>
      <p:sp>
        <p:nvSpPr>
          <p:cNvPr id="7" name="Rectangle 6"/>
          <p:cNvSpPr/>
          <p:nvPr/>
        </p:nvSpPr>
        <p:spPr>
          <a:xfrm>
            <a:off x="2633472" y="1011936"/>
            <a:ext cx="1950720" cy="249936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144" rIns="9144" tIns="4572" bIns="4572"/>
          <a:lstStyle/>
          <a:p>
            <a:pPr algn="l"/>
            <a:r>
              <a:rPr sz="1000" b="0">
                <a:solidFill>
                  <a:srgbClr val="6B21D4"/>
                </a:solidFill>
                <a:latin typeface="Aptos"/>
              </a:rPr>
              <a:t>Product Owner</a:t>
            </a:r>
          </a:p>
        </p:txBody>
      </p:sp>
      <p:sp>
        <p:nvSpPr>
          <p:cNvPr id="8" name="Rectangle 7"/>
          <p:cNvSpPr/>
          <p:nvPr/>
        </p:nvSpPr>
        <p:spPr>
          <a:xfrm>
            <a:off x="4584192" y="1011936"/>
            <a:ext cx="1389886" cy="249936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144" rIns="9144" tIns="4572" bIns="4572"/>
          <a:lstStyle/>
          <a:p>
            <a:pPr algn="l"/>
            <a:r>
              <a:rPr sz="1000" b="0">
                <a:solidFill>
                  <a:srgbClr val="777777"/>
                </a:solidFill>
                <a:latin typeface="Aptos"/>
              </a:rPr>
              <a:t>Onshore · Trane</a:t>
            </a:r>
          </a:p>
        </p:txBody>
      </p:sp>
      <p:sp>
        <p:nvSpPr>
          <p:cNvPr id="9" name="Rectangle 8"/>
          <p:cNvSpPr/>
          <p:nvPr/>
        </p:nvSpPr>
        <p:spPr>
          <a:xfrm>
            <a:off x="463296" y="1261870"/>
            <a:ext cx="5547360" cy="249936"/>
          </a:xfrm>
          <a:prstGeom prst="rect">
            <a:avLst/>
          </a:prstGeom>
          <a:solidFill>
            <a:srgbClr val="F3F0FA"/>
          </a:solidFill>
          <a:ln w="4445">
            <a:solidFill>
              <a:srgbClr val="EEEE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63296" y="1261870"/>
            <a:ext cx="42672" cy="249936"/>
          </a:xfrm>
          <a:prstGeom prst="rect">
            <a:avLst/>
          </a:prstGeom>
          <a:solidFill>
            <a:srgbClr val="6B21D4"/>
          </a:solidFill>
          <a:ln>
            <a:solidFill>
              <a:srgbClr val="6B21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24256" y="1261870"/>
            <a:ext cx="2109216" cy="249936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144" rIns="9144" tIns="4572" bIns="4572"/>
          <a:lstStyle/>
          <a:p>
            <a:pPr algn="l"/>
            <a:r>
              <a:rPr sz="1000" b="1">
                <a:solidFill>
                  <a:srgbClr val="111111"/>
                </a:solidFill>
                <a:latin typeface="Aptos"/>
              </a:rPr>
              <a:t>Vijay Patti Reddy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633472" y="1261870"/>
            <a:ext cx="1950720" cy="249936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144" rIns="9144" tIns="4572" bIns="4572"/>
          <a:lstStyle/>
          <a:p>
            <a:pPr algn="l"/>
            <a:r>
              <a:rPr sz="1000" b="0">
                <a:solidFill>
                  <a:srgbClr val="6B21D4"/>
                </a:solidFill>
                <a:latin typeface="Aptos"/>
              </a:rPr>
              <a:t>Functional Analyst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584192" y="1261870"/>
            <a:ext cx="1389886" cy="249936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144" rIns="9144" tIns="4572" bIns="4572"/>
          <a:lstStyle/>
          <a:p>
            <a:pPr algn="l"/>
            <a:r>
              <a:rPr sz="1000" b="0">
                <a:solidFill>
                  <a:srgbClr val="777777"/>
                </a:solidFill>
                <a:latin typeface="Aptos"/>
              </a:rPr>
              <a:t>Onshore · Cognizant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63296" y="1511808"/>
            <a:ext cx="5547360" cy="249936"/>
          </a:xfrm>
          <a:prstGeom prst="rect">
            <a:avLst/>
          </a:prstGeom>
          <a:solidFill>
            <a:srgbClr val="FFFFFF"/>
          </a:solidFill>
          <a:ln w="4445">
            <a:solidFill>
              <a:srgbClr val="EEEE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63296" y="1511808"/>
            <a:ext cx="42672" cy="249936"/>
          </a:xfrm>
          <a:prstGeom prst="rect">
            <a:avLst/>
          </a:prstGeom>
          <a:solidFill>
            <a:srgbClr val="6B21D4"/>
          </a:solidFill>
          <a:ln>
            <a:solidFill>
              <a:srgbClr val="6B21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24256" y="1511808"/>
            <a:ext cx="2109216" cy="249936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144" rIns="9144" tIns="4572" bIns="4572"/>
          <a:lstStyle/>
          <a:p>
            <a:pPr algn="l"/>
            <a:r>
              <a:rPr sz="1000" b="1">
                <a:solidFill>
                  <a:srgbClr val="111111"/>
                </a:solidFill>
                <a:latin typeface="Aptos"/>
              </a:rPr>
              <a:t>Pradeesh Kumar</a:t>
            </a:r>
          </a:p>
        </p:txBody>
      </p:sp>
      <p:sp>
        <p:nvSpPr>
          <p:cNvPr id="17" name="Rectangle 16"/>
          <p:cNvSpPr/>
          <p:nvPr/>
        </p:nvSpPr>
        <p:spPr>
          <a:xfrm>
            <a:off x="2633472" y="1511808"/>
            <a:ext cx="1950720" cy="249936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144" rIns="9144" tIns="4572" bIns="4572"/>
          <a:lstStyle/>
          <a:p>
            <a:pPr algn="l"/>
            <a:r>
              <a:rPr sz="1000" b="0">
                <a:solidFill>
                  <a:srgbClr val="6B21D4"/>
                </a:solidFill>
                <a:latin typeface="Aptos"/>
              </a:rPr>
              <a:t>Product Analyst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584192" y="1511808"/>
            <a:ext cx="1389886" cy="249936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144" rIns="9144" tIns="4572" bIns="4572"/>
          <a:lstStyle/>
          <a:p>
            <a:pPr algn="l"/>
            <a:r>
              <a:rPr sz="1000" b="0">
                <a:solidFill>
                  <a:srgbClr val="777777"/>
                </a:solidFill>
                <a:latin typeface="Aptos"/>
              </a:rPr>
              <a:t>Onshore · Cognizant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63296" y="1761742"/>
            <a:ext cx="5547360" cy="249936"/>
          </a:xfrm>
          <a:prstGeom prst="rect">
            <a:avLst/>
          </a:prstGeom>
          <a:solidFill>
            <a:srgbClr val="F3F0FA"/>
          </a:solidFill>
          <a:ln w="4445">
            <a:solidFill>
              <a:srgbClr val="EEEE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463296" y="1761742"/>
            <a:ext cx="42672" cy="249936"/>
          </a:xfrm>
          <a:prstGeom prst="rect">
            <a:avLst/>
          </a:prstGeom>
          <a:solidFill>
            <a:srgbClr val="6B21D4"/>
          </a:solidFill>
          <a:ln>
            <a:solidFill>
              <a:srgbClr val="6B21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524256" y="1761742"/>
            <a:ext cx="2109216" cy="249936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144" rIns="9144" tIns="4572" bIns="4572"/>
          <a:lstStyle/>
          <a:p>
            <a:pPr algn="l"/>
            <a:r>
              <a:rPr sz="1000" b="1">
                <a:solidFill>
                  <a:srgbClr val="111111"/>
                </a:solidFill>
                <a:latin typeface="Aptos"/>
              </a:rPr>
              <a:t>Saranya Manian</a:t>
            </a:r>
          </a:p>
        </p:txBody>
      </p:sp>
      <p:sp>
        <p:nvSpPr>
          <p:cNvPr id="22" name="Rectangle 21"/>
          <p:cNvSpPr/>
          <p:nvPr/>
        </p:nvSpPr>
        <p:spPr>
          <a:xfrm>
            <a:off x="2633472" y="1761742"/>
            <a:ext cx="1950720" cy="249936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144" rIns="9144" tIns="4572" bIns="4572"/>
          <a:lstStyle/>
          <a:p>
            <a:pPr algn="l"/>
            <a:r>
              <a:rPr sz="1000" b="0">
                <a:solidFill>
                  <a:srgbClr val="6B21D4"/>
                </a:solidFill>
                <a:latin typeface="Aptos"/>
              </a:rPr>
              <a:t>Dev – Front End TL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584192" y="1761742"/>
            <a:ext cx="1389886" cy="249936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144" rIns="9144" tIns="4572" bIns="4572"/>
          <a:lstStyle/>
          <a:p>
            <a:pPr algn="l"/>
            <a:r>
              <a:rPr sz="1000" b="0">
                <a:solidFill>
                  <a:srgbClr val="777777"/>
                </a:solidFill>
                <a:latin typeface="Aptos"/>
              </a:rPr>
              <a:t>Offshore · Cognizant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63296" y="2011680"/>
            <a:ext cx="5547360" cy="249936"/>
          </a:xfrm>
          <a:prstGeom prst="rect">
            <a:avLst/>
          </a:prstGeom>
          <a:solidFill>
            <a:srgbClr val="FFFFFF"/>
          </a:solidFill>
          <a:ln w="4445">
            <a:solidFill>
              <a:srgbClr val="EEEE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463296" y="2011680"/>
            <a:ext cx="42672" cy="249936"/>
          </a:xfrm>
          <a:prstGeom prst="rect">
            <a:avLst/>
          </a:prstGeom>
          <a:solidFill>
            <a:srgbClr val="6B21D4"/>
          </a:solidFill>
          <a:ln>
            <a:solidFill>
              <a:srgbClr val="6B21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524256" y="2011680"/>
            <a:ext cx="2109216" cy="249936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144" rIns="9144" tIns="4572" bIns="4572"/>
          <a:lstStyle/>
          <a:p>
            <a:pPr algn="l"/>
            <a:r>
              <a:rPr sz="1000" b="1">
                <a:solidFill>
                  <a:srgbClr val="111111"/>
                </a:solidFill>
                <a:latin typeface="Aptos"/>
              </a:rPr>
              <a:t>Ukesh Kumar G</a:t>
            </a:r>
          </a:p>
        </p:txBody>
      </p:sp>
      <p:sp>
        <p:nvSpPr>
          <p:cNvPr id="27" name="Rectangle 26"/>
          <p:cNvSpPr/>
          <p:nvPr/>
        </p:nvSpPr>
        <p:spPr>
          <a:xfrm>
            <a:off x="2633472" y="2011680"/>
            <a:ext cx="1950720" cy="249936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144" rIns="9144" tIns="4572" bIns="4572"/>
          <a:lstStyle/>
          <a:p>
            <a:pPr algn="l"/>
            <a:r>
              <a:rPr sz="1000" b="0">
                <a:solidFill>
                  <a:srgbClr val="6B21D4"/>
                </a:solidFill>
                <a:latin typeface="Aptos"/>
              </a:rPr>
              <a:t>Dev – Back End TL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584192" y="2011680"/>
            <a:ext cx="1389886" cy="249936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144" rIns="9144" tIns="4572" bIns="4572"/>
          <a:lstStyle/>
          <a:p>
            <a:pPr algn="l"/>
            <a:r>
              <a:rPr sz="1000" b="0">
                <a:solidFill>
                  <a:srgbClr val="777777"/>
                </a:solidFill>
                <a:latin typeface="Aptos"/>
              </a:rPr>
              <a:t>Offshore · Cognizant</a:t>
            </a:r>
          </a:p>
        </p:txBody>
      </p:sp>
      <p:sp>
        <p:nvSpPr>
          <p:cNvPr id="29" name="Rectangle 28"/>
          <p:cNvSpPr/>
          <p:nvPr/>
        </p:nvSpPr>
        <p:spPr>
          <a:xfrm>
            <a:off x="463296" y="2261616"/>
            <a:ext cx="5547360" cy="249936"/>
          </a:xfrm>
          <a:prstGeom prst="rect">
            <a:avLst/>
          </a:prstGeom>
          <a:solidFill>
            <a:srgbClr val="F3F0FA"/>
          </a:solidFill>
          <a:ln w="4445">
            <a:solidFill>
              <a:srgbClr val="EEEE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463296" y="2261616"/>
            <a:ext cx="42672" cy="249936"/>
          </a:xfrm>
          <a:prstGeom prst="rect">
            <a:avLst/>
          </a:prstGeom>
          <a:solidFill>
            <a:srgbClr val="6B21D4"/>
          </a:solidFill>
          <a:ln>
            <a:solidFill>
              <a:srgbClr val="6B21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524256" y="2261616"/>
            <a:ext cx="2109216" cy="249936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144" rIns="9144" tIns="4572" bIns="4572"/>
          <a:lstStyle/>
          <a:p>
            <a:pPr algn="l"/>
            <a:r>
              <a:rPr sz="1000" b="1">
                <a:solidFill>
                  <a:srgbClr val="111111"/>
                </a:solidFill>
                <a:latin typeface="Aptos"/>
              </a:rPr>
              <a:t>Sowmya Yedduri</a:t>
            </a:r>
          </a:p>
        </p:txBody>
      </p:sp>
      <p:sp>
        <p:nvSpPr>
          <p:cNvPr id="32" name="Rectangle 31"/>
          <p:cNvSpPr/>
          <p:nvPr/>
        </p:nvSpPr>
        <p:spPr>
          <a:xfrm>
            <a:off x="2633472" y="2261616"/>
            <a:ext cx="1950720" cy="249936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144" rIns="9144" tIns="4572" bIns="4572"/>
          <a:lstStyle/>
          <a:p>
            <a:pPr algn="l"/>
            <a:r>
              <a:rPr sz="1000" b="0">
                <a:solidFill>
                  <a:srgbClr val="6B21D4"/>
                </a:solidFill>
                <a:latin typeface="Aptos"/>
              </a:rPr>
              <a:t>Full Stack (Invest.)</a:t>
            </a:r>
          </a:p>
        </p:txBody>
      </p:sp>
      <p:sp>
        <p:nvSpPr>
          <p:cNvPr id="33" name="Rectangle 32"/>
          <p:cNvSpPr/>
          <p:nvPr/>
        </p:nvSpPr>
        <p:spPr>
          <a:xfrm>
            <a:off x="4584192" y="2261616"/>
            <a:ext cx="1389886" cy="249936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144" rIns="9144" tIns="4572" bIns="4572"/>
          <a:lstStyle/>
          <a:p>
            <a:pPr algn="l"/>
            <a:r>
              <a:rPr sz="1000" b="0">
                <a:solidFill>
                  <a:srgbClr val="777777"/>
                </a:solidFill>
                <a:latin typeface="Aptos"/>
              </a:rPr>
              <a:t>Offshore · Cognizant</a:t>
            </a:r>
          </a:p>
        </p:txBody>
      </p:sp>
      <p:sp>
        <p:nvSpPr>
          <p:cNvPr id="34" name="Rectangle 33"/>
          <p:cNvSpPr/>
          <p:nvPr/>
        </p:nvSpPr>
        <p:spPr>
          <a:xfrm>
            <a:off x="463296" y="2511552"/>
            <a:ext cx="5547360" cy="249936"/>
          </a:xfrm>
          <a:prstGeom prst="rect">
            <a:avLst/>
          </a:prstGeom>
          <a:solidFill>
            <a:srgbClr val="FFFFFF"/>
          </a:solidFill>
          <a:ln w="4445">
            <a:solidFill>
              <a:srgbClr val="EEEE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463296" y="2511552"/>
            <a:ext cx="42672" cy="249936"/>
          </a:xfrm>
          <a:prstGeom prst="rect">
            <a:avLst/>
          </a:prstGeom>
          <a:solidFill>
            <a:srgbClr val="6B21D4"/>
          </a:solidFill>
          <a:ln>
            <a:solidFill>
              <a:srgbClr val="6B21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524256" y="2511552"/>
            <a:ext cx="2109216" cy="249936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144" rIns="9144" tIns="4572" bIns="4572"/>
          <a:lstStyle/>
          <a:p>
            <a:pPr algn="l"/>
            <a:r>
              <a:rPr sz="1000" b="1">
                <a:solidFill>
                  <a:srgbClr val="111111"/>
                </a:solidFill>
                <a:latin typeface="Aptos"/>
              </a:rPr>
              <a:t>Akanksha Tiwari</a:t>
            </a:r>
          </a:p>
        </p:txBody>
      </p:sp>
      <p:sp>
        <p:nvSpPr>
          <p:cNvPr id="37" name="Rectangle 36"/>
          <p:cNvSpPr/>
          <p:nvPr/>
        </p:nvSpPr>
        <p:spPr>
          <a:xfrm>
            <a:off x="2633472" y="2511552"/>
            <a:ext cx="1950720" cy="249936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144" rIns="9144" tIns="4572" bIns="4572"/>
          <a:lstStyle/>
          <a:p>
            <a:pPr algn="l"/>
            <a:r>
              <a:rPr sz="1000" b="0">
                <a:solidFill>
                  <a:srgbClr val="6B21D4"/>
                </a:solidFill>
                <a:latin typeface="Aptos"/>
              </a:rPr>
              <a:t>Full Stack Dev</a:t>
            </a:r>
          </a:p>
        </p:txBody>
      </p:sp>
      <p:sp>
        <p:nvSpPr>
          <p:cNvPr id="38" name="Rectangle 37"/>
          <p:cNvSpPr/>
          <p:nvPr/>
        </p:nvSpPr>
        <p:spPr>
          <a:xfrm>
            <a:off x="4584192" y="2511552"/>
            <a:ext cx="1389886" cy="249936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144" rIns="9144" tIns="4572" bIns="4572"/>
          <a:lstStyle/>
          <a:p>
            <a:pPr algn="l"/>
            <a:r>
              <a:rPr sz="1000" b="0">
                <a:solidFill>
                  <a:srgbClr val="777777"/>
                </a:solidFill>
                <a:latin typeface="Aptos"/>
              </a:rPr>
              <a:t>Offshore · Trane-ITC</a:t>
            </a:r>
          </a:p>
        </p:txBody>
      </p:sp>
      <p:sp>
        <p:nvSpPr>
          <p:cNvPr id="39" name="Rectangle 38"/>
          <p:cNvSpPr/>
          <p:nvPr/>
        </p:nvSpPr>
        <p:spPr>
          <a:xfrm>
            <a:off x="463296" y="2761486"/>
            <a:ext cx="5547360" cy="249936"/>
          </a:xfrm>
          <a:prstGeom prst="rect">
            <a:avLst/>
          </a:prstGeom>
          <a:solidFill>
            <a:srgbClr val="F3F0FA"/>
          </a:solidFill>
          <a:ln w="4445">
            <a:solidFill>
              <a:srgbClr val="EEEE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463296" y="2761486"/>
            <a:ext cx="42672" cy="249936"/>
          </a:xfrm>
          <a:prstGeom prst="rect">
            <a:avLst/>
          </a:prstGeom>
          <a:solidFill>
            <a:srgbClr val="6B21D4"/>
          </a:solidFill>
          <a:ln>
            <a:solidFill>
              <a:srgbClr val="6B21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524256" y="2761486"/>
            <a:ext cx="2109216" cy="249936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144" rIns="9144" tIns="4572" bIns="4572"/>
          <a:lstStyle/>
          <a:p>
            <a:pPr algn="l"/>
            <a:r>
              <a:rPr sz="1000" b="1">
                <a:solidFill>
                  <a:srgbClr val="111111"/>
                </a:solidFill>
                <a:latin typeface="Aptos"/>
              </a:rPr>
              <a:t>Aatish Bansal</a:t>
            </a:r>
          </a:p>
        </p:txBody>
      </p:sp>
      <p:sp>
        <p:nvSpPr>
          <p:cNvPr id="42" name="Rectangle 41"/>
          <p:cNvSpPr/>
          <p:nvPr/>
        </p:nvSpPr>
        <p:spPr>
          <a:xfrm>
            <a:off x="2633472" y="2761486"/>
            <a:ext cx="1950720" cy="249936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144" rIns="9144" tIns="4572" bIns="4572"/>
          <a:lstStyle/>
          <a:p>
            <a:pPr algn="l"/>
            <a:r>
              <a:rPr sz="1000" b="0">
                <a:solidFill>
                  <a:srgbClr val="6B21D4"/>
                </a:solidFill>
                <a:latin typeface="Aptos"/>
              </a:rPr>
              <a:t>Full Stack Dev</a:t>
            </a:r>
          </a:p>
        </p:txBody>
      </p:sp>
      <p:sp>
        <p:nvSpPr>
          <p:cNvPr id="43" name="Rectangle 42"/>
          <p:cNvSpPr/>
          <p:nvPr/>
        </p:nvSpPr>
        <p:spPr>
          <a:xfrm>
            <a:off x="4584192" y="2761486"/>
            <a:ext cx="1389886" cy="249936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144" rIns="9144" tIns="4572" bIns="4572"/>
          <a:lstStyle/>
          <a:p>
            <a:pPr algn="l"/>
            <a:r>
              <a:rPr sz="1000" b="0">
                <a:solidFill>
                  <a:srgbClr val="777777"/>
                </a:solidFill>
                <a:latin typeface="Aptos"/>
              </a:rPr>
              <a:t>Offshore · Cognizant</a:t>
            </a:r>
          </a:p>
        </p:txBody>
      </p:sp>
      <p:sp>
        <p:nvSpPr>
          <p:cNvPr id="44" name="Rectangle 43"/>
          <p:cNvSpPr/>
          <p:nvPr/>
        </p:nvSpPr>
        <p:spPr>
          <a:xfrm>
            <a:off x="463296" y="3011424"/>
            <a:ext cx="5547360" cy="249936"/>
          </a:xfrm>
          <a:prstGeom prst="rect">
            <a:avLst/>
          </a:prstGeom>
          <a:solidFill>
            <a:srgbClr val="FFFFFF"/>
          </a:solidFill>
          <a:ln w="4445">
            <a:solidFill>
              <a:srgbClr val="EEEE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463296" y="3011424"/>
            <a:ext cx="42672" cy="249936"/>
          </a:xfrm>
          <a:prstGeom prst="rect">
            <a:avLst/>
          </a:prstGeom>
          <a:solidFill>
            <a:srgbClr val="6B21D4"/>
          </a:solidFill>
          <a:ln>
            <a:solidFill>
              <a:srgbClr val="6B21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ectangle 45"/>
          <p:cNvSpPr/>
          <p:nvPr/>
        </p:nvSpPr>
        <p:spPr>
          <a:xfrm>
            <a:off x="524256" y="3011424"/>
            <a:ext cx="2109216" cy="249936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144" rIns="9144" tIns="4572" bIns="4572"/>
          <a:lstStyle/>
          <a:p>
            <a:pPr algn="l"/>
            <a:r>
              <a:rPr sz="1000" b="1">
                <a:solidFill>
                  <a:srgbClr val="111111"/>
                </a:solidFill>
                <a:latin typeface="Aptos"/>
              </a:rPr>
              <a:t>Abhijith Krishnan</a:t>
            </a:r>
          </a:p>
        </p:txBody>
      </p:sp>
      <p:sp>
        <p:nvSpPr>
          <p:cNvPr id="47" name="Rectangle 46"/>
          <p:cNvSpPr/>
          <p:nvPr/>
        </p:nvSpPr>
        <p:spPr>
          <a:xfrm>
            <a:off x="2633472" y="3011424"/>
            <a:ext cx="1950720" cy="249936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144" rIns="9144" tIns="4572" bIns="4572"/>
          <a:lstStyle/>
          <a:p>
            <a:pPr algn="l"/>
            <a:r>
              <a:rPr sz="1000" b="0">
                <a:solidFill>
                  <a:srgbClr val="6B21D4"/>
                </a:solidFill>
                <a:latin typeface="Aptos"/>
              </a:rPr>
              <a:t>Full Stack Dev</a:t>
            </a:r>
          </a:p>
        </p:txBody>
      </p:sp>
      <p:sp>
        <p:nvSpPr>
          <p:cNvPr id="48" name="Rectangle 47"/>
          <p:cNvSpPr/>
          <p:nvPr/>
        </p:nvSpPr>
        <p:spPr>
          <a:xfrm>
            <a:off x="4584192" y="3011424"/>
            <a:ext cx="1389886" cy="249936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144" rIns="9144" tIns="4572" bIns="4572"/>
          <a:lstStyle/>
          <a:p>
            <a:pPr algn="l"/>
            <a:r>
              <a:rPr sz="1000" b="0">
                <a:solidFill>
                  <a:srgbClr val="777777"/>
                </a:solidFill>
                <a:latin typeface="Aptos"/>
              </a:rPr>
              <a:t>Offshore · Cognizant</a:t>
            </a:r>
          </a:p>
        </p:txBody>
      </p:sp>
      <p:sp>
        <p:nvSpPr>
          <p:cNvPr id="49" name="Rectangle 48"/>
          <p:cNvSpPr/>
          <p:nvPr/>
        </p:nvSpPr>
        <p:spPr>
          <a:xfrm>
            <a:off x="463296" y="3261360"/>
            <a:ext cx="5547360" cy="249936"/>
          </a:xfrm>
          <a:prstGeom prst="rect">
            <a:avLst/>
          </a:prstGeom>
          <a:solidFill>
            <a:srgbClr val="F3F0FA"/>
          </a:solidFill>
          <a:ln w="4445">
            <a:solidFill>
              <a:srgbClr val="EEEE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Rectangle 49"/>
          <p:cNvSpPr/>
          <p:nvPr/>
        </p:nvSpPr>
        <p:spPr>
          <a:xfrm>
            <a:off x="463296" y="3261360"/>
            <a:ext cx="42672" cy="249936"/>
          </a:xfrm>
          <a:prstGeom prst="rect">
            <a:avLst/>
          </a:prstGeom>
          <a:solidFill>
            <a:srgbClr val="6B21D4"/>
          </a:solidFill>
          <a:ln>
            <a:solidFill>
              <a:srgbClr val="6B21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Rectangle 50"/>
          <p:cNvSpPr/>
          <p:nvPr/>
        </p:nvSpPr>
        <p:spPr>
          <a:xfrm>
            <a:off x="524256" y="3261360"/>
            <a:ext cx="2109216" cy="249936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144" rIns="9144" tIns="4572" bIns="4572"/>
          <a:lstStyle/>
          <a:p>
            <a:pPr algn="l"/>
            <a:r>
              <a:rPr sz="1000" b="1">
                <a:solidFill>
                  <a:srgbClr val="111111"/>
                </a:solidFill>
                <a:latin typeface="Aptos"/>
              </a:rPr>
              <a:t>Nitis S B</a:t>
            </a:r>
          </a:p>
        </p:txBody>
      </p:sp>
      <p:sp>
        <p:nvSpPr>
          <p:cNvPr id="52" name="Rectangle 51"/>
          <p:cNvSpPr/>
          <p:nvPr/>
        </p:nvSpPr>
        <p:spPr>
          <a:xfrm>
            <a:off x="2633472" y="3261360"/>
            <a:ext cx="1950720" cy="249936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144" rIns="9144" tIns="4572" bIns="4572"/>
          <a:lstStyle/>
          <a:p>
            <a:pPr algn="l"/>
            <a:r>
              <a:rPr sz="1000" b="0">
                <a:solidFill>
                  <a:srgbClr val="6B21D4"/>
                </a:solidFill>
                <a:latin typeface="Aptos"/>
              </a:rPr>
              <a:t>Full Stack Dev</a:t>
            </a:r>
          </a:p>
        </p:txBody>
      </p:sp>
      <p:sp>
        <p:nvSpPr>
          <p:cNvPr id="53" name="Rectangle 52"/>
          <p:cNvSpPr/>
          <p:nvPr/>
        </p:nvSpPr>
        <p:spPr>
          <a:xfrm>
            <a:off x="4584192" y="3261360"/>
            <a:ext cx="1389886" cy="249936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144" rIns="9144" tIns="4572" bIns="4572"/>
          <a:lstStyle/>
          <a:p>
            <a:pPr algn="l"/>
            <a:r>
              <a:rPr sz="1000" b="0">
                <a:solidFill>
                  <a:srgbClr val="777777"/>
                </a:solidFill>
                <a:latin typeface="Aptos"/>
              </a:rPr>
              <a:t>Offshore · Cognizant</a:t>
            </a:r>
          </a:p>
        </p:txBody>
      </p:sp>
      <p:sp>
        <p:nvSpPr>
          <p:cNvPr id="54" name="Rectangle 53"/>
          <p:cNvSpPr/>
          <p:nvPr/>
        </p:nvSpPr>
        <p:spPr>
          <a:xfrm>
            <a:off x="463296" y="3511296"/>
            <a:ext cx="5547360" cy="249936"/>
          </a:xfrm>
          <a:prstGeom prst="rect">
            <a:avLst/>
          </a:prstGeom>
          <a:solidFill>
            <a:srgbClr val="FFFFFF"/>
          </a:solidFill>
          <a:ln w="4445">
            <a:solidFill>
              <a:srgbClr val="EEEE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463296" y="3511296"/>
            <a:ext cx="42672" cy="249936"/>
          </a:xfrm>
          <a:prstGeom prst="rect">
            <a:avLst/>
          </a:prstGeom>
          <a:solidFill>
            <a:srgbClr val="6B21D4"/>
          </a:solidFill>
          <a:ln>
            <a:solidFill>
              <a:srgbClr val="6B21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Rectangle 55"/>
          <p:cNvSpPr/>
          <p:nvPr/>
        </p:nvSpPr>
        <p:spPr>
          <a:xfrm>
            <a:off x="524256" y="3511296"/>
            <a:ext cx="2109216" cy="249936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144" rIns="9144" tIns="4572" bIns="4572"/>
          <a:lstStyle/>
          <a:p>
            <a:pPr algn="l"/>
            <a:r>
              <a:rPr sz="1000" b="1">
                <a:solidFill>
                  <a:srgbClr val="111111"/>
                </a:solidFill>
                <a:latin typeface="Aptos"/>
              </a:rPr>
              <a:t>Brinda S</a:t>
            </a:r>
          </a:p>
        </p:txBody>
      </p:sp>
      <p:sp>
        <p:nvSpPr>
          <p:cNvPr id="57" name="Rectangle 56"/>
          <p:cNvSpPr/>
          <p:nvPr/>
        </p:nvSpPr>
        <p:spPr>
          <a:xfrm>
            <a:off x="2633472" y="3511296"/>
            <a:ext cx="1950720" cy="249936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144" rIns="9144" tIns="4572" bIns="4572"/>
          <a:lstStyle/>
          <a:p>
            <a:pPr algn="l"/>
            <a:r>
              <a:rPr sz="1000" b="0">
                <a:solidFill>
                  <a:srgbClr val="6B21D4"/>
                </a:solidFill>
                <a:latin typeface="Aptos"/>
              </a:rPr>
              <a:t>QA – Functional</a:t>
            </a:r>
          </a:p>
        </p:txBody>
      </p:sp>
      <p:sp>
        <p:nvSpPr>
          <p:cNvPr id="58" name="Rectangle 57"/>
          <p:cNvSpPr/>
          <p:nvPr/>
        </p:nvSpPr>
        <p:spPr>
          <a:xfrm>
            <a:off x="4584192" y="3511296"/>
            <a:ext cx="1389886" cy="249936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144" rIns="9144" tIns="4572" bIns="4572"/>
          <a:lstStyle/>
          <a:p>
            <a:pPr algn="l"/>
            <a:r>
              <a:rPr sz="1000" b="0">
                <a:solidFill>
                  <a:srgbClr val="777777"/>
                </a:solidFill>
                <a:latin typeface="Aptos"/>
              </a:rPr>
              <a:t>Offshore · Trane-ITC</a:t>
            </a:r>
          </a:p>
        </p:txBody>
      </p:sp>
      <p:sp>
        <p:nvSpPr>
          <p:cNvPr id="59" name="Rectangle 58"/>
          <p:cNvSpPr/>
          <p:nvPr/>
        </p:nvSpPr>
        <p:spPr>
          <a:xfrm>
            <a:off x="463296" y="3761232"/>
            <a:ext cx="5547360" cy="249936"/>
          </a:xfrm>
          <a:prstGeom prst="rect">
            <a:avLst/>
          </a:prstGeom>
          <a:solidFill>
            <a:srgbClr val="F3F0FA"/>
          </a:solidFill>
          <a:ln w="4445">
            <a:solidFill>
              <a:srgbClr val="EEEE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Rectangle 59"/>
          <p:cNvSpPr/>
          <p:nvPr/>
        </p:nvSpPr>
        <p:spPr>
          <a:xfrm>
            <a:off x="463296" y="3761232"/>
            <a:ext cx="42672" cy="249936"/>
          </a:xfrm>
          <a:prstGeom prst="rect">
            <a:avLst/>
          </a:prstGeom>
          <a:solidFill>
            <a:srgbClr val="6B21D4"/>
          </a:solidFill>
          <a:ln>
            <a:solidFill>
              <a:srgbClr val="6B21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Rectangle 60"/>
          <p:cNvSpPr/>
          <p:nvPr/>
        </p:nvSpPr>
        <p:spPr>
          <a:xfrm>
            <a:off x="524256" y="3761232"/>
            <a:ext cx="2109216" cy="249936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144" rIns="9144" tIns="4572" bIns="4572"/>
          <a:lstStyle/>
          <a:p>
            <a:pPr algn="l"/>
            <a:r>
              <a:rPr sz="1000" b="1">
                <a:solidFill>
                  <a:srgbClr val="111111"/>
                </a:solidFill>
                <a:latin typeface="Aptos"/>
              </a:rPr>
              <a:t>Devendra E</a:t>
            </a:r>
          </a:p>
        </p:txBody>
      </p:sp>
      <p:sp>
        <p:nvSpPr>
          <p:cNvPr id="62" name="Rectangle 61"/>
          <p:cNvSpPr/>
          <p:nvPr/>
        </p:nvSpPr>
        <p:spPr>
          <a:xfrm>
            <a:off x="2633472" y="3761232"/>
            <a:ext cx="1950720" cy="249936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144" rIns="9144" tIns="4572" bIns="4572"/>
          <a:lstStyle/>
          <a:p>
            <a:pPr algn="l"/>
            <a:r>
              <a:rPr sz="1000" b="0">
                <a:solidFill>
                  <a:srgbClr val="6B21D4"/>
                </a:solidFill>
                <a:latin typeface="Aptos"/>
              </a:rPr>
              <a:t>QA – Func / Auto</a:t>
            </a:r>
          </a:p>
        </p:txBody>
      </p:sp>
      <p:sp>
        <p:nvSpPr>
          <p:cNvPr id="63" name="Rectangle 62"/>
          <p:cNvSpPr/>
          <p:nvPr/>
        </p:nvSpPr>
        <p:spPr>
          <a:xfrm>
            <a:off x="4584192" y="3761232"/>
            <a:ext cx="1389886" cy="249936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144" rIns="9144" tIns="4572" bIns="4572"/>
          <a:lstStyle/>
          <a:p>
            <a:pPr algn="l"/>
            <a:r>
              <a:rPr sz="1000" b="0">
                <a:solidFill>
                  <a:srgbClr val="777777"/>
                </a:solidFill>
                <a:latin typeface="Aptos"/>
              </a:rPr>
              <a:t>Offshore · Trane-ITC</a:t>
            </a:r>
          </a:p>
        </p:txBody>
      </p:sp>
      <p:sp>
        <p:nvSpPr>
          <p:cNvPr id="64" name="Rectangle 63"/>
          <p:cNvSpPr/>
          <p:nvPr/>
        </p:nvSpPr>
        <p:spPr>
          <a:xfrm>
            <a:off x="463296" y="4011168"/>
            <a:ext cx="5547360" cy="249936"/>
          </a:xfrm>
          <a:prstGeom prst="rect">
            <a:avLst/>
          </a:prstGeom>
          <a:solidFill>
            <a:srgbClr val="FFFFFF"/>
          </a:solidFill>
          <a:ln w="4445">
            <a:solidFill>
              <a:srgbClr val="EEEE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Rectangle 64"/>
          <p:cNvSpPr/>
          <p:nvPr/>
        </p:nvSpPr>
        <p:spPr>
          <a:xfrm>
            <a:off x="463296" y="4011168"/>
            <a:ext cx="42672" cy="249936"/>
          </a:xfrm>
          <a:prstGeom prst="rect">
            <a:avLst/>
          </a:prstGeom>
          <a:solidFill>
            <a:srgbClr val="6B21D4"/>
          </a:solidFill>
          <a:ln>
            <a:solidFill>
              <a:srgbClr val="6B21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Rectangle 65"/>
          <p:cNvSpPr/>
          <p:nvPr/>
        </p:nvSpPr>
        <p:spPr>
          <a:xfrm>
            <a:off x="524256" y="4011168"/>
            <a:ext cx="2109216" cy="249936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144" rIns="9144" tIns="4572" bIns="4572"/>
          <a:lstStyle/>
          <a:p>
            <a:pPr algn="l"/>
            <a:r>
              <a:rPr sz="1000" b="1">
                <a:solidFill>
                  <a:srgbClr val="111111"/>
                </a:solidFill>
                <a:latin typeface="Aptos"/>
              </a:rPr>
              <a:t>Praveen Nagaraj</a:t>
            </a:r>
          </a:p>
        </p:txBody>
      </p:sp>
      <p:sp>
        <p:nvSpPr>
          <p:cNvPr id="67" name="Rectangle 66"/>
          <p:cNvSpPr/>
          <p:nvPr/>
        </p:nvSpPr>
        <p:spPr>
          <a:xfrm>
            <a:off x="2633472" y="4011168"/>
            <a:ext cx="1950720" cy="249936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144" rIns="9144" tIns="4572" bIns="4572"/>
          <a:lstStyle/>
          <a:p>
            <a:pPr algn="l"/>
            <a:r>
              <a:rPr sz="1000" b="0">
                <a:solidFill>
                  <a:srgbClr val="6B21D4"/>
                </a:solidFill>
                <a:latin typeface="Aptos"/>
              </a:rPr>
              <a:t>QA – Functional</a:t>
            </a:r>
          </a:p>
        </p:txBody>
      </p:sp>
      <p:sp>
        <p:nvSpPr>
          <p:cNvPr id="68" name="Rectangle 67"/>
          <p:cNvSpPr/>
          <p:nvPr/>
        </p:nvSpPr>
        <p:spPr>
          <a:xfrm>
            <a:off x="4584192" y="4011168"/>
            <a:ext cx="1389886" cy="249936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144" rIns="9144" tIns="4572" bIns="4572"/>
          <a:lstStyle/>
          <a:p>
            <a:pPr algn="l"/>
            <a:r>
              <a:rPr sz="1000" b="0">
                <a:solidFill>
                  <a:srgbClr val="777777"/>
                </a:solidFill>
                <a:latin typeface="Aptos"/>
              </a:rPr>
              <a:t>Offshore · Trane-ITC</a:t>
            </a:r>
          </a:p>
        </p:txBody>
      </p:sp>
      <p:sp>
        <p:nvSpPr>
          <p:cNvPr id="69" name="Rectangle 68"/>
          <p:cNvSpPr/>
          <p:nvPr/>
        </p:nvSpPr>
        <p:spPr>
          <a:xfrm>
            <a:off x="463296" y="4261104"/>
            <a:ext cx="5547360" cy="249936"/>
          </a:xfrm>
          <a:prstGeom prst="rect">
            <a:avLst/>
          </a:prstGeom>
          <a:solidFill>
            <a:srgbClr val="F3F0FA"/>
          </a:solidFill>
          <a:ln w="4445">
            <a:solidFill>
              <a:srgbClr val="EEEE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Rectangle 69"/>
          <p:cNvSpPr/>
          <p:nvPr/>
        </p:nvSpPr>
        <p:spPr>
          <a:xfrm>
            <a:off x="463296" y="4261104"/>
            <a:ext cx="42672" cy="249936"/>
          </a:xfrm>
          <a:prstGeom prst="rect">
            <a:avLst/>
          </a:prstGeom>
          <a:solidFill>
            <a:srgbClr val="6B21D4"/>
          </a:solidFill>
          <a:ln>
            <a:solidFill>
              <a:srgbClr val="6B21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Rectangle 70"/>
          <p:cNvSpPr/>
          <p:nvPr/>
        </p:nvSpPr>
        <p:spPr>
          <a:xfrm>
            <a:off x="524256" y="4261104"/>
            <a:ext cx="2109216" cy="249936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144" rIns="9144" tIns="4572" bIns="4572"/>
          <a:lstStyle/>
          <a:p>
            <a:pPr algn="l"/>
            <a:r>
              <a:rPr sz="1000" b="1">
                <a:solidFill>
                  <a:srgbClr val="111111"/>
                </a:solidFill>
                <a:latin typeface="Aptos"/>
              </a:rPr>
              <a:t>Jashwanth Sai</a:t>
            </a:r>
          </a:p>
        </p:txBody>
      </p:sp>
      <p:sp>
        <p:nvSpPr>
          <p:cNvPr id="72" name="Rectangle 71"/>
          <p:cNvSpPr/>
          <p:nvPr/>
        </p:nvSpPr>
        <p:spPr>
          <a:xfrm>
            <a:off x="2633472" y="4261104"/>
            <a:ext cx="1950720" cy="249936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144" rIns="9144" tIns="4572" bIns="4572"/>
          <a:lstStyle/>
          <a:p>
            <a:pPr algn="l"/>
            <a:r>
              <a:rPr sz="1000" b="0">
                <a:solidFill>
                  <a:srgbClr val="6B21D4"/>
                </a:solidFill>
                <a:latin typeface="Aptos"/>
              </a:rPr>
              <a:t>QA – Func / Auto</a:t>
            </a:r>
          </a:p>
        </p:txBody>
      </p:sp>
      <p:sp>
        <p:nvSpPr>
          <p:cNvPr id="73" name="Rectangle 72"/>
          <p:cNvSpPr/>
          <p:nvPr/>
        </p:nvSpPr>
        <p:spPr>
          <a:xfrm>
            <a:off x="4584192" y="4261104"/>
            <a:ext cx="1389886" cy="249936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144" rIns="9144" tIns="4572" bIns="4572"/>
          <a:lstStyle/>
          <a:p>
            <a:pPr algn="l"/>
            <a:r>
              <a:rPr sz="1000" b="0">
                <a:solidFill>
                  <a:srgbClr val="777777"/>
                </a:solidFill>
                <a:latin typeface="Aptos"/>
              </a:rPr>
              <a:t>Offshore · Trane-ITC</a:t>
            </a:r>
          </a:p>
        </p:txBody>
      </p:sp>
      <p:sp>
        <p:nvSpPr>
          <p:cNvPr id="74" name="Rectangle 73"/>
          <p:cNvSpPr/>
          <p:nvPr/>
        </p:nvSpPr>
        <p:spPr>
          <a:xfrm>
            <a:off x="6156960" y="707136"/>
            <a:ext cx="5547360" cy="24384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4572" bIns="4572"/>
          <a:lstStyle/>
          <a:p>
            <a:pPr algn="l"/>
            <a:r>
              <a:rPr sz="1000" b="1">
                <a:solidFill>
                  <a:srgbClr val="4A148C"/>
                </a:solidFill>
                <a:latin typeface="Aptos"/>
              </a:rPr>
              <a:t>Team B (17 members)</a:t>
            </a:r>
          </a:p>
        </p:txBody>
      </p:sp>
      <p:sp>
        <p:nvSpPr>
          <p:cNvPr id="75" name="Rectangle 74"/>
          <p:cNvSpPr/>
          <p:nvPr/>
        </p:nvSpPr>
        <p:spPr>
          <a:xfrm>
            <a:off x="6156960" y="1011936"/>
            <a:ext cx="5547360" cy="237744"/>
          </a:xfrm>
          <a:prstGeom prst="rect">
            <a:avLst/>
          </a:prstGeom>
          <a:solidFill>
            <a:srgbClr val="FFFFFF"/>
          </a:solidFill>
          <a:ln w="4445">
            <a:solidFill>
              <a:srgbClr val="EEEE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Rectangle 75"/>
          <p:cNvSpPr/>
          <p:nvPr/>
        </p:nvSpPr>
        <p:spPr>
          <a:xfrm>
            <a:off x="6156960" y="1011936"/>
            <a:ext cx="42672" cy="237744"/>
          </a:xfrm>
          <a:prstGeom prst="rect">
            <a:avLst/>
          </a:prstGeom>
          <a:solidFill>
            <a:srgbClr val="6B21D4"/>
          </a:solidFill>
          <a:ln>
            <a:solidFill>
              <a:srgbClr val="6B21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Rectangle 76"/>
          <p:cNvSpPr/>
          <p:nvPr/>
        </p:nvSpPr>
        <p:spPr>
          <a:xfrm>
            <a:off x="6217920" y="1011936"/>
            <a:ext cx="2109216" cy="237744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144" rIns="9144" tIns="4572" bIns="4572"/>
          <a:lstStyle/>
          <a:p>
            <a:pPr algn="l"/>
            <a:r>
              <a:rPr sz="1000" b="1">
                <a:solidFill>
                  <a:srgbClr val="111111"/>
                </a:solidFill>
                <a:latin typeface="Aptos"/>
              </a:rPr>
              <a:t>Cami White</a:t>
            </a:r>
          </a:p>
        </p:txBody>
      </p:sp>
      <p:sp>
        <p:nvSpPr>
          <p:cNvPr id="78" name="Rectangle 77"/>
          <p:cNvSpPr/>
          <p:nvPr/>
        </p:nvSpPr>
        <p:spPr>
          <a:xfrm>
            <a:off x="8327136" y="1011936"/>
            <a:ext cx="1950720" cy="237744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144" rIns="9144" tIns="4572" bIns="4572"/>
          <a:lstStyle/>
          <a:p>
            <a:pPr algn="l"/>
            <a:r>
              <a:rPr sz="1000" b="0">
                <a:solidFill>
                  <a:srgbClr val="6B21D4"/>
                </a:solidFill>
                <a:latin typeface="Aptos"/>
              </a:rPr>
              <a:t>Product Owner</a:t>
            </a:r>
          </a:p>
        </p:txBody>
      </p:sp>
      <p:sp>
        <p:nvSpPr>
          <p:cNvPr id="79" name="Rectangle 78"/>
          <p:cNvSpPr/>
          <p:nvPr/>
        </p:nvSpPr>
        <p:spPr>
          <a:xfrm>
            <a:off x="10277856" y="1011936"/>
            <a:ext cx="1389886" cy="237744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144" rIns="9144" tIns="4572" bIns="4572"/>
          <a:lstStyle/>
          <a:p>
            <a:pPr algn="l"/>
            <a:r>
              <a:rPr sz="1000" b="0">
                <a:solidFill>
                  <a:srgbClr val="777777"/>
                </a:solidFill>
                <a:latin typeface="Aptos"/>
              </a:rPr>
              <a:t>Onshore · Trane</a:t>
            </a:r>
          </a:p>
        </p:txBody>
      </p:sp>
      <p:sp>
        <p:nvSpPr>
          <p:cNvPr id="80" name="Rectangle 79"/>
          <p:cNvSpPr/>
          <p:nvPr/>
        </p:nvSpPr>
        <p:spPr>
          <a:xfrm>
            <a:off x="6156960" y="1249678"/>
            <a:ext cx="5547360" cy="237744"/>
          </a:xfrm>
          <a:prstGeom prst="rect">
            <a:avLst/>
          </a:prstGeom>
          <a:solidFill>
            <a:srgbClr val="F3F0FA"/>
          </a:solidFill>
          <a:ln w="4445">
            <a:solidFill>
              <a:srgbClr val="EEEE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Rectangle 80"/>
          <p:cNvSpPr/>
          <p:nvPr/>
        </p:nvSpPr>
        <p:spPr>
          <a:xfrm>
            <a:off x="6156960" y="1249678"/>
            <a:ext cx="42672" cy="237744"/>
          </a:xfrm>
          <a:prstGeom prst="rect">
            <a:avLst/>
          </a:prstGeom>
          <a:solidFill>
            <a:srgbClr val="6B21D4"/>
          </a:solidFill>
          <a:ln>
            <a:solidFill>
              <a:srgbClr val="6B21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Rectangle 81"/>
          <p:cNvSpPr/>
          <p:nvPr/>
        </p:nvSpPr>
        <p:spPr>
          <a:xfrm>
            <a:off x="6217920" y="1249678"/>
            <a:ext cx="2109216" cy="237744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144" rIns="9144" tIns="4572" bIns="4572"/>
          <a:lstStyle/>
          <a:p>
            <a:pPr algn="l"/>
            <a:r>
              <a:rPr sz="1000" b="1">
                <a:solidFill>
                  <a:srgbClr val="111111"/>
                </a:solidFill>
                <a:latin typeface="Aptos"/>
              </a:rPr>
              <a:t>Cassi Key</a:t>
            </a:r>
          </a:p>
        </p:txBody>
      </p:sp>
      <p:sp>
        <p:nvSpPr>
          <p:cNvPr id="83" name="Rectangle 82"/>
          <p:cNvSpPr/>
          <p:nvPr/>
        </p:nvSpPr>
        <p:spPr>
          <a:xfrm>
            <a:off x="8327136" y="1249678"/>
            <a:ext cx="1950720" cy="237744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144" rIns="9144" tIns="4572" bIns="4572"/>
          <a:lstStyle/>
          <a:p>
            <a:pPr algn="l"/>
            <a:r>
              <a:rPr sz="1000" b="0">
                <a:solidFill>
                  <a:srgbClr val="6B21D4"/>
                </a:solidFill>
                <a:latin typeface="Aptos"/>
              </a:rPr>
              <a:t>PO Business</a:t>
            </a:r>
          </a:p>
        </p:txBody>
      </p:sp>
      <p:sp>
        <p:nvSpPr>
          <p:cNvPr id="84" name="Rectangle 83"/>
          <p:cNvSpPr/>
          <p:nvPr/>
        </p:nvSpPr>
        <p:spPr>
          <a:xfrm>
            <a:off x="10277856" y="1249678"/>
            <a:ext cx="1389886" cy="237744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144" rIns="9144" tIns="4572" bIns="4572"/>
          <a:lstStyle/>
          <a:p>
            <a:pPr algn="l"/>
            <a:r>
              <a:rPr sz="1000" b="0">
                <a:solidFill>
                  <a:srgbClr val="777777"/>
                </a:solidFill>
                <a:latin typeface="Aptos"/>
              </a:rPr>
              <a:t>Onshore · Trane</a:t>
            </a:r>
          </a:p>
        </p:txBody>
      </p:sp>
      <p:sp>
        <p:nvSpPr>
          <p:cNvPr id="85" name="Rectangle 84"/>
          <p:cNvSpPr/>
          <p:nvPr/>
        </p:nvSpPr>
        <p:spPr>
          <a:xfrm>
            <a:off x="6156960" y="1487424"/>
            <a:ext cx="5547360" cy="237744"/>
          </a:xfrm>
          <a:prstGeom prst="rect">
            <a:avLst/>
          </a:prstGeom>
          <a:solidFill>
            <a:srgbClr val="FFFFFF"/>
          </a:solidFill>
          <a:ln w="4445">
            <a:solidFill>
              <a:srgbClr val="EEEE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Rectangle 85"/>
          <p:cNvSpPr/>
          <p:nvPr/>
        </p:nvSpPr>
        <p:spPr>
          <a:xfrm>
            <a:off x="6156960" y="1487424"/>
            <a:ext cx="42672" cy="237744"/>
          </a:xfrm>
          <a:prstGeom prst="rect">
            <a:avLst/>
          </a:prstGeom>
          <a:solidFill>
            <a:srgbClr val="6B21D4"/>
          </a:solidFill>
          <a:ln>
            <a:solidFill>
              <a:srgbClr val="6B21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Rectangle 86"/>
          <p:cNvSpPr/>
          <p:nvPr/>
        </p:nvSpPr>
        <p:spPr>
          <a:xfrm>
            <a:off x="6217920" y="1487424"/>
            <a:ext cx="2109216" cy="237744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144" rIns="9144" tIns="4572" bIns="4572"/>
          <a:lstStyle/>
          <a:p>
            <a:pPr algn="l"/>
            <a:r>
              <a:rPr sz="1000" b="1">
                <a:solidFill>
                  <a:srgbClr val="111111"/>
                </a:solidFill>
                <a:latin typeface="Aptos"/>
              </a:rPr>
              <a:t>Harish Chintakuntla</a:t>
            </a:r>
          </a:p>
        </p:txBody>
      </p:sp>
      <p:sp>
        <p:nvSpPr>
          <p:cNvPr id="88" name="Rectangle 87"/>
          <p:cNvSpPr/>
          <p:nvPr/>
        </p:nvSpPr>
        <p:spPr>
          <a:xfrm>
            <a:off x="8327136" y="1487424"/>
            <a:ext cx="1950720" cy="237744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144" rIns="9144" tIns="4572" bIns="4572"/>
          <a:lstStyle/>
          <a:p>
            <a:pPr algn="l"/>
            <a:r>
              <a:rPr sz="1000" b="0">
                <a:solidFill>
                  <a:srgbClr val="6B21D4"/>
                </a:solidFill>
                <a:latin typeface="Aptos"/>
              </a:rPr>
              <a:t>Prod Analyst (R12)</a:t>
            </a:r>
          </a:p>
        </p:txBody>
      </p:sp>
      <p:sp>
        <p:nvSpPr>
          <p:cNvPr id="89" name="Rectangle 88"/>
          <p:cNvSpPr/>
          <p:nvPr/>
        </p:nvSpPr>
        <p:spPr>
          <a:xfrm>
            <a:off x="10277856" y="1487424"/>
            <a:ext cx="1389886" cy="237744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144" rIns="9144" tIns="4572" bIns="4572"/>
          <a:lstStyle/>
          <a:p>
            <a:pPr algn="l"/>
            <a:r>
              <a:rPr sz="1000" b="0">
                <a:solidFill>
                  <a:srgbClr val="777777"/>
                </a:solidFill>
                <a:latin typeface="Aptos"/>
              </a:rPr>
              <a:t>Onshore · Trane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156960" y="1725168"/>
            <a:ext cx="5547360" cy="237744"/>
          </a:xfrm>
          <a:prstGeom prst="rect">
            <a:avLst/>
          </a:prstGeom>
          <a:solidFill>
            <a:srgbClr val="F3F0FA"/>
          </a:solidFill>
          <a:ln w="4445">
            <a:solidFill>
              <a:srgbClr val="EEEE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Rectangle 90"/>
          <p:cNvSpPr/>
          <p:nvPr/>
        </p:nvSpPr>
        <p:spPr>
          <a:xfrm>
            <a:off x="6156960" y="1725168"/>
            <a:ext cx="42672" cy="237744"/>
          </a:xfrm>
          <a:prstGeom prst="rect">
            <a:avLst/>
          </a:prstGeom>
          <a:solidFill>
            <a:srgbClr val="6B21D4"/>
          </a:solidFill>
          <a:ln>
            <a:solidFill>
              <a:srgbClr val="6B21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Rectangle 91"/>
          <p:cNvSpPr/>
          <p:nvPr/>
        </p:nvSpPr>
        <p:spPr>
          <a:xfrm>
            <a:off x="6217920" y="1725168"/>
            <a:ext cx="2109216" cy="237744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144" rIns="9144" tIns="4572" bIns="4572"/>
          <a:lstStyle/>
          <a:p>
            <a:pPr algn="l"/>
            <a:r>
              <a:rPr sz="1000" b="1">
                <a:solidFill>
                  <a:srgbClr val="111111"/>
                </a:solidFill>
                <a:latin typeface="Aptos"/>
              </a:rPr>
              <a:t>Chirag Gandhi</a:t>
            </a:r>
          </a:p>
        </p:txBody>
      </p:sp>
      <p:sp>
        <p:nvSpPr>
          <p:cNvPr id="93" name="Rectangle 92"/>
          <p:cNvSpPr/>
          <p:nvPr/>
        </p:nvSpPr>
        <p:spPr>
          <a:xfrm>
            <a:off x="8327136" y="1725168"/>
            <a:ext cx="1950720" cy="237744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144" rIns="9144" tIns="4572" bIns="4572"/>
          <a:lstStyle/>
          <a:p>
            <a:pPr algn="l"/>
            <a:r>
              <a:rPr sz="1000" b="0">
                <a:solidFill>
                  <a:srgbClr val="6B21D4"/>
                </a:solidFill>
                <a:latin typeface="Aptos"/>
              </a:rPr>
              <a:t>Prod Analyst (R12)</a:t>
            </a:r>
          </a:p>
        </p:txBody>
      </p:sp>
      <p:sp>
        <p:nvSpPr>
          <p:cNvPr id="94" name="Rectangle 93"/>
          <p:cNvSpPr/>
          <p:nvPr/>
        </p:nvSpPr>
        <p:spPr>
          <a:xfrm>
            <a:off x="10277856" y="1725168"/>
            <a:ext cx="1389886" cy="237744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144" rIns="9144" tIns="4572" bIns="4572"/>
          <a:lstStyle/>
          <a:p>
            <a:pPr algn="l"/>
            <a:r>
              <a:rPr sz="1000" b="0">
                <a:solidFill>
                  <a:srgbClr val="777777"/>
                </a:solidFill>
                <a:latin typeface="Aptos"/>
              </a:rPr>
              <a:t>Onshore · Trane</a:t>
            </a:r>
          </a:p>
        </p:txBody>
      </p:sp>
      <p:sp>
        <p:nvSpPr>
          <p:cNvPr id="95" name="Rectangle 94"/>
          <p:cNvSpPr/>
          <p:nvPr/>
        </p:nvSpPr>
        <p:spPr>
          <a:xfrm>
            <a:off x="6156960" y="1962912"/>
            <a:ext cx="5547360" cy="237744"/>
          </a:xfrm>
          <a:prstGeom prst="rect">
            <a:avLst/>
          </a:prstGeom>
          <a:solidFill>
            <a:srgbClr val="FFFFFF"/>
          </a:solidFill>
          <a:ln w="4445">
            <a:solidFill>
              <a:srgbClr val="EEEE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Rectangle 95"/>
          <p:cNvSpPr/>
          <p:nvPr/>
        </p:nvSpPr>
        <p:spPr>
          <a:xfrm>
            <a:off x="6156960" y="1962912"/>
            <a:ext cx="42672" cy="237744"/>
          </a:xfrm>
          <a:prstGeom prst="rect">
            <a:avLst/>
          </a:prstGeom>
          <a:solidFill>
            <a:srgbClr val="6B21D4"/>
          </a:solidFill>
          <a:ln>
            <a:solidFill>
              <a:srgbClr val="6B21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Rectangle 96"/>
          <p:cNvSpPr/>
          <p:nvPr/>
        </p:nvSpPr>
        <p:spPr>
          <a:xfrm>
            <a:off x="6217920" y="1962912"/>
            <a:ext cx="2109216" cy="237744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144" rIns="9144" tIns="4572" bIns="4572"/>
          <a:lstStyle/>
          <a:p>
            <a:pPr algn="l"/>
            <a:r>
              <a:rPr sz="1000" b="1">
                <a:solidFill>
                  <a:srgbClr val="111111"/>
                </a:solidFill>
                <a:latin typeface="Aptos"/>
              </a:rPr>
              <a:t>Sundararajan A</a:t>
            </a:r>
          </a:p>
        </p:txBody>
      </p:sp>
      <p:sp>
        <p:nvSpPr>
          <p:cNvPr id="98" name="Rectangle 97"/>
          <p:cNvSpPr/>
          <p:nvPr/>
        </p:nvSpPr>
        <p:spPr>
          <a:xfrm>
            <a:off x="8327136" y="1962912"/>
            <a:ext cx="1950720" cy="237744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144" rIns="9144" tIns="4572" bIns="4572"/>
          <a:lstStyle/>
          <a:p>
            <a:pPr algn="l"/>
            <a:r>
              <a:rPr sz="1000" b="0">
                <a:solidFill>
                  <a:srgbClr val="6B21D4"/>
                </a:solidFill>
                <a:latin typeface="Aptos"/>
              </a:rPr>
              <a:t>Func Analyst</a:t>
            </a:r>
          </a:p>
        </p:txBody>
      </p:sp>
      <p:sp>
        <p:nvSpPr>
          <p:cNvPr id="99" name="Rectangle 98"/>
          <p:cNvSpPr/>
          <p:nvPr/>
        </p:nvSpPr>
        <p:spPr>
          <a:xfrm>
            <a:off x="10277856" y="1962912"/>
            <a:ext cx="1389886" cy="237744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144" rIns="9144" tIns="4572" bIns="4572"/>
          <a:lstStyle/>
          <a:p>
            <a:pPr algn="l"/>
            <a:r>
              <a:rPr sz="1000" b="0">
                <a:solidFill>
                  <a:srgbClr val="777777"/>
                </a:solidFill>
                <a:latin typeface="Aptos"/>
              </a:rPr>
              <a:t>Onshore · Cognizant</a:t>
            </a:r>
          </a:p>
        </p:txBody>
      </p:sp>
      <p:sp>
        <p:nvSpPr>
          <p:cNvPr id="100" name="Rectangle 99"/>
          <p:cNvSpPr/>
          <p:nvPr/>
        </p:nvSpPr>
        <p:spPr>
          <a:xfrm>
            <a:off x="6156960" y="2200656"/>
            <a:ext cx="5547360" cy="237744"/>
          </a:xfrm>
          <a:prstGeom prst="rect">
            <a:avLst/>
          </a:prstGeom>
          <a:solidFill>
            <a:srgbClr val="F3F0FA"/>
          </a:solidFill>
          <a:ln w="4445">
            <a:solidFill>
              <a:srgbClr val="EEEE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Rectangle 100"/>
          <p:cNvSpPr/>
          <p:nvPr/>
        </p:nvSpPr>
        <p:spPr>
          <a:xfrm>
            <a:off x="6156960" y="2200656"/>
            <a:ext cx="42672" cy="237744"/>
          </a:xfrm>
          <a:prstGeom prst="rect">
            <a:avLst/>
          </a:prstGeom>
          <a:solidFill>
            <a:srgbClr val="6B21D4"/>
          </a:solidFill>
          <a:ln>
            <a:solidFill>
              <a:srgbClr val="6B21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" name="Rectangle 101"/>
          <p:cNvSpPr/>
          <p:nvPr/>
        </p:nvSpPr>
        <p:spPr>
          <a:xfrm>
            <a:off x="6217920" y="2200656"/>
            <a:ext cx="2109216" cy="237744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144" rIns="9144" tIns="4572" bIns="4572"/>
          <a:lstStyle/>
          <a:p>
            <a:pPr algn="l"/>
            <a:r>
              <a:rPr sz="1000" b="1">
                <a:solidFill>
                  <a:srgbClr val="111111"/>
                </a:solidFill>
                <a:latin typeface="Aptos"/>
              </a:rPr>
              <a:t>Karim Mohammed</a:t>
            </a:r>
          </a:p>
        </p:txBody>
      </p:sp>
      <p:sp>
        <p:nvSpPr>
          <p:cNvPr id="103" name="Rectangle 102"/>
          <p:cNvSpPr/>
          <p:nvPr/>
        </p:nvSpPr>
        <p:spPr>
          <a:xfrm>
            <a:off x="8327136" y="2200656"/>
            <a:ext cx="1950720" cy="237744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144" rIns="9144" tIns="4572" bIns="4572"/>
          <a:lstStyle/>
          <a:p>
            <a:pPr algn="l"/>
            <a:r>
              <a:rPr sz="1000" b="0">
                <a:solidFill>
                  <a:srgbClr val="6B21D4"/>
                </a:solidFill>
                <a:latin typeface="Aptos"/>
              </a:rPr>
              <a:t>Func Analyst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10277856" y="2200656"/>
            <a:ext cx="1389886" cy="237744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144" rIns="9144" tIns="4572" bIns="4572"/>
          <a:lstStyle/>
          <a:p>
            <a:pPr algn="l"/>
            <a:r>
              <a:rPr sz="1000" b="0">
                <a:solidFill>
                  <a:srgbClr val="777777"/>
                </a:solidFill>
                <a:latin typeface="Aptos"/>
              </a:rPr>
              <a:t>Offshore · Trane-ITC</a:t>
            </a:r>
          </a:p>
        </p:txBody>
      </p:sp>
      <p:sp>
        <p:nvSpPr>
          <p:cNvPr id="105" name="Rectangle 104"/>
          <p:cNvSpPr/>
          <p:nvPr/>
        </p:nvSpPr>
        <p:spPr>
          <a:xfrm>
            <a:off x="6156960" y="2438400"/>
            <a:ext cx="5547360" cy="237744"/>
          </a:xfrm>
          <a:prstGeom prst="rect">
            <a:avLst/>
          </a:prstGeom>
          <a:solidFill>
            <a:srgbClr val="FFFFFF"/>
          </a:solidFill>
          <a:ln w="4445">
            <a:solidFill>
              <a:srgbClr val="EEEE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" name="Rectangle 105"/>
          <p:cNvSpPr/>
          <p:nvPr/>
        </p:nvSpPr>
        <p:spPr>
          <a:xfrm>
            <a:off x="6156960" y="2438400"/>
            <a:ext cx="42672" cy="237744"/>
          </a:xfrm>
          <a:prstGeom prst="rect">
            <a:avLst/>
          </a:prstGeom>
          <a:solidFill>
            <a:srgbClr val="6B21D4"/>
          </a:solidFill>
          <a:ln>
            <a:solidFill>
              <a:srgbClr val="6B21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" name="Rectangle 106"/>
          <p:cNvSpPr/>
          <p:nvPr/>
        </p:nvSpPr>
        <p:spPr>
          <a:xfrm>
            <a:off x="6217920" y="2438400"/>
            <a:ext cx="2109216" cy="237744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144" rIns="9144" tIns="4572" bIns="4572"/>
          <a:lstStyle/>
          <a:p>
            <a:pPr algn="l"/>
            <a:r>
              <a:rPr sz="1000" b="1">
                <a:solidFill>
                  <a:srgbClr val="111111"/>
                </a:solidFill>
                <a:latin typeface="Aptos"/>
              </a:rPr>
              <a:t>Arnab Chakroborty</a:t>
            </a:r>
          </a:p>
        </p:txBody>
      </p:sp>
      <p:sp>
        <p:nvSpPr>
          <p:cNvPr id="108" name="Rectangle 107"/>
          <p:cNvSpPr/>
          <p:nvPr/>
        </p:nvSpPr>
        <p:spPr>
          <a:xfrm>
            <a:off x="8327136" y="2438400"/>
            <a:ext cx="1950720" cy="237744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144" rIns="9144" tIns="4572" bIns="4572"/>
          <a:lstStyle/>
          <a:p>
            <a:pPr algn="l"/>
            <a:r>
              <a:rPr sz="1000" b="0">
                <a:solidFill>
                  <a:srgbClr val="6B21D4"/>
                </a:solidFill>
                <a:latin typeface="Aptos"/>
              </a:rPr>
              <a:t>Dev – Oracle TL</a:t>
            </a:r>
          </a:p>
        </p:txBody>
      </p:sp>
      <p:sp>
        <p:nvSpPr>
          <p:cNvPr id="109" name="Rectangle 108"/>
          <p:cNvSpPr/>
          <p:nvPr/>
        </p:nvSpPr>
        <p:spPr>
          <a:xfrm>
            <a:off x="10277856" y="2438400"/>
            <a:ext cx="1389886" cy="237744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144" rIns="9144" tIns="4572" bIns="4572"/>
          <a:lstStyle/>
          <a:p>
            <a:pPr algn="l"/>
            <a:r>
              <a:rPr sz="1000" b="0">
                <a:solidFill>
                  <a:srgbClr val="777777"/>
                </a:solidFill>
                <a:latin typeface="Aptos"/>
              </a:rPr>
              <a:t>Offshore · Cognizant</a:t>
            </a:r>
          </a:p>
        </p:txBody>
      </p:sp>
      <p:sp>
        <p:nvSpPr>
          <p:cNvPr id="110" name="Rectangle 109"/>
          <p:cNvSpPr/>
          <p:nvPr/>
        </p:nvSpPr>
        <p:spPr>
          <a:xfrm>
            <a:off x="6156960" y="2676142"/>
            <a:ext cx="5547360" cy="237744"/>
          </a:xfrm>
          <a:prstGeom prst="rect">
            <a:avLst/>
          </a:prstGeom>
          <a:solidFill>
            <a:srgbClr val="F3F0FA"/>
          </a:solidFill>
          <a:ln w="4445">
            <a:solidFill>
              <a:srgbClr val="EEEE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Rectangle 110"/>
          <p:cNvSpPr/>
          <p:nvPr/>
        </p:nvSpPr>
        <p:spPr>
          <a:xfrm>
            <a:off x="6156960" y="2676142"/>
            <a:ext cx="42672" cy="237744"/>
          </a:xfrm>
          <a:prstGeom prst="rect">
            <a:avLst/>
          </a:prstGeom>
          <a:solidFill>
            <a:srgbClr val="6B21D4"/>
          </a:solidFill>
          <a:ln>
            <a:solidFill>
              <a:srgbClr val="6B21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Rectangle 111"/>
          <p:cNvSpPr/>
          <p:nvPr/>
        </p:nvSpPr>
        <p:spPr>
          <a:xfrm>
            <a:off x="6217920" y="2676142"/>
            <a:ext cx="2109216" cy="237744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144" rIns="9144" tIns="4572" bIns="4572"/>
          <a:lstStyle/>
          <a:p>
            <a:pPr algn="l"/>
            <a:r>
              <a:rPr sz="1000" b="1">
                <a:solidFill>
                  <a:srgbClr val="111111"/>
                </a:solidFill>
                <a:latin typeface="Aptos"/>
              </a:rPr>
              <a:t>Chirantan Nandi</a:t>
            </a:r>
          </a:p>
        </p:txBody>
      </p:sp>
      <p:sp>
        <p:nvSpPr>
          <p:cNvPr id="113" name="Rectangle 112"/>
          <p:cNvSpPr/>
          <p:nvPr/>
        </p:nvSpPr>
        <p:spPr>
          <a:xfrm>
            <a:off x="8327136" y="2676142"/>
            <a:ext cx="1950720" cy="237744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144" rIns="9144" tIns="4572" bIns="4572"/>
          <a:lstStyle/>
          <a:p>
            <a:pPr algn="l"/>
            <a:r>
              <a:rPr sz="1000" b="0">
                <a:solidFill>
                  <a:srgbClr val="6B21D4"/>
                </a:solidFill>
                <a:latin typeface="Aptos"/>
              </a:rPr>
              <a:t>Dev – Oracle</a:t>
            </a:r>
          </a:p>
        </p:txBody>
      </p:sp>
      <p:sp>
        <p:nvSpPr>
          <p:cNvPr id="114" name="Rectangle 113"/>
          <p:cNvSpPr/>
          <p:nvPr/>
        </p:nvSpPr>
        <p:spPr>
          <a:xfrm>
            <a:off x="10277856" y="2676142"/>
            <a:ext cx="1389886" cy="237744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144" rIns="9144" tIns="4572" bIns="4572"/>
          <a:lstStyle/>
          <a:p>
            <a:pPr algn="l"/>
            <a:r>
              <a:rPr sz="1000" b="0">
                <a:solidFill>
                  <a:srgbClr val="777777"/>
                </a:solidFill>
                <a:latin typeface="Aptos"/>
              </a:rPr>
              <a:t>Offshore · Cognizant</a:t>
            </a:r>
          </a:p>
        </p:txBody>
      </p:sp>
      <p:sp>
        <p:nvSpPr>
          <p:cNvPr id="115" name="Rectangle 114"/>
          <p:cNvSpPr/>
          <p:nvPr/>
        </p:nvSpPr>
        <p:spPr>
          <a:xfrm>
            <a:off x="6156960" y="2913888"/>
            <a:ext cx="5547360" cy="237744"/>
          </a:xfrm>
          <a:prstGeom prst="rect">
            <a:avLst/>
          </a:prstGeom>
          <a:solidFill>
            <a:srgbClr val="FFFFFF"/>
          </a:solidFill>
          <a:ln w="4445">
            <a:solidFill>
              <a:srgbClr val="EEEE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6" name="Rectangle 115"/>
          <p:cNvSpPr/>
          <p:nvPr/>
        </p:nvSpPr>
        <p:spPr>
          <a:xfrm>
            <a:off x="6156960" y="2913888"/>
            <a:ext cx="42672" cy="237744"/>
          </a:xfrm>
          <a:prstGeom prst="rect">
            <a:avLst/>
          </a:prstGeom>
          <a:solidFill>
            <a:srgbClr val="6B21D4"/>
          </a:solidFill>
          <a:ln>
            <a:solidFill>
              <a:srgbClr val="6B21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7" name="Rectangle 116"/>
          <p:cNvSpPr/>
          <p:nvPr/>
        </p:nvSpPr>
        <p:spPr>
          <a:xfrm>
            <a:off x="6217920" y="2913888"/>
            <a:ext cx="2109216" cy="237744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144" rIns="9144" tIns="4572" bIns="4572"/>
          <a:lstStyle/>
          <a:p>
            <a:pPr algn="l"/>
            <a:r>
              <a:rPr sz="1000" b="1">
                <a:solidFill>
                  <a:srgbClr val="111111"/>
                </a:solidFill>
                <a:latin typeface="Aptos"/>
              </a:rPr>
              <a:t>Rajvarma Naidu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8327136" y="2913888"/>
            <a:ext cx="1950720" cy="237744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144" rIns="9144" tIns="4572" bIns="4572"/>
          <a:lstStyle/>
          <a:p>
            <a:pPr algn="l"/>
            <a:r>
              <a:rPr sz="1000" b="0">
                <a:solidFill>
                  <a:srgbClr val="6B21D4"/>
                </a:solidFill>
                <a:latin typeface="Aptos"/>
              </a:rPr>
              <a:t>Full Stack Dev</a:t>
            </a:r>
          </a:p>
        </p:txBody>
      </p:sp>
      <p:sp>
        <p:nvSpPr>
          <p:cNvPr id="119" name="Rectangle 118"/>
          <p:cNvSpPr/>
          <p:nvPr/>
        </p:nvSpPr>
        <p:spPr>
          <a:xfrm>
            <a:off x="10277856" y="2913888"/>
            <a:ext cx="1389886" cy="237744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144" rIns="9144" tIns="4572" bIns="4572"/>
          <a:lstStyle/>
          <a:p>
            <a:pPr algn="l"/>
            <a:r>
              <a:rPr sz="1000" b="0">
                <a:solidFill>
                  <a:srgbClr val="777777"/>
                </a:solidFill>
                <a:latin typeface="Aptos"/>
              </a:rPr>
              <a:t>Offshore · Trane-ITC</a:t>
            </a:r>
          </a:p>
        </p:txBody>
      </p:sp>
      <p:sp>
        <p:nvSpPr>
          <p:cNvPr id="120" name="Rectangle 119"/>
          <p:cNvSpPr/>
          <p:nvPr/>
        </p:nvSpPr>
        <p:spPr>
          <a:xfrm>
            <a:off x="6156960" y="3151632"/>
            <a:ext cx="5547360" cy="237744"/>
          </a:xfrm>
          <a:prstGeom prst="rect">
            <a:avLst/>
          </a:prstGeom>
          <a:solidFill>
            <a:srgbClr val="F3F0FA"/>
          </a:solidFill>
          <a:ln w="4445">
            <a:solidFill>
              <a:srgbClr val="EEEE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1" name="Rectangle 120"/>
          <p:cNvSpPr/>
          <p:nvPr/>
        </p:nvSpPr>
        <p:spPr>
          <a:xfrm>
            <a:off x="6156960" y="3151632"/>
            <a:ext cx="42672" cy="237744"/>
          </a:xfrm>
          <a:prstGeom prst="rect">
            <a:avLst/>
          </a:prstGeom>
          <a:solidFill>
            <a:srgbClr val="6B21D4"/>
          </a:solidFill>
          <a:ln>
            <a:solidFill>
              <a:srgbClr val="6B21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2" name="Rectangle 121"/>
          <p:cNvSpPr/>
          <p:nvPr/>
        </p:nvSpPr>
        <p:spPr>
          <a:xfrm>
            <a:off x="6217920" y="3151632"/>
            <a:ext cx="2109216" cy="237744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144" rIns="9144" tIns="4572" bIns="4572"/>
          <a:lstStyle/>
          <a:p>
            <a:pPr algn="l"/>
            <a:r>
              <a:rPr sz="1000" b="1">
                <a:solidFill>
                  <a:srgbClr val="111111"/>
                </a:solidFill>
                <a:latin typeface="Aptos"/>
              </a:rPr>
              <a:t>Jack Mullen</a:t>
            </a:r>
          </a:p>
        </p:txBody>
      </p:sp>
      <p:sp>
        <p:nvSpPr>
          <p:cNvPr id="123" name="Rectangle 122"/>
          <p:cNvSpPr/>
          <p:nvPr/>
        </p:nvSpPr>
        <p:spPr>
          <a:xfrm>
            <a:off x="8327136" y="3151632"/>
            <a:ext cx="1950720" cy="237744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144" rIns="9144" tIns="4572" bIns="4572"/>
          <a:lstStyle/>
          <a:p>
            <a:pPr algn="l"/>
            <a:r>
              <a:rPr sz="1000" b="0">
                <a:solidFill>
                  <a:srgbClr val="6B21D4"/>
                </a:solidFill>
                <a:latin typeface="Aptos"/>
              </a:rPr>
              <a:t>Full Stack Dev</a:t>
            </a:r>
          </a:p>
        </p:txBody>
      </p:sp>
      <p:sp>
        <p:nvSpPr>
          <p:cNvPr id="124" name="Rectangle 123"/>
          <p:cNvSpPr/>
          <p:nvPr/>
        </p:nvSpPr>
        <p:spPr>
          <a:xfrm>
            <a:off x="10277856" y="3151632"/>
            <a:ext cx="1389886" cy="237744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144" rIns="9144" tIns="4572" bIns="4572"/>
          <a:lstStyle/>
          <a:p>
            <a:pPr algn="l"/>
            <a:r>
              <a:rPr sz="1000" b="0">
                <a:solidFill>
                  <a:srgbClr val="777777"/>
                </a:solidFill>
                <a:latin typeface="Aptos"/>
              </a:rPr>
              <a:t>Onshore · Trane</a:t>
            </a:r>
          </a:p>
        </p:txBody>
      </p:sp>
      <p:sp>
        <p:nvSpPr>
          <p:cNvPr id="125" name="Rectangle 124"/>
          <p:cNvSpPr/>
          <p:nvPr/>
        </p:nvSpPr>
        <p:spPr>
          <a:xfrm>
            <a:off x="6156960" y="3389376"/>
            <a:ext cx="5547360" cy="237744"/>
          </a:xfrm>
          <a:prstGeom prst="rect">
            <a:avLst/>
          </a:prstGeom>
          <a:solidFill>
            <a:srgbClr val="FFFFFF"/>
          </a:solidFill>
          <a:ln w="4445">
            <a:solidFill>
              <a:srgbClr val="EEEE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" name="Rectangle 125"/>
          <p:cNvSpPr/>
          <p:nvPr/>
        </p:nvSpPr>
        <p:spPr>
          <a:xfrm>
            <a:off x="6156960" y="3389376"/>
            <a:ext cx="42672" cy="237744"/>
          </a:xfrm>
          <a:prstGeom prst="rect">
            <a:avLst/>
          </a:prstGeom>
          <a:solidFill>
            <a:srgbClr val="6B21D4"/>
          </a:solidFill>
          <a:ln>
            <a:solidFill>
              <a:srgbClr val="6B21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7" name="Rectangle 126"/>
          <p:cNvSpPr/>
          <p:nvPr/>
        </p:nvSpPr>
        <p:spPr>
          <a:xfrm>
            <a:off x="6217920" y="3389376"/>
            <a:ext cx="2109216" cy="237744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144" rIns="9144" tIns="4572" bIns="4572"/>
          <a:lstStyle/>
          <a:p>
            <a:pPr algn="l"/>
            <a:r>
              <a:rPr sz="1000" b="1">
                <a:solidFill>
                  <a:srgbClr val="111111"/>
                </a:solidFill>
                <a:latin typeface="Aptos"/>
              </a:rPr>
              <a:t>Blessing</a:t>
            </a:r>
          </a:p>
        </p:txBody>
      </p:sp>
      <p:sp>
        <p:nvSpPr>
          <p:cNvPr id="128" name="Rectangle 127"/>
          <p:cNvSpPr/>
          <p:nvPr/>
        </p:nvSpPr>
        <p:spPr>
          <a:xfrm>
            <a:off x="8327136" y="3389376"/>
            <a:ext cx="1950720" cy="237744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144" rIns="9144" tIns="4572" bIns="4572"/>
          <a:lstStyle/>
          <a:p>
            <a:pPr algn="l"/>
            <a:r>
              <a:rPr sz="1000" b="0">
                <a:solidFill>
                  <a:srgbClr val="6B21D4"/>
                </a:solidFill>
                <a:latin typeface="Aptos"/>
              </a:rPr>
              <a:t>Scrum Master</a:t>
            </a:r>
          </a:p>
        </p:txBody>
      </p:sp>
      <p:sp>
        <p:nvSpPr>
          <p:cNvPr id="129" name="Rectangle 128"/>
          <p:cNvSpPr/>
          <p:nvPr/>
        </p:nvSpPr>
        <p:spPr>
          <a:xfrm>
            <a:off x="10277856" y="3389376"/>
            <a:ext cx="1389886" cy="237744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144" rIns="9144" tIns="4572" bIns="4572"/>
          <a:lstStyle/>
          <a:p>
            <a:pPr algn="l"/>
            <a:r>
              <a:rPr sz="1000" b="0">
                <a:solidFill>
                  <a:srgbClr val="777777"/>
                </a:solidFill>
                <a:latin typeface="Aptos"/>
              </a:rPr>
              <a:t>Onshore · Trane</a:t>
            </a:r>
          </a:p>
        </p:txBody>
      </p:sp>
      <p:sp>
        <p:nvSpPr>
          <p:cNvPr id="130" name="Rectangle 129"/>
          <p:cNvSpPr/>
          <p:nvPr/>
        </p:nvSpPr>
        <p:spPr>
          <a:xfrm>
            <a:off x="6156960" y="3627120"/>
            <a:ext cx="5547360" cy="237744"/>
          </a:xfrm>
          <a:prstGeom prst="rect">
            <a:avLst/>
          </a:prstGeom>
          <a:solidFill>
            <a:srgbClr val="F3F0FA"/>
          </a:solidFill>
          <a:ln w="4445">
            <a:solidFill>
              <a:srgbClr val="EEEE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1" name="Rectangle 130"/>
          <p:cNvSpPr/>
          <p:nvPr/>
        </p:nvSpPr>
        <p:spPr>
          <a:xfrm>
            <a:off x="6156960" y="3627120"/>
            <a:ext cx="42672" cy="237744"/>
          </a:xfrm>
          <a:prstGeom prst="rect">
            <a:avLst/>
          </a:prstGeom>
          <a:solidFill>
            <a:srgbClr val="6B21D4"/>
          </a:solidFill>
          <a:ln>
            <a:solidFill>
              <a:srgbClr val="6B21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2" name="Rectangle 131"/>
          <p:cNvSpPr/>
          <p:nvPr/>
        </p:nvSpPr>
        <p:spPr>
          <a:xfrm>
            <a:off x="6217920" y="3627120"/>
            <a:ext cx="2109216" cy="237744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144" rIns="9144" tIns="4572" bIns="4572"/>
          <a:lstStyle/>
          <a:p>
            <a:pPr algn="l"/>
            <a:r>
              <a:rPr sz="1000" b="1">
                <a:solidFill>
                  <a:srgbClr val="111111"/>
                </a:solidFill>
                <a:latin typeface="Aptos"/>
              </a:rPr>
              <a:t>Deepak Chhabria</a:t>
            </a:r>
          </a:p>
        </p:txBody>
      </p:sp>
      <p:sp>
        <p:nvSpPr>
          <p:cNvPr id="133" name="Rectangle 132"/>
          <p:cNvSpPr/>
          <p:nvPr/>
        </p:nvSpPr>
        <p:spPr>
          <a:xfrm>
            <a:off x="8327136" y="3627120"/>
            <a:ext cx="1950720" cy="237744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144" rIns="9144" tIns="4572" bIns="4572"/>
          <a:lstStyle/>
          <a:p>
            <a:pPr algn="l"/>
            <a:r>
              <a:rPr sz="1000" b="0">
                <a:solidFill>
                  <a:srgbClr val="6B21D4"/>
                </a:solidFill>
                <a:latin typeface="Aptos"/>
              </a:rPr>
              <a:t>QA Lead</a:t>
            </a:r>
          </a:p>
        </p:txBody>
      </p:sp>
      <p:sp>
        <p:nvSpPr>
          <p:cNvPr id="134" name="Rectangle 133"/>
          <p:cNvSpPr/>
          <p:nvPr/>
        </p:nvSpPr>
        <p:spPr>
          <a:xfrm>
            <a:off x="10277856" y="3627120"/>
            <a:ext cx="1389886" cy="237744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144" rIns="9144" tIns="4572" bIns="4572"/>
          <a:lstStyle/>
          <a:p>
            <a:pPr algn="l"/>
            <a:r>
              <a:rPr sz="1000" b="0">
                <a:solidFill>
                  <a:srgbClr val="777777"/>
                </a:solidFill>
                <a:latin typeface="Aptos"/>
              </a:rPr>
              <a:t>Offshore · Trane-ITC</a:t>
            </a:r>
          </a:p>
        </p:txBody>
      </p:sp>
      <p:sp>
        <p:nvSpPr>
          <p:cNvPr id="135" name="Rectangle 134"/>
          <p:cNvSpPr/>
          <p:nvPr/>
        </p:nvSpPr>
        <p:spPr>
          <a:xfrm>
            <a:off x="6156960" y="3864864"/>
            <a:ext cx="5547360" cy="237744"/>
          </a:xfrm>
          <a:prstGeom prst="rect">
            <a:avLst/>
          </a:prstGeom>
          <a:solidFill>
            <a:srgbClr val="FFFFFF"/>
          </a:solidFill>
          <a:ln w="4445">
            <a:solidFill>
              <a:srgbClr val="EEEE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6" name="Rectangle 135"/>
          <p:cNvSpPr/>
          <p:nvPr/>
        </p:nvSpPr>
        <p:spPr>
          <a:xfrm>
            <a:off x="6156960" y="3864864"/>
            <a:ext cx="42672" cy="237744"/>
          </a:xfrm>
          <a:prstGeom prst="rect">
            <a:avLst/>
          </a:prstGeom>
          <a:solidFill>
            <a:srgbClr val="6B21D4"/>
          </a:solidFill>
          <a:ln>
            <a:solidFill>
              <a:srgbClr val="6B21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7" name="Rectangle 136"/>
          <p:cNvSpPr/>
          <p:nvPr/>
        </p:nvSpPr>
        <p:spPr>
          <a:xfrm>
            <a:off x="6217920" y="3864864"/>
            <a:ext cx="2109216" cy="237744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144" rIns="9144" tIns="4572" bIns="4572"/>
          <a:lstStyle/>
          <a:p>
            <a:pPr algn="l"/>
            <a:r>
              <a:rPr sz="1000" b="1">
                <a:solidFill>
                  <a:srgbClr val="111111"/>
                </a:solidFill>
                <a:latin typeface="Aptos"/>
              </a:rPr>
              <a:t>Aiswarya H</a:t>
            </a:r>
          </a:p>
        </p:txBody>
      </p:sp>
      <p:sp>
        <p:nvSpPr>
          <p:cNvPr id="138" name="Rectangle 137"/>
          <p:cNvSpPr/>
          <p:nvPr/>
        </p:nvSpPr>
        <p:spPr>
          <a:xfrm>
            <a:off x="8327136" y="3864864"/>
            <a:ext cx="1950720" cy="237744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144" rIns="9144" tIns="4572" bIns="4572"/>
          <a:lstStyle/>
          <a:p>
            <a:pPr algn="l"/>
            <a:r>
              <a:rPr sz="1000" b="0">
                <a:solidFill>
                  <a:srgbClr val="6B21D4"/>
                </a:solidFill>
                <a:latin typeface="Aptos"/>
              </a:rPr>
              <a:t>QA – Func / R12</a:t>
            </a:r>
          </a:p>
        </p:txBody>
      </p:sp>
      <p:sp>
        <p:nvSpPr>
          <p:cNvPr id="139" name="Rectangle 138"/>
          <p:cNvSpPr/>
          <p:nvPr/>
        </p:nvSpPr>
        <p:spPr>
          <a:xfrm>
            <a:off x="10277856" y="3864864"/>
            <a:ext cx="1389886" cy="237744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144" rIns="9144" tIns="4572" bIns="4572"/>
          <a:lstStyle/>
          <a:p>
            <a:pPr algn="l"/>
            <a:r>
              <a:rPr sz="1000" b="0">
                <a:solidFill>
                  <a:srgbClr val="777777"/>
                </a:solidFill>
                <a:latin typeface="Aptos"/>
              </a:rPr>
              <a:t>Offshore · Trane-ITC</a:t>
            </a:r>
          </a:p>
        </p:txBody>
      </p:sp>
      <p:sp>
        <p:nvSpPr>
          <p:cNvPr id="140" name="Rectangle 139"/>
          <p:cNvSpPr/>
          <p:nvPr/>
        </p:nvSpPr>
        <p:spPr>
          <a:xfrm>
            <a:off x="6156960" y="4102608"/>
            <a:ext cx="5547360" cy="237744"/>
          </a:xfrm>
          <a:prstGeom prst="rect">
            <a:avLst/>
          </a:prstGeom>
          <a:solidFill>
            <a:srgbClr val="F3F0FA"/>
          </a:solidFill>
          <a:ln w="4445">
            <a:solidFill>
              <a:srgbClr val="EEEE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1" name="Rectangle 140"/>
          <p:cNvSpPr/>
          <p:nvPr/>
        </p:nvSpPr>
        <p:spPr>
          <a:xfrm>
            <a:off x="6156960" y="4102608"/>
            <a:ext cx="42672" cy="237744"/>
          </a:xfrm>
          <a:prstGeom prst="rect">
            <a:avLst/>
          </a:prstGeom>
          <a:solidFill>
            <a:srgbClr val="6B21D4"/>
          </a:solidFill>
          <a:ln>
            <a:solidFill>
              <a:srgbClr val="6B21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2" name="Rectangle 141"/>
          <p:cNvSpPr/>
          <p:nvPr/>
        </p:nvSpPr>
        <p:spPr>
          <a:xfrm>
            <a:off x="6217920" y="4102608"/>
            <a:ext cx="2109216" cy="237744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144" rIns="9144" tIns="4572" bIns="4572"/>
          <a:lstStyle/>
          <a:p>
            <a:pPr algn="l"/>
            <a:r>
              <a:rPr sz="1000" b="1">
                <a:solidFill>
                  <a:srgbClr val="111111"/>
                </a:solidFill>
                <a:latin typeface="Aptos"/>
              </a:rPr>
              <a:t>Sowmya Shetty</a:t>
            </a:r>
          </a:p>
        </p:txBody>
      </p:sp>
      <p:sp>
        <p:nvSpPr>
          <p:cNvPr id="143" name="Rectangle 142"/>
          <p:cNvSpPr/>
          <p:nvPr/>
        </p:nvSpPr>
        <p:spPr>
          <a:xfrm>
            <a:off x="8327136" y="4102608"/>
            <a:ext cx="1950720" cy="237744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144" rIns="9144" tIns="4572" bIns="4572"/>
          <a:lstStyle/>
          <a:p>
            <a:pPr algn="l"/>
            <a:r>
              <a:rPr sz="1000" b="0">
                <a:solidFill>
                  <a:srgbClr val="6B21D4"/>
                </a:solidFill>
                <a:latin typeface="Aptos"/>
              </a:rPr>
              <a:t>QA – Func / R12</a:t>
            </a:r>
          </a:p>
        </p:txBody>
      </p:sp>
      <p:sp>
        <p:nvSpPr>
          <p:cNvPr id="144" name="Rectangle 143"/>
          <p:cNvSpPr/>
          <p:nvPr/>
        </p:nvSpPr>
        <p:spPr>
          <a:xfrm>
            <a:off x="10277856" y="4102608"/>
            <a:ext cx="1389886" cy="237744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144" rIns="9144" tIns="4572" bIns="4572"/>
          <a:lstStyle/>
          <a:p>
            <a:pPr algn="l"/>
            <a:r>
              <a:rPr sz="1000" b="0">
                <a:solidFill>
                  <a:srgbClr val="777777"/>
                </a:solidFill>
                <a:latin typeface="Aptos"/>
              </a:rPr>
              <a:t>Offshore · Trane-ITC</a:t>
            </a:r>
          </a:p>
        </p:txBody>
      </p:sp>
      <p:sp>
        <p:nvSpPr>
          <p:cNvPr id="145" name="Rectangle 144"/>
          <p:cNvSpPr/>
          <p:nvPr/>
        </p:nvSpPr>
        <p:spPr>
          <a:xfrm>
            <a:off x="6156960" y="4340352"/>
            <a:ext cx="5547360" cy="237744"/>
          </a:xfrm>
          <a:prstGeom prst="rect">
            <a:avLst/>
          </a:prstGeom>
          <a:solidFill>
            <a:srgbClr val="FFFFFF"/>
          </a:solidFill>
          <a:ln w="4445">
            <a:solidFill>
              <a:srgbClr val="EEEE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6" name="Rectangle 145"/>
          <p:cNvSpPr/>
          <p:nvPr/>
        </p:nvSpPr>
        <p:spPr>
          <a:xfrm>
            <a:off x="6156960" y="4340352"/>
            <a:ext cx="42672" cy="237744"/>
          </a:xfrm>
          <a:prstGeom prst="rect">
            <a:avLst/>
          </a:prstGeom>
          <a:solidFill>
            <a:srgbClr val="6B21D4"/>
          </a:solidFill>
          <a:ln>
            <a:solidFill>
              <a:srgbClr val="6B21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7" name="Rectangle 146"/>
          <p:cNvSpPr/>
          <p:nvPr/>
        </p:nvSpPr>
        <p:spPr>
          <a:xfrm>
            <a:off x="6217920" y="4340352"/>
            <a:ext cx="2109216" cy="237744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144" rIns="9144" tIns="4572" bIns="4572"/>
          <a:lstStyle/>
          <a:p>
            <a:pPr algn="l"/>
            <a:r>
              <a:rPr sz="1000" b="1">
                <a:solidFill>
                  <a:srgbClr val="111111"/>
                </a:solidFill>
                <a:latin typeface="Aptos"/>
              </a:rPr>
              <a:t>Greeshma Balan</a:t>
            </a:r>
          </a:p>
        </p:txBody>
      </p:sp>
      <p:sp>
        <p:nvSpPr>
          <p:cNvPr id="148" name="Rectangle 147"/>
          <p:cNvSpPr/>
          <p:nvPr/>
        </p:nvSpPr>
        <p:spPr>
          <a:xfrm>
            <a:off x="8327136" y="4340352"/>
            <a:ext cx="1950720" cy="237744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144" rIns="9144" tIns="4572" bIns="4572"/>
          <a:lstStyle/>
          <a:p>
            <a:pPr algn="l"/>
            <a:r>
              <a:rPr sz="1000" b="0">
                <a:solidFill>
                  <a:srgbClr val="6B21D4"/>
                </a:solidFill>
                <a:latin typeface="Aptos"/>
              </a:rPr>
              <a:t>QA – Functional</a:t>
            </a:r>
          </a:p>
        </p:txBody>
      </p:sp>
      <p:sp>
        <p:nvSpPr>
          <p:cNvPr id="149" name="Rectangle 148"/>
          <p:cNvSpPr/>
          <p:nvPr/>
        </p:nvSpPr>
        <p:spPr>
          <a:xfrm>
            <a:off x="10277856" y="4340352"/>
            <a:ext cx="1389886" cy="237744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144" rIns="9144" tIns="4572" bIns="4572"/>
          <a:lstStyle/>
          <a:p>
            <a:pPr algn="l"/>
            <a:r>
              <a:rPr sz="1000" b="0">
                <a:solidFill>
                  <a:srgbClr val="777777"/>
                </a:solidFill>
                <a:latin typeface="Aptos"/>
              </a:rPr>
              <a:t>Offshore · Cognizant</a:t>
            </a:r>
          </a:p>
        </p:txBody>
      </p:sp>
      <p:sp>
        <p:nvSpPr>
          <p:cNvPr id="150" name="Rectangle 149"/>
          <p:cNvSpPr/>
          <p:nvPr/>
        </p:nvSpPr>
        <p:spPr>
          <a:xfrm>
            <a:off x="6156960" y="4578096"/>
            <a:ext cx="5547360" cy="237744"/>
          </a:xfrm>
          <a:prstGeom prst="rect">
            <a:avLst/>
          </a:prstGeom>
          <a:solidFill>
            <a:srgbClr val="F3F0FA"/>
          </a:solidFill>
          <a:ln w="4445">
            <a:solidFill>
              <a:srgbClr val="EEEE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1" name="Rectangle 150"/>
          <p:cNvSpPr/>
          <p:nvPr/>
        </p:nvSpPr>
        <p:spPr>
          <a:xfrm>
            <a:off x="6156960" y="4578096"/>
            <a:ext cx="42672" cy="237744"/>
          </a:xfrm>
          <a:prstGeom prst="rect">
            <a:avLst/>
          </a:prstGeom>
          <a:solidFill>
            <a:srgbClr val="6B21D4"/>
          </a:solidFill>
          <a:ln>
            <a:solidFill>
              <a:srgbClr val="6B21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2" name="Rectangle 151"/>
          <p:cNvSpPr/>
          <p:nvPr/>
        </p:nvSpPr>
        <p:spPr>
          <a:xfrm>
            <a:off x="6217920" y="4578096"/>
            <a:ext cx="2109216" cy="237744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144" rIns="9144" tIns="4572" bIns="4572"/>
          <a:lstStyle/>
          <a:p>
            <a:pPr algn="l"/>
            <a:r>
              <a:rPr sz="1000" b="1">
                <a:solidFill>
                  <a:srgbClr val="111111"/>
                </a:solidFill>
                <a:latin typeface="Aptos"/>
              </a:rPr>
              <a:t>Brahmananda R</a:t>
            </a:r>
          </a:p>
        </p:txBody>
      </p:sp>
      <p:sp>
        <p:nvSpPr>
          <p:cNvPr id="153" name="Rectangle 152"/>
          <p:cNvSpPr/>
          <p:nvPr/>
        </p:nvSpPr>
        <p:spPr>
          <a:xfrm>
            <a:off x="8327136" y="4578096"/>
            <a:ext cx="1950720" cy="237744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144" rIns="9144" tIns="4572" bIns="4572"/>
          <a:lstStyle/>
          <a:p>
            <a:pPr algn="l"/>
            <a:r>
              <a:rPr sz="1000" b="0">
                <a:solidFill>
                  <a:srgbClr val="6B21D4"/>
                </a:solidFill>
                <a:latin typeface="Aptos"/>
              </a:rPr>
              <a:t>QA – Functional</a:t>
            </a:r>
          </a:p>
        </p:txBody>
      </p:sp>
      <p:sp>
        <p:nvSpPr>
          <p:cNvPr id="154" name="Rectangle 153"/>
          <p:cNvSpPr/>
          <p:nvPr/>
        </p:nvSpPr>
        <p:spPr>
          <a:xfrm>
            <a:off x="10277856" y="4578096"/>
            <a:ext cx="1389886" cy="237744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144" rIns="9144" tIns="4572" bIns="4572"/>
          <a:lstStyle/>
          <a:p>
            <a:pPr algn="l"/>
            <a:r>
              <a:rPr sz="1000" b="0">
                <a:solidFill>
                  <a:srgbClr val="777777"/>
                </a:solidFill>
                <a:latin typeface="Aptos"/>
              </a:rPr>
              <a:t>Offshore · Trane-ITC</a:t>
            </a:r>
          </a:p>
        </p:txBody>
      </p:sp>
      <p:sp>
        <p:nvSpPr>
          <p:cNvPr id="155" name="Rectangle 154"/>
          <p:cNvSpPr/>
          <p:nvPr/>
        </p:nvSpPr>
        <p:spPr>
          <a:xfrm>
            <a:off x="6156960" y="4815840"/>
            <a:ext cx="5547360" cy="237744"/>
          </a:xfrm>
          <a:prstGeom prst="rect">
            <a:avLst/>
          </a:prstGeom>
          <a:solidFill>
            <a:srgbClr val="FFFFFF"/>
          </a:solidFill>
          <a:ln w="4445">
            <a:solidFill>
              <a:srgbClr val="EEEE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6" name="Rectangle 155"/>
          <p:cNvSpPr/>
          <p:nvPr/>
        </p:nvSpPr>
        <p:spPr>
          <a:xfrm>
            <a:off x="6156960" y="4815840"/>
            <a:ext cx="42672" cy="237744"/>
          </a:xfrm>
          <a:prstGeom prst="rect">
            <a:avLst/>
          </a:prstGeom>
          <a:solidFill>
            <a:srgbClr val="6B21D4"/>
          </a:solidFill>
          <a:ln>
            <a:solidFill>
              <a:srgbClr val="6B21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7" name="Rectangle 156"/>
          <p:cNvSpPr/>
          <p:nvPr/>
        </p:nvSpPr>
        <p:spPr>
          <a:xfrm>
            <a:off x="6217920" y="4815840"/>
            <a:ext cx="2109216" cy="237744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144" rIns="9144" tIns="4572" bIns="4572"/>
          <a:lstStyle/>
          <a:p>
            <a:pPr algn="l"/>
            <a:r>
              <a:rPr sz="1000" b="1">
                <a:solidFill>
                  <a:srgbClr val="111111"/>
                </a:solidFill>
                <a:latin typeface="Aptos"/>
              </a:rPr>
              <a:t>Kavya B N</a:t>
            </a:r>
          </a:p>
        </p:txBody>
      </p:sp>
      <p:sp>
        <p:nvSpPr>
          <p:cNvPr id="158" name="Rectangle 157"/>
          <p:cNvSpPr/>
          <p:nvPr/>
        </p:nvSpPr>
        <p:spPr>
          <a:xfrm>
            <a:off x="8327136" y="4815840"/>
            <a:ext cx="1950720" cy="237744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144" rIns="9144" tIns="4572" bIns="4572"/>
          <a:lstStyle/>
          <a:p>
            <a:pPr algn="l"/>
            <a:r>
              <a:rPr sz="1000" b="0">
                <a:solidFill>
                  <a:srgbClr val="6B21D4"/>
                </a:solidFill>
                <a:latin typeface="Aptos"/>
              </a:rPr>
              <a:t>QA – Automation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10277856" y="4815840"/>
            <a:ext cx="1389886" cy="237744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144" rIns="9144" tIns="4572" bIns="4572"/>
          <a:lstStyle/>
          <a:p>
            <a:pPr algn="l"/>
            <a:r>
              <a:rPr sz="1000" b="0">
                <a:solidFill>
                  <a:srgbClr val="777777"/>
                </a:solidFill>
                <a:latin typeface="Aptos"/>
              </a:rPr>
              <a:t>Offshore · Trane-ITC</a:t>
            </a:r>
          </a:p>
        </p:txBody>
      </p:sp>
      <p:sp>
        <p:nvSpPr>
          <p:cNvPr id="160" name="Rectangle 159"/>
          <p:cNvSpPr/>
          <p:nvPr/>
        </p:nvSpPr>
        <p:spPr>
          <a:xfrm>
            <a:off x="463296" y="6388608"/>
            <a:ext cx="426720" cy="219456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4572" bIns="4572"/>
          <a:lstStyle/>
          <a:p>
            <a:pPr algn="l"/>
            <a:r>
              <a:rPr sz="900" b="0">
                <a:solidFill>
                  <a:srgbClr val="777777"/>
                </a:solidFill>
                <a:latin typeface="Aptos"/>
              </a:rPr>
              <a:t>5</a:t>
            </a:r>
          </a:p>
        </p:txBody>
      </p:sp>
      <p:pic>
        <p:nvPicPr>
          <p:cNvPr id="161" name="Picture 160" descr="trane_real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424160" y="6156960"/>
            <a:ext cx="1463040" cy="633984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63296" y="158496"/>
            <a:ext cx="11265408" cy="41452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4572" bIns="4572"/>
          <a:lstStyle/>
          <a:p>
            <a:pPr algn="l"/>
            <a:r>
              <a:rPr sz="2400" b="1">
                <a:solidFill>
                  <a:srgbClr val="6B21D4"/>
                </a:solidFill>
                <a:latin typeface="Aptos"/>
              </a:rPr>
              <a:t>DMC / MDP Track – Full Team</a:t>
            </a:r>
          </a:p>
        </p:txBody>
      </p:sp>
      <p:sp>
        <p:nvSpPr>
          <p:cNvPr id="3" name="Rectangle 2"/>
          <p:cNvSpPr/>
          <p:nvPr/>
        </p:nvSpPr>
        <p:spPr>
          <a:xfrm>
            <a:off x="463296" y="877824"/>
            <a:ext cx="5547360" cy="280416"/>
          </a:xfrm>
          <a:prstGeom prst="rect">
            <a:avLst/>
          </a:prstGeom>
          <a:solidFill>
            <a:srgbClr val="FFFFFF"/>
          </a:solidFill>
          <a:ln w="4445">
            <a:solidFill>
              <a:srgbClr val="EEEE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63296" y="877824"/>
            <a:ext cx="42672" cy="280416"/>
          </a:xfrm>
          <a:prstGeom prst="rect">
            <a:avLst/>
          </a:prstGeom>
          <a:solidFill>
            <a:srgbClr val="6B21D4"/>
          </a:solidFill>
          <a:ln>
            <a:solidFill>
              <a:srgbClr val="6B21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24256" y="877824"/>
            <a:ext cx="2109216" cy="280416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144" rIns="9144" tIns="4572" bIns="4572"/>
          <a:lstStyle/>
          <a:p>
            <a:pPr algn="l"/>
            <a:r>
              <a:rPr sz="1000" b="1">
                <a:solidFill>
                  <a:srgbClr val="111111"/>
                </a:solidFill>
                <a:latin typeface="Aptos"/>
              </a:rPr>
              <a:t>Brian Brockman</a:t>
            </a:r>
          </a:p>
        </p:txBody>
      </p:sp>
      <p:sp>
        <p:nvSpPr>
          <p:cNvPr id="6" name="Rectangle 5"/>
          <p:cNvSpPr/>
          <p:nvPr/>
        </p:nvSpPr>
        <p:spPr>
          <a:xfrm>
            <a:off x="2633472" y="877824"/>
            <a:ext cx="1950720" cy="280416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144" rIns="9144" tIns="4572" bIns="4572"/>
          <a:lstStyle/>
          <a:p>
            <a:pPr algn="l"/>
            <a:r>
              <a:rPr sz="1000" b="0">
                <a:solidFill>
                  <a:srgbClr val="6B21D4"/>
                </a:solidFill>
                <a:latin typeface="Aptos"/>
              </a:rPr>
              <a:t>Product Owner</a:t>
            </a:r>
          </a:p>
        </p:txBody>
      </p:sp>
      <p:sp>
        <p:nvSpPr>
          <p:cNvPr id="7" name="Rectangle 6"/>
          <p:cNvSpPr/>
          <p:nvPr/>
        </p:nvSpPr>
        <p:spPr>
          <a:xfrm>
            <a:off x="4584192" y="877824"/>
            <a:ext cx="1389886" cy="280416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144" rIns="9144" tIns="4572" bIns="4572"/>
          <a:lstStyle/>
          <a:p>
            <a:pPr algn="l"/>
            <a:r>
              <a:rPr sz="1000" b="0">
                <a:solidFill>
                  <a:srgbClr val="777777"/>
                </a:solidFill>
                <a:latin typeface="Aptos"/>
              </a:rPr>
              <a:t>Onshore · Trane</a:t>
            </a:r>
          </a:p>
        </p:txBody>
      </p:sp>
      <p:sp>
        <p:nvSpPr>
          <p:cNvPr id="8" name="Rectangle 7"/>
          <p:cNvSpPr/>
          <p:nvPr/>
        </p:nvSpPr>
        <p:spPr>
          <a:xfrm>
            <a:off x="463296" y="1158240"/>
            <a:ext cx="5547360" cy="280416"/>
          </a:xfrm>
          <a:prstGeom prst="rect">
            <a:avLst/>
          </a:prstGeom>
          <a:solidFill>
            <a:srgbClr val="F3F0FA"/>
          </a:solidFill>
          <a:ln w="4445">
            <a:solidFill>
              <a:srgbClr val="EEEE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63296" y="1158240"/>
            <a:ext cx="42672" cy="280416"/>
          </a:xfrm>
          <a:prstGeom prst="rect">
            <a:avLst/>
          </a:prstGeom>
          <a:solidFill>
            <a:srgbClr val="6B21D4"/>
          </a:solidFill>
          <a:ln>
            <a:solidFill>
              <a:srgbClr val="6B21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24256" y="1158240"/>
            <a:ext cx="2109216" cy="280416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144" rIns="9144" tIns="4572" bIns="4572"/>
          <a:lstStyle/>
          <a:p>
            <a:pPr algn="l"/>
            <a:r>
              <a:rPr sz="1000" b="1">
                <a:solidFill>
                  <a:srgbClr val="111111"/>
                </a:solidFill>
                <a:latin typeface="Aptos"/>
              </a:rPr>
              <a:t>Bryan Lainhart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633472" y="1158240"/>
            <a:ext cx="1950720" cy="280416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144" rIns="9144" tIns="4572" bIns="4572"/>
          <a:lstStyle/>
          <a:p>
            <a:pPr algn="l"/>
            <a:r>
              <a:rPr sz="1000" b="0">
                <a:solidFill>
                  <a:srgbClr val="6B21D4"/>
                </a:solidFill>
                <a:latin typeface="Aptos"/>
              </a:rPr>
              <a:t>Product Owner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584192" y="1158240"/>
            <a:ext cx="1389886" cy="280416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144" rIns="9144" tIns="4572" bIns="4572"/>
          <a:lstStyle/>
          <a:p>
            <a:pPr algn="l"/>
            <a:r>
              <a:rPr sz="1000" b="0">
                <a:solidFill>
                  <a:srgbClr val="777777"/>
                </a:solidFill>
                <a:latin typeface="Aptos"/>
              </a:rPr>
              <a:t>Onshore · Trane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63296" y="1438656"/>
            <a:ext cx="5547360" cy="280416"/>
          </a:xfrm>
          <a:prstGeom prst="rect">
            <a:avLst/>
          </a:prstGeom>
          <a:solidFill>
            <a:srgbClr val="FFFFFF"/>
          </a:solidFill>
          <a:ln w="4445">
            <a:solidFill>
              <a:srgbClr val="EEEE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63296" y="1438656"/>
            <a:ext cx="42672" cy="280416"/>
          </a:xfrm>
          <a:prstGeom prst="rect">
            <a:avLst/>
          </a:prstGeom>
          <a:solidFill>
            <a:srgbClr val="6B21D4"/>
          </a:solidFill>
          <a:ln>
            <a:solidFill>
              <a:srgbClr val="6B21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524256" y="1438656"/>
            <a:ext cx="2109216" cy="280416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144" rIns="9144" tIns="4572" bIns="4572"/>
          <a:lstStyle/>
          <a:p>
            <a:pPr algn="l"/>
            <a:r>
              <a:rPr sz="1000" b="1">
                <a:solidFill>
                  <a:srgbClr val="111111"/>
                </a:solidFill>
                <a:latin typeface="Aptos"/>
              </a:rPr>
              <a:t>Vipin Saroha</a:t>
            </a:r>
          </a:p>
        </p:txBody>
      </p:sp>
      <p:sp>
        <p:nvSpPr>
          <p:cNvPr id="16" name="Rectangle 15"/>
          <p:cNvSpPr/>
          <p:nvPr/>
        </p:nvSpPr>
        <p:spPr>
          <a:xfrm>
            <a:off x="2633472" y="1438656"/>
            <a:ext cx="1950720" cy="280416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144" rIns="9144" tIns="4572" bIns="4572"/>
          <a:lstStyle/>
          <a:p>
            <a:pPr algn="l"/>
            <a:r>
              <a:rPr sz="1000" b="0">
                <a:solidFill>
                  <a:srgbClr val="6B21D4"/>
                </a:solidFill>
                <a:latin typeface="Aptos"/>
              </a:rPr>
              <a:t>Product Analyst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584192" y="1438656"/>
            <a:ext cx="1389886" cy="280416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144" rIns="9144" tIns="4572" bIns="4572"/>
          <a:lstStyle/>
          <a:p>
            <a:pPr algn="l"/>
            <a:r>
              <a:rPr sz="1000" b="0">
                <a:solidFill>
                  <a:srgbClr val="777777"/>
                </a:solidFill>
                <a:latin typeface="Aptos"/>
              </a:rPr>
              <a:t>Onshore · Trane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63296" y="1719072"/>
            <a:ext cx="5547360" cy="280416"/>
          </a:xfrm>
          <a:prstGeom prst="rect">
            <a:avLst/>
          </a:prstGeom>
          <a:solidFill>
            <a:srgbClr val="F3F0FA"/>
          </a:solidFill>
          <a:ln w="4445">
            <a:solidFill>
              <a:srgbClr val="EEEE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463296" y="1719072"/>
            <a:ext cx="42672" cy="280416"/>
          </a:xfrm>
          <a:prstGeom prst="rect">
            <a:avLst/>
          </a:prstGeom>
          <a:solidFill>
            <a:srgbClr val="6B21D4"/>
          </a:solidFill>
          <a:ln>
            <a:solidFill>
              <a:srgbClr val="6B21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524256" y="1719072"/>
            <a:ext cx="2109216" cy="280416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144" rIns="9144" tIns="4572" bIns="4572"/>
          <a:lstStyle/>
          <a:p>
            <a:pPr algn="l"/>
            <a:r>
              <a:rPr sz="1000" b="1">
                <a:solidFill>
                  <a:srgbClr val="111111"/>
                </a:solidFill>
                <a:latin typeface="Aptos"/>
              </a:rPr>
              <a:t>Praveen Gopal</a:t>
            </a:r>
          </a:p>
        </p:txBody>
      </p:sp>
      <p:sp>
        <p:nvSpPr>
          <p:cNvPr id="21" name="Rectangle 20"/>
          <p:cNvSpPr/>
          <p:nvPr/>
        </p:nvSpPr>
        <p:spPr>
          <a:xfrm>
            <a:off x="2633472" y="1719072"/>
            <a:ext cx="1950720" cy="280416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144" rIns="9144" tIns="4572" bIns="4572"/>
          <a:lstStyle/>
          <a:p>
            <a:pPr algn="l"/>
            <a:r>
              <a:rPr sz="1000" b="0">
                <a:solidFill>
                  <a:srgbClr val="6B21D4"/>
                </a:solidFill>
                <a:latin typeface="Aptos"/>
              </a:rPr>
              <a:t>Business Analyst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584192" y="1719072"/>
            <a:ext cx="1389886" cy="280416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144" rIns="9144" tIns="4572" bIns="4572"/>
          <a:lstStyle/>
          <a:p>
            <a:pPr algn="l"/>
            <a:r>
              <a:rPr sz="1000" b="0">
                <a:solidFill>
                  <a:srgbClr val="777777"/>
                </a:solidFill>
                <a:latin typeface="Aptos"/>
              </a:rPr>
              <a:t>Offshore · Cognizant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63296" y="1999488"/>
            <a:ext cx="5547360" cy="280416"/>
          </a:xfrm>
          <a:prstGeom prst="rect">
            <a:avLst/>
          </a:prstGeom>
          <a:solidFill>
            <a:srgbClr val="FFFFFF"/>
          </a:solidFill>
          <a:ln w="4445">
            <a:solidFill>
              <a:srgbClr val="EEEE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463296" y="1999488"/>
            <a:ext cx="42672" cy="280416"/>
          </a:xfrm>
          <a:prstGeom prst="rect">
            <a:avLst/>
          </a:prstGeom>
          <a:solidFill>
            <a:srgbClr val="6B21D4"/>
          </a:solidFill>
          <a:ln>
            <a:solidFill>
              <a:srgbClr val="6B21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524256" y="1999488"/>
            <a:ext cx="2109216" cy="280416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144" rIns="9144" tIns="4572" bIns="4572"/>
          <a:lstStyle/>
          <a:p>
            <a:pPr algn="l"/>
            <a:r>
              <a:rPr sz="1000" b="1">
                <a:solidFill>
                  <a:srgbClr val="111111"/>
                </a:solidFill>
                <a:latin typeface="Aptos"/>
              </a:rPr>
              <a:t>Snehalata Shidling</a:t>
            </a:r>
          </a:p>
        </p:txBody>
      </p:sp>
      <p:sp>
        <p:nvSpPr>
          <p:cNvPr id="26" name="Rectangle 25"/>
          <p:cNvSpPr/>
          <p:nvPr/>
        </p:nvSpPr>
        <p:spPr>
          <a:xfrm>
            <a:off x="2633472" y="1999488"/>
            <a:ext cx="1950720" cy="280416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144" rIns="9144" tIns="4572" bIns="4572"/>
          <a:lstStyle/>
          <a:p>
            <a:pPr algn="l"/>
            <a:r>
              <a:rPr sz="1000" b="0">
                <a:solidFill>
                  <a:srgbClr val="6B21D4"/>
                </a:solidFill>
                <a:latin typeface="Aptos"/>
              </a:rPr>
              <a:t>Scrum Master / Dev</a:t>
            </a:r>
          </a:p>
        </p:txBody>
      </p:sp>
      <p:sp>
        <p:nvSpPr>
          <p:cNvPr id="27" name="Rectangle 26"/>
          <p:cNvSpPr/>
          <p:nvPr/>
        </p:nvSpPr>
        <p:spPr>
          <a:xfrm>
            <a:off x="4584192" y="1999488"/>
            <a:ext cx="1389886" cy="280416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144" rIns="9144" tIns="4572" bIns="4572"/>
          <a:lstStyle/>
          <a:p>
            <a:pPr algn="l"/>
            <a:r>
              <a:rPr sz="1000" b="0">
                <a:solidFill>
                  <a:srgbClr val="777777"/>
                </a:solidFill>
                <a:latin typeface="Aptos"/>
              </a:rPr>
              <a:t>Offshore · Trane-ITC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63296" y="2279904"/>
            <a:ext cx="5547360" cy="280416"/>
          </a:xfrm>
          <a:prstGeom prst="rect">
            <a:avLst/>
          </a:prstGeom>
          <a:solidFill>
            <a:srgbClr val="F3F0FA"/>
          </a:solidFill>
          <a:ln w="4445">
            <a:solidFill>
              <a:srgbClr val="EEEE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463296" y="2279904"/>
            <a:ext cx="42672" cy="280416"/>
          </a:xfrm>
          <a:prstGeom prst="rect">
            <a:avLst/>
          </a:prstGeom>
          <a:solidFill>
            <a:srgbClr val="6B21D4"/>
          </a:solidFill>
          <a:ln>
            <a:solidFill>
              <a:srgbClr val="6B21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524256" y="2279904"/>
            <a:ext cx="2109216" cy="280416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144" rIns="9144" tIns="4572" bIns="4572"/>
          <a:lstStyle/>
          <a:p>
            <a:pPr algn="l"/>
            <a:r>
              <a:rPr sz="1000" b="1">
                <a:solidFill>
                  <a:srgbClr val="111111"/>
                </a:solidFill>
                <a:latin typeface="Aptos"/>
              </a:rPr>
              <a:t>Irfan Khan</a:t>
            </a:r>
          </a:p>
        </p:txBody>
      </p:sp>
      <p:sp>
        <p:nvSpPr>
          <p:cNvPr id="31" name="Rectangle 30"/>
          <p:cNvSpPr/>
          <p:nvPr/>
        </p:nvSpPr>
        <p:spPr>
          <a:xfrm>
            <a:off x="2633472" y="2279904"/>
            <a:ext cx="1950720" cy="280416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144" rIns="9144" tIns="4572" bIns="4572"/>
          <a:lstStyle/>
          <a:p>
            <a:pPr algn="l"/>
            <a:r>
              <a:rPr sz="1000" b="0">
                <a:solidFill>
                  <a:srgbClr val="6B21D4"/>
                </a:solidFill>
                <a:latin typeface="Aptos"/>
              </a:rPr>
              <a:t>Dev – Tech Lead</a:t>
            </a:r>
          </a:p>
        </p:txBody>
      </p:sp>
      <p:sp>
        <p:nvSpPr>
          <p:cNvPr id="32" name="Rectangle 31"/>
          <p:cNvSpPr/>
          <p:nvPr/>
        </p:nvSpPr>
        <p:spPr>
          <a:xfrm>
            <a:off x="4584192" y="2279904"/>
            <a:ext cx="1389886" cy="280416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144" rIns="9144" tIns="4572" bIns="4572"/>
          <a:lstStyle/>
          <a:p>
            <a:pPr algn="l"/>
            <a:r>
              <a:rPr sz="1000" b="0">
                <a:solidFill>
                  <a:srgbClr val="777777"/>
                </a:solidFill>
                <a:latin typeface="Aptos"/>
              </a:rPr>
              <a:t>Offshore · Cognizant</a:t>
            </a:r>
          </a:p>
        </p:txBody>
      </p:sp>
      <p:sp>
        <p:nvSpPr>
          <p:cNvPr id="33" name="Rectangle 32"/>
          <p:cNvSpPr/>
          <p:nvPr/>
        </p:nvSpPr>
        <p:spPr>
          <a:xfrm>
            <a:off x="463296" y="2560320"/>
            <a:ext cx="5547360" cy="280416"/>
          </a:xfrm>
          <a:prstGeom prst="rect">
            <a:avLst/>
          </a:prstGeom>
          <a:solidFill>
            <a:srgbClr val="FFFFFF"/>
          </a:solidFill>
          <a:ln w="4445">
            <a:solidFill>
              <a:srgbClr val="EEEE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463296" y="2560320"/>
            <a:ext cx="42672" cy="280416"/>
          </a:xfrm>
          <a:prstGeom prst="rect">
            <a:avLst/>
          </a:prstGeom>
          <a:solidFill>
            <a:srgbClr val="6B21D4"/>
          </a:solidFill>
          <a:ln>
            <a:solidFill>
              <a:srgbClr val="6B21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524256" y="2560320"/>
            <a:ext cx="2109216" cy="280416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144" rIns="9144" tIns="4572" bIns="4572"/>
          <a:lstStyle/>
          <a:p>
            <a:pPr algn="l"/>
            <a:r>
              <a:rPr sz="1000" b="1">
                <a:solidFill>
                  <a:srgbClr val="111111"/>
                </a:solidFill>
                <a:latin typeface="Aptos"/>
              </a:rPr>
              <a:t>Vrushali</a:t>
            </a:r>
          </a:p>
        </p:txBody>
      </p:sp>
      <p:sp>
        <p:nvSpPr>
          <p:cNvPr id="36" name="Rectangle 35"/>
          <p:cNvSpPr/>
          <p:nvPr/>
        </p:nvSpPr>
        <p:spPr>
          <a:xfrm>
            <a:off x="2633472" y="2560320"/>
            <a:ext cx="1950720" cy="280416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144" rIns="9144" tIns="4572" bIns="4572"/>
          <a:lstStyle/>
          <a:p>
            <a:pPr algn="l"/>
            <a:r>
              <a:rPr sz="1000" b="0">
                <a:solidFill>
                  <a:srgbClr val="6B21D4"/>
                </a:solidFill>
                <a:latin typeface="Aptos"/>
              </a:rPr>
              <a:t>Developer</a:t>
            </a:r>
          </a:p>
        </p:txBody>
      </p:sp>
      <p:sp>
        <p:nvSpPr>
          <p:cNvPr id="37" name="Rectangle 36"/>
          <p:cNvSpPr/>
          <p:nvPr/>
        </p:nvSpPr>
        <p:spPr>
          <a:xfrm>
            <a:off x="4584192" y="2560320"/>
            <a:ext cx="1389886" cy="280416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144" rIns="9144" tIns="4572" bIns="4572"/>
          <a:lstStyle/>
          <a:p>
            <a:pPr algn="l"/>
            <a:r>
              <a:rPr sz="1000" b="0">
                <a:solidFill>
                  <a:srgbClr val="777777"/>
                </a:solidFill>
                <a:latin typeface="Aptos"/>
              </a:rPr>
              <a:t>Offshore · Cognizant</a:t>
            </a:r>
          </a:p>
        </p:txBody>
      </p:sp>
      <p:sp>
        <p:nvSpPr>
          <p:cNvPr id="38" name="Rectangle 37"/>
          <p:cNvSpPr/>
          <p:nvPr/>
        </p:nvSpPr>
        <p:spPr>
          <a:xfrm>
            <a:off x="6156960" y="877824"/>
            <a:ext cx="5547360" cy="280416"/>
          </a:xfrm>
          <a:prstGeom prst="rect">
            <a:avLst/>
          </a:prstGeom>
          <a:solidFill>
            <a:srgbClr val="FFFFFF"/>
          </a:solidFill>
          <a:ln w="4445">
            <a:solidFill>
              <a:srgbClr val="EEEE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6156960" y="877824"/>
            <a:ext cx="42672" cy="280416"/>
          </a:xfrm>
          <a:prstGeom prst="rect">
            <a:avLst/>
          </a:prstGeom>
          <a:solidFill>
            <a:srgbClr val="6B21D4"/>
          </a:solidFill>
          <a:ln>
            <a:solidFill>
              <a:srgbClr val="6B21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6217920" y="877824"/>
            <a:ext cx="2109216" cy="280416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144" rIns="9144" tIns="4572" bIns="4572"/>
          <a:lstStyle/>
          <a:p>
            <a:pPr algn="l"/>
            <a:r>
              <a:rPr sz="1000" b="1">
                <a:solidFill>
                  <a:srgbClr val="111111"/>
                </a:solidFill>
                <a:latin typeface="Aptos"/>
              </a:rPr>
              <a:t>Kanika Gupta</a:t>
            </a:r>
          </a:p>
        </p:txBody>
      </p:sp>
      <p:sp>
        <p:nvSpPr>
          <p:cNvPr id="41" name="Rectangle 40"/>
          <p:cNvSpPr/>
          <p:nvPr/>
        </p:nvSpPr>
        <p:spPr>
          <a:xfrm>
            <a:off x="8327136" y="877824"/>
            <a:ext cx="1950720" cy="280416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144" rIns="9144" tIns="4572" bIns="4572"/>
          <a:lstStyle/>
          <a:p>
            <a:pPr algn="l"/>
            <a:r>
              <a:rPr sz="1000" b="0">
                <a:solidFill>
                  <a:srgbClr val="6B21D4"/>
                </a:solidFill>
                <a:latin typeface="Aptos"/>
              </a:rPr>
              <a:t>Developer</a:t>
            </a:r>
          </a:p>
        </p:txBody>
      </p:sp>
      <p:sp>
        <p:nvSpPr>
          <p:cNvPr id="42" name="Rectangle 41"/>
          <p:cNvSpPr/>
          <p:nvPr/>
        </p:nvSpPr>
        <p:spPr>
          <a:xfrm>
            <a:off x="10277856" y="877824"/>
            <a:ext cx="1389886" cy="280416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144" rIns="9144" tIns="4572" bIns="4572"/>
          <a:lstStyle/>
          <a:p>
            <a:pPr algn="l"/>
            <a:r>
              <a:rPr sz="1000" b="0">
                <a:solidFill>
                  <a:srgbClr val="777777"/>
                </a:solidFill>
                <a:latin typeface="Aptos"/>
              </a:rPr>
              <a:t>Offshore · Cognizant</a:t>
            </a:r>
          </a:p>
        </p:txBody>
      </p:sp>
      <p:sp>
        <p:nvSpPr>
          <p:cNvPr id="43" name="Rectangle 42"/>
          <p:cNvSpPr/>
          <p:nvPr/>
        </p:nvSpPr>
        <p:spPr>
          <a:xfrm>
            <a:off x="6156960" y="1158240"/>
            <a:ext cx="5547360" cy="280416"/>
          </a:xfrm>
          <a:prstGeom prst="rect">
            <a:avLst/>
          </a:prstGeom>
          <a:solidFill>
            <a:srgbClr val="F3F0FA"/>
          </a:solidFill>
          <a:ln w="4445">
            <a:solidFill>
              <a:srgbClr val="EEEE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6156960" y="1158240"/>
            <a:ext cx="42672" cy="280416"/>
          </a:xfrm>
          <a:prstGeom prst="rect">
            <a:avLst/>
          </a:prstGeom>
          <a:solidFill>
            <a:srgbClr val="6B21D4"/>
          </a:solidFill>
          <a:ln>
            <a:solidFill>
              <a:srgbClr val="6B21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6217920" y="1158240"/>
            <a:ext cx="2109216" cy="280416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144" rIns="9144" tIns="4572" bIns="4572"/>
          <a:lstStyle/>
          <a:p>
            <a:pPr algn="l"/>
            <a:r>
              <a:rPr sz="1000" b="1">
                <a:solidFill>
                  <a:srgbClr val="111111"/>
                </a:solidFill>
                <a:latin typeface="Aptos"/>
              </a:rPr>
              <a:t>Shivaraj</a:t>
            </a:r>
          </a:p>
        </p:txBody>
      </p:sp>
      <p:sp>
        <p:nvSpPr>
          <p:cNvPr id="46" name="Rectangle 45"/>
          <p:cNvSpPr/>
          <p:nvPr/>
        </p:nvSpPr>
        <p:spPr>
          <a:xfrm>
            <a:off x="8327136" y="1158240"/>
            <a:ext cx="1950720" cy="280416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144" rIns="9144" tIns="4572" bIns="4572"/>
          <a:lstStyle/>
          <a:p>
            <a:pPr algn="l"/>
            <a:r>
              <a:rPr sz="1000" b="0">
                <a:solidFill>
                  <a:srgbClr val="6B21D4"/>
                </a:solidFill>
                <a:latin typeface="Aptos"/>
              </a:rPr>
              <a:t>Developer</a:t>
            </a:r>
          </a:p>
        </p:txBody>
      </p:sp>
      <p:sp>
        <p:nvSpPr>
          <p:cNvPr id="47" name="Rectangle 46"/>
          <p:cNvSpPr/>
          <p:nvPr/>
        </p:nvSpPr>
        <p:spPr>
          <a:xfrm>
            <a:off x="10277856" y="1158240"/>
            <a:ext cx="1389886" cy="280416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144" rIns="9144" tIns="4572" bIns="4572"/>
          <a:lstStyle/>
          <a:p>
            <a:pPr algn="l"/>
            <a:r>
              <a:rPr sz="1000" b="0">
                <a:solidFill>
                  <a:srgbClr val="777777"/>
                </a:solidFill>
                <a:latin typeface="Aptos"/>
              </a:rPr>
              <a:t>Offshore · Trane-ITC</a:t>
            </a:r>
          </a:p>
        </p:txBody>
      </p:sp>
      <p:sp>
        <p:nvSpPr>
          <p:cNvPr id="48" name="Rectangle 47"/>
          <p:cNvSpPr/>
          <p:nvPr/>
        </p:nvSpPr>
        <p:spPr>
          <a:xfrm>
            <a:off x="6156960" y="1438656"/>
            <a:ext cx="5547360" cy="280416"/>
          </a:xfrm>
          <a:prstGeom prst="rect">
            <a:avLst/>
          </a:prstGeom>
          <a:solidFill>
            <a:srgbClr val="FFFFFF"/>
          </a:solidFill>
          <a:ln w="4445">
            <a:solidFill>
              <a:srgbClr val="EEEE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ectangle 48"/>
          <p:cNvSpPr/>
          <p:nvPr/>
        </p:nvSpPr>
        <p:spPr>
          <a:xfrm>
            <a:off x="6156960" y="1438656"/>
            <a:ext cx="42672" cy="280416"/>
          </a:xfrm>
          <a:prstGeom prst="rect">
            <a:avLst/>
          </a:prstGeom>
          <a:solidFill>
            <a:srgbClr val="6B21D4"/>
          </a:solidFill>
          <a:ln>
            <a:solidFill>
              <a:srgbClr val="6B21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Rectangle 49"/>
          <p:cNvSpPr/>
          <p:nvPr/>
        </p:nvSpPr>
        <p:spPr>
          <a:xfrm>
            <a:off x="6217920" y="1438656"/>
            <a:ext cx="2109216" cy="280416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144" rIns="9144" tIns="4572" bIns="4572"/>
          <a:lstStyle/>
          <a:p>
            <a:pPr algn="l"/>
            <a:r>
              <a:rPr sz="1000" b="1">
                <a:solidFill>
                  <a:srgbClr val="111111"/>
                </a:solidFill>
                <a:latin typeface="Aptos"/>
              </a:rPr>
              <a:t>Brock Hansen</a:t>
            </a:r>
          </a:p>
        </p:txBody>
      </p:sp>
      <p:sp>
        <p:nvSpPr>
          <p:cNvPr id="51" name="Rectangle 50"/>
          <p:cNvSpPr/>
          <p:nvPr/>
        </p:nvSpPr>
        <p:spPr>
          <a:xfrm>
            <a:off x="8327136" y="1438656"/>
            <a:ext cx="1950720" cy="280416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144" rIns="9144" tIns="4572" bIns="4572"/>
          <a:lstStyle/>
          <a:p>
            <a:pPr algn="l"/>
            <a:r>
              <a:rPr sz="1000" b="0">
                <a:solidFill>
                  <a:srgbClr val="6B21D4"/>
                </a:solidFill>
                <a:latin typeface="Aptos"/>
              </a:rPr>
              <a:t>Dev – Intern</a:t>
            </a:r>
          </a:p>
        </p:txBody>
      </p:sp>
      <p:sp>
        <p:nvSpPr>
          <p:cNvPr id="52" name="Rectangle 51"/>
          <p:cNvSpPr/>
          <p:nvPr/>
        </p:nvSpPr>
        <p:spPr>
          <a:xfrm>
            <a:off x="10277856" y="1438656"/>
            <a:ext cx="1389886" cy="280416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144" rIns="9144" tIns="4572" bIns="4572"/>
          <a:lstStyle/>
          <a:p>
            <a:pPr algn="l"/>
            <a:r>
              <a:rPr sz="1000" b="0">
                <a:solidFill>
                  <a:srgbClr val="777777"/>
                </a:solidFill>
                <a:latin typeface="Aptos"/>
              </a:rPr>
              <a:t>Onshore · Trane</a:t>
            </a:r>
          </a:p>
        </p:txBody>
      </p:sp>
      <p:sp>
        <p:nvSpPr>
          <p:cNvPr id="53" name="Rectangle 52"/>
          <p:cNvSpPr/>
          <p:nvPr/>
        </p:nvSpPr>
        <p:spPr>
          <a:xfrm>
            <a:off x="6156960" y="1719072"/>
            <a:ext cx="5547360" cy="280416"/>
          </a:xfrm>
          <a:prstGeom prst="rect">
            <a:avLst/>
          </a:prstGeom>
          <a:solidFill>
            <a:srgbClr val="F3F0FA"/>
          </a:solidFill>
          <a:ln w="4445">
            <a:solidFill>
              <a:srgbClr val="EEEE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Rectangle 53"/>
          <p:cNvSpPr/>
          <p:nvPr/>
        </p:nvSpPr>
        <p:spPr>
          <a:xfrm>
            <a:off x="6156960" y="1719072"/>
            <a:ext cx="42672" cy="280416"/>
          </a:xfrm>
          <a:prstGeom prst="rect">
            <a:avLst/>
          </a:prstGeom>
          <a:solidFill>
            <a:srgbClr val="6B21D4"/>
          </a:solidFill>
          <a:ln>
            <a:solidFill>
              <a:srgbClr val="6B21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6217920" y="1719072"/>
            <a:ext cx="2109216" cy="280416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144" rIns="9144" tIns="4572" bIns="4572"/>
          <a:lstStyle/>
          <a:p>
            <a:pPr algn="l"/>
            <a:r>
              <a:rPr sz="1000" b="1">
                <a:solidFill>
                  <a:srgbClr val="111111"/>
                </a:solidFill>
                <a:latin typeface="Aptos"/>
              </a:rPr>
              <a:t>Ethan Wateski</a:t>
            </a:r>
          </a:p>
        </p:txBody>
      </p:sp>
      <p:sp>
        <p:nvSpPr>
          <p:cNvPr id="56" name="Rectangle 55"/>
          <p:cNvSpPr/>
          <p:nvPr/>
        </p:nvSpPr>
        <p:spPr>
          <a:xfrm>
            <a:off x="8327136" y="1719072"/>
            <a:ext cx="1950720" cy="280416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144" rIns="9144" tIns="4572" bIns="4572"/>
          <a:lstStyle/>
          <a:p>
            <a:pPr algn="l"/>
            <a:r>
              <a:rPr sz="1000" b="0">
                <a:solidFill>
                  <a:srgbClr val="6B21D4"/>
                </a:solidFill>
                <a:latin typeface="Aptos"/>
              </a:rPr>
              <a:t>Dev – Intern</a:t>
            </a:r>
          </a:p>
        </p:txBody>
      </p:sp>
      <p:sp>
        <p:nvSpPr>
          <p:cNvPr id="57" name="Rectangle 56"/>
          <p:cNvSpPr/>
          <p:nvPr/>
        </p:nvSpPr>
        <p:spPr>
          <a:xfrm>
            <a:off x="10277856" y="1719072"/>
            <a:ext cx="1389886" cy="280416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144" rIns="9144" tIns="4572" bIns="4572"/>
          <a:lstStyle/>
          <a:p>
            <a:pPr algn="l"/>
            <a:r>
              <a:rPr sz="1000" b="0">
                <a:solidFill>
                  <a:srgbClr val="777777"/>
                </a:solidFill>
                <a:latin typeface="Aptos"/>
              </a:rPr>
              <a:t>Onshore · Trane</a:t>
            </a:r>
          </a:p>
        </p:txBody>
      </p:sp>
      <p:sp>
        <p:nvSpPr>
          <p:cNvPr id="58" name="Rectangle 57"/>
          <p:cNvSpPr/>
          <p:nvPr/>
        </p:nvSpPr>
        <p:spPr>
          <a:xfrm>
            <a:off x="6156960" y="1999488"/>
            <a:ext cx="5547360" cy="280416"/>
          </a:xfrm>
          <a:prstGeom prst="rect">
            <a:avLst/>
          </a:prstGeom>
          <a:solidFill>
            <a:srgbClr val="FFFFFF"/>
          </a:solidFill>
          <a:ln w="4445">
            <a:solidFill>
              <a:srgbClr val="EEEE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Rectangle 58"/>
          <p:cNvSpPr/>
          <p:nvPr/>
        </p:nvSpPr>
        <p:spPr>
          <a:xfrm>
            <a:off x="6156960" y="1999488"/>
            <a:ext cx="42672" cy="280416"/>
          </a:xfrm>
          <a:prstGeom prst="rect">
            <a:avLst/>
          </a:prstGeom>
          <a:solidFill>
            <a:srgbClr val="6B21D4"/>
          </a:solidFill>
          <a:ln>
            <a:solidFill>
              <a:srgbClr val="6B21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Rectangle 59"/>
          <p:cNvSpPr/>
          <p:nvPr/>
        </p:nvSpPr>
        <p:spPr>
          <a:xfrm>
            <a:off x="6217920" y="1999488"/>
            <a:ext cx="2109216" cy="280416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144" rIns="9144" tIns="4572" bIns="4572"/>
          <a:lstStyle/>
          <a:p>
            <a:pPr algn="l"/>
            <a:r>
              <a:rPr sz="1000" b="1">
                <a:solidFill>
                  <a:srgbClr val="111111"/>
                </a:solidFill>
                <a:latin typeface="Aptos"/>
              </a:rPr>
              <a:t>Mahesh Laddi</a:t>
            </a:r>
          </a:p>
        </p:txBody>
      </p:sp>
      <p:sp>
        <p:nvSpPr>
          <p:cNvPr id="61" name="Rectangle 60"/>
          <p:cNvSpPr/>
          <p:nvPr/>
        </p:nvSpPr>
        <p:spPr>
          <a:xfrm>
            <a:off x="8327136" y="1999488"/>
            <a:ext cx="1950720" cy="280416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144" rIns="9144" tIns="4572" bIns="4572"/>
          <a:lstStyle/>
          <a:p>
            <a:pPr algn="l"/>
            <a:r>
              <a:rPr sz="1000" b="0">
                <a:solidFill>
                  <a:srgbClr val="6B21D4"/>
                </a:solidFill>
                <a:latin typeface="Aptos"/>
              </a:rPr>
              <a:t>QA – Func / Auto</a:t>
            </a:r>
          </a:p>
        </p:txBody>
      </p:sp>
      <p:sp>
        <p:nvSpPr>
          <p:cNvPr id="62" name="Rectangle 61"/>
          <p:cNvSpPr/>
          <p:nvPr/>
        </p:nvSpPr>
        <p:spPr>
          <a:xfrm>
            <a:off x="10277856" y="1999488"/>
            <a:ext cx="1389886" cy="280416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144" rIns="9144" tIns="4572" bIns="4572"/>
          <a:lstStyle/>
          <a:p>
            <a:pPr algn="l"/>
            <a:r>
              <a:rPr sz="1000" b="0">
                <a:solidFill>
                  <a:srgbClr val="777777"/>
                </a:solidFill>
                <a:latin typeface="Aptos"/>
              </a:rPr>
              <a:t>Offshore · Trane-ITC</a:t>
            </a:r>
          </a:p>
        </p:txBody>
      </p:sp>
      <p:sp>
        <p:nvSpPr>
          <p:cNvPr id="63" name="Rectangle 62"/>
          <p:cNvSpPr/>
          <p:nvPr/>
        </p:nvSpPr>
        <p:spPr>
          <a:xfrm>
            <a:off x="6156960" y="2279904"/>
            <a:ext cx="5547360" cy="280416"/>
          </a:xfrm>
          <a:prstGeom prst="rect">
            <a:avLst/>
          </a:prstGeom>
          <a:solidFill>
            <a:srgbClr val="F3F0FA"/>
          </a:solidFill>
          <a:ln w="4445">
            <a:solidFill>
              <a:srgbClr val="EEEE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Rectangle 63"/>
          <p:cNvSpPr/>
          <p:nvPr/>
        </p:nvSpPr>
        <p:spPr>
          <a:xfrm>
            <a:off x="6156960" y="2279904"/>
            <a:ext cx="42672" cy="280416"/>
          </a:xfrm>
          <a:prstGeom prst="rect">
            <a:avLst/>
          </a:prstGeom>
          <a:solidFill>
            <a:srgbClr val="6B21D4"/>
          </a:solidFill>
          <a:ln>
            <a:solidFill>
              <a:srgbClr val="6B21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Rectangle 64"/>
          <p:cNvSpPr/>
          <p:nvPr/>
        </p:nvSpPr>
        <p:spPr>
          <a:xfrm>
            <a:off x="6217920" y="2279904"/>
            <a:ext cx="2109216" cy="280416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144" rIns="9144" tIns="4572" bIns="4572"/>
          <a:lstStyle/>
          <a:p>
            <a:pPr algn="l"/>
            <a:r>
              <a:rPr sz="1000" b="1">
                <a:solidFill>
                  <a:srgbClr val="111111"/>
                </a:solidFill>
                <a:latin typeface="Aptos"/>
              </a:rPr>
              <a:t>Anusha Gadade</a:t>
            </a:r>
          </a:p>
        </p:txBody>
      </p:sp>
      <p:sp>
        <p:nvSpPr>
          <p:cNvPr id="66" name="Rectangle 65"/>
          <p:cNvSpPr/>
          <p:nvPr/>
        </p:nvSpPr>
        <p:spPr>
          <a:xfrm>
            <a:off x="8327136" y="2279904"/>
            <a:ext cx="1950720" cy="280416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144" rIns="9144" tIns="4572" bIns="4572"/>
          <a:lstStyle/>
          <a:p>
            <a:pPr algn="l"/>
            <a:r>
              <a:rPr sz="1000" b="0">
                <a:solidFill>
                  <a:srgbClr val="6B21D4"/>
                </a:solidFill>
                <a:latin typeface="Aptos"/>
              </a:rPr>
              <a:t>QA – Func / Auto</a:t>
            </a:r>
          </a:p>
        </p:txBody>
      </p:sp>
      <p:sp>
        <p:nvSpPr>
          <p:cNvPr id="67" name="Rectangle 66"/>
          <p:cNvSpPr/>
          <p:nvPr/>
        </p:nvSpPr>
        <p:spPr>
          <a:xfrm>
            <a:off x="10277856" y="2279904"/>
            <a:ext cx="1389886" cy="280416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144" rIns="9144" tIns="4572" bIns="4572"/>
          <a:lstStyle/>
          <a:p>
            <a:pPr algn="l"/>
            <a:r>
              <a:rPr sz="1000" b="0">
                <a:solidFill>
                  <a:srgbClr val="777777"/>
                </a:solidFill>
                <a:latin typeface="Aptos"/>
              </a:rPr>
              <a:t>Offshore · Trane-ITC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156960" y="2560320"/>
            <a:ext cx="5547360" cy="280416"/>
          </a:xfrm>
          <a:prstGeom prst="rect">
            <a:avLst/>
          </a:prstGeom>
          <a:solidFill>
            <a:srgbClr val="FFFFFF"/>
          </a:solidFill>
          <a:ln w="4445">
            <a:solidFill>
              <a:srgbClr val="EEEE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Rectangle 68"/>
          <p:cNvSpPr/>
          <p:nvPr/>
        </p:nvSpPr>
        <p:spPr>
          <a:xfrm>
            <a:off x="6156960" y="2560320"/>
            <a:ext cx="42672" cy="280416"/>
          </a:xfrm>
          <a:prstGeom prst="rect">
            <a:avLst/>
          </a:prstGeom>
          <a:solidFill>
            <a:srgbClr val="6B21D4"/>
          </a:solidFill>
          <a:ln>
            <a:solidFill>
              <a:srgbClr val="6B21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Rectangle 69"/>
          <p:cNvSpPr/>
          <p:nvPr/>
        </p:nvSpPr>
        <p:spPr>
          <a:xfrm>
            <a:off x="6217920" y="2560320"/>
            <a:ext cx="2109216" cy="280416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144" rIns="9144" tIns="4572" bIns="4572"/>
          <a:lstStyle/>
          <a:p>
            <a:pPr algn="l"/>
            <a:r>
              <a:rPr sz="1000" b="1">
                <a:solidFill>
                  <a:srgbClr val="111111"/>
                </a:solidFill>
                <a:latin typeface="Aptos"/>
              </a:rPr>
              <a:t>Sarala V</a:t>
            </a:r>
          </a:p>
        </p:txBody>
      </p:sp>
      <p:sp>
        <p:nvSpPr>
          <p:cNvPr id="71" name="Rectangle 70"/>
          <p:cNvSpPr/>
          <p:nvPr/>
        </p:nvSpPr>
        <p:spPr>
          <a:xfrm>
            <a:off x="8327136" y="2560320"/>
            <a:ext cx="1950720" cy="280416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144" rIns="9144" tIns="4572" bIns="4572"/>
          <a:lstStyle/>
          <a:p>
            <a:pPr algn="l"/>
            <a:r>
              <a:rPr sz="1000" b="0">
                <a:solidFill>
                  <a:srgbClr val="6B21D4"/>
                </a:solidFill>
                <a:latin typeface="Aptos"/>
              </a:rPr>
              <a:t>QA – Func / R12</a:t>
            </a:r>
          </a:p>
        </p:txBody>
      </p:sp>
      <p:sp>
        <p:nvSpPr>
          <p:cNvPr id="72" name="Rectangle 71"/>
          <p:cNvSpPr/>
          <p:nvPr/>
        </p:nvSpPr>
        <p:spPr>
          <a:xfrm>
            <a:off x="10277856" y="2560320"/>
            <a:ext cx="1389886" cy="280416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144" rIns="9144" tIns="4572" bIns="4572"/>
          <a:lstStyle/>
          <a:p>
            <a:pPr algn="l"/>
            <a:r>
              <a:rPr sz="1000" b="0">
                <a:solidFill>
                  <a:srgbClr val="777777"/>
                </a:solidFill>
                <a:latin typeface="Aptos"/>
              </a:rPr>
              <a:t>Offshore · Trane-ITC</a:t>
            </a:r>
          </a:p>
        </p:txBody>
      </p:sp>
      <p:sp>
        <p:nvSpPr>
          <p:cNvPr id="73" name="Rectangle 72"/>
          <p:cNvSpPr/>
          <p:nvPr/>
        </p:nvSpPr>
        <p:spPr>
          <a:xfrm>
            <a:off x="463296" y="3230880"/>
            <a:ext cx="11216640" cy="24384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4572" bIns="4572"/>
          <a:lstStyle/>
          <a:p>
            <a:pPr algn="l"/>
            <a:r>
              <a:rPr sz="1000" b="1">
                <a:solidFill>
                  <a:srgbClr val="4A148C"/>
                </a:solidFill>
                <a:latin typeface="Aptos"/>
              </a:rPr>
              <a:t>S&amp;C Contracting – Team 1 (WorkSight &amp; R12 Devs / FAs)</a:t>
            </a:r>
          </a:p>
        </p:txBody>
      </p:sp>
      <p:sp>
        <p:nvSpPr>
          <p:cNvPr id="74" name="Rectangle 73"/>
          <p:cNvSpPr/>
          <p:nvPr/>
        </p:nvSpPr>
        <p:spPr>
          <a:xfrm>
            <a:off x="463296" y="3572256"/>
            <a:ext cx="5547360" cy="243840"/>
          </a:xfrm>
          <a:prstGeom prst="rect">
            <a:avLst/>
          </a:prstGeom>
          <a:solidFill>
            <a:srgbClr val="FFFFFF"/>
          </a:solidFill>
          <a:ln w="4445">
            <a:solidFill>
              <a:srgbClr val="EEEE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Rectangle 74"/>
          <p:cNvSpPr/>
          <p:nvPr/>
        </p:nvSpPr>
        <p:spPr>
          <a:xfrm>
            <a:off x="463296" y="3572256"/>
            <a:ext cx="42672" cy="243840"/>
          </a:xfrm>
          <a:prstGeom prst="rect">
            <a:avLst/>
          </a:prstGeom>
          <a:solidFill>
            <a:srgbClr val="6B21D4"/>
          </a:solidFill>
          <a:ln>
            <a:solidFill>
              <a:srgbClr val="6B21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Rectangle 75"/>
          <p:cNvSpPr/>
          <p:nvPr/>
        </p:nvSpPr>
        <p:spPr>
          <a:xfrm>
            <a:off x="524256" y="3572256"/>
            <a:ext cx="2109216" cy="24384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144" rIns="9144" tIns="4572" bIns="4572"/>
          <a:lstStyle/>
          <a:p>
            <a:pPr algn="l"/>
            <a:r>
              <a:rPr sz="1000" b="1">
                <a:solidFill>
                  <a:srgbClr val="111111"/>
                </a:solidFill>
                <a:latin typeface="Aptos"/>
              </a:rPr>
              <a:t>Albin Xavier</a:t>
            </a:r>
          </a:p>
        </p:txBody>
      </p:sp>
      <p:sp>
        <p:nvSpPr>
          <p:cNvPr id="77" name="Rectangle 76"/>
          <p:cNvSpPr/>
          <p:nvPr/>
        </p:nvSpPr>
        <p:spPr>
          <a:xfrm>
            <a:off x="2633472" y="3572256"/>
            <a:ext cx="1950720" cy="24384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144" rIns="9144" tIns="4572" bIns="4572"/>
          <a:lstStyle/>
          <a:p>
            <a:pPr algn="l"/>
            <a:r>
              <a:rPr sz="1000" b="0">
                <a:solidFill>
                  <a:srgbClr val="6B21D4"/>
                </a:solidFill>
                <a:latin typeface="Aptos"/>
              </a:rPr>
              <a:t>WorkSight FA</a:t>
            </a:r>
          </a:p>
        </p:txBody>
      </p:sp>
      <p:sp>
        <p:nvSpPr>
          <p:cNvPr id="78" name="Rectangle 77"/>
          <p:cNvSpPr/>
          <p:nvPr/>
        </p:nvSpPr>
        <p:spPr>
          <a:xfrm>
            <a:off x="4584192" y="3572256"/>
            <a:ext cx="1389886" cy="24384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144" rIns="9144" tIns="4572" bIns="4572"/>
          <a:lstStyle/>
          <a:p>
            <a:pPr algn="l"/>
            <a:r>
              <a:rPr sz="1000" b="0">
                <a:solidFill>
                  <a:srgbClr val="777777"/>
                </a:solidFill>
                <a:latin typeface="Aptos"/>
              </a:rPr>
              <a:t>Onshore · Cognizant</a:t>
            </a:r>
          </a:p>
        </p:txBody>
      </p:sp>
      <p:sp>
        <p:nvSpPr>
          <p:cNvPr id="79" name="Rectangle 78"/>
          <p:cNvSpPr/>
          <p:nvPr/>
        </p:nvSpPr>
        <p:spPr>
          <a:xfrm>
            <a:off x="463296" y="3816096"/>
            <a:ext cx="5547360" cy="243840"/>
          </a:xfrm>
          <a:prstGeom prst="rect">
            <a:avLst/>
          </a:prstGeom>
          <a:solidFill>
            <a:srgbClr val="F3F0FA"/>
          </a:solidFill>
          <a:ln w="4445">
            <a:solidFill>
              <a:srgbClr val="EEEE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Rectangle 79"/>
          <p:cNvSpPr/>
          <p:nvPr/>
        </p:nvSpPr>
        <p:spPr>
          <a:xfrm>
            <a:off x="463296" y="3816096"/>
            <a:ext cx="42672" cy="243840"/>
          </a:xfrm>
          <a:prstGeom prst="rect">
            <a:avLst/>
          </a:prstGeom>
          <a:solidFill>
            <a:srgbClr val="6B21D4"/>
          </a:solidFill>
          <a:ln>
            <a:solidFill>
              <a:srgbClr val="6B21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Rectangle 80"/>
          <p:cNvSpPr/>
          <p:nvPr/>
        </p:nvSpPr>
        <p:spPr>
          <a:xfrm>
            <a:off x="524256" y="3816096"/>
            <a:ext cx="2109216" cy="24384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144" rIns="9144" tIns="4572" bIns="4572"/>
          <a:lstStyle/>
          <a:p>
            <a:pPr algn="l"/>
            <a:r>
              <a:rPr sz="1000" b="1">
                <a:solidFill>
                  <a:srgbClr val="111111"/>
                </a:solidFill>
                <a:latin typeface="Aptos"/>
              </a:rPr>
              <a:t>Narayan Kapali</a:t>
            </a:r>
          </a:p>
        </p:txBody>
      </p:sp>
      <p:sp>
        <p:nvSpPr>
          <p:cNvPr id="82" name="Rectangle 81"/>
          <p:cNvSpPr/>
          <p:nvPr/>
        </p:nvSpPr>
        <p:spPr>
          <a:xfrm>
            <a:off x="2633472" y="3816096"/>
            <a:ext cx="1950720" cy="24384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144" rIns="9144" tIns="4572" bIns="4572"/>
          <a:lstStyle/>
          <a:p>
            <a:pPr algn="l"/>
            <a:r>
              <a:rPr sz="1000" b="0">
                <a:solidFill>
                  <a:srgbClr val="6B21D4"/>
                </a:solidFill>
                <a:latin typeface="Aptos"/>
              </a:rPr>
              <a:t>WorkSight FA</a:t>
            </a:r>
          </a:p>
        </p:txBody>
      </p:sp>
      <p:sp>
        <p:nvSpPr>
          <p:cNvPr id="83" name="Rectangle 82"/>
          <p:cNvSpPr/>
          <p:nvPr/>
        </p:nvSpPr>
        <p:spPr>
          <a:xfrm>
            <a:off x="4584192" y="3816096"/>
            <a:ext cx="1389886" cy="24384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144" rIns="9144" tIns="4572" bIns="4572"/>
          <a:lstStyle/>
          <a:p>
            <a:pPr algn="l"/>
            <a:r>
              <a:rPr sz="1000" b="0">
                <a:solidFill>
                  <a:srgbClr val="777777"/>
                </a:solidFill>
                <a:latin typeface="Aptos"/>
              </a:rPr>
              <a:t>Onshore · Cognizant</a:t>
            </a:r>
          </a:p>
        </p:txBody>
      </p:sp>
      <p:sp>
        <p:nvSpPr>
          <p:cNvPr id="84" name="Rectangle 83"/>
          <p:cNvSpPr/>
          <p:nvPr/>
        </p:nvSpPr>
        <p:spPr>
          <a:xfrm>
            <a:off x="463296" y="4059936"/>
            <a:ext cx="5547360" cy="243840"/>
          </a:xfrm>
          <a:prstGeom prst="rect">
            <a:avLst/>
          </a:prstGeom>
          <a:solidFill>
            <a:srgbClr val="FFFFFF"/>
          </a:solidFill>
          <a:ln w="4445">
            <a:solidFill>
              <a:srgbClr val="EEEE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Rectangle 84"/>
          <p:cNvSpPr/>
          <p:nvPr/>
        </p:nvSpPr>
        <p:spPr>
          <a:xfrm>
            <a:off x="463296" y="4059936"/>
            <a:ext cx="42672" cy="243840"/>
          </a:xfrm>
          <a:prstGeom prst="rect">
            <a:avLst/>
          </a:prstGeom>
          <a:solidFill>
            <a:srgbClr val="6B21D4"/>
          </a:solidFill>
          <a:ln>
            <a:solidFill>
              <a:srgbClr val="6B21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Rectangle 85"/>
          <p:cNvSpPr/>
          <p:nvPr/>
        </p:nvSpPr>
        <p:spPr>
          <a:xfrm>
            <a:off x="524256" y="4059936"/>
            <a:ext cx="2109216" cy="24384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144" rIns="9144" tIns="4572" bIns="4572"/>
          <a:lstStyle/>
          <a:p>
            <a:pPr algn="l"/>
            <a:r>
              <a:rPr sz="1000" b="1">
                <a:solidFill>
                  <a:srgbClr val="111111"/>
                </a:solidFill>
                <a:latin typeface="Aptos"/>
              </a:rPr>
              <a:t>Sachin Salvi</a:t>
            </a:r>
          </a:p>
        </p:txBody>
      </p:sp>
      <p:sp>
        <p:nvSpPr>
          <p:cNvPr id="87" name="Rectangle 86"/>
          <p:cNvSpPr/>
          <p:nvPr/>
        </p:nvSpPr>
        <p:spPr>
          <a:xfrm>
            <a:off x="2633472" y="4059936"/>
            <a:ext cx="1950720" cy="24384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144" rIns="9144" tIns="4572" bIns="4572"/>
          <a:lstStyle/>
          <a:p>
            <a:pPr algn="l"/>
            <a:r>
              <a:rPr sz="1000" b="0">
                <a:solidFill>
                  <a:srgbClr val="6B21D4"/>
                </a:solidFill>
                <a:latin typeface="Aptos"/>
              </a:rPr>
              <a:t>R12 FA</a:t>
            </a:r>
          </a:p>
        </p:txBody>
      </p:sp>
      <p:sp>
        <p:nvSpPr>
          <p:cNvPr id="88" name="Rectangle 87"/>
          <p:cNvSpPr/>
          <p:nvPr/>
        </p:nvSpPr>
        <p:spPr>
          <a:xfrm>
            <a:off x="4584192" y="4059936"/>
            <a:ext cx="1389886" cy="24384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144" rIns="9144" tIns="4572" bIns="4572"/>
          <a:lstStyle/>
          <a:p>
            <a:pPr algn="l"/>
            <a:r>
              <a:rPr sz="1000" b="0">
                <a:solidFill>
                  <a:srgbClr val="777777"/>
                </a:solidFill>
                <a:latin typeface="Aptos"/>
              </a:rPr>
              <a:t>Onshore · Contractor</a:t>
            </a:r>
          </a:p>
        </p:txBody>
      </p:sp>
      <p:sp>
        <p:nvSpPr>
          <p:cNvPr id="89" name="Rectangle 88"/>
          <p:cNvSpPr/>
          <p:nvPr/>
        </p:nvSpPr>
        <p:spPr>
          <a:xfrm>
            <a:off x="463296" y="4303776"/>
            <a:ext cx="5547360" cy="243840"/>
          </a:xfrm>
          <a:prstGeom prst="rect">
            <a:avLst/>
          </a:prstGeom>
          <a:solidFill>
            <a:srgbClr val="F3F0FA"/>
          </a:solidFill>
          <a:ln w="4445">
            <a:solidFill>
              <a:srgbClr val="EEEE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Rectangle 89"/>
          <p:cNvSpPr/>
          <p:nvPr/>
        </p:nvSpPr>
        <p:spPr>
          <a:xfrm>
            <a:off x="463296" y="4303776"/>
            <a:ext cx="42672" cy="243840"/>
          </a:xfrm>
          <a:prstGeom prst="rect">
            <a:avLst/>
          </a:prstGeom>
          <a:solidFill>
            <a:srgbClr val="6B21D4"/>
          </a:solidFill>
          <a:ln>
            <a:solidFill>
              <a:srgbClr val="6B21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Rectangle 90"/>
          <p:cNvSpPr/>
          <p:nvPr/>
        </p:nvSpPr>
        <p:spPr>
          <a:xfrm>
            <a:off x="524256" y="4303776"/>
            <a:ext cx="2109216" cy="24384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144" rIns="9144" tIns="4572" bIns="4572"/>
          <a:lstStyle/>
          <a:p>
            <a:pPr algn="l"/>
            <a:r>
              <a:rPr sz="1000" b="1">
                <a:solidFill>
                  <a:srgbClr val="111111"/>
                </a:solidFill>
                <a:latin typeface="Aptos"/>
              </a:rPr>
              <a:t>Elizabeth Garcia</a:t>
            </a:r>
          </a:p>
        </p:txBody>
      </p:sp>
      <p:sp>
        <p:nvSpPr>
          <p:cNvPr id="92" name="Rectangle 91"/>
          <p:cNvSpPr/>
          <p:nvPr/>
        </p:nvSpPr>
        <p:spPr>
          <a:xfrm>
            <a:off x="2633472" y="4303776"/>
            <a:ext cx="1950720" cy="24384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144" rIns="9144" tIns="4572" bIns="4572"/>
          <a:lstStyle/>
          <a:p>
            <a:pPr algn="l"/>
            <a:r>
              <a:rPr sz="1000" b="0">
                <a:solidFill>
                  <a:srgbClr val="6B21D4"/>
                </a:solidFill>
                <a:latin typeface="Aptos"/>
              </a:rPr>
              <a:t>R12 FA</a:t>
            </a:r>
          </a:p>
        </p:txBody>
      </p:sp>
      <p:sp>
        <p:nvSpPr>
          <p:cNvPr id="93" name="Rectangle 92"/>
          <p:cNvSpPr/>
          <p:nvPr/>
        </p:nvSpPr>
        <p:spPr>
          <a:xfrm>
            <a:off x="4584192" y="4303776"/>
            <a:ext cx="1389886" cy="24384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144" rIns="9144" tIns="4572" bIns="4572"/>
          <a:lstStyle/>
          <a:p>
            <a:pPr algn="l"/>
            <a:r>
              <a:rPr sz="1000" b="0">
                <a:solidFill>
                  <a:srgbClr val="777777"/>
                </a:solidFill>
                <a:latin typeface="Aptos"/>
              </a:rPr>
              <a:t>Onshore · Trane</a:t>
            </a:r>
          </a:p>
        </p:txBody>
      </p:sp>
      <p:sp>
        <p:nvSpPr>
          <p:cNvPr id="94" name="Rectangle 93"/>
          <p:cNvSpPr/>
          <p:nvPr/>
        </p:nvSpPr>
        <p:spPr>
          <a:xfrm>
            <a:off x="463296" y="4547616"/>
            <a:ext cx="5547360" cy="243840"/>
          </a:xfrm>
          <a:prstGeom prst="rect">
            <a:avLst/>
          </a:prstGeom>
          <a:solidFill>
            <a:srgbClr val="FFFFFF"/>
          </a:solidFill>
          <a:ln w="4445">
            <a:solidFill>
              <a:srgbClr val="EEEE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Rectangle 94"/>
          <p:cNvSpPr/>
          <p:nvPr/>
        </p:nvSpPr>
        <p:spPr>
          <a:xfrm>
            <a:off x="463296" y="4547616"/>
            <a:ext cx="42672" cy="243840"/>
          </a:xfrm>
          <a:prstGeom prst="rect">
            <a:avLst/>
          </a:prstGeom>
          <a:solidFill>
            <a:srgbClr val="6B21D4"/>
          </a:solidFill>
          <a:ln>
            <a:solidFill>
              <a:srgbClr val="6B21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Rectangle 95"/>
          <p:cNvSpPr/>
          <p:nvPr/>
        </p:nvSpPr>
        <p:spPr>
          <a:xfrm>
            <a:off x="524256" y="4547616"/>
            <a:ext cx="2109216" cy="24384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144" rIns="9144" tIns="4572" bIns="4572"/>
          <a:lstStyle/>
          <a:p>
            <a:pPr algn="l"/>
            <a:r>
              <a:rPr sz="1000" b="1">
                <a:solidFill>
                  <a:srgbClr val="111111"/>
                </a:solidFill>
                <a:latin typeface="Aptos"/>
              </a:rPr>
              <a:t>Krishna Kumar G</a:t>
            </a:r>
          </a:p>
        </p:txBody>
      </p:sp>
      <p:sp>
        <p:nvSpPr>
          <p:cNvPr id="97" name="Rectangle 96"/>
          <p:cNvSpPr/>
          <p:nvPr/>
        </p:nvSpPr>
        <p:spPr>
          <a:xfrm>
            <a:off x="2633472" y="4547616"/>
            <a:ext cx="1950720" cy="24384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144" rIns="9144" tIns="4572" bIns="4572"/>
          <a:lstStyle/>
          <a:p>
            <a:pPr algn="l"/>
            <a:r>
              <a:rPr sz="1000" b="0">
                <a:solidFill>
                  <a:srgbClr val="6B21D4"/>
                </a:solidFill>
                <a:latin typeface="Aptos"/>
              </a:rPr>
              <a:t>R12 FA</a:t>
            </a:r>
          </a:p>
        </p:txBody>
      </p:sp>
      <p:sp>
        <p:nvSpPr>
          <p:cNvPr id="98" name="Rectangle 97"/>
          <p:cNvSpPr/>
          <p:nvPr/>
        </p:nvSpPr>
        <p:spPr>
          <a:xfrm>
            <a:off x="4584192" y="4547616"/>
            <a:ext cx="1389886" cy="24384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144" rIns="9144" tIns="4572" bIns="4572"/>
          <a:lstStyle/>
          <a:p>
            <a:pPr algn="l"/>
            <a:r>
              <a:rPr sz="1000" b="0">
                <a:solidFill>
                  <a:srgbClr val="777777"/>
                </a:solidFill>
                <a:latin typeface="Aptos"/>
              </a:rPr>
              <a:t>Onshore · Contractor</a:t>
            </a:r>
          </a:p>
        </p:txBody>
      </p:sp>
      <p:sp>
        <p:nvSpPr>
          <p:cNvPr id="99" name="Rectangle 98"/>
          <p:cNvSpPr/>
          <p:nvPr/>
        </p:nvSpPr>
        <p:spPr>
          <a:xfrm>
            <a:off x="6156960" y="3572256"/>
            <a:ext cx="5547360" cy="243840"/>
          </a:xfrm>
          <a:prstGeom prst="rect">
            <a:avLst/>
          </a:prstGeom>
          <a:solidFill>
            <a:srgbClr val="FFFFFF"/>
          </a:solidFill>
          <a:ln w="4445">
            <a:solidFill>
              <a:srgbClr val="EEEE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" name="Rectangle 99"/>
          <p:cNvSpPr/>
          <p:nvPr/>
        </p:nvSpPr>
        <p:spPr>
          <a:xfrm>
            <a:off x="6156960" y="3572256"/>
            <a:ext cx="42672" cy="243840"/>
          </a:xfrm>
          <a:prstGeom prst="rect">
            <a:avLst/>
          </a:prstGeom>
          <a:solidFill>
            <a:srgbClr val="6B21D4"/>
          </a:solidFill>
          <a:ln>
            <a:solidFill>
              <a:srgbClr val="6B21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Rectangle 100"/>
          <p:cNvSpPr/>
          <p:nvPr/>
        </p:nvSpPr>
        <p:spPr>
          <a:xfrm>
            <a:off x="6217920" y="3572256"/>
            <a:ext cx="2109216" cy="24384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144" rIns="9144" tIns="4572" bIns="4572"/>
          <a:lstStyle/>
          <a:p>
            <a:pPr algn="l"/>
            <a:r>
              <a:rPr sz="1000" b="1">
                <a:solidFill>
                  <a:srgbClr val="111111"/>
                </a:solidFill>
                <a:latin typeface="Aptos"/>
              </a:rPr>
              <a:t>Suresh S</a:t>
            </a:r>
          </a:p>
        </p:txBody>
      </p:sp>
      <p:sp>
        <p:nvSpPr>
          <p:cNvPr id="102" name="Rectangle 101"/>
          <p:cNvSpPr/>
          <p:nvPr/>
        </p:nvSpPr>
        <p:spPr>
          <a:xfrm>
            <a:off x="8327136" y="3572256"/>
            <a:ext cx="1950720" cy="24384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144" rIns="9144" tIns="4572" bIns="4572"/>
          <a:lstStyle/>
          <a:p>
            <a:pPr algn="l"/>
            <a:r>
              <a:rPr sz="1000" b="0">
                <a:solidFill>
                  <a:srgbClr val="6B21D4"/>
                </a:solidFill>
                <a:latin typeface="Aptos"/>
              </a:rPr>
              <a:t>WorkSight Dev Lead</a:t>
            </a:r>
          </a:p>
        </p:txBody>
      </p:sp>
      <p:sp>
        <p:nvSpPr>
          <p:cNvPr id="103" name="Rectangle 102"/>
          <p:cNvSpPr/>
          <p:nvPr/>
        </p:nvSpPr>
        <p:spPr>
          <a:xfrm>
            <a:off x="10277856" y="3572256"/>
            <a:ext cx="1389886" cy="24384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144" rIns="9144" tIns="4572" bIns="4572"/>
          <a:lstStyle/>
          <a:p>
            <a:pPr algn="l"/>
            <a:r>
              <a:rPr sz="1000" b="0">
                <a:solidFill>
                  <a:srgbClr val="777777"/>
                </a:solidFill>
                <a:latin typeface="Aptos"/>
              </a:rPr>
              <a:t>Onshore · Cognizant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156960" y="3816096"/>
            <a:ext cx="5547360" cy="243840"/>
          </a:xfrm>
          <a:prstGeom prst="rect">
            <a:avLst/>
          </a:prstGeom>
          <a:solidFill>
            <a:srgbClr val="F3F0FA"/>
          </a:solidFill>
          <a:ln w="4445">
            <a:solidFill>
              <a:srgbClr val="EEEE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Rectangle 104"/>
          <p:cNvSpPr/>
          <p:nvPr/>
        </p:nvSpPr>
        <p:spPr>
          <a:xfrm>
            <a:off x="6156960" y="3816096"/>
            <a:ext cx="42672" cy="243840"/>
          </a:xfrm>
          <a:prstGeom prst="rect">
            <a:avLst/>
          </a:prstGeom>
          <a:solidFill>
            <a:srgbClr val="6B21D4"/>
          </a:solidFill>
          <a:ln>
            <a:solidFill>
              <a:srgbClr val="6B21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" name="Rectangle 105"/>
          <p:cNvSpPr/>
          <p:nvPr/>
        </p:nvSpPr>
        <p:spPr>
          <a:xfrm>
            <a:off x="6217920" y="3816096"/>
            <a:ext cx="2109216" cy="24384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144" rIns="9144" tIns="4572" bIns="4572"/>
          <a:lstStyle/>
          <a:p>
            <a:pPr algn="l"/>
            <a:r>
              <a:rPr sz="1000" b="1">
                <a:solidFill>
                  <a:srgbClr val="111111"/>
                </a:solidFill>
                <a:latin typeface="Aptos"/>
              </a:rPr>
              <a:t>Bharathi N</a:t>
            </a:r>
          </a:p>
        </p:txBody>
      </p:sp>
      <p:sp>
        <p:nvSpPr>
          <p:cNvPr id="107" name="Rectangle 106"/>
          <p:cNvSpPr/>
          <p:nvPr/>
        </p:nvSpPr>
        <p:spPr>
          <a:xfrm>
            <a:off x="8327136" y="3816096"/>
            <a:ext cx="1950720" cy="24384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144" rIns="9144" tIns="4572" bIns="4572"/>
          <a:lstStyle/>
          <a:p>
            <a:pPr algn="l"/>
            <a:r>
              <a:rPr sz="1000" b="0">
                <a:solidFill>
                  <a:srgbClr val="6B21D4"/>
                </a:solidFill>
                <a:latin typeface="Aptos"/>
              </a:rPr>
              <a:t>WorkSight Dev Lead</a:t>
            </a:r>
          </a:p>
        </p:txBody>
      </p:sp>
      <p:sp>
        <p:nvSpPr>
          <p:cNvPr id="108" name="Rectangle 107"/>
          <p:cNvSpPr/>
          <p:nvPr/>
        </p:nvSpPr>
        <p:spPr>
          <a:xfrm>
            <a:off x="10277856" y="3816096"/>
            <a:ext cx="1389886" cy="24384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144" rIns="9144" tIns="4572" bIns="4572"/>
          <a:lstStyle/>
          <a:p>
            <a:pPr algn="l"/>
            <a:r>
              <a:rPr sz="1000" b="0">
                <a:solidFill>
                  <a:srgbClr val="777777"/>
                </a:solidFill>
                <a:latin typeface="Aptos"/>
              </a:rPr>
              <a:t>Onshore · Cognizant</a:t>
            </a:r>
          </a:p>
        </p:txBody>
      </p:sp>
      <p:sp>
        <p:nvSpPr>
          <p:cNvPr id="109" name="Rectangle 108"/>
          <p:cNvSpPr/>
          <p:nvPr/>
        </p:nvSpPr>
        <p:spPr>
          <a:xfrm>
            <a:off x="6156960" y="4059936"/>
            <a:ext cx="5547360" cy="243840"/>
          </a:xfrm>
          <a:prstGeom prst="rect">
            <a:avLst/>
          </a:prstGeom>
          <a:solidFill>
            <a:srgbClr val="FFFFFF"/>
          </a:solidFill>
          <a:ln w="4445">
            <a:solidFill>
              <a:srgbClr val="EEEE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" name="Rectangle 109"/>
          <p:cNvSpPr/>
          <p:nvPr/>
        </p:nvSpPr>
        <p:spPr>
          <a:xfrm>
            <a:off x="6156960" y="4059936"/>
            <a:ext cx="42672" cy="243840"/>
          </a:xfrm>
          <a:prstGeom prst="rect">
            <a:avLst/>
          </a:prstGeom>
          <a:solidFill>
            <a:srgbClr val="6B21D4"/>
          </a:solidFill>
          <a:ln>
            <a:solidFill>
              <a:srgbClr val="6B21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Rectangle 110"/>
          <p:cNvSpPr/>
          <p:nvPr/>
        </p:nvSpPr>
        <p:spPr>
          <a:xfrm>
            <a:off x="6217920" y="4059936"/>
            <a:ext cx="2109216" cy="24384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144" rIns="9144" tIns="4572" bIns="4572"/>
          <a:lstStyle/>
          <a:p>
            <a:pPr algn="l"/>
            <a:r>
              <a:rPr sz="1000" b="1">
                <a:solidFill>
                  <a:srgbClr val="111111"/>
                </a:solidFill>
                <a:latin typeface="Aptos"/>
              </a:rPr>
              <a:t>Nagarajan S</a:t>
            </a:r>
          </a:p>
        </p:txBody>
      </p:sp>
      <p:sp>
        <p:nvSpPr>
          <p:cNvPr id="112" name="Rectangle 111"/>
          <p:cNvSpPr/>
          <p:nvPr/>
        </p:nvSpPr>
        <p:spPr>
          <a:xfrm>
            <a:off x="8327136" y="4059936"/>
            <a:ext cx="1950720" cy="24384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144" rIns="9144" tIns="4572" bIns="4572"/>
          <a:lstStyle/>
          <a:p>
            <a:pPr algn="l"/>
            <a:r>
              <a:rPr sz="1000" b="0">
                <a:solidFill>
                  <a:srgbClr val="6B21D4"/>
                </a:solidFill>
                <a:latin typeface="Aptos"/>
              </a:rPr>
              <a:t>WorkSight Dev Lead</a:t>
            </a:r>
          </a:p>
        </p:txBody>
      </p:sp>
      <p:sp>
        <p:nvSpPr>
          <p:cNvPr id="113" name="Rectangle 112"/>
          <p:cNvSpPr/>
          <p:nvPr/>
        </p:nvSpPr>
        <p:spPr>
          <a:xfrm>
            <a:off x="10277856" y="4059936"/>
            <a:ext cx="1389886" cy="24384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144" rIns="9144" tIns="4572" bIns="4572"/>
          <a:lstStyle/>
          <a:p>
            <a:pPr algn="l"/>
            <a:r>
              <a:rPr sz="1000" b="0">
                <a:solidFill>
                  <a:srgbClr val="777777"/>
                </a:solidFill>
                <a:latin typeface="Aptos"/>
              </a:rPr>
              <a:t>Offshore · Cognizant</a:t>
            </a:r>
          </a:p>
        </p:txBody>
      </p:sp>
      <p:sp>
        <p:nvSpPr>
          <p:cNvPr id="114" name="Rectangle 113"/>
          <p:cNvSpPr/>
          <p:nvPr/>
        </p:nvSpPr>
        <p:spPr>
          <a:xfrm>
            <a:off x="6156960" y="4303776"/>
            <a:ext cx="5547360" cy="243840"/>
          </a:xfrm>
          <a:prstGeom prst="rect">
            <a:avLst/>
          </a:prstGeom>
          <a:solidFill>
            <a:srgbClr val="F3F0FA"/>
          </a:solidFill>
          <a:ln w="4445">
            <a:solidFill>
              <a:srgbClr val="EEEE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" name="Rectangle 114"/>
          <p:cNvSpPr/>
          <p:nvPr/>
        </p:nvSpPr>
        <p:spPr>
          <a:xfrm>
            <a:off x="6156960" y="4303776"/>
            <a:ext cx="42672" cy="243840"/>
          </a:xfrm>
          <a:prstGeom prst="rect">
            <a:avLst/>
          </a:prstGeom>
          <a:solidFill>
            <a:srgbClr val="6B21D4"/>
          </a:solidFill>
          <a:ln>
            <a:solidFill>
              <a:srgbClr val="6B21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6" name="Rectangle 115"/>
          <p:cNvSpPr/>
          <p:nvPr/>
        </p:nvSpPr>
        <p:spPr>
          <a:xfrm>
            <a:off x="6217920" y="4303776"/>
            <a:ext cx="2109216" cy="24384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144" rIns="9144" tIns="4572" bIns="4572"/>
          <a:lstStyle/>
          <a:p>
            <a:pPr algn="l"/>
            <a:r>
              <a:rPr sz="1000" b="1">
                <a:solidFill>
                  <a:srgbClr val="111111"/>
                </a:solidFill>
                <a:latin typeface="Aptos"/>
              </a:rPr>
              <a:t>Periadurai S</a:t>
            </a:r>
          </a:p>
        </p:txBody>
      </p:sp>
      <p:sp>
        <p:nvSpPr>
          <p:cNvPr id="117" name="Rectangle 116"/>
          <p:cNvSpPr/>
          <p:nvPr/>
        </p:nvSpPr>
        <p:spPr>
          <a:xfrm>
            <a:off x="8327136" y="4303776"/>
            <a:ext cx="1950720" cy="24384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144" rIns="9144" tIns="4572" bIns="4572"/>
          <a:lstStyle/>
          <a:p>
            <a:pPr algn="l"/>
            <a:r>
              <a:rPr sz="1000" b="0">
                <a:solidFill>
                  <a:srgbClr val="6B21D4"/>
                </a:solidFill>
                <a:latin typeface="Aptos"/>
              </a:rPr>
              <a:t>WorkSight Dev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10277856" y="4303776"/>
            <a:ext cx="1389886" cy="24384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144" rIns="9144" tIns="4572" bIns="4572"/>
          <a:lstStyle/>
          <a:p>
            <a:pPr algn="l"/>
            <a:r>
              <a:rPr sz="1000" b="0">
                <a:solidFill>
                  <a:srgbClr val="777777"/>
                </a:solidFill>
                <a:latin typeface="Aptos"/>
              </a:rPr>
              <a:t>Offshore · Cognizant</a:t>
            </a:r>
          </a:p>
        </p:txBody>
      </p:sp>
      <p:sp>
        <p:nvSpPr>
          <p:cNvPr id="119" name="Rectangle 118"/>
          <p:cNvSpPr/>
          <p:nvPr/>
        </p:nvSpPr>
        <p:spPr>
          <a:xfrm>
            <a:off x="6156960" y="4547616"/>
            <a:ext cx="5547360" cy="243840"/>
          </a:xfrm>
          <a:prstGeom prst="rect">
            <a:avLst/>
          </a:prstGeom>
          <a:solidFill>
            <a:srgbClr val="FFFFFF"/>
          </a:solidFill>
          <a:ln w="4445">
            <a:solidFill>
              <a:srgbClr val="EEEE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0" name="Rectangle 119"/>
          <p:cNvSpPr/>
          <p:nvPr/>
        </p:nvSpPr>
        <p:spPr>
          <a:xfrm>
            <a:off x="6156960" y="4547616"/>
            <a:ext cx="42672" cy="243840"/>
          </a:xfrm>
          <a:prstGeom prst="rect">
            <a:avLst/>
          </a:prstGeom>
          <a:solidFill>
            <a:srgbClr val="6B21D4"/>
          </a:solidFill>
          <a:ln>
            <a:solidFill>
              <a:srgbClr val="6B21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1" name="Rectangle 120"/>
          <p:cNvSpPr/>
          <p:nvPr/>
        </p:nvSpPr>
        <p:spPr>
          <a:xfrm>
            <a:off x="6217920" y="4547616"/>
            <a:ext cx="2109216" cy="24384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144" rIns="9144" tIns="4572" bIns="4572"/>
          <a:lstStyle/>
          <a:p>
            <a:pPr algn="l"/>
            <a:r>
              <a:rPr sz="1000" b="1">
                <a:solidFill>
                  <a:srgbClr val="111111"/>
                </a:solidFill>
                <a:latin typeface="Aptos"/>
              </a:rPr>
              <a:t>Jayesh Dey</a:t>
            </a:r>
          </a:p>
        </p:txBody>
      </p:sp>
      <p:sp>
        <p:nvSpPr>
          <p:cNvPr id="122" name="Rectangle 121"/>
          <p:cNvSpPr/>
          <p:nvPr/>
        </p:nvSpPr>
        <p:spPr>
          <a:xfrm>
            <a:off x="8327136" y="4547616"/>
            <a:ext cx="1950720" cy="24384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144" rIns="9144" tIns="4572" bIns="4572"/>
          <a:lstStyle/>
          <a:p>
            <a:pPr algn="l"/>
            <a:r>
              <a:rPr sz="1000" b="0">
                <a:solidFill>
                  <a:srgbClr val="6B21D4"/>
                </a:solidFill>
                <a:latin typeface="Aptos"/>
              </a:rPr>
              <a:t>WorkSight Dev</a:t>
            </a:r>
          </a:p>
        </p:txBody>
      </p:sp>
      <p:sp>
        <p:nvSpPr>
          <p:cNvPr id="123" name="Rectangle 122"/>
          <p:cNvSpPr/>
          <p:nvPr/>
        </p:nvSpPr>
        <p:spPr>
          <a:xfrm>
            <a:off x="10277856" y="4547616"/>
            <a:ext cx="1389886" cy="24384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144" rIns="9144" tIns="4572" bIns="4572"/>
          <a:lstStyle/>
          <a:p>
            <a:pPr algn="l"/>
            <a:r>
              <a:rPr sz="1000" b="0">
                <a:solidFill>
                  <a:srgbClr val="777777"/>
                </a:solidFill>
                <a:latin typeface="Aptos"/>
              </a:rPr>
              <a:t>Offshore · Cognizant</a:t>
            </a:r>
          </a:p>
        </p:txBody>
      </p:sp>
      <p:sp>
        <p:nvSpPr>
          <p:cNvPr id="124" name="Rectangle 123"/>
          <p:cNvSpPr/>
          <p:nvPr/>
        </p:nvSpPr>
        <p:spPr>
          <a:xfrm>
            <a:off x="463296" y="6388608"/>
            <a:ext cx="426720" cy="219456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4572" bIns="4572"/>
          <a:lstStyle/>
          <a:p>
            <a:pPr algn="l"/>
            <a:r>
              <a:rPr sz="900" b="0">
                <a:solidFill>
                  <a:srgbClr val="777777"/>
                </a:solidFill>
                <a:latin typeface="Aptos"/>
              </a:rPr>
              <a:t>6</a:t>
            </a:r>
          </a:p>
        </p:txBody>
      </p:sp>
      <p:pic>
        <p:nvPicPr>
          <p:cNvPr id="125" name="Picture 124" descr="trane_real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424160" y="6156960"/>
            <a:ext cx="1463040" cy="633984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63296" y="158496"/>
            <a:ext cx="11265408" cy="41452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4572" bIns="4572"/>
          <a:lstStyle/>
          <a:p>
            <a:pPr algn="l"/>
            <a:r>
              <a:rPr sz="2400" b="1">
                <a:solidFill>
                  <a:srgbClr val="6B21D4"/>
                </a:solidFill>
                <a:latin typeface="Aptos"/>
              </a:rPr>
              <a:t>Service &amp; Contracting – QA Team</a:t>
            </a:r>
          </a:p>
        </p:txBody>
      </p:sp>
      <p:sp>
        <p:nvSpPr>
          <p:cNvPr id="3" name="Rectangle 2"/>
          <p:cNvSpPr/>
          <p:nvPr/>
        </p:nvSpPr>
        <p:spPr>
          <a:xfrm>
            <a:off x="463296" y="670560"/>
            <a:ext cx="11216640" cy="24384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4572" bIns="4572"/>
          <a:lstStyle/>
          <a:p>
            <a:pPr algn="l"/>
            <a:r>
              <a:rPr sz="1000" b="1">
                <a:solidFill>
                  <a:srgbClr val="4A148C"/>
                </a:solidFill>
                <a:latin typeface="Aptos"/>
              </a:rPr>
              <a:t>Contracting Teams 1 &amp; 2</a:t>
            </a:r>
          </a:p>
        </p:txBody>
      </p:sp>
      <p:sp>
        <p:nvSpPr>
          <p:cNvPr id="4" name="Rectangle 3"/>
          <p:cNvSpPr/>
          <p:nvPr/>
        </p:nvSpPr>
        <p:spPr>
          <a:xfrm>
            <a:off x="463296" y="975360"/>
            <a:ext cx="5547360" cy="249936"/>
          </a:xfrm>
          <a:prstGeom prst="rect">
            <a:avLst/>
          </a:prstGeom>
          <a:solidFill>
            <a:srgbClr val="FFFFFF"/>
          </a:solidFill>
          <a:ln w="4445">
            <a:solidFill>
              <a:srgbClr val="EEEE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63296" y="975360"/>
            <a:ext cx="42672" cy="249936"/>
          </a:xfrm>
          <a:prstGeom prst="rect">
            <a:avLst/>
          </a:prstGeom>
          <a:solidFill>
            <a:srgbClr val="6B21D4"/>
          </a:solidFill>
          <a:ln>
            <a:solidFill>
              <a:srgbClr val="6B21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24256" y="975360"/>
            <a:ext cx="2109216" cy="249936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144" rIns="9144" tIns="4572" bIns="4572"/>
          <a:lstStyle/>
          <a:p>
            <a:pPr algn="l"/>
            <a:r>
              <a:rPr sz="1000" b="1">
                <a:solidFill>
                  <a:srgbClr val="111111"/>
                </a:solidFill>
                <a:latin typeface="Aptos"/>
              </a:rPr>
              <a:t>Vignesh Sheshababu</a:t>
            </a:r>
          </a:p>
        </p:txBody>
      </p:sp>
      <p:sp>
        <p:nvSpPr>
          <p:cNvPr id="7" name="Rectangle 6"/>
          <p:cNvSpPr/>
          <p:nvPr/>
        </p:nvSpPr>
        <p:spPr>
          <a:xfrm>
            <a:off x="2633472" y="975360"/>
            <a:ext cx="1950720" cy="249936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144" rIns="9144" tIns="4572" bIns="4572"/>
          <a:lstStyle/>
          <a:p>
            <a:pPr algn="l"/>
            <a:r>
              <a:rPr sz="1000" b="0">
                <a:solidFill>
                  <a:srgbClr val="6B21D4"/>
                </a:solidFill>
                <a:latin typeface="Aptos"/>
              </a:rPr>
              <a:t>QA Lead · T1,2</a:t>
            </a:r>
          </a:p>
        </p:txBody>
      </p:sp>
      <p:sp>
        <p:nvSpPr>
          <p:cNvPr id="8" name="Rectangle 7"/>
          <p:cNvSpPr/>
          <p:nvPr/>
        </p:nvSpPr>
        <p:spPr>
          <a:xfrm>
            <a:off x="4584192" y="975360"/>
            <a:ext cx="1389886" cy="249936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144" rIns="9144" tIns="4572" bIns="4572"/>
          <a:lstStyle/>
          <a:p>
            <a:pPr algn="l"/>
            <a:r>
              <a:rPr sz="900" b="0">
                <a:solidFill>
                  <a:srgbClr val="777777"/>
                </a:solidFill>
                <a:latin typeface="Aptos"/>
              </a:rPr>
              <a:t>Onshore · Cognizant</a:t>
            </a:r>
          </a:p>
        </p:txBody>
      </p:sp>
      <p:sp>
        <p:nvSpPr>
          <p:cNvPr id="9" name="Rectangle 8"/>
          <p:cNvSpPr/>
          <p:nvPr/>
        </p:nvSpPr>
        <p:spPr>
          <a:xfrm>
            <a:off x="463296" y="1225296"/>
            <a:ext cx="5547360" cy="249936"/>
          </a:xfrm>
          <a:prstGeom prst="rect">
            <a:avLst/>
          </a:prstGeom>
          <a:solidFill>
            <a:srgbClr val="F3F0FA"/>
          </a:solidFill>
          <a:ln w="4445">
            <a:solidFill>
              <a:srgbClr val="EEEE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63296" y="1225296"/>
            <a:ext cx="42672" cy="249936"/>
          </a:xfrm>
          <a:prstGeom prst="rect">
            <a:avLst/>
          </a:prstGeom>
          <a:solidFill>
            <a:srgbClr val="6B21D4"/>
          </a:solidFill>
          <a:ln>
            <a:solidFill>
              <a:srgbClr val="6B21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24256" y="1225296"/>
            <a:ext cx="2109216" cy="249936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144" rIns="9144" tIns="4572" bIns="4572"/>
          <a:lstStyle/>
          <a:p>
            <a:pPr algn="l"/>
            <a:r>
              <a:rPr sz="1000" b="1">
                <a:solidFill>
                  <a:srgbClr val="111111"/>
                </a:solidFill>
                <a:latin typeface="Aptos"/>
              </a:rPr>
              <a:t>Preeti Khajji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633472" y="1225296"/>
            <a:ext cx="1950720" cy="249936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144" rIns="9144" tIns="4572" bIns="4572"/>
          <a:lstStyle/>
          <a:p>
            <a:pPr algn="l"/>
            <a:r>
              <a:rPr sz="1000" b="0">
                <a:solidFill>
                  <a:srgbClr val="6B21D4"/>
                </a:solidFill>
                <a:latin typeface="Aptos"/>
              </a:rPr>
              <a:t>QA Func/Auto · T2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584192" y="1225296"/>
            <a:ext cx="1389886" cy="249936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144" rIns="9144" tIns="4572" bIns="4572"/>
          <a:lstStyle/>
          <a:p>
            <a:pPr algn="l"/>
            <a:r>
              <a:rPr sz="900" b="0">
                <a:solidFill>
                  <a:srgbClr val="777777"/>
                </a:solidFill>
                <a:latin typeface="Aptos"/>
              </a:rPr>
              <a:t>Offshore · Trane-ITC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63296" y="1475232"/>
            <a:ext cx="5547360" cy="249936"/>
          </a:xfrm>
          <a:prstGeom prst="rect">
            <a:avLst/>
          </a:prstGeom>
          <a:solidFill>
            <a:srgbClr val="FFFFFF"/>
          </a:solidFill>
          <a:ln w="4445">
            <a:solidFill>
              <a:srgbClr val="EEEE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63296" y="1475232"/>
            <a:ext cx="42672" cy="249936"/>
          </a:xfrm>
          <a:prstGeom prst="rect">
            <a:avLst/>
          </a:prstGeom>
          <a:solidFill>
            <a:srgbClr val="6B21D4"/>
          </a:solidFill>
          <a:ln>
            <a:solidFill>
              <a:srgbClr val="6B21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24256" y="1475232"/>
            <a:ext cx="2109216" cy="249936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144" rIns="9144" tIns="4572" bIns="4572"/>
          <a:lstStyle/>
          <a:p>
            <a:pPr algn="l"/>
            <a:r>
              <a:rPr sz="1000" b="1">
                <a:solidFill>
                  <a:srgbClr val="111111"/>
                </a:solidFill>
                <a:latin typeface="Aptos"/>
              </a:rPr>
              <a:t>Srinivasa R</a:t>
            </a:r>
          </a:p>
        </p:txBody>
      </p:sp>
      <p:sp>
        <p:nvSpPr>
          <p:cNvPr id="17" name="Rectangle 16"/>
          <p:cNvSpPr/>
          <p:nvPr/>
        </p:nvSpPr>
        <p:spPr>
          <a:xfrm>
            <a:off x="2633472" y="1475232"/>
            <a:ext cx="1950720" cy="249936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144" rIns="9144" tIns="4572" bIns="4572"/>
          <a:lstStyle/>
          <a:p>
            <a:pPr algn="l"/>
            <a:r>
              <a:rPr sz="1000" b="0">
                <a:solidFill>
                  <a:srgbClr val="6B21D4"/>
                </a:solidFill>
                <a:latin typeface="Aptos"/>
              </a:rPr>
              <a:t>QA Func/Auto/Perf · T2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584192" y="1475232"/>
            <a:ext cx="1389886" cy="249936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144" rIns="9144" tIns="4572" bIns="4572"/>
          <a:lstStyle/>
          <a:p>
            <a:pPr algn="l"/>
            <a:r>
              <a:rPr sz="900" b="0">
                <a:solidFill>
                  <a:srgbClr val="777777"/>
                </a:solidFill>
                <a:latin typeface="Aptos"/>
              </a:rPr>
              <a:t>Offshore · Trane-ITC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63296" y="1725168"/>
            <a:ext cx="5547360" cy="249936"/>
          </a:xfrm>
          <a:prstGeom prst="rect">
            <a:avLst/>
          </a:prstGeom>
          <a:solidFill>
            <a:srgbClr val="F3F0FA"/>
          </a:solidFill>
          <a:ln w="4445">
            <a:solidFill>
              <a:srgbClr val="EEEE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463296" y="1725168"/>
            <a:ext cx="42672" cy="249936"/>
          </a:xfrm>
          <a:prstGeom prst="rect">
            <a:avLst/>
          </a:prstGeom>
          <a:solidFill>
            <a:srgbClr val="6B21D4"/>
          </a:solidFill>
          <a:ln>
            <a:solidFill>
              <a:srgbClr val="6B21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524256" y="1725168"/>
            <a:ext cx="2109216" cy="249936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144" rIns="9144" tIns="4572" bIns="4572"/>
          <a:lstStyle/>
          <a:p>
            <a:pPr algn="l"/>
            <a:r>
              <a:rPr sz="1000" b="1">
                <a:solidFill>
                  <a:srgbClr val="111111"/>
                </a:solidFill>
                <a:latin typeface="Aptos"/>
              </a:rPr>
              <a:t>Jinu Joy</a:t>
            </a:r>
          </a:p>
        </p:txBody>
      </p:sp>
      <p:sp>
        <p:nvSpPr>
          <p:cNvPr id="22" name="Rectangle 21"/>
          <p:cNvSpPr/>
          <p:nvPr/>
        </p:nvSpPr>
        <p:spPr>
          <a:xfrm>
            <a:off x="2633472" y="1725168"/>
            <a:ext cx="1950720" cy="249936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144" rIns="9144" tIns="4572" bIns="4572"/>
          <a:lstStyle/>
          <a:p>
            <a:pPr algn="l"/>
            <a:r>
              <a:rPr sz="1000" b="0">
                <a:solidFill>
                  <a:srgbClr val="6B21D4"/>
                </a:solidFill>
                <a:latin typeface="Aptos"/>
              </a:rPr>
              <a:t>QA Func/Auto · T2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584192" y="1725168"/>
            <a:ext cx="1389886" cy="249936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144" rIns="9144" tIns="4572" bIns="4572"/>
          <a:lstStyle/>
          <a:p>
            <a:pPr algn="l"/>
            <a:r>
              <a:rPr sz="900" b="0">
                <a:solidFill>
                  <a:srgbClr val="777777"/>
                </a:solidFill>
                <a:latin typeface="Aptos"/>
              </a:rPr>
              <a:t>Offshore · Trane-ITC-C2H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63296" y="1975104"/>
            <a:ext cx="5547360" cy="249936"/>
          </a:xfrm>
          <a:prstGeom prst="rect">
            <a:avLst/>
          </a:prstGeom>
          <a:solidFill>
            <a:srgbClr val="FFFFFF"/>
          </a:solidFill>
          <a:ln w="4445">
            <a:solidFill>
              <a:srgbClr val="EEEE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463296" y="1975104"/>
            <a:ext cx="42672" cy="249936"/>
          </a:xfrm>
          <a:prstGeom prst="rect">
            <a:avLst/>
          </a:prstGeom>
          <a:solidFill>
            <a:srgbClr val="6B21D4"/>
          </a:solidFill>
          <a:ln>
            <a:solidFill>
              <a:srgbClr val="6B21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524256" y="1975104"/>
            <a:ext cx="2109216" cy="249936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144" rIns="9144" tIns="4572" bIns="4572"/>
          <a:lstStyle/>
          <a:p>
            <a:pPr algn="l"/>
            <a:r>
              <a:rPr sz="1000" b="1">
                <a:solidFill>
                  <a:srgbClr val="111111"/>
                </a:solidFill>
                <a:latin typeface="Aptos"/>
              </a:rPr>
              <a:t>Ajay Kumar</a:t>
            </a:r>
          </a:p>
        </p:txBody>
      </p:sp>
      <p:sp>
        <p:nvSpPr>
          <p:cNvPr id="27" name="Rectangle 26"/>
          <p:cNvSpPr/>
          <p:nvPr/>
        </p:nvSpPr>
        <p:spPr>
          <a:xfrm>
            <a:off x="2633472" y="1975104"/>
            <a:ext cx="1950720" cy="249936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144" rIns="9144" tIns="4572" bIns="4572"/>
          <a:lstStyle/>
          <a:p>
            <a:pPr algn="l"/>
            <a:r>
              <a:rPr sz="1000" b="0">
                <a:solidFill>
                  <a:srgbClr val="6B21D4"/>
                </a:solidFill>
                <a:latin typeface="Aptos"/>
              </a:rPr>
              <a:t>QA Auto · T2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584192" y="1975104"/>
            <a:ext cx="1389886" cy="249936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144" rIns="9144" tIns="4572" bIns="4572"/>
          <a:lstStyle/>
          <a:p>
            <a:pPr algn="l"/>
            <a:r>
              <a:rPr sz="900" b="0">
                <a:solidFill>
                  <a:srgbClr val="777777"/>
                </a:solidFill>
                <a:latin typeface="Aptos"/>
              </a:rPr>
              <a:t>Offshore · Trane-ITC-C2H</a:t>
            </a:r>
          </a:p>
        </p:txBody>
      </p:sp>
      <p:sp>
        <p:nvSpPr>
          <p:cNvPr id="29" name="Rectangle 28"/>
          <p:cNvSpPr/>
          <p:nvPr/>
        </p:nvSpPr>
        <p:spPr>
          <a:xfrm>
            <a:off x="463296" y="2225040"/>
            <a:ext cx="5547360" cy="249936"/>
          </a:xfrm>
          <a:prstGeom prst="rect">
            <a:avLst/>
          </a:prstGeom>
          <a:solidFill>
            <a:srgbClr val="F3F0FA"/>
          </a:solidFill>
          <a:ln w="4445">
            <a:solidFill>
              <a:srgbClr val="EEEE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463296" y="2225040"/>
            <a:ext cx="42672" cy="249936"/>
          </a:xfrm>
          <a:prstGeom prst="rect">
            <a:avLst/>
          </a:prstGeom>
          <a:solidFill>
            <a:srgbClr val="6B21D4"/>
          </a:solidFill>
          <a:ln>
            <a:solidFill>
              <a:srgbClr val="6B21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524256" y="2225040"/>
            <a:ext cx="2109216" cy="249936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144" rIns="9144" tIns="4572" bIns="4572"/>
          <a:lstStyle/>
          <a:p>
            <a:pPr algn="l"/>
            <a:r>
              <a:rPr sz="1000" b="1">
                <a:solidFill>
                  <a:srgbClr val="111111"/>
                </a:solidFill>
                <a:latin typeface="Aptos"/>
              </a:rPr>
              <a:t>Rakshita N</a:t>
            </a:r>
          </a:p>
        </p:txBody>
      </p:sp>
      <p:sp>
        <p:nvSpPr>
          <p:cNvPr id="32" name="Rectangle 31"/>
          <p:cNvSpPr/>
          <p:nvPr/>
        </p:nvSpPr>
        <p:spPr>
          <a:xfrm>
            <a:off x="2633472" y="2225040"/>
            <a:ext cx="1950720" cy="249936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144" rIns="9144" tIns="4572" bIns="4572"/>
          <a:lstStyle/>
          <a:p>
            <a:pPr algn="l"/>
            <a:r>
              <a:rPr sz="1000" b="0">
                <a:solidFill>
                  <a:srgbClr val="6B21D4"/>
                </a:solidFill>
                <a:latin typeface="Aptos"/>
              </a:rPr>
              <a:t>QA Auto · T2</a:t>
            </a:r>
          </a:p>
        </p:txBody>
      </p:sp>
      <p:sp>
        <p:nvSpPr>
          <p:cNvPr id="33" name="Rectangle 32"/>
          <p:cNvSpPr/>
          <p:nvPr/>
        </p:nvSpPr>
        <p:spPr>
          <a:xfrm>
            <a:off x="4584192" y="2225040"/>
            <a:ext cx="1389886" cy="249936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144" rIns="9144" tIns="4572" bIns="4572"/>
          <a:lstStyle/>
          <a:p>
            <a:pPr algn="l"/>
            <a:r>
              <a:rPr sz="900" b="0">
                <a:solidFill>
                  <a:srgbClr val="777777"/>
                </a:solidFill>
                <a:latin typeface="Aptos"/>
              </a:rPr>
              <a:t>Offshore · Trane-ITC-C2H</a:t>
            </a:r>
          </a:p>
        </p:txBody>
      </p:sp>
      <p:sp>
        <p:nvSpPr>
          <p:cNvPr id="34" name="Rectangle 33"/>
          <p:cNvSpPr/>
          <p:nvPr/>
        </p:nvSpPr>
        <p:spPr>
          <a:xfrm>
            <a:off x="463296" y="2474976"/>
            <a:ext cx="5547360" cy="249936"/>
          </a:xfrm>
          <a:prstGeom prst="rect">
            <a:avLst/>
          </a:prstGeom>
          <a:solidFill>
            <a:srgbClr val="FFFFFF"/>
          </a:solidFill>
          <a:ln w="4445">
            <a:solidFill>
              <a:srgbClr val="EEEE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463296" y="2474976"/>
            <a:ext cx="42672" cy="249936"/>
          </a:xfrm>
          <a:prstGeom prst="rect">
            <a:avLst/>
          </a:prstGeom>
          <a:solidFill>
            <a:srgbClr val="6B21D4"/>
          </a:solidFill>
          <a:ln>
            <a:solidFill>
              <a:srgbClr val="6B21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524256" y="2474976"/>
            <a:ext cx="2109216" cy="249936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144" rIns="9144" tIns="4572" bIns="4572"/>
          <a:lstStyle/>
          <a:p>
            <a:pPr algn="l"/>
            <a:r>
              <a:rPr sz="1000" b="1">
                <a:solidFill>
                  <a:srgbClr val="111111"/>
                </a:solidFill>
                <a:latin typeface="Aptos"/>
              </a:rPr>
              <a:t>Yana Zapanti</a:t>
            </a:r>
          </a:p>
        </p:txBody>
      </p:sp>
      <p:sp>
        <p:nvSpPr>
          <p:cNvPr id="37" name="Rectangle 36"/>
          <p:cNvSpPr/>
          <p:nvPr/>
        </p:nvSpPr>
        <p:spPr>
          <a:xfrm>
            <a:off x="2633472" y="2474976"/>
            <a:ext cx="1950720" cy="249936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144" rIns="9144" tIns="4572" bIns="4572"/>
          <a:lstStyle/>
          <a:p>
            <a:pPr algn="l"/>
            <a:r>
              <a:rPr sz="1000" b="0">
                <a:solidFill>
                  <a:srgbClr val="6B21D4"/>
                </a:solidFill>
                <a:latin typeface="Aptos"/>
              </a:rPr>
              <a:t>QA Auto · T1,2</a:t>
            </a:r>
          </a:p>
        </p:txBody>
      </p:sp>
      <p:sp>
        <p:nvSpPr>
          <p:cNvPr id="38" name="Rectangle 37"/>
          <p:cNvSpPr/>
          <p:nvPr/>
        </p:nvSpPr>
        <p:spPr>
          <a:xfrm>
            <a:off x="4584192" y="2474976"/>
            <a:ext cx="1389886" cy="249936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144" rIns="9144" tIns="4572" bIns="4572"/>
          <a:lstStyle/>
          <a:p>
            <a:pPr algn="l"/>
            <a:r>
              <a:rPr sz="900" b="0">
                <a:solidFill>
                  <a:srgbClr val="777777"/>
                </a:solidFill>
                <a:latin typeface="Aptos"/>
              </a:rPr>
              <a:t>Onshore · Contractor</a:t>
            </a:r>
          </a:p>
        </p:txBody>
      </p:sp>
      <p:sp>
        <p:nvSpPr>
          <p:cNvPr id="39" name="Rectangle 38"/>
          <p:cNvSpPr/>
          <p:nvPr/>
        </p:nvSpPr>
        <p:spPr>
          <a:xfrm>
            <a:off x="463296" y="2724912"/>
            <a:ext cx="5547360" cy="249936"/>
          </a:xfrm>
          <a:prstGeom prst="rect">
            <a:avLst/>
          </a:prstGeom>
          <a:solidFill>
            <a:srgbClr val="F3F0FA"/>
          </a:solidFill>
          <a:ln w="4445">
            <a:solidFill>
              <a:srgbClr val="EEEE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463296" y="2724912"/>
            <a:ext cx="42672" cy="249936"/>
          </a:xfrm>
          <a:prstGeom prst="rect">
            <a:avLst/>
          </a:prstGeom>
          <a:solidFill>
            <a:srgbClr val="6B21D4"/>
          </a:solidFill>
          <a:ln>
            <a:solidFill>
              <a:srgbClr val="6B21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524256" y="2724912"/>
            <a:ext cx="2109216" cy="249936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144" rIns="9144" tIns="4572" bIns="4572"/>
          <a:lstStyle/>
          <a:p>
            <a:pPr algn="l"/>
            <a:r>
              <a:rPr sz="1000" b="1">
                <a:solidFill>
                  <a:srgbClr val="111111"/>
                </a:solidFill>
                <a:latin typeface="Aptos"/>
              </a:rPr>
              <a:t>Amrit Chatterjee</a:t>
            </a:r>
          </a:p>
        </p:txBody>
      </p:sp>
      <p:sp>
        <p:nvSpPr>
          <p:cNvPr id="42" name="Rectangle 41"/>
          <p:cNvSpPr/>
          <p:nvPr/>
        </p:nvSpPr>
        <p:spPr>
          <a:xfrm>
            <a:off x="2633472" y="2724912"/>
            <a:ext cx="1950720" cy="249936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144" rIns="9144" tIns="4572" bIns="4572"/>
          <a:lstStyle/>
          <a:p>
            <a:pPr algn="l"/>
            <a:r>
              <a:rPr sz="1000" b="0">
                <a:solidFill>
                  <a:srgbClr val="6B21D4"/>
                </a:solidFill>
                <a:latin typeface="Aptos"/>
              </a:rPr>
              <a:t>QA Func · T2</a:t>
            </a:r>
          </a:p>
        </p:txBody>
      </p:sp>
      <p:sp>
        <p:nvSpPr>
          <p:cNvPr id="43" name="Rectangle 42"/>
          <p:cNvSpPr/>
          <p:nvPr/>
        </p:nvSpPr>
        <p:spPr>
          <a:xfrm>
            <a:off x="4584192" y="2724912"/>
            <a:ext cx="1389886" cy="249936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144" rIns="9144" tIns="4572" bIns="4572"/>
          <a:lstStyle/>
          <a:p>
            <a:pPr algn="l"/>
            <a:r>
              <a:rPr sz="900" b="0">
                <a:solidFill>
                  <a:srgbClr val="777777"/>
                </a:solidFill>
                <a:latin typeface="Aptos"/>
              </a:rPr>
              <a:t>Offshore · Cognizant</a:t>
            </a:r>
          </a:p>
        </p:txBody>
      </p:sp>
      <p:sp>
        <p:nvSpPr>
          <p:cNvPr id="44" name="Rectangle 43"/>
          <p:cNvSpPr/>
          <p:nvPr/>
        </p:nvSpPr>
        <p:spPr>
          <a:xfrm>
            <a:off x="463296" y="2974848"/>
            <a:ext cx="5547360" cy="249936"/>
          </a:xfrm>
          <a:prstGeom prst="rect">
            <a:avLst/>
          </a:prstGeom>
          <a:solidFill>
            <a:srgbClr val="FFFFFF"/>
          </a:solidFill>
          <a:ln w="4445">
            <a:solidFill>
              <a:srgbClr val="EEEE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463296" y="2974848"/>
            <a:ext cx="42672" cy="249936"/>
          </a:xfrm>
          <a:prstGeom prst="rect">
            <a:avLst/>
          </a:prstGeom>
          <a:solidFill>
            <a:srgbClr val="6B21D4"/>
          </a:solidFill>
          <a:ln>
            <a:solidFill>
              <a:srgbClr val="6B21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ectangle 45"/>
          <p:cNvSpPr/>
          <p:nvPr/>
        </p:nvSpPr>
        <p:spPr>
          <a:xfrm>
            <a:off x="524256" y="2974848"/>
            <a:ext cx="2109216" cy="249936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144" rIns="9144" tIns="4572" bIns="4572"/>
          <a:lstStyle/>
          <a:p>
            <a:pPr algn="l"/>
            <a:r>
              <a:rPr sz="1000" b="1">
                <a:solidFill>
                  <a:srgbClr val="111111"/>
                </a:solidFill>
                <a:latin typeface="Aptos"/>
              </a:rPr>
              <a:t>Vijitha E</a:t>
            </a:r>
          </a:p>
        </p:txBody>
      </p:sp>
      <p:sp>
        <p:nvSpPr>
          <p:cNvPr id="47" name="Rectangle 46"/>
          <p:cNvSpPr/>
          <p:nvPr/>
        </p:nvSpPr>
        <p:spPr>
          <a:xfrm>
            <a:off x="2633472" y="2974848"/>
            <a:ext cx="1950720" cy="249936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144" rIns="9144" tIns="4572" bIns="4572"/>
          <a:lstStyle/>
          <a:p>
            <a:pPr algn="l"/>
            <a:r>
              <a:rPr sz="1000" b="0">
                <a:solidFill>
                  <a:srgbClr val="6B21D4"/>
                </a:solidFill>
                <a:latin typeface="Aptos"/>
              </a:rPr>
              <a:t>QA Func · T2</a:t>
            </a:r>
          </a:p>
        </p:txBody>
      </p:sp>
      <p:sp>
        <p:nvSpPr>
          <p:cNvPr id="48" name="Rectangle 47"/>
          <p:cNvSpPr/>
          <p:nvPr/>
        </p:nvSpPr>
        <p:spPr>
          <a:xfrm>
            <a:off x="4584192" y="2974848"/>
            <a:ext cx="1389886" cy="249936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144" rIns="9144" tIns="4572" bIns="4572"/>
          <a:lstStyle/>
          <a:p>
            <a:pPr algn="l"/>
            <a:r>
              <a:rPr sz="900" b="0">
                <a:solidFill>
                  <a:srgbClr val="777777"/>
                </a:solidFill>
                <a:latin typeface="Aptos"/>
              </a:rPr>
              <a:t>Offshore · Cognizant</a:t>
            </a:r>
          </a:p>
        </p:txBody>
      </p:sp>
      <p:sp>
        <p:nvSpPr>
          <p:cNvPr id="49" name="Rectangle 48"/>
          <p:cNvSpPr/>
          <p:nvPr/>
        </p:nvSpPr>
        <p:spPr>
          <a:xfrm>
            <a:off x="463296" y="3224784"/>
            <a:ext cx="5547360" cy="249936"/>
          </a:xfrm>
          <a:prstGeom prst="rect">
            <a:avLst/>
          </a:prstGeom>
          <a:solidFill>
            <a:srgbClr val="F3F0FA"/>
          </a:solidFill>
          <a:ln w="4445">
            <a:solidFill>
              <a:srgbClr val="EEEE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Rectangle 49"/>
          <p:cNvSpPr/>
          <p:nvPr/>
        </p:nvSpPr>
        <p:spPr>
          <a:xfrm>
            <a:off x="463296" y="3224784"/>
            <a:ext cx="42672" cy="249936"/>
          </a:xfrm>
          <a:prstGeom prst="rect">
            <a:avLst/>
          </a:prstGeom>
          <a:solidFill>
            <a:srgbClr val="6B21D4"/>
          </a:solidFill>
          <a:ln>
            <a:solidFill>
              <a:srgbClr val="6B21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Rectangle 50"/>
          <p:cNvSpPr/>
          <p:nvPr/>
        </p:nvSpPr>
        <p:spPr>
          <a:xfrm>
            <a:off x="524256" y="3224784"/>
            <a:ext cx="2109216" cy="249936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144" rIns="9144" tIns="4572" bIns="4572"/>
          <a:lstStyle/>
          <a:p>
            <a:pPr algn="l"/>
            <a:r>
              <a:rPr sz="1000" b="1">
                <a:solidFill>
                  <a:srgbClr val="111111"/>
                </a:solidFill>
                <a:latin typeface="Aptos"/>
              </a:rPr>
              <a:t>Pragati Kumari</a:t>
            </a:r>
          </a:p>
        </p:txBody>
      </p:sp>
      <p:sp>
        <p:nvSpPr>
          <p:cNvPr id="52" name="Rectangle 51"/>
          <p:cNvSpPr/>
          <p:nvPr/>
        </p:nvSpPr>
        <p:spPr>
          <a:xfrm>
            <a:off x="2633472" y="3224784"/>
            <a:ext cx="1950720" cy="249936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144" rIns="9144" tIns="4572" bIns="4572"/>
          <a:lstStyle/>
          <a:p>
            <a:pPr algn="l"/>
            <a:r>
              <a:rPr sz="1000" b="0">
                <a:solidFill>
                  <a:srgbClr val="6B21D4"/>
                </a:solidFill>
                <a:latin typeface="Aptos"/>
              </a:rPr>
              <a:t>QA Func · T2</a:t>
            </a:r>
          </a:p>
        </p:txBody>
      </p:sp>
      <p:sp>
        <p:nvSpPr>
          <p:cNvPr id="53" name="Rectangle 52"/>
          <p:cNvSpPr/>
          <p:nvPr/>
        </p:nvSpPr>
        <p:spPr>
          <a:xfrm>
            <a:off x="4584192" y="3224784"/>
            <a:ext cx="1389886" cy="249936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144" rIns="9144" tIns="4572" bIns="4572"/>
          <a:lstStyle/>
          <a:p>
            <a:pPr algn="l"/>
            <a:r>
              <a:rPr sz="900" b="0">
                <a:solidFill>
                  <a:srgbClr val="777777"/>
                </a:solidFill>
                <a:latin typeface="Aptos"/>
              </a:rPr>
              <a:t>Offshore · Cognizant</a:t>
            </a:r>
          </a:p>
        </p:txBody>
      </p:sp>
      <p:sp>
        <p:nvSpPr>
          <p:cNvPr id="54" name="Rectangle 53"/>
          <p:cNvSpPr/>
          <p:nvPr/>
        </p:nvSpPr>
        <p:spPr>
          <a:xfrm>
            <a:off x="463296" y="3474718"/>
            <a:ext cx="5547360" cy="249936"/>
          </a:xfrm>
          <a:prstGeom prst="rect">
            <a:avLst/>
          </a:prstGeom>
          <a:solidFill>
            <a:srgbClr val="FFFFFF"/>
          </a:solidFill>
          <a:ln w="4445">
            <a:solidFill>
              <a:srgbClr val="EEEE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463296" y="3474718"/>
            <a:ext cx="42672" cy="249936"/>
          </a:xfrm>
          <a:prstGeom prst="rect">
            <a:avLst/>
          </a:prstGeom>
          <a:solidFill>
            <a:srgbClr val="6B21D4"/>
          </a:solidFill>
          <a:ln>
            <a:solidFill>
              <a:srgbClr val="6B21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Rectangle 55"/>
          <p:cNvSpPr/>
          <p:nvPr/>
        </p:nvSpPr>
        <p:spPr>
          <a:xfrm>
            <a:off x="524256" y="3474718"/>
            <a:ext cx="2109216" cy="249936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144" rIns="9144" tIns="4572" bIns="4572"/>
          <a:lstStyle/>
          <a:p>
            <a:pPr algn="l"/>
            <a:r>
              <a:rPr sz="1000" b="1">
                <a:solidFill>
                  <a:srgbClr val="111111"/>
                </a:solidFill>
                <a:latin typeface="Aptos"/>
              </a:rPr>
              <a:t>Anusha Patnana</a:t>
            </a:r>
          </a:p>
        </p:txBody>
      </p:sp>
      <p:sp>
        <p:nvSpPr>
          <p:cNvPr id="57" name="Rectangle 56"/>
          <p:cNvSpPr/>
          <p:nvPr/>
        </p:nvSpPr>
        <p:spPr>
          <a:xfrm>
            <a:off x="2633472" y="3474718"/>
            <a:ext cx="1950720" cy="249936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144" rIns="9144" tIns="4572" bIns="4572"/>
          <a:lstStyle/>
          <a:p>
            <a:pPr algn="l"/>
            <a:r>
              <a:rPr sz="1000" b="0">
                <a:solidFill>
                  <a:srgbClr val="6B21D4"/>
                </a:solidFill>
                <a:latin typeface="Aptos"/>
              </a:rPr>
              <a:t>QA Func · T2</a:t>
            </a:r>
          </a:p>
        </p:txBody>
      </p:sp>
      <p:sp>
        <p:nvSpPr>
          <p:cNvPr id="58" name="Rectangle 57"/>
          <p:cNvSpPr/>
          <p:nvPr/>
        </p:nvSpPr>
        <p:spPr>
          <a:xfrm>
            <a:off x="4584192" y="3474718"/>
            <a:ext cx="1389886" cy="249936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144" rIns="9144" tIns="4572" bIns="4572"/>
          <a:lstStyle/>
          <a:p>
            <a:pPr algn="l"/>
            <a:r>
              <a:rPr sz="900" b="0">
                <a:solidFill>
                  <a:srgbClr val="777777"/>
                </a:solidFill>
                <a:latin typeface="Aptos"/>
              </a:rPr>
              <a:t>Offshore · Cognizant</a:t>
            </a:r>
          </a:p>
        </p:txBody>
      </p:sp>
      <p:sp>
        <p:nvSpPr>
          <p:cNvPr id="59" name="Rectangle 58"/>
          <p:cNvSpPr/>
          <p:nvPr/>
        </p:nvSpPr>
        <p:spPr>
          <a:xfrm>
            <a:off x="6156960" y="975360"/>
            <a:ext cx="5547360" cy="249936"/>
          </a:xfrm>
          <a:prstGeom prst="rect">
            <a:avLst/>
          </a:prstGeom>
          <a:solidFill>
            <a:srgbClr val="FFFFFF"/>
          </a:solidFill>
          <a:ln w="4445">
            <a:solidFill>
              <a:srgbClr val="EEEE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Rectangle 59"/>
          <p:cNvSpPr/>
          <p:nvPr/>
        </p:nvSpPr>
        <p:spPr>
          <a:xfrm>
            <a:off x="6156960" y="975360"/>
            <a:ext cx="42672" cy="249936"/>
          </a:xfrm>
          <a:prstGeom prst="rect">
            <a:avLst/>
          </a:prstGeom>
          <a:solidFill>
            <a:srgbClr val="6B21D4"/>
          </a:solidFill>
          <a:ln>
            <a:solidFill>
              <a:srgbClr val="6B21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Rectangle 60"/>
          <p:cNvSpPr/>
          <p:nvPr/>
        </p:nvSpPr>
        <p:spPr>
          <a:xfrm>
            <a:off x="6217920" y="975360"/>
            <a:ext cx="2109216" cy="249936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144" rIns="9144" tIns="4572" bIns="4572"/>
          <a:lstStyle/>
          <a:p>
            <a:pPr algn="l"/>
            <a:r>
              <a:rPr sz="1000" b="1">
                <a:solidFill>
                  <a:srgbClr val="111111"/>
                </a:solidFill>
                <a:latin typeface="Aptos"/>
              </a:rPr>
              <a:t>Pavan D S</a:t>
            </a:r>
          </a:p>
        </p:txBody>
      </p:sp>
      <p:sp>
        <p:nvSpPr>
          <p:cNvPr id="62" name="Rectangle 61"/>
          <p:cNvSpPr/>
          <p:nvPr/>
        </p:nvSpPr>
        <p:spPr>
          <a:xfrm>
            <a:off x="8327136" y="975360"/>
            <a:ext cx="1950720" cy="249936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144" rIns="9144" tIns="4572" bIns="4572"/>
          <a:lstStyle/>
          <a:p>
            <a:pPr algn="l"/>
            <a:r>
              <a:rPr sz="1000" b="0">
                <a:solidFill>
                  <a:srgbClr val="6B21D4"/>
                </a:solidFill>
                <a:latin typeface="Aptos"/>
              </a:rPr>
              <a:t>QA Func · T2</a:t>
            </a:r>
          </a:p>
        </p:txBody>
      </p:sp>
      <p:sp>
        <p:nvSpPr>
          <p:cNvPr id="63" name="Rectangle 62"/>
          <p:cNvSpPr/>
          <p:nvPr/>
        </p:nvSpPr>
        <p:spPr>
          <a:xfrm>
            <a:off x="10277856" y="975360"/>
            <a:ext cx="1389886" cy="249936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144" rIns="9144" tIns="4572" bIns="4572"/>
          <a:lstStyle/>
          <a:p>
            <a:pPr algn="l"/>
            <a:r>
              <a:rPr sz="900" b="0">
                <a:solidFill>
                  <a:srgbClr val="777777"/>
                </a:solidFill>
                <a:latin typeface="Aptos"/>
              </a:rPr>
              <a:t>Offshore · Trane-ITC-C2H</a:t>
            </a:r>
          </a:p>
        </p:txBody>
      </p:sp>
      <p:sp>
        <p:nvSpPr>
          <p:cNvPr id="64" name="Rectangle 63"/>
          <p:cNvSpPr/>
          <p:nvPr/>
        </p:nvSpPr>
        <p:spPr>
          <a:xfrm>
            <a:off x="6156960" y="1225296"/>
            <a:ext cx="5547360" cy="249936"/>
          </a:xfrm>
          <a:prstGeom prst="rect">
            <a:avLst/>
          </a:prstGeom>
          <a:solidFill>
            <a:srgbClr val="F3F0FA"/>
          </a:solidFill>
          <a:ln w="4445">
            <a:solidFill>
              <a:srgbClr val="EEEE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Rectangle 64"/>
          <p:cNvSpPr/>
          <p:nvPr/>
        </p:nvSpPr>
        <p:spPr>
          <a:xfrm>
            <a:off x="6156960" y="1225296"/>
            <a:ext cx="42672" cy="249936"/>
          </a:xfrm>
          <a:prstGeom prst="rect">
            <a:avLst/>
          </a:prstGeom>
          <a:solidFill>
            <a:srgbClr val="6B21D4"/>
          </a:solidFill>
          <a:ln>
            <a:solidFill>
              <a:srgbClr val="6B21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Rectangle 65"/>
          <p:cNvSpPr/>
          <p:nvPr/>
        </p:nvSpPr>
        <p:spPr>
          <a:xfrm>
            <a:off x="6217920" y="1225296"/>
            <a:ext cx="2109216" cy="249936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144" rIns="9144" tIns="4572" bIns="4572"/>
          <a:lstStyle/>
          <a:p>
            <a:pPr algn="l"/>
            <a:r>
              <a:rPr sz="1000" b="1">
                <a:solidFill>
                  <a:srgbClr val="111111"/>
                </a:solidFill>
                <a:latin typeface="Aptos"/>
              </a:rPr>
              <a:t>Pramad Manohara</a:t>
            </a:r>
          </a:p>
        </p:txBody>
      </p:sp>
      <p:sp>
        <p:nvSpPr>
          <p:cNvPr id="67" name="Rectangle 66"/>
          <p:cNvSpPr/>
          <p:nvPr/>
        </p:nvSpPr>
        <p:spPr>
          <a:xfrm>
            <a:off x="8327136" y="1225296"/>
            <a:ext cx="1950720" cy="249936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144" rIns="9144" tIns="4572" bIns="4572"/>
          <a:lstStyle/>
          <a:p>
            <a:pPr algn="l"/>
            <a:r>
              <a:rPr sz="1000" b="0">
                <a:solidFill>
                  <a:srgbClr val="6B21D4"/>
                </a:solidFill>
                <a:latin typeface="Aptos"/>
              </a:rPr>
              <a:t>QA Func · T2</a:t>
            </a:r>
          </a:p>
        </p:txBody>
      </p:sp>
      <p:sp>
        <p:nvSpPr>
          <p:cNvPr id="68" name="Rectangle 67"/>
          <p:cNvSpPr/>
          <p:nvPr/>
        </p:nvSpPr>
        <p:spPr>
          <a:xfrm>
            <a:off x="10277856" y="1225296"/>
            <a:ext cx="1389886" cy="249936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144" rIns="9144" tIns="4572" bIns="4572"/>
          <a:lstStyle/>
          <a:p>
            <a:pPr algn="l"/>
            <a:r>
              <a:rPr sz="900" b="0">
                <a:solidFill>
                  <a:srgbClr val="777777"/>
                </a:solidFill>
                <a:latin typeface="Aptos"/>
              </a:rPr>
              <a:t>Offshore · Trane-ITC-C2H</a:t>
            </a:r>
          </a:p>
        </p:txBody>
      </p:sp>
      <p:sp>
        <p:nvSpPr>
          <p:cNvPr id="69" name="Rectangle 68"/>
          <p:cNvSpPr/>
          <p:nvPr/>
        </p:nvSpPr>
        <p:spPr>
          <a:xfrm>
            <a:off x="6156960" y="1475232"/>
            <a:ext cx="5547360" cy="249936"/>
          </a:xfrm>
          <a:prstGeom prst="rect">
            <a:avLst/>
          </a:prstGeom>
          <a:solidFill>
            <a:srgbClr val="FFFFFF"/>
          </a:solidFill>
          <a:ln w="4445">
            <a:solidFill>
              <a:srgbClr val="EEEE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Rectangle 69"/>
          <p:cNvSpPr/>
          <p:nvPr/>
        </p:nvSpPr>
        <p:spPr>
          <a:xfrm>
            <a:off x="6156960" y="1475232"/>
            <a:ext cx="42672" cy="249936"/>
          </a:xfrm>
          <a:prstGeom prst="rect">
            <a:avLst/>
          </a:prstGeom>
          <a:solidFill>
            <a:srgbClr val="6B21D4"/>
          </a:solidFill>
          <a:ln>
            <a:solidFill>
              <a:srgbClr val="6B21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Rectangle 70"/>
          <p:cNvSpPr/>
          <p:nvPr/>
        </p:nvSpPr>
        <p:spPr>
          <a:xfrm>
            <a:off x="6217920" y="1475232"/>
            <a:ext cx="2109216" cy="249936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144" rIns="9144" tIns="4572" bIns="4572"/>
          <a:lstStyle/>
          <a:p>
            <a:pPr algn="l"/>
            <a:r>
              <a:rPr sz="1000" b="1">
                <a:solidFill>
                  <a:srgbClr val="111111"/>
                </a:solidFill>
                <a:latin typeface="Aptos"/>
              </a:rPr>
              <a:t>Sudar Subramanian</a:t>
            </a:r>
          </a:p>
        </p:txBody>
      </p:sp>
      <p:sp>
        <p:nvSpPr>
          <p:cNvPr id="72" name="Rectangle 71"/>
          <p:cNvSpPr/>
          <p:nvPr/>
        </p:nvSpPr>
        <p:spPr>
          <a:xfrm>
            <a:off x="8327136" y="1475232"/>
            <a:ext cx="1950720" cy="249936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144" rIns="9144" tIns="4572" bIns="4572"/>
          <a:lstStyle/>
          <a:p>
            <a:pPr algn="l"/>
            <a:r>
              <a:rPr sz="1000" b="0">
                <a:solidFill>
                  <a:srgbClr val="6B21D4"/>
                </a:solidFill>
                <a:latin typeface="Aptos"/>
              </a:rPr>
              <a:t>QA Auto · T1,2</a:t>
            </a:r>
          </a:p>
        </p:txBody>
      </p:sp>
      <p:sp>
        <p:nvSpPr>
          <p:cNvPr id="73" name="Rectangle 72"/>
          <p:cNvSpPr/>
          <p:nvPr/>
        </p:nvSpPr>
        <p:spPr>
          <a:xfrm>
            <a:off x="10277856" y="1475232"/>
            <a:ext cx="1389886" cy="249936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144" rIns="9144" tIns="4572" bIns="4572"/>
          <a:lstStyle/>
          <a:p>
            <a:pPr algn="l"/>
            <a:r>
              <a:rPr sz="900" b="0">
                <a:solidFill>
                  <a:srgbClr val="777777"/>
                </a:solidFill>
                <a:latin typeface="Aptos"/>
              </a:rPr>
              <a:t>Offshore · Cognizant</a:t>
            </a:r>
          </a:p>
        </p:txBody>
      </p:sp>
      <p:sp>
        <p:nvSpPr>
          <p:cNvPr id="74" name="Rectangle 73"/>
          <p:cNvSpPr/>
          <p:nvPr/>
        </p:nvSpPr>
        <p:spPr>
          <a:xfrm>
            <a:off x="6156960" y="1725168"/>
            <a:ext cx="5547360" cy="249936"/>
          </a:xfrm>
          <a:prstGeom prst="rect">
            <a:avLst/>
          </a:prstGeom>
          <a:solidFill>
            <a:srgbClr val="F3F0FA"/>
          </a:solidFill>
          <a:ln w="4445">
            <a:solidFill>
              <a:srgbClr val="EEEE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Rectangle 74"/>
          <p:cNvSpPr/>
          <p:nvPr/>
        </p:nvSpPr>
        <p:spPr>
          <a:xfrm>
            <a:off x="6156960" y="1725168"/>
            <a:ext cx="42672" cy="249936"/>
          </a:xfrm>
          <a:prstGeom prst="rect">
            <a:avLst/>
          </a:prstGeom>
          <a:solidFill>
            <a:srgbClr val="6B21D4"/>
          </a:solidFill>
          <a:ln>
            <a:solidFill>
              <a:srgbClr val="6B21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Rectangle 75"/>
          <p:cNvSpPr/>
          <p:nvPr/>
        </p:nvSpPr>
        <p:spPr>
          <a:xfrm>
            <a:off x="6217920" y="1725168"/>
            <a:ext cx="2109216" cy="249936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144" rIns="9144" tIns="4572" bIns="4572"/>
          <a:lstStyle/>
          <a:p>
            <a:pPr algn="l"/>
            <a:r>
              <a:rPr sz="1000" b="1">
                <a:solidFill>
                  <a:srgbClr val="111111"/>
                </a:solidFill>
                <a:latin typeface="Aptos"/>
              </a:rPr>
              <a:t>Vibin</a:t>
            </a:r>
          </a:p>
        </p:txBody>
      </p:sp>
      <p:sp>
        <p:nvSpPr>
          <p:cNvPr id="77" name="Rectangle 76"/>
          <p:cNvSpPr/>
          <p:nvPr/>
        </p:nvSpPr>
        <p:spPr>
          <a:xfrm>
            <a:off x="8327136" y="1725168"/>
            <a:ext cx="1950720" cy="249936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144" rIns="9144" tIns="4572" bIns="4572"/>
          <a:lstStyle/>
          <a:p>
            <a:pPr algn="l"/>
            <a:r>
              <a:rPr sz="1000" b="0">
                <a:solidFill>
                  <a:srgbClr val="6B21D4"/>
                </a:solidFill>
                <a:latin typeface="Aptos"/>
              </a:rPr>
              <a:t>QA Auto · T1,2</a:t>
            </a:r>
          </a:p>
        </p:txBody>
      </p:sp>
      <p:sp>
        <p:nvSpPr>
          <p:cNvPr id="78" name="Rectangle 77"/>
          <p:cNvSpPr/>
          <p:nvPr/>
        </p:nvSpPr>
        <p:spPr>
          <a:xfrm>
            <a:off x="10277856" y="1725168"/>
            <a:ext cx="1389886" cy="249936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144" rIns="9144" tIns="4572" bIns="4572"/>
          <a:lstStyle/>
          <a:p>
            <a:pPr algn="l"/>
            <a:r>
              <a:rPr sz="900" b="0">
                <a:solidFill>
                  <a:srgbClr val="777777"/>
                </a:solidFill>
                <a:latin typeface="Aptos"/>
              </a:rPr>
              <a:t>Offshore · Cognizant</a:t>
            </a:r>
          </a:p>
        </p:txBody>
      </p:sp>
      <p:sp>
        <p:nvSpPr>
          <p:cNvPr id="79" name="Rectangle 78"/>
          <p:cNvSpPr/>
          <p:nvPr/>
        </p:nvSpPr>
        <p:spPr>
          <a:xfrm>
            <a:off x="6156960" y="1975104"/>
            <a:ext cx="5547360" cy="249936"/>
          </a:xfrm>
          <a:prstGeom prst="rect">
            <a:avLst/>
          </a:prstGeom>
          <a:solidFill>
            <a:srgbClr val="FFFFFF"/>
          </a:solidFill>
          <a:ln w="4445">
            <a:solidFill>
              <a:srgbClr val="EEEE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Rectangle 79"/>
          <p:cNvSpPr/>
          <p:nvPr/>
        </p:nvSpPr>
        <p:spPr>
          <a:xfrm>
            <a:off x="6156960" y="1975104"/>
            <a:ext cx="42672" cy="249936"/>
          </a:xfrm>
          <a:prstGeom prst="rect">
            <a:avLst/>
          </a:prstGeom>
          <a:solidFill>
            <a:srgbClr val="6B21D4"/>
          </a:solidFill>
          <a:ln>
            <a:solidFill>
              <a:srgbClr val="6B21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Rectangle 80"/>
          <p:cNvSpPr/>
          <p:nvPr/>
        </p:nvSpPr>
        <p:spPr>
          <a:xfrm>
            <a:off x="6217920" y="1975104"/>
            <a:ext cx="2109216" cy="249936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144" rIns="9144" tIns="4572" bIns="4572"/>
          <a:lstStyle/>
          <a:p>
            <a:pPr algn="l"/>
            <a:r>
              <a:rPr sz="1000" b="1">
                <a:solidFill>
                  <a:srgbClr val="111111"/>
                </a:solidFill>
                <a:latin typeface="Aptos"/>
              </a:rPr>
              <a:t>Sivakumar R</a:t>
            </a:r>
          </a:p>
        </p:txBody>
      </p:sp>
      <p:sp>
        <p:nvSpPr>
          <p:cNvPr id="82" name="Rectangle 81"/>
          <p:cNvSpPr/>
          <p:nvPr/>
        </p:nvSpPr>
        <p:spPr>
          <a:xfrm>
            <a:off x="8327136" y="1975104"/>
            <a:ext cx="1950720" cy="249936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144" rIns="9144" tIns="4572" bIns="4572"/>
          <a:lstStyle/>
          <a:p>
            <a:pPr algn="l"/>
            <a:r>
              <a:rPr sz="1000" b="0">
                <a:solidFill>
                  <a:srgbClr val="6B21D4"/>
                </a:solidFill>
                <a:latin typeface="Aptos"/>
              </a:rPr>
              <a:t>QA Func · T1</a:t>
            </a:r>
          </a:p>
        </p:txBody>
      </p:sp>
      <p:sp>
        <p:nvSpPr>
          <p:cNvPr id="83" name="Rectangle 82"/>
          <p:cNvSpPr/>
          <p:nvPr/>
        </p:nvSpPr>
        <p:spPr>
          <a:xfrm>
            <a:off x="10277856" y="1975104"/>
            <a:ext cx="1389886" cy="249936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144" rIns="9144" tIns="4572" bIns="4572"/>
          <a:lstStyle/>
          <a:p>
            <a:pPr algn="l"/>
            <a:r>
              <a:rPr sz="900" b="0">
                <a:solidFill>
                  <a:srgbClr val="777777"/>
                </a:solidFill>
                <a:latin typeface="Aptos"/>
              </a:rPr>
              <a:t>Offshore · Cognizant</a:t>
            </a:r>
          </a:p>
        </p:txBody>
      </p:sp>
      <p:sp>
        <p:nvSpPr>
          <p:cNvPr id="84" name="Rectangle 83"/>
          <p:cNvSpPr/>
          <p:nvPr/>
        </p:nvSpPr>
        <p:spPr>
          <a:xfrm>
            <a:off x="6156960" y="2225040"/>
            <a:ext cx="5547360" cy="249936"/>
          </a:xfrm>
          <a:prstGeom prst="rect">
            <a:avLst/>
          </a:prstGeom>
          <a:solidFill>
            <a:srgbClr val="F3F0FA"/>
          </a:solidFill>
          <a:ln w="4445">
            <a:solidFill>
              <a:srgbClr val="EEEE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Rectangle 84"/>
          <p:cNvSpPr/>
          <p:nvPr/>
        </p:nvSpPr>
        <p:spPr>
          <a:xfrm>
            <a:off x="6156960" y="2225040"/>
            <a:ext cx="42672" cy="249936"/>
          </a:xfrm>
          <a:prstGeom prst="rect">
            <a:avLst/>
          </a:prstGeom>
          <a:solidFill>
            <a:srgbClr val="6B21D4"/>
          </a:solidFill>
          <a:ln>
            <a:solidFill>
              <a:srgbClr val="6B21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Rectangle 85"/>
          <p:cNvSpPr/>
          <p:nvPr/>
        </p:nvSpPr>
        <p:spPr>
          <a:xfrm>
            <a:off x="6217920" y="2225040"/>
            <a:ext cx="2109216" cy="249936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144" rIns="9144" tIns="4572" bIns="4572"/>
          <a:lstStyle/>
          <a:p>
            <a:pPr algn="l"/>
            <a:r>
              <a:rPr sz="1000" b="1">
                <a:solidFill>
                  <a:srgbClr val="111111"/>
                </a:solidFill>
                <a:latin typeface="Aptos"/>
              </a:rPr>
              <a:t>Shalini N</a:t>
            </a:r>
          </a:p>
        </p:txBody>
      </p:sp>
      <p:sp>
        <p:nvSpPr>
          <p:cNvPr id="87" name="Rectangle 86"/>
          <p:cNvSpPr/>
          <p:nvPr/>
        </p:nvSpPr>
        <p:spPr>
          <a:xfrm>
            <a:off x="8327136" y="2225040"/>
            <a:ext cx="1950720" cy="249936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144" rIns="9144" tIns="4572" bIns="4572"/>
          <a:lstStyle/>
          <a:p>
            <a:pPr algn="l"/>
            <a:r>
              <a:rPr sz="1000" b="0">
                <a:solidFill>
                  <a:srgbClr val="6B21D4"/>
                </a:solidFill>
                <a:latin typeface="Aptos"/>
              </a:rPr>
              <a:t>QA Func · T1</a:t>
            </a:r>
          </a:p>
        </p:txBody>
      </p:sp>
      <p:sp>
        <p:nvSpPr>
          <p:cNvPr id="88" name="Rectangle 87"/>
          <p:cNvSpPr/>
          <p:nvPr/>
        </p:nvSpPr>
        <p:spPr>
          <a:xfrm>
            <a:off x="10277856" y="2225040"/>
            <a:ext cx="1389886" cy="249936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144" rIns="9144" tIns="4572" bIns="4572"/>
          <a:lstStyle/>
          <a:p>
            <a:pPr algn="l"/>
            <a:r>
              <a:rPr sz="900" b="0">
                <a:solidFill>
                  <a:srgbClr val="777777"/>
                </a:solidFill>
                <a:latin typeface="Aptos"/>
              </a:rPr>
              <a:t>Offshore · Cognizant</a:t>
            </a:r>
          </a:p>
        </p:txBody>
      </p:sp>
      <p:sp>
        <p:nvSpPr>
          <p:cNvPr id="89" name="Rectangle 88"/>
          <p:cNvSpPr/>
          <p:nvPr/>
        </p:nvSpPr>
        <p:spPr>
          <a:xfrm>
            <a:off x="6156960" y="2474976"/>
            <a:ext cx="5547360" cy="249936"/>
          </a:xfrm>
          <a:prstGeom prst="rect">
            <a:avLst/>
          </a:prstGeom>
          <a:solidFill>
            <a:srgbClr val="FFFFFF"/>
          </a:solidFill>
          <a:ln w="4445">
            <a:solidFill>
              <a:srgbClr val="EEEE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Rectangle 89"/>
          <p:cNvSpPr/>
          <p:nvPr/>
        </p:nvSpPr>
        <p:spPr>
          <a:xfrm>
            <a:off x="6156960" y="2474976"/>
            <a:ext cx="42672" cy="249936"/>
          </a:xfrm>
          <a:prstGeom prst="rect">
            <a:avLst/>
          </a:prstGeom>
          <a:solidFill>
            <a:srgbClr val="6B21D4"/>
          </a:solidFill>
          <a:ln>
            <a:solidFill>
              <a:srgbClr val="6B21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Rectangle 90"/>
          <p:cNvSpPr/>
          <p:nvPr/>
        </p:nvSpPr>
        <p:spPr>
          <a:xfrm>
            <a:off x="6217920" y="2474976"/>
            <a:ext cx="2109216" cy="249936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144" rIns="9144" tIns="4572" bIns="4572"/>
          <a:lstStyle/>
          <a:p>
            <a:pPr algn="l"/>
            <a:r>
              <a:rPr sz="1000" b="1">
                <a:solidFill>
                  <a:srgbClr val="111111"/>
                </a:solidFill>
                <a:latin typeface="Aptos"/>
              </a:rPr>
              <a:t>Subhashini S</a:t>
            </a:r>
          </a:p>
        </p:txBody>
      </p:sp>
      <p:sp>
        <p:nvSpPr>
          <p:cNvPr id="92" name="Rectangle 91"/>
          <p:cNvSpPr/>
          <p:nvPr/>
        </p:nvSpPr>
        <p:spPr>
          <a:xfrm>
            <a:off x="8327136" y="2474976"/>
            <a:ext cx="1950720" cy="249936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144" rIns="9144" tIns="4572" bIns="4572"/>
          <a:lstStyle/>
          <a:p>
            <a:pPr algn="l"/>
            <a:r>
              <a:rPr sz="1000" b="0">
                <a:solidFill>
                  <a:srgbClr val="6B21D4"/>
                </a:solidFill>
                <a:latin typeface="Aptos"/>
              </a:rPr>
              <a:t>QA Func · T1</a:t>
            </a:r>
          </a:p>
        </p:txBody>
      </p:sp>
      <p:sp>
        <p:nvSpPr>
          <p:cNvPr id="93" name="Rectangle 92"/>
          <p:cNvSpPr/>
          <p:nvPr/>
        </p:nvSpPr>
        <p:spPr>
          <a:xfrm>
            <a:off x="10277856" y="2474976"/>
            <a:ext cx="1389886" cy="249936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144" rIns="9144" tIns="4572" bIns="4572"/>
          <a:lstStyle/>
          <a:p>
            <a:pPr algn="l"/>
            <a:r>
              <a:rPr sz="900" b="0">
                <a:solidFill>
                  <a:srgbClr val="777777"/>
                </a:solidFill>
                <a:latin typeface="Aptos"/>
              </a:rPr>
              <a:t>Offshore · Cognizant</a:t>
            </a:r>
          </a:p>
        </p:txBody>
      </p:sp>
      <p:sp>
        <p:nvSpPr>
          <p:cNvPr id="94" name="Rectangle 93"/>
          <p:cNvSpPr/>
          <p:nvPr/>
        </p:nvSpPr>
        <p:spPr>
          <a:xfrm>
            <a:off x="6156960" y="2724912"/>
            <a:ext cx="5547360" cy="249936"/>
          </a:xfrm>
          <a:prstGeom prst="rect">
            <a:avLst/>
          </a:prstGeom>
          <a:solidFill>
            <a:srgbClr val="F3F0FA"/>
          </a:solidFill>
          <a:ln w="4445">
            <a:solidFill>
              <a:srgbClr val="EEEE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Rectangle 94"/>
          <p:cNvSpPr/>
          <p:nvPr/>
        </p:nvSpPr>
        <p:spPr>
          <a:xfrm>
            <a:off x="6156960" y="2724912"/>
            <a:ext cx="42672" cy="249936"/>
          </a:xfrm>
          <a:prstGeom prst="rect">
            <a:avLst/>
          </a:prstGeom>
          <a:solidFill>
            <a:srgbClr val="6B21D4"/>
          </a:solidFill>
          <a:ln>
            <a:solidFill>
              <a:srgbClr val="6B21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Rectangle 95"/>
          <p:cNvSpPr/>
          <p:nvPr/>
        </p:nvSpPr>
        <p:spPr>
          <a:xfrm>
            <a:off x="6217920" y="2724912"/>
            <a:ext cx="2109216" cy="249936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144" rIns="9144" tIns="4572" bIns="4572"/>
          <a:lstStyle/>
          <a:p>
            <a:pPr algn="l"/>
            <a:r>
              <a:rPr sz="1000" b="1">
                <a:solidFill>
                  <a:srgbClr val="111111"/>
                </a:solidFill>
                <a:latin typeface="Aptos"/>
              </a:rPr>
              <a:t>Rangesh R</a:t>
            </a:r>
          </a:p>
        </p:txBody>
      </p:sp>
      <p:sp>
        <p:nvSpPr>
          <p:cNvPr id="97" name="Rectangle 96"/>
          <p:cNvSpPr/>
          <p:nvPr/>
        </p:nvSpPr>
        <p:spPr>
          <a:xfrm>
            <a:off x="8327136" y="2724912"/>
            <a:ext cx="1950720" cy="249936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144" rIns="9144" tIns="4572" bIns="4572"/>
          <a:lstStyle/>
          <a:p>
            <a:pPr algn="l"/>
            <a:r>
              <a:rPr sz="1000" b="0">
                <a:solidFill>
                  <a:srgbClr val="6B21D4"/>
                </a:solidFill>
                <a:latin typeface="Aptos"/>
              </a:rPr>
              <a:t>QA Func · T1</a:t>
            </a:r>
          </a:p>
        </p:txBody>
      </p:sp>
      <p:sp>
        <p:nvSpPr>
          <p:cNvPr id="98" name="Rectangle 97"/>
          <p:cNvSpPr/>
          <p:nvPr/>
        </p:nvSpPr>
        <p:spPr>
          <a:xfrm>
            <a:off x="10277856" y="2724912"/>
            <a:ext cx="1389886" cy="249936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144" rIns="9144" tIns="4572" bIns="4572"/>
          <a:lstStyle/>
          <a:p>
            <a:pPr algn="l"/>
            <a:r>
              <a:rPr sz="900" b="0">
                <a:solidFill>
                  <a:srgbClr val="777777"/>
                </a:solidFill>
                <a:latin typeface="Aptos"/>
              </a:rPr>
              <a:t>Offshore · Cognizant</a:t>
            </a:r>
          </a:p>
        </p:txBody>
      </p:sp>
      <p:sp>
        <p:nvSpPr>
          <p:cNvPr id="99" name="Rectangle 98"/>
          <p:cNvSpPr/>
          <p:nvPr/>
        </p:nvSpPr>
        <p:spPr>
          <a:xfrm>
            <a:off x="6156960" y="2974848"/>
            <a:ext cx="5547360" cy="249936"/>
          </a:xfrm>
          <a:prstGeom prst="rect">
            <a:avLst/>
          </a:prstGeom>
          <a:solidFill>
            <a:srgbClr val="FFFFFF"/>
          </a:solidFill>
          <a:ln w="4445">
            <a:solidFill>
              <a:srgbClr val="EEEE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" name="Rectangle 99"/>
          <p:cNvSpPr/>
          <p:nvPr/>
        </p:nvSpPr>
        <p:spPr>
          <a:xfrm>
            <a:off x="6156960" y="2974848"/>
            <a:ext cx="42672" cy="249936"/>
          </a:xfrm>
          <a:prstGeom prst="rect">
            <a:avLst/>
          </a:prstGeom>
          <a:solidFill>
            <a:srgbClr val="6B21D4"/>
          </a:solidFill>
          <a:ln>
            <a:solidFill>
              <a:srgbClr val="6B21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Rectangle 100"/>
          <p:cNvSpPr/>
          <p:nvPr/>
        </p:nvSpPr>
        <p:spPr>
          <a:xfrm>
            <a:off x="6217920" y="2974848"/>
            <a:ext cx="2109216" cy="249936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144" rIns="9144" tIns="4572" bIns="4572"/>
          <a:lstStyle/>
          <a:p>
            <a:pPr algn="l"/>
            <a:r>
              <a:rPr sz="1000" b="1">
                <a:solidFill>
                  <a:srgbClr val="111111"/>
                </a:solidFill>
                <a:latin typeface="Aptos"/>
              </a:rPr>
              <a:t>Lakshmi P</a:t>
            </a:r>
          </a:p>
        </p:txBody>
      </p:sp>
      <p:sp>
        <p:nvSpPr>
          <p:cNvPr id="102" name="Rectangle 101"/>
          <p:cNvSpPr/>
          <p:nvPr/>
        </p:nvSpPr>
        <p:spPr>
          <a:xfrm>
            <a:off x="8327136" y="2974848"/>
            <a:ext cx="1950720" cy="249936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144" rIns="9144" tIns="4572" bIns="4572"/>
          <a:lstStyle/>
          <a:p>
            <a:pPr algn="l"/>
            <a:r>
              <a:rPr sz="1000" b="0">
                <a:solidFill>
                  <a:srgbClr val="6B21D4"/>
                </a:solidFill>
                <a:latin typeface="Aptos"/>
              </a:rPr>
              <a:t>QA Func · T1</a:t>
            </a:r>
          </a:p>
        </p:txBody>
      </p:sp>
      <p:sp>
        <p:nvSpPr>
          <p:cNvPr id="103" name="Rectangle 102"/>
          <p:cNvSpPr/>
          <p:nvPr/>
        </p:nvSpPr>
        <p:spPr>
          <a:xfrm>
            <a:off x="10277856" y="2974848"/>
            <a:ext cx="1389886" cy="249936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144" rIns="9144" tIns="4572" bIns="4572"/>
          <a:lstStyle/>
          <a:p>
            <a:pPr algn="l"/>
            <a:r>
              <a:rPr sz="900" b="0">
                <a:solidFill>
                  <a:srgbClr val="777777"/>
                </a:solidFill>
                <a:latin typeface="Aptos"/>
              </a:rPr>
              <a:t>Offshore · Cognizant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156960" y="3224784"/>
            <a:ext cx="5547360" cy="249936"/>
          </a:xfrm>
          <a:prstGeom prst="rect">
            <a:avLst/>
          </a:prstGeom>
          <a:solidFill>
            <a:srgbClr val="F3F0FA"/>
          </a:solidFill>
          <a:ln w="4445">
            <a:solidFill>
              <a:srgbClr val="EEEE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Rectangle 104"/>
          <p:cNvSpPr/>
          <p:nvPr/>
        </p:nvSpPr>
        <p:spPr>
          <a:xfrm>
            <a:off x="6156960" y="3224784"/>
            <a:ext cx="42672" cy="249936"/>
          </a:xfrm>
          <a:prstGeom prst="rect">
            <a:avLst/>
          </a:prstGeom>
          <a:solidFill>
            <a:srgbClr val="6B21D4"/>
          </a:solidFill>
          <a:ln>
            <a:solidFill>
              <a:srgbClr val="6B21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" name="Rectangle 105"/>
          <p:cNvSpPr/>
          <p:nvPr/>
        </p:nvSpPr>
        <p:spPr>
          <a:xfrm>
            <a:off x="6217920" y="3224784"/>
            <a:ext cx="2109216" cy="249936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144" rIns="9144" tIns="4572" bIns="4572"/>
          <a:lstStyle/>
          <a:p>
            <a:pPr algn="l"/>
            <a:r>
              <a:rPr sz="1000" b="1">
                <a:solidFill>
                  <a:srgbClr val="111111"/>
                </a:solidFill>
                <a:latin typeface="Aptos"/>
              </a:rPr>
              <a:t>Ankur Bhattacharjee</a:t>
            </a:r>
          </a:p>
        </p:txBody>
      </p:sp>
      <p:sp>
        <p:nvSpPr>
          <p:cNvPr id="107" name="Rectangle 106"/>
          <p:cNvSpPr/>
          <p:nvPr/>
        </p:nvSpPr>
        <p:spPr>
          <a:xfrm>
            <a:off x="8327136" y="3224784"/>
            <a:ext cx="1950720" cy="249936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144" rIns="9144" tIns="4572" bIns="4572"/>
          <a:lstStyle/>
          <a:p>
            <a:pPr algn="l"/>
            <a:r>
              <a:rPr sz="1000" b="0">
                <a:solidFill>
                  <a:srgbClr val="6B21D4"/>
                </a:solidFill>
                <a:latin typeface="Aptos"/>
              </a:rPr>
              <a:t>QA Func · T1</a:t>
            </a:r>
          </a:p>
        </p:txBody>
      </p:sp>
      <p:sp>
        <p:nvSpPr>
          <p:cNvPr id="108" name="Rectangle 107"/>
          <p:cNvSpPr/>
          <p:nvPr/>
        </p:nvSpPr>
        <p:spPr>
          <a:xfrm>
            <a:off x="10277856" y="3224784"/>
            <a:ext cx="1389886" cy="249936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144" rIns="9144" tIns="4572" bIns="4572"/>
          <a:lstStyle/>
          <a:p>
            <a:pPr algn="l"/>
            <a:r>
              <a:rPr sz="900" b="0">
                <a:solidFill>
                  <a:srgbClr val="777777"/>
                </a:solidFill>
                <a:latin typeface="Aptos"/>
              </a:rPr>
              <a:t>Offshore · Trane-ITC</a:t>
            </a:r>
          </a:p>
        </p:txBody>
      </p:sp>
      <p:sp>
        <p:nvSpPr>
          <p:cNvPr id="109" name="Rectangle 108"/>
          <p:cNvSpPr/>
          <p:nvPr/>
        </p:nvSpPr>
        <p:spPr>
          <a:xfrm>
            <a:off x="3352800" y="4693920"/>
            <a:ext cx="5547360" cy="24384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4572" bIns="4572"/>
          <a:lstStyle/>
          <a:p>
            <a:pPr algn="l"/>
            <a:r>
              <a:rPr sz="1000" b="1">
                <a:solidFill>
                  <a:srgbClr val="4A148C"/>
                </a:solidFill>
                <a:latin typeface="Aptos"/>
              </a:rPr>
              <a:t>Service Teams</a:t>
            </a:r>
          </a:p>
        </p:txBody>
      </p:sp>
      <p:sp>
        <p:nvSpPr>
          <p:cNvPr id="110" name="Rectangle 109"/>
          <p:cNvSpPr/>
          <p:nvPr/>
        </p:nvSpPr>
        <p:spPr>
          <a:xfrm>
            <a:off x="3352800" y="4998718"/>
            <a:ext cx="5547360" cy="231648"/>
          </a:xfrm>
          <a:prstGeom prst="rect">
            <a:avLst/>
          </a:prstGeom>
          <a:solidFill>
            <a:srgbClr val="FFFFFF"/>
          </a:solidFill>
          <a:ln w="4445">
            <a:solidFill>
              <a:srgbClr val="EEEE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Rectangle 110"/>
          <p:cNvSpPr/>
          <p:nvPr/>
        </p:nvSpPr>
        <p:spPr>
          <a:xfrm>
            <a:off x="3352800" y="4998718"/>
            <a:ext cx="42672" cy="231648"/>
          </a:xfrm>
          <a:prstGeom prst="rect">
            <a:avLst/>
          </a:prstGeom>
          <a:solidFill>
            <a:srgbClr val="6B21D4"/>
          </a:solidFill>
          <a:ln>
            <a:solidFill>
              <a:srgbClr val="6B21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Rectangle 111"/>
          <p:cNvSpPr/>
          <p:nvPr/>
        </p:nvSpPr>
        <p:spPr>
          <a:xfrm>
            <a:off x="3413760" y="4998718"/>
            <a:ext cx="2109216" cy="23164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144" rIns="9144" tIns="4572" bIns="4572"/>
          <a:lstStyle/>
          <a:p>
            <a:pPr algn="l"/>
            <a:r>
              <a:rPr sz="1000" b="1">
                <a:solidFill>
                  <a:srgbClr val="111111"/>
                </a:solidFill>
                <a:latin typeface="Aptos"/>
              </a:rPr>
              <a:t>Frank Murcia</a:t>
            </a:r>
          </a:p>
        </p:txBody>
      </p:sp>
      <p:sp>
        <p:nvSpPr>
          <p:cNvPr id="113" name="Rectangle 112"/>
          <p:cNvSpPr/>
          <p:nvPr/>
        </p:nvSpPr>
        <p:spPr>
          <a:xfrm>
            <a:off x="5522974" y="4998718"/>
            <a:ext cx="1950720" cy="23164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144" rIns="9144" tIns="4572" bIns="4572"/>
          <a:lstStyle/>
          <a:p>
            <a:pPr algn="l"/>
            <a:r>
              <a:rPr sz="1000" b="0">
                <a:solidFill>
                  <a:srgbClr val="6B21D4"/>
                </a:solidFill>
                <a:latin typeface="Aptos"/>
              </a:rPr>
              <a:t>QA / Scrum Master</a:t>
            </a:r>
          </a:p>
        </p:txBody>
      </p:sp>
      <p:sp>
        <p:nvSpPr>
          <p:cNvPr id="114" name="Rectangle 113"/>
          <p:cNvSpPr/>
          <p:nvPr/>
        </p:nvSpPr>
        <p:spPr>
          <a:xfrm>
            <a:off x="7473694" y="4998718"/>
            <a:ext cx="1389886" cy="23164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144" rIns="9144" tIns="4572" bIns="4572"/>
          <a:lstStyle/>
          <a:p>
            <a:pPr algn="l"/>
            <a:r>
              <a:rPr sz="900" b="0">
                <a:solidFill>
                  <a:srgbClr val="777777"/>
                </a:solidFill>
                <a:latin typeface="Aptos"/>
              </a:rPr>
              <a:t>Onshore · Contractor</a:t>
            </a:r>
          </a:p>
        </p:txBody>
      </p:sp>
      <p:sp>
        <p:nvSpPr>
          <p:cNvPr id="115" name="Rectangle 114"/>
          <p:cNvSpPr/>
          <p:nvPr/>
        </p:nvSpPr>
        <p:spPr>
          <a:xfrm>
            <a:off x="3352800" y="5230368"/>
            <a:ext cx="5547360" cy="231648"/>
          </a:xfrm>
          <a:prstGeom prst="rect">
            <a:avLst/>
          </a:prstGeom>
          <a:solidFill>
            <a:srgbClr val="F3F0FA"/>
          </a:solidFill>
          <a:ln w="4445">
            <a:solidFill>
              <a:srgbClr val="EEEE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6" name="Rectangle 115"/>
          <p:cNvSpPr/>
          <p:nvPr/>
        </p:nvSpPr>
        <p:spPr>
          <a:xfrm>
            <a:off x="3352800" y="5230368"/>
            <a:ext cx="42672" cy="231648"/>
          </a:xfrm>
          <a:prstGeom prst="rect">
            <a:avLst/>
          </a:prstGeom>
          <a:solidFill>
            <a:srgbClr val="6B21D4"/>
          </a:solidFill>
          <a:ln>
            <a:solidFill>
              <a:srgbClr val="6B21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7" name="Rectangle 116"/>
          <p:cNvSpPr/>
          <p:nvPr/>
        </p:nvSpPr>
        <p:spPr>
          <a:xfrm>
            <a:off x="3413760" y="5230368"/>
            <a:ext cx="2109216" cy="23164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144" rIns="9144" tIns="4572" bIns="4572"/>
          <a:lstStyle/>
          <a:p>
            <a:pPr algn="l"/>
            <a:r>
              <a:rPr sz="1000" b="1">
                <a:solidFill>
                  <a:srgbClr val="111111"/>
                </a:solidFill>
                <a:latin typeface="Aptos"/>
              </a:rPr>
              <a:t>Yohalakshmi J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5522974" y="5230368"/>
            <a:ext cx="1950720" cy="23164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144" rIns="9144" tIns="4572" bIns="4572"/>
          <a:lstStyle/>
          <a:p>
            <a:pPr algn="l"/>
            <a:r>
              <a:rPr sz="1000" b="0">
                <a:solidFill>
                  <a:srgbClr val="6B21D4"/>
                </a:solidFill>
                <a:latin typeface="Aptos"/>
              </a:rPr>
              <a:t>QA – Functional</a:t>
            </a:r>
          </a:p>
        </p:txBody>
      </p:sp>
      <p:sp>
        <p:nvSpPr>
          <p:cNvPr id="119" name="Rectangle 118"/>
          <p:cNvSpPr/>
          <p:nvPr/>
        </p:nvSpPr>
        <p:spPr>
          <a:xfrm>
            <a:off x="7473694" y="5230368"/>
            <a:ext cx="1389886" cy="23164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144" rIns="9144" tIns="4572" bIns="4572"/>
          <a:lstStyle/>
          <a:p>
            <a:pPr algn="l"/>
            <a:r>
              <a:rPr sz="900" b="0">
                <a:solidFill>
                  <a:srgbClr val="777777"/>
                </a:solidFill>
                <a:latin typeface="Aptos"/>
              </a:rPr>
              <a:t>Offshore · Cognizant</a:t>
            </a:r>
          </a:p>
        </p:txBody>
      </p:sp>
      <p:sp>
        <p:nvSpPr>
          <p:cNvPr id="120" name="Rectangle 119"/>
          <p:cNvSpPr/>
          <p:nvPr/>
        </p:nvSpPr>
        <p:spPr>
          <a:xfrm>
            <a:off x="3352800" y="5462014"/>
            <a:ext cx="5547360" cy="231648"/>
          </a:xfrm>
          <a:prstGeom prst="rect">
            <a:avLst/>
          </a:prstGeom>
          <a:solidFill>
            <a:srgbClr val="FFFFFF"/>
          </a:solidFill>
          <a:ln w="4445">
            <a:solidFill>
              <a:srgbClr val="EEEE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1" name="Rectangle 120"/>
          <p:cNvSpPr/>
          <p:nvPr/>
        </p:nvSpPr>
        <p:spPr>
          <a:xfrm>
            <a:off x="3352800" y="5462014"/>
            <a:ext cx="42672" cy="231648"/>
          </a:xfrm>
          <a:prstGeom prst="rect">
            <a:avLst/>
          </a:prstGeom>
          <a:solidFill>
            <a:srgbClr val="6B21D4"/>
          </a:solidFill>
          <a:ln>
            <a:solidFill>
              <a:srgbClr val="6B21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2" name="Rectangle 121"/>
          <p:cNvSpPr/>
          <p:nvPr/>
        </p:nvSpPr>
        <p:spPr>
          <a:xfrm>
            <a:off x="3413760" y="5462014"/>
            <a:ext cx="2109216" cy="23164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144" rIns="9144" tIns="4572" bIns="4572"/>
          <a:lstStyle/>
          <a:p>
            <a:pPr algn="l"/>
            <a:r>
              <a:rPr sz="1000" b="1">
                <a:solidFill>
                  <a:srgbClr val="111111"/>
                </a:solidFill>
                <a:latin typeface="Aptos"/>
              </a:rPr>
              <a:t>Vivek Patil</a:t>
            </a:r>
          </a:p>
        </p:txBody>
      </p:sp>
      <p:sp>
        <p:nvSpPr>
          <p:cNvPr id="123" name="Rectangle 122"/>
          <p:cNvSpPr/>
          <p:nvPr/>
        </p:nvSpPr>
        <p:spPr>
          <a:xfrm>
            <a:off x="5522974" y="5462014"/>
            <a:ext cx="1950720" cy="23164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144" rIns="9144" tIns="4572" bIns="4572"/>
          <a:lstStyle/>
          <a:p>
            <a:pPr algn="l"/>
            <a:r>
              <a:rPr sz="1000" b="0">
                <a:solidFill>
                  <a:srgbClr val="6B21D4"/>
                </a:solidFill>
                <a:latin typeface="Aptos"/>
              </a:rPr>
              <a:t>QA – Automation</a:t>
            </a:r>
          </a:p>
        </p:txBody>
      </p:sp>
      <p:sp>
        <p:nvSpPr>
          <p:cNvPr id="124" name="Rectangle 123"/>
          <p:cNvSpPr/>
          <p:nvPr/>
        </p:nvSpPr>
        <p:spPr>
          <a:xfrm>
            <a:off x="7473694" y="5462014"/>
            <a:ext cx="1389886" cy="23164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144" rIns="9144" tIns="4572" bIns="4572"/>
          <a:lstStyle/>
          <a:p>
            <a:pPr algn="l"/>
            <a:r>
              <a:rPr sz="900" b="0">
                <a:solidFill>
                  <a:srgbClr val="777777"/>
                </a:solidFill>
                <a:latin typeface="Aptos"/>
              </a:rPr>
              <a:t>Offshore · Cognizant</a:t>
            </a:r>
          </a:p>
        </p:txBody>
      </p:sp>
      <p:sp>
        <p:nvSpPr>
          <p:cNvPr id="125" name="Rectangle 124"/>
          <p:cNvSpPr/>
          <p:nvPr/>
        </p:nvSpPr>
        <p:spPr>
          <a:xfrm>
            <a:off x="3352800" y="5693664"/>
            <a:ext cx="5547360" cy="231648"/>
          </a:xfrm>
          <a:prstGeom prst="rect">
            <a:avLst/>
          </a:prstGeom>
          <a:solidFill>
            <a:srgbClr val="F3F0FA"/>
          </a:solidFill>
          <a:ln w="4445">
            <a:solidFill>
              <a:srgbClr val="EEEE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" name="Rectangle 125"/>
          <p:cNvSpPr/>
          <p:nvPr/>
        </p:nvSpPr>
        <p:spPr>
          <a:xfrm>
            <a:off x="3352800" y="5693664"/>
            <a:ext cx="42672" cy="231648"/>
          </a:xfrm>
          <a:prstGeom prst="rect">
            <a:avLst/>
          </a:prstGeom>
          <a:solidFill>
            <a:srgbClr val="6B21D4"/>
          </a:solidFill>
          <a:ln>
            <a:solidFill>
              <a:srgbClr val="6B21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7" name="Rectangle 126"/>
          <p:cNvSpPr/>
          <p:nvPr/>
        </p:nvSpPr>
        <p:spPr>
          <a:xfrm>
            <a:off x="3413760" y="5693664"/>
            <a:ext cx="2109216" cy="23164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144" rIns="9144" tIns="4572" bIns="4572"/>
          <a:lstStyle/>
          <a:p>
            <a:pPr algn="l"/>
            <a:r>
              <a:rPr sz="1000" b="1">
                <a:solidFill>
                  <a:srgbClr val="111111"/>
                </a:solidFill>
                <a:latin typeface="Aptos"/>
              </a:rPr>
              <a:t>Amelia Mann</a:t>
            </a:r>
          </a:p>
        </p:txBody>
      </p:sp>
      <p:sp>
        <p:nvSpPr>
          <p:cNvPr id="128" name="Rectangle 127"/>
          <p:cNvSpPr/>
          <p:nvPr/>
        </p:nvSpPr>
        <p:spPr>
          <a:xfrm>
            <a:off x="5522974" y="5693664"/>
            <a:ext cx="1950720" cy="23164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144" rIns="9144" tIns="4572" bIns="4572"/>
          <a:lstStyle/>
          <a:p>
            <a:pPr algn="l"/>
            <a:r>
              <a:rPr sz="1000" b="0">
                <a:solidFill>
                  <a:srgbClr val="6B21D4"/>
                </a:solidFill>
                <a:latin typeface="Aptos"/>
              </a:rPr>
              <a:t>Product Owner</a:t>
            </a:r>
          </a:p>
        </p:txBody>
      </p:sp>
      <p:sp>
        <p:nvSpPr>
          <p:cNvPr id="129" name="Rectangle 128"/>
          <p:cNvSpPr/>
          <p:nvPr/>
        </p:nvSpPr>
        <p:spPr>
          <a:xfrm>
            <a:off x="7473694" y="5693664"/>
            <a:ext cx="1389886" cy="23164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144" rIns="9144" tIns="4572" bIns="4572"/>
          <a:lstStyle/>
          <a:p>
            <a:pPr algn="l"/>
            <a:r>
              <a:rPr sz="900" b="0">
                <a:solidFill>
                  <a:srgbClr val="777777"/>
                </a:solidFill>
                <a:latin typeface="Aptos"/>
              </a:rPr>
              <a:t>Onshore · Trane</a:t>
            </a:r>
          </a:p>
        </p:txBody>
      </p:sp>
      <p:sp>
        <p:nvSpPr>
          <p:cNvPr id="130" name="Rectangle 129"/>
          <p:cNvSpPr/>
          <p:nvPr/>
        </p:nvSpPr>
        <p:spPr>
          <a:xfrm>
            <a:off x="3352800" y="5925310"/>
            <a:ext cx="5547360" cy="231648"/>
          </a:xfrm>
          <a:prstGeom prst="rect">
            <a:avLst/>
          </a:prstGeom>
          <a:solidFill>
            <a:srgbClr val="FFFFFF"/>
          </a:solidFill>
          <a:ln w="4445">
            <a:solidFill>
              <a:srgbClr val="EEEE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1" name="Rectangle 130"/>
          <p:cNvSpPr/>
          <p:nvPr/>
        </p:nvSpPr>
        <p:spPr>
          <a:xfrm>
            <a:off x="3352800" y="5925310"/>
            <a:ext cx="42672" cy="231648"/>
          </a:xfrm>
          <a:prstGeom prst="rect">
            <a:avLst/>
          </a:prstGeom>
          <a:solidFill>
            <a:srgbClr val="6B21D4"/>
          </a:solidFill>
          <a:ln>
            <a:solidFill>
              <a:srgbClr val="6B21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2" name="Rectangle 131"/>
          <p:cNvSpPr/>
          <p:nvPr/>
        </p:nvSpPr>
        <p:spPr>
          <a:xfrm>
            <a:off x="3413760" y="5925310"/>
            <a:ext cx="2109216" cy="23164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144" rIns="9144" tIns="4572" bIns="4572"/>
          <a:lstStyle/>
          <a:p>
            <a:pPr algn="l"/>
            <a:r>
              <a:rPr sz="1000" b="1">
                <a:solidFill>
                  <a:srgbClr val="111111"/>
                </a:solidFill>
                <a:latin typeface="Aptos"/>
              </a:rPr>
              <a:t>Kevin Efurd</a:t>
            </a:r>
          </a:p>
        </p:txBody>
      </p:sp>
      <p:sp>
        <p:nvSpPr>
          <p:cNvPr id="133" name="Rectangle 132"/>
          <p:cNvSpPr/>
          <p:nvPr/>
        </p:nvSpPr>
        <p:spPr>
          <a:xfrm>
            <a:off x="5522974" y="5925310"/>
            <a:ext cx="1950720" cy="23164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144" rIns="9144" tIns="4572" bIns="4572"/>
          <a:lstStyle/>
          <a:p>
            <a:pPr algn="l"/>
            <a:r>
              <a:rPr sz="1000" b="0">
                <a:solidFill>
                  <a:srgbClr val="6B21D4"/>
                </a:solidFill>
                <a:latin typeface="Aptos"/>
              </a:rPr>
              <a:t>Dev Tech Lead</a:t>
            </a:r>
          </a:p>
        </p:txBody>
      </p:sp>
      <p:sp>
        <p:nvSpPr>
          <p:cNvPr id="134" name="Rectangle 133"/>
          <p:cNvSpPr/>
          <p:nvPr/>
        </p:nvSpPr>
        <p:spPr>
          <a:xfrm>
            <a:off x="7473694" y="5925310"/>
            <a:ext cx="1389886" cy="23164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144" rIns="9144" tIns="4572" bIns="4572"/>
          <a:lstStyle/>
          <a:p>
            <a:pPr algn="l"/>
            <a:r>
              <a:rPr sz="900" b="0">
                <a:solidFill>
                  <a:srgbClr val="777777"/>
                </a:solidFill>
                <a:latin typeface="Aptos"/>
              </a:rPr>
              <a:t>Onshore · Trane</a:t>
            </a:r>
          </a:p>
        </p:txBody>
      </p:sp>
      <p:sp>
        <p:nvSpPr>
          <p:cNvPr id="135" name="Rectangle 134"/>
          <p:cNvSpPr/>
          <p:nvPr/>
        </p:nvSpPr>
        <p:spPr>
          <a:xfrm>
            <a:off x="3352800" y="6156960"/>
            <a:ext cx="5547360" cy="231648"/>
          </a:xfrm>
          <a:prstGeom prst="rect">
            <a:avLst/>
          </a:prstGeom>
          <a:solidFill>
            <a:srgbClr val="F3F0FA"/>
          </a:solidFill>
          <a:ln w="4445">
            <a:solidFill>
              <a:srgbClr val="EEEE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6" name="Rectangle 135"/>
          <p:cNvSpPr/>
          <p:nvPr/>
        </p:nvSpPr>
        <p:spPr>
          <a:xfrm>
            <a:off x="3352800" y="6156960"/>
            <a:ext cx="42672" cy="231648"/>
          </a:xfrm>
          <a:prstGeom prst="rect">
            <a:avLst/>
          </a:prstGeom>
          <a:solidFill>
            <a:srgbClr val="6B21D4"/>
          </a:solidFill>
          <a:ln>
            <a:solidFill>
              <a:srgbClr val="6B21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7" name="Rectangle 136"/>
          <p:cNvSpPr/>
          <p:nvPr/>
        </p:nvSpPr>
        <p:spPr>
          <a:xfrm>
            <a:off x="3413760" y="6156960"/>
            <a:ext cx="2109216" cy="23164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144" rIns="9144" tIns="4572" bIns="4572"/>
          <a:lstStyle/>
          <a:p>
            <a:pPr algn="l"/>
            <a:r>
              <a:rPr sz="1000" b="1">
                <a:solidFill>
                  <a:srgbClr val="111111"/>
                </a:solidFill>
                <a:latin typeface="Aptos"/>
              </a:rPr>
              <a:t>Jessica Ly</a:t>
            </a:r>
          </a:p>
        </p:txBody>
      </p:sp>
      <p:sp>
        <p:nvSpPr>
          <p:cNvPr id="138" name="Rectangle 137"/>
          <p:cNvSpPr/>
          <p:nvPr/>
        </p:nvSpPr>
        <p:spPr>
          <a:xfrm>
            <a:off x="5522974" y="6156960"/>
            <a:ext cx="1950720" cy="23164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144" rIns="9144" tIns="4572" bIns="4572"/>
          <a:lstStyle/>
          <a:p>
            <a:pPr algn="l"/>
            <a:r>
              <a:rPr sz="1000" b="0">
                <a:solidFill>
                  <a:srgbClr val="6B21D4"/>
                </a:solidFill>
                <a:latin typeface="Aptos"/>
              </a:rPr>
              <a:t>Dev Tech Lead</a:t>
            </a:r>
          </a:p>
        </p:txBody>
      </p:sp>
      <p:sp>
        <p:nvSpPr>
          <p:cNvPr id="139" name="Rectangle 138"/>
          <p:cNvSpPr/>
          <p:nvPr/>
        </p:nvSpPr>
        <p:spPr>
          <a:xfrm>
            <a:off x="7473694" y="6156960"/>
            <a:ext cx="1389886" cy="23164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144" rIns="9144" tIns="4572" bIns="4572"/>
          <a:lstStyle/>
          <a:p>
            <a:pPr algn="l"/>
            <a:r>
              <a:rPr sz="900" b="0">
                <a:solidFill>
                  <a:srgbClr val="777777"/>
                </a:solidFill>
                <a:latin typeface="Aptos"/>
              </a:rPr>
              <a:t>Onshore · Trane</a:t>
            </a:r>
          </a:p>
        </p:txBody>
      </p:sp>
      <p:sp>
        <p:nvSpPr>
          <p:cNvPr id="140" name="Rectangle 139"/>
          <p:cNvSpPr/>
          <p:nvPr/>
        </p:nvSpPr>
        <p:spPr>
          <a:xfrm>
            <a:off x="463296" y="6388608"/>
            <a:ext cx="426720" cy="219456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4572" bIns="4572"/>
          <a:lstStyle/>
          <a:p>
            <a:pPr algn="l"/>
            <a:r>
              <a:rPr sz="900" b="0">
                <a:solidFill>
                  <a:srgbClr val="777777"/>
                </a:solidFill>
                <a:latin typeface="Aptos"/>
              </a:rPr>
              <a:t>7</a:t>
            </a:r>
          </a:p>
        </p:txBody>
      </p:sp>
      <p:pic>
        <p:nvPicPr>
          <p:cNvPr id="141" name="Picture 140" descr="trane_real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424160" y="6156960"/>
            <a:ext cx="1463040" cy="633984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63296" y="158496"/>
            <a:ext cx="11265408" cy="41452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4572" bIns="4572"/>
          <a:lstStyle/>
          <a:p>
            <a:pPr algn="l"/>
            <a:r>
              <a:rPr sz="2400" b="1">
                <a:solidFill>
                  <a:srgbClr val="6B21D4"/>
                </a:solidFill>
                <a:latin typeface="Aptos"/>
              </a:rPr>
              <a:t>S&amp;C Contracting – POs, BAs, Developers &amp; Scrum (T1 &amp; T2)</a:t>
            </a:r>
          </a:p>
        </p:txBody>
      </p:sp>
      <p:sp>
        <p:nvSpPr>
          <p:cNvPr id="3" name="Rectangle 2"/>
          <p:cNvSpPr/>
          <p:nvPr/>
        </p:nvSpPr>
        <p:spPr>
          <a:xfrm>
            <a:off x="463296" y="853440"/>
            <a:ext cx="5547360" cy="225552"/>
          </a:xfrm>
          <a:prstGeom prst="rect">
            <a:avLst/>
          </a:prstGeom>
          <a:solidFill>
            <a:srgbClr val="FFFFFF"/>
          </a:solidFill>
          <a:ln w="4445">
            <a:solidFill>
              <a:srgbClr val="EEEE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63296" y="853440"/>
            <a:ext cx="42672" cy="225552"/>
          </a:xfrm>
          <a:prstGeom prst="rect">
            <a:avLst/>
          </a:prstGeom>
          <a:solidFill>
            <a:srgbClr val="6B21D4"/>
          </a:solidFill>
          <a:ln>
            <a:solidFill>
              <a:srgbClr val="6B21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24256" y="853440"/>
            <a:ext cx="2109216" cy="225552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144" rIns="9144" tIns="4572" bIns="4572"/>
          <a:lstStyle/>
          <a:p>
            <a:pPr algn="l"/>
            <a:r>
              <a:rPr sz="1000" b="1">
                <a:solidFill>
                  <a:srgbClr val="111111"/>
                </a:solidFill>
                <a:latin typeface="Aptos"/>
              </a:rPr>
              <a:t>Nikki Johann</a:t>
            </a:r>
          </a:p>
        </p:txBody>
      </p:sp>
      <p:sp>
        <p:nvSpPr>
          <p:cNvPr id="6" name="Rectangle 5"/>
          <p:cNvSpPr/>
          <p:nvPr/>
        </p:nvSpPr>
        <p:spPr>
          <a:xfrm>
            <a:off x="2633472" y="853440"/>
            <a:ext cx="1950720" cy="225552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144" rIns="9144" tIns="4572" bIns="4572"/>
          <a:lstStyle/>
          <a:p>
            <a:pPr algn="l"/>
            <a:r>
              <a:rPr sz="1000" b="0">
                <a:solidFill>
                  <a:srgbClr val="6B21D4"/>
                </a:solidFill>
                <a:latin typeface="Aptos"/>
              </a:rPr>
              <a:t>Product Owner · T2</a:t>
            </a:r>
          </a:p>
        </p:txBody>
      </p:sp>
      <p:sp>
        <p:nvSpPr>
          <p:cNvPr id="7" name="Rectangle 6"/>
          <p:cNvSpPr/>
          <p:nvPr/>
        </p:nvSpPr>
        <p:spPr>
          <a:xfrm>
            <a:off x="4584192" y="853440"/>
            <a:ext cx="1389886" cy="225552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144" rIns="9144" tIns="4572" bIns="4572"/>
          <a:lstStyle/>
          <a:p>
            <a:pPr algn="l"/>
            <a:r>
              <a:rPr sz="900" b="0">
                <a:solidFill>
                  <a:srgbClr val="777777"/>
                </a:solidFill>
                <a:latin typeface="Aptos"/>
              </a:rPr>
              <a:t>Onshore · Trane</a:t>
            </a:r>
          </a:p>
        </p:txBody>
      </p:sp>
      <p:sp>
        <p:nvSpPr>
          <p:cNvPr id="8" name="Rectangle 7"/>
          <p:cNvSpPr/>
          <p:nvPr/>
        </p:nvSpPr>
        <p:spPr>
          <a:xfrm>
            <a:off x="463296" y="1078992"/>
            <a:ext cx="5547360" cy="225552"/>
          </a:xfrm>
          <a:prstGeom prst="rect">
            <a:avLst/>
          </a:prstGeom>
          <a:solidFill>
            <a:srgbClr val="F3F0FA"/>
          </a:solidFill>
          <a:ln w="4445">
            <a:solidFill>
              <a:srgbClr val="EEEE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63296" y="1078992"/>
            <a:ext cx="42672" cy="225552"/>
          </a:xfrm>
          <a:prstGeom prst="rect">
            <a:avLst/>
          </a:prstGeom>
          <a:solidFill>
            <a:srgbClr val="6B21D4"/>
          </a:solidFill>
          <a:ln>
            <a:solidFill>
              <a:srgbClr val="6B21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24256" y="1078992"/>
            <a:ext cx="2109216" cy="225552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144" rIns="9144" tIns="4572" bIns="4572"/>
          <a:lstStyle/>
          <a:p>
            <a:pPr algn="l"/>
            <a:r>
              <a:rPr sz="1000" b="1">
                <a:solidFill>
                  <a:srgbClr val="111111"/>
                </a:solidFill>
                <a:latin typeface="Aptos"/>
              </a:rPr>
              <a:t>Bethany Bornheimer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633472" y="1078992"/>
            <a:ext cx="1950720" cy="225552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144" rIns="9144" tIns="4572" bIns="4572"/>
          <a:lstStyle/>
          <a:p>
            <a:pPr algn="l"/>
            <a:r>
              <a:rPr sz="1000" b="0">
                <a:solidFill>
                  <a:srgbClr val="6B21D4"/>
                </a:solidFill>
                <a:latin typeface="Aptos"/>
              </a:rPr>
              <a:t>Product Owner · T2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584192" y="1078992"/>
            <a:ext cx="1389886" cy="225552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144" rIns="9144" tIns="4572" bIns="4572"/>
          <a:lstStyle/>
          <a:p>
            <a:pPr algn="l"/>
            <a:r>
              <a:rPr sz="900" b="0">
                <a:solidFill>
                  <a:srgbClr val="777777"/>
                </a:solidFill>
                <a:latin typeface="Aptos"/>
              </a:rPr>
              <a:t>Onshore · Trane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63296" y="1304542"/>
            <a:ext cx="5547360" cy="225552"/>
          </a:xfrm>
          <a:prstGeom prst="rect">
            <a:avLst/>
          </a:prstGeom>
          <a:solidFill>
            <a:srgbClr val="FFFFFF"/>
          </a:solidFill>
          <a:ln w="4445">
            <a:solidFill>
              <a:srgbClr val="EEEE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63296" y="1304542"/>
            <a:ext cx="42672" cy="225552"/>
          </a:xfrm>
          <a:prstGeom prst="rect">
            <a:avLst/>
          </a:prstGeom>
          <a:solidFill>
            <a:srgbClr val="6B21D4"/>
          </a:solidFill>
          <a:ln>
            <a:solidFill>
              <a:srgbClr val="6B21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524256" y="1304542"/>
            <a:ext cx="2109216" cy="225552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144" rIns="9144" tIns="4572" bIns="4572"/>
          <a:lstStyle/>
          <a:p>
            <a:pPr algn="l"/>
            <a:r>
              <a:rPr sz="1000" b="1">
                <a:solidFill>
                  <a:srgbClr val="111111"/>
                </a:solidFill>
                <a:latin typeface="Aptos"/>
              </a:rPr>
              <a:t>Iza Czapnik</a:t>
            </a:r>
          </a:p>
        </p:txBody>
      </p:sp>
      <p:sp>
        <p:nvSpPr>
          <p:cNvPr id="16" name="Rectangle 15"/>
          <p:cNvSpPr/>
          <p:nvPr/>
        </p:nvSpPr>
        <p:spPr>
          <a:xfrm>
            <a:off x="2633472" y="1304542"/>
            <a:ext cx="1950720" cy="225552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144" rIns="9144" tIns="4572" bIns="4572"/>
          <a:lstStyle/>
          <a:p>
            <a:pPr algn="l"/>
            <a:r>
              <a:rPr sz="1000" b="0">
                <a:solidFill>
                  <a:srgbClr val="6B21D4"/>
                </a:solidFill>
                <a:latin typeface="Aptos"/>
              </a:rPr>
              <a:t>IT Product Owner · T1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584192" y="1304542"/>
            <a:ext cx="1389886" cy="225552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144" rIns="9144" tIns="4572" bIns="4572"/>
          <a:lstStyle/>
          <a:p>
            <a:pPr algn="l"/>
            <a:r>
              <a:rPr sz="900" b="0">
                <a:solidFill>
                  <a:srgbClr val="777777"/>
                </a:solidFill>
                <a:latin typeface="Aptos"/>
              </a:rPr>
              <a:t>Onshore · Trane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63296" y="1530096"/>
            <a:ext cx="5547360" cy="225552"/>
          </a:xfrm>
          <a:prstGeom prst="rect">
            <a:avLst/>
          </a:prstGeom>
          <a:solidFill>
            <a:srgbClr val="F3F0FA"/>
          </a:solidFill>
          <a:ln w="4445">
            <a:solidFill>
              <a:srgbClr val="EEEE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463296" y="1530096"/>
            <a:ext cx="42672" cy="225552"/>
          </a:xfrm>
          <a:prstGeom prst="rect">
            <a:avLst/>
          </a:prstGeom>
          <a:solidFill>
            <a:srgbClr val="6B21D4"/>
          </a:solidFill>
          <a:ln>
            <a:solidFill>
              <a:srgbClr val="6B21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524256" y="1530096"/>
            <a:ext cx="2109216" cy="225552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144" rIns="9144" tIns="4572" bIns="4572"/>
          <a:lstStyle/>
          <a:p>
            <a:pPr algn="l"/>
            <a:r>
              <a:rPr sz="1000" b="1">
                <a:solidFill>
                  <a:srgbClr val="111111"/>
                </a:solidFill>
                <a:latin typeface="Aptos"/>
              </a:rPr>
              <a:t>Joe Christian</a:t>
            </a:r>
          </a:p>
        </p:txBody>
      </p:sp>
      <p:sp>
        <p:nvSpPr>
          <p:cNvPr id="21" name="Rectangle 20"/>
          <p:cNvSpPr/>
          <p:nvPr/>
        </p:nvSpPr>
        <p:spPr>
          <a:xfrm>
            <a:off x="2633472" y="1530096"/>
            <a:ext cx="1950720" cy="225552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144" rIns="9144" tIns="4572" bIns="4572"/>
          <a:lstStyle/>
          <a:p>
            <a:pPr algn="l"/>
            <a:r>
              <a:rPr sz="1000" b="0">
                <a:solidFill>
                  <a:srgbClr val="6B21D4"/>
                </a:solidFill>
                <a:latin typeface="Aptos"/>
              </a:rPr>
              <a:t>Business Analyst · T2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584192" y="1530096"/>
            <a:ext cx="1389886" cy="225552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144" rIns="9144" tIns="4572" bIns="4572"/>
          <a:lstStyle/>
          <a:p>
            <a:pPr algn="l"/>
            <a:r>
              <a:rPr sz="900" b="0">
                <a:solidFill>
                  <a:srgbClr val="777777"/>
                </a:solidFill>
                <a:latin typeface="Aptos"/>
              </a:rPr>
              <a:t>Onshore · Trane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63296" y="1755648"/>
            <a:ext cx="5547360" cy="225552"/>
          </a:xfrm>
          <a:prstGeom prst="rect">
            <a:avLst/>
          </a:prstGeom>
          <a:solidFill>
            <a:srgbClr val="FFFFFF"/>
          </a:solidFill>
          <a:ln w="4445">
            <a:solidFill>
              <a:srgbClr val="EEEE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463296" y="1755648"/>
            <a:ext cx="42672" cy="225552"/>
          </a:xfrm>
          <a:prstGeom prst="rect">
            <a:avLst/>
          </a:prstGeom>
          <a:solidFill>
            <a:srgbClr val="6B21D4"/>
          </a:solidFill>
          <a:ln>
            <a:solidFill>
              <a:srgbClr val="6B21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524256" y="1755648"/>
            <a:ext cx="2109216" cy="225552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144" rIns="9144" tIns="4572" bIns="4572"/>
          <a:lstStyle/>
          <a:p>
            <a:pPr algn="l"/>
            <a:r>
              <a:rPr sz="1000" b="1">
                <a:solidFill>
                  <a:srgbClr val="111111"/>
                </a:solidFill>
                <a:latin typeface="Aptos"/>
              </a:rPr>
              <a:t>Rufeeda Khan</a:t>
            </a:r>
          </a:p>
        </p:txBody>
      </p:sp>
      <p:sp>
        <p:nvSpPr>
          <p:cNvPr id="26" name="Rectangle 25"/>
          <p:cNvSpPr/>
          <p:nvPr/>
        </p:nvSpPr>
        <p:spPr>
          <a:xfrm>
            <a:off x="2633472" y="1755648"/>
            <a:ext cx="1950720" cy="225552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144" rIns="9144" tIns="4572" bIns="4572"/>
          <a:lstStyle/>
          <a:p>
            <a:pPr algn="l"/>
            <a:r>
              <a:rPr sz="1000" b="0">
                <a:solidFill>
                  <a:srgbClr val="6B21D4"/>
                </a:solidFill>
                <a:latin typeface="Aptos"/>
              </a:rPr>
              <a:t>Business Analyst · T2</a:t>
            </a:r>
          </a:p>
        </p:txBody>
      </p:sp>
      <p:sp>
        <p:nvSpPr>
          <p:cNvPr id="27" name="Rectangle 26"/>
          <p:cNvSpPr/>
          <p:nvPr/>
        </p:nvSpPr>
        <p:spPr>
          <a:xfrm>
            <a:off x="4584192" y="1755648"/>
            <a:ext cx="1389886" cy="225552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144" rIns="9144" tIns="4572" bIns="4572"/>
          <a:lstStyle/>
          <a:p>
            <a:pPr algn="l"/>
            <a:r>
              <a:rPr sz="900" b="0">
                <a:solidFill>
                  <a:srgbClr val="777777"/>
                </a:solidFill>
                <a:latin typeface="Aptos"/>
              </a:rPr>
              <a:t>Onshore · Contractor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63296" y="1981200"/>
            <a:ext cx="5547360" cy="225552"/>
          </a:xfrm>
          <a:prstGeom prst="rect">
            <a:avLst/>
          </a:prstGeom>
          <a:solidFill>
            <a:srgbClr val="F3F0FA"/>
          </a:solidFill>
          <a:ln w="4445">
            <a:solidFill>
              <a:srgbClr val="EEEE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463296" y="1981200"/>
            <a:ext cx="42672" cy="225552"/>
          </a:xfrm>
          <a:prstGeom prst="rect">
            <a:avLst/>
          </a:prstGeom>
          <a:solidFill>
            <a:srgbClr val="6B21D4"/>
          </a:solidFill>
          <a:ln>
            <a:solidFill>
              <a:srgbClr val="6B21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524256" y="1981200"/>
            <a:ext cx="2109216" cy="225552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144" rIns="9144" tIns="4572" bIns="4572"/>
          <a:lstStyle/>
          <a:p>
            <a:pPr algn="l"/>
            <a:r>
              <a:rPr sz="1000" b="1">
                <a:solidFill>
                  <a:srgbClr val="111111"/>
                </a:solidFill>
                <a:latin typeface="Aptos"/>
              </a:rPr>
              <a:t>Varun Ved</a:t>
            </a:r>
          </a:p>
        </p:txBody>
      </p:sp>
      <p:sp>
        <p:nvSpPr>
          <p:cNvPr id="31" name="Rectangle 30"/>
          <p:cNvSpPr/>
          <p:nvPr/>
        </p:nvSpPr>
        <p:spPr>
          <a:xfrm>
            <a:off x="2633472" y="1981200"/>
            <a:ext cx="1950720" cy="225552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144" rIns="9144" tIns="4572" bIns="4572"/>
          <a:lstStyle/>
          <a:p>
            <a:pPr algn="l"/>
            <a:r>
              <a:rPr sz="1000" b="0">
                <a:solidFill>
                  <a:srgbClr val="6B21D4"/>
                </a:solidFill>
                <a:latin typeface="Aptos"/>
              </a:rPr>
              <a:t>Business Analyst · T2</a:t>
            </a:r>
          </a:p>
        </p:txBody>
      </p:sp>
      <p:sp>
        <p:nvSpPr>
          <p:cNvPr id="32" name="Rectangle 31"/>
          <p:cNvSpPr/>
          <p:nvPr/>
        </p:nvSpPr>
        <p:spPr>
          <a:xfrm>
            <a:off x="4584192" y="1981200"/>
            <a:ext cx="1389886" cy="225552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144" rIns="9144" tIns="4572" bIns="4572"/>
          <a:lstStyle/>
          <a:p>
            <a:pPr algn="l"/>
            <a:r>
              <a:rPr sz="900" b="0">
                <a:solidFill>
                  <a:srgbClr val="777777"/>
                </a:solidFill>
                <a:latin typeface="Aptos"/>
              </a:rPr>
              <a:t>Offshore · TCS</a:t>
            </a:r>
          </a:p>
        </p:txBody>
      </p:sp>
      <p:sp>
        <p:nvSpPr>
          <p:cNvPr id="33" name="Rectangle 32"/>
          <p:cNvSpPr/>
          <p:nvPr/>
        </p:nvSpPr>
        <p:spPr>
          <a:xfrm>
            <a:off x="463296" y="2206750"/>
            <a:ext cx="5547360" cy="225552"/>
          </a:xfrm>
          <a:prstGeom prst="rect">
            <a:avLst/>
          </a:prstGeom>
          <a:solidFill>
            <a:srgbClr val="FFFFFF"/>
          </a:solidFill>
          <a:ln w="4445">
            <a:solidFill>
              <a:srgbClr val="EEEE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463296" y="2206750"/>
            <a:ext cx="42672" cy="225552"/>
          </a:xfrm>
          <a:prstGeom prst="rect">
            <a:avLst/>
          </a:prstGeom>
          <a:solidFill>
            <a:srgbClr val="6B21D4"/>
          </a:solidFill>
          <a:ln>
            <a:solidFill>
              <a:srgbClr val="6B21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524256" y="2206750"/>
            <a:ext cx="2109216" cy="225552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144" rIns="9144" tIns="4572" bIns="4572"/>
          <a:lstStyle/>
          <a:p>
            <a:pPr algn="l"/>
            <a:r>
              <a:rPr sz="1000" b="1">
                <a:solidFill>
                  <a:srgbClr val="111111"/>
                </a:solidFill>
                <a:latin typeface="Aptos"/>
              </a:rPr>
              <a:t>Arvind Gupta</a:t>
            </a:r>
          </a:p>
        </p:txBody>
      </p:sp>
      <p:sp>
        <p:nvSpPr>
          <p:cNvPr id="36" name="Rectangle 35"/>
          <p:cNvSpPr/>
          <p:nvPr/>
        </p:nvSpPr>
        <p:spPr>
          <a:xfrm>
            <a:off x="2633472" y="2206750"/>
            <a:ext cx="1950720" cy="225552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144" rIns="9144" tIns="4572" bIns="4572"/>
          <a:lstStyle/>
          <a:p>
            <a:pPr algn="l"/>
            <a:r>
              <a:rPr sz="1000" b="0">
                <a:solidFill>
                  <a:srgbClr val="6B21D4"/>
                </a:solidFill>
                <a:latin typeface="Aptos"/>
              </a:rPr>
              <a:t>Product Analyst · T2</a:t>
            </a:r>
          </a:p>
        </p:txBody>
      </p:sp>
      <p:sp>
        <p:nvSpPr>
          <p:cNvPr id="37" name="Rectangle 36"/>
          <p:cNvSpPr/>
          <p:nvPr/>
        </p:nvSpPr>
        <p:spPr>
          <a:xfrm>
            <a:off x="4584192" y="2206750"/>
            <a:ext cx="1389886" cy="225552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144" rIns="9144" tIns="4572" bIns="4572"/>
          <a:lstStyle/>
          <a:p>
            <a:pPr algn="l"/>
            <a:r>
              <a:rPr sz="900" b="0">
                <a:solidFill>
                  <a:srgbClr val="777777"/>
                </a:solidFill>
                <a:latin typeface="Aptos"/>
              </a:rPr>
              <a:t>Onshore · Contractor</a:t>
            </a:r>
          </a:p>
        </p:txBody>
      </p:sp>
      <p:sp>
        <p:nvSpPr>
          <p:cNvPr id="38" name="Rectangle 37"/>
          <p:cNvSpPr/>
          <p:nvPr/>
        </p:nvSpPr>
        <p:spPr>
          <a:xfrm>
            <a:off x="463296" y="2432304"/>
            <a:ext cx="5547360" cy="225552"/>
          </a:xfrm>
          <a:prstGeom prst="rect">
            <a:avLst/>
          </a:prstGeom>
          <a:solidFill>
            <a:srgbClr val="F3F0FA"/>
          </a:solidFill>
          <a:ln w="4445">
            <a:solidFill>
              <a:srgbClr val="EEEE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463296" y="2432304"/>
            <a:ext cx="42672" cy="225552"/>
          </a:xfrm>
          <a:prstGeom prst="rect">
            <a:avLst/>
          </a:prstGeom>
          <a:solidFill>
            <a:srgbClr val="6B21D4"/>
          </a:solidFill>
          <a:ln>
            <a:solidFill>
              <a:srgbClr val="6B21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524256" y="2432304"/>
            <a:ext cx="2109216" cy="225552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144" rIns="9144" tIns="4572" bIns="4572"/>
          <a:lstStyle/>
          <a:p>
            <a:pPr algn="l"/>
            <a:r>
              <a:rPr sz="1000" b="1">
                <a:solidFill>
                  <a:srgbClr val="111111"/>
                </a:solidFill>
                <a:latin typeface="Aptos"/>
              </a:rPr>
              <a:t>Vishnuraj Jayaraj</a:t>
            </a:r>
          </a:p>
        </p:txBody>
      </p:sp>
      <p:sp>
        <p:nvSpPr>
          <p:cNvPr id="41" name="Rectangle 40"/>
          <p:cNvSpPr/>
          <p:nvPr/>
        </p:nvSpPr>
        <p:spPr>
          <a:xfrm>
            <a:off x="2633472" y="2432304"/>
            <a:ext cx="1950720" cy="225552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144" rIns="9144" tIns="4572" bIns="4572"/>
          <a:lstStyle/>
          <a:p>
            <a:pPr algn="l"/>
            <a:r>
              <a:rPr sz="1000" b="0">
                <a:solidFill>
                  <a:srgbClr val="6B21D4"/>
                </a:solidFill>
                <a:latin typeface="Aptos"/>
              </a:rPr>
              <a:t>Product Analyst · T2</a:t>
            </a:r>
          </a:p>
        </p:txBody>
      </p:sp>
      <p:sp>
        <p:nvSpPr>
          <p:cNvPr id="42" name="Rectangle 41"/>
          <p:cNvSpPr/>
          <p:nvPr/>
        </p:nvSpPr>
        <p:spPr>
          <a:xfrm>
            <a:off x="4584192" y="2432304"/>
            <a:ext cx="1389886" cy="225552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144" rIns="9144" tIns="4572" bIns="4572"/>
          <a:lstStyle/>
          <a:p>
            <a:pPr algn="l"/>
            <a:r>
              <a:rPr sz="900" b="0">
                <a:solidFill>
                  <a:srgbClr val="777777"/>
                </a:solidFill>
                <a:latin typeface="Aptos"/>
              </a:rPr>
              <a:t>Offshore · Cognizant</a:t>
            </a:r>
          </a:p>
        </p:txBody>
      </p:sp>
      <p:sp>
        <p:nvSpPr>
          <p:cNvPr id="43" name="Rectangle 42"/>
          <p:cNvSpPr/>
          <p:nvPr/>
        </p:nvSpPr>
        <p:spPr>
          <a:xfrm>
            <a:off x="463296" y="2657854"/>
            <a:ext cx="5547360" cy="225552"/>
          </a:xfrm>
          <a:prstGeom prst="rect">
            <a:avLst/>
          </a:prstGeom>
          <a:solidFill>
            <a:srgbClr val="FFFFFF"/>
          </a:solidFill>
          <a:ln w="4445">
            <a:solidFill>
              <a:srgbClr val="EEEE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463296" y="2657854"/>
            <a:ext cx="42672" cy="225552"/>
          </a:xfrm>
          <a:prstGeom prst="rect">
            <a:avLst/>
          </a:prstGeom>
          <a:solidFill>
            <a:srgbClr val="6B21D4"/>
          </a:solidFill>
          <a:ln>
            <a:solidFill>
              <a:srgbClr val="6B21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524256" y="2657854"/>
            <a:ext cx="2109216" cy="225552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144" rIns="9144" tIns="4572" bIns="4572"/>
          <a:lstStyle/>
          <a:p>
            <a:pPr algn="l"/>
            <a:r>
              <a:rPr sz="1000" b="1">
                <a:solidFill>
                  <a:srgbClr val="111111"/>
                </a:solidFill>
                <a:latin typeface="Aptos"/>
              </a:rPr>
              <a:t>Daniel Brenner</a:t>
            </a:r>
          </a:p>
        </p:txBody>
      </p:sp>
      <p:sp>
        <p:nvSpPr>
          <p:cNvPr id="46" name="Rectangle 45"/>
          <p:cNvSpPr/>
          <p:nvPr/>
        </p:nvSpPr>
        <p:spPr>
          <a:xfrm>
            <a:off x="2633472" y="2657854"/>
            <a:ext cx="1950720" cy="225552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144" rIns="9144" tIns="4572" bIns="4572"/>
          <a:lstStyle/>
          <a:p>
            <a:pPr algn="l"/>
            <a:r>
              <a:rPr sz="1000" b="0">
                <a:solidFill>
                  <a:srgbClr val="6B21D4"/>
                </a:solidFill>
                <a:latin typeface="Aptos"/>
              </a:rPr>
              <a:t>Scrum Master · T2</a:t>
            </a:r>
          </a:p>
        </p:txBody>
      </p:sp>
      <p:sp>
        <p:nvSpPr>
          <p:cNvPr id="47" name="Rectangle 46"/>
          <p:cNvSpPr/>
          <p:nvPr/>
        </p:nvSpPr>
        <p:spPr>
          <a:xfrm>
            <a:off x="4584192" y="2657854"/>
            <a:ext cx="1389886" cy="225552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144" rIns="9144" tIns="4572" bIns="4572"/>
          <a:lstStyle/>
          <a:p>
            <a:pPr algn="l"/>
            <a:r>
              <a:rPr sz="900" b="0">
                <a:solidFill>
                  <a:srgbClr val="777777"/>
                </a:solidFill>
                <a:latin typeface="Aptos"/>
              </a:rPr>
              <a:t>Onshore · Trane</a:t>
            </a:r>
          </a:p>
        </p:txBody>
      </p:sp>
      <p:sp>
        <p:nvSpPr>
          <p:cNvPr id="48" name="Rectangle 47"/>
          <p:cNvSpPr/>
          <p:nvPr/>
        </p:nvSpPr>
        <p:spPr>
          <a:xfrm>
            <a:off x="463296" y="2883408"/>
            <a:ext cx="5547360" cy="225552"/>
          </a:xfrm>
          <a:prstGeom prst="rect">
            <a:avLst/>
          </a:prstGeom>
          <a:solidFill>
            <a:srgbClr val="F3F0FA"/>
          </a:solidFill>
          <a:ln w="4445">
            <a:solidFill>
              <a:srgbClr val="EEEE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ectangle 48"/>
          <p:cNvSpPr/>
          <p:nvPr/>
        </p:nvSpPr>
        <p:spPr>
          <a:xfrm>
            <a:off x="463296" y="2883408"/>
            <a:ext cx="42672" cy="225552"/>
          </a:xfrm>
          <a:prstGeom prst="rect">
            <a:avLst/>
          </a:prstGeom>
          <a:solidFill>
            <a:srgbClr val="6B21D4"/>
          </a:solidFill>
          <a:ln>
            <a:solidFill>
              <a:srgbClr val="6B21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Rectangle 49"/>
          <p:cNvSpPr/>
          <p:nvPr/>
        </p:nvSpPr>
        <p:spPr>
          <a:xfrm>
            <a:off x="524256" y="2883408"/>
            <a:ext cx="2109216" cy="225552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144" rIns="9144" tIns="4572" bIns="4572"/>
          <a:lstStyle/>
          <a:p>
            <a:pPr algn="l"/>
            <a:r>
              <a:rPr sz="1000" b="1">
                <a:solidFill>
                  <a:srgbClr val="111111"/>
                </a:solidFill>
                <a:latin typeface="Aptos"/>
              </a:rPr>
              <a:t>Diana Blidarescu</a:t>
            </a:r>
          </a:p>
        </p:txBody>
      </p:sp>
      <p:sp>
        <p:nvSpPr>
          <p:cNvPr id="51" name="Rectangle 50"/>
          <p:cNvSpPr/>
          <p:nvPr/>
        </p:nvSpPr>
        <p:spPr>
          <a:xfrm>
            <a:off x="2633472" y="2883408"/>
            <a:ext cx="1950720" cy="225552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144" rIns="9144" tIns="4572" bIns="4572"/>
          <a:lstStyle/>
          <a:p>
            <a:pPr algn="l"/>
            <a:r>
              <a:rPr sz="1000" b="0">
                <a:solidFill>
                  <a:srgbClr val="6B21D4"/>
                </a:solidFill>
                <a:latin typeface="Aptos"/>
              </a:rPr>
              <a:t>Scrum Master · T1</a:t>
            </a:r>
          </a:p>
        </p:txBody>
      </p:sp>
      <p:sp>
        <p:nvSpPr>
          <p:cNvPr id="52" name="Rectangle 51"/>
          <p:cNvSpPr/>
          <p:nvPr/>
        </p:nvSpPr>
        <p:spPr>
          <a:xfrm>
            <a:off x="4584192" y="2883408"/>
            <a:ext cx="1389886" cy="225552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144" rIns="9144" tIns="4572" bIns="4572"/>
          <a:lstStyle/>
          <a:p>
            <a:pPr algn="l"/>
            <a:r>
              <a:rPr sz="900" b="0">
                <a:solidFill>
                  <a:srgbClr val="777777"/>
                </a:solidFill>
                <a:latin typeface="Aptos"/>
              </a:rPr>
              <a:t>Onshore · Slalom</a:t>
            </a:r>
          </a:p>
        </p:txBody>
      </p:sp>
      <p:sp>
        <p:nvSpPr>
          <p:cNvPr id="53" name="Rectangle 52"/>
          <p:cNvSpPr/>
          <p:nvPr/>
        </p:nvSpPr>
        <p:spPr>
          <a:xfrm>
            <a:off x="463296" y="3108960"/>
            <a:ext cx="5547360" cy="225552"/>
          </a:xfrm>
          <a:prstGeom prst="rect">
            <a:avLst/>
          </a:prstGeom>
          <a:solidFill>
            <a:srgbClr val="FFFFFF"/>
          </a:solidFill>
          <a:ln w="4445">
            <a:solidFill>
              <a:srgbClr val="EEEE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Rectangle 53"/>
          <p:cNvSpPr/>
          <p:nvPr/>
        </p:nvSpPr>
        <p:spPr>
          <a:xfrm>
            <a:off x="463296" y="3108960"/>
            <a:ext cx="42672" cy="225552"/>
          </a:xfrm>
          <a:prstGeom prst="rect">
            <a:avLst/>
          </a:prstGeom>
          <a:solidFill>
            <a:srgbClr val="6B21D4"/>
          </a:solidFill>
          <a:ln>
            <a:solidFill>
              <a:srgbClr val="6B21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524256" y="3108960"/>
            <a:ext cx="2109216" cy="225552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144" rIns="9144" tIns="4572" bIns="4572"/>
          <a:lstStyle/>
          <a:p>
            <a:pPr algn="l"/>
            <a:r>
              <a:rPr sz="1000" b="1">
                <a:solidFill>
                  <a:srgbClr val="111111"/>
                </a:solidFill>
                <a:latin typeface="Aptos"/>
              </a:rPr>
              <a:t>Ashish Verma</a:t>
            </a:r>
          </a:p>
        </p:txBody>
      </p:sp>
      <p:sp>
        <p:nvSpPr>
          <p:cNvPr id="56" name="Rectangle 55"/>
          <p:cNvSpPr/>
          <p:nvPr/>
        </p:nvSpPr>
        <p:spPr>
          <a:xfrm>
            <a:off x="2633472" y="3108960"/>
            <a:ext cx="1950720" cy="225552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144" rIns="9144" tIns="4572" bIns="4572"/>
          <a:lstStyle/>
          <a:p>
            <a:pPr algn="l"/>
            <a:r>
              <a:rPr sz="1000" b="0">
                <a:solidFill>
                  <a:srgbClr val="6B21D4"/>
                </a:solidFill>
                <a:latin typeface="Aptos"/>
              </a:rPr>
              <a:t>Fusion Middleware · T1,2</a:t>
            </a:r>
          </a:p>
        </p:txBody>
      </p:sp>
      <p:sp>
        <p:nvSpPr>
          <p:cNvPr id="57" name="Rectangle 56"/>
          <p:cNvSpPr/>
          <p:nvPr/>
        </p:nvSpPr>
        <p:spPr>
          <a:xfrm>
            <a:off x="4584192" y="3108960"/>
            <a:ext cx="1389886" cy="225552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144" rIns="9144" tIns="4572" bIns="4572"/>
          <a:lstStyle/>
          <a:p>
            <a:pPr algn="l"/>
            <a:r>
              <a:rPr sz="900" b="0">
                <a:solidFill>
                  <a:srgbClr val="777777"/>
                </a:solidFill>
                <a:latin typeface="Aptos"/>
              </a:rPr>
              <a:t>Onshore · Contractor</a:t>
            </a:r>
          </a:p>
        </p:txBody>
      </p:sp>
      <p:sp>
        <p:nvSpPr>
          <p:cNvPr id="58" name="Rectangle 57"/>
          <p:cNvSpPr/>
          <p:nvPr/>
        </p:nvSpPr>
        <p:spPr>
          <a:xfrm>
            <a:off x="463296" y="3334512"/>
            <a:ext cx="5547360" cy="225552"/>
          </a:xfrm>
          <a:prstGeom prst="rect">
            <a:avLst/>
          </a:prstGeom>
          <a:solidFill>
            <a:srgbClr val="F3F0FA"/>
          </a:solidFill>
          <a:ln w="4445">
            <a:solidFill>
              <a:srgbClr val="EEEE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Rectangle 58"/>
          <p:cNvSpPr/>
          <p:nvPr/>
        </p:nvSpPr>
        <p:spPr>
          <a:xfrm>
            <a:off x="463296" y="3334512"/>
            <a:ext cx="42672" cy="225552"/>
          </a:xfrm>
          <a:prstGeom prst="rect">
            <a:avLst/>
          </a:prstGeom>
          <a:solidFill>
            <a:srgbClr val="6B21D4"/>
          </a:solidFill>
          <a:ln>
            <a:solidFill>
              <a:srgbClr val="6B21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Rectangle 59"/>
          <p:cNvSpPr/>
          <p:nvPr/>
        </p:nvSpPr>
        <p:spPr>
          <a:xfrm>
            <a:off x="524256" y="3334512"/>
            <a:ext cx="2109216" cy="225552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144" rIns="9144" tIns="4572" bIns="4572"/>
          <a:lstStyle/>
          <a:p>
            <a:pPr algn="l"/>
            <a:r>
              <a:rPr sz="1000" b="1">
                <a:solidFill>
                  <a:srgbClr val="111111"/>
                </a:solidFill>
                <a:latin typeface="Aptos"/>
              </a:rPr>
              <a:t>Lavanya Nagarajan</a:t>
            </a:r>
          </a:p>
        </p:txBody>
      </p:sp>
      <p:sp>
        <p:nvSpPr>
          <p:cNvPr id="61" name="Rectangle 60"/>
          <p:cNvSpPr/>
          <p:nvPr/>
        </p:nvSpPr>
        <p:spPr>
          <a:xfrm>
            <a:off x="2633472" y="3334512"/>
            <a:ext cx="1950720" cy="225552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144" rIns="9144" tIns="4572" bIns="4572"/>
          <a:lstStyle/>
          <a:p>
            <a:pPr algn="l"/>
            <a:r>
              <a:rPr sz="1000" b="0">
                <a:solidFill>
                  <a:srgbClr val="6B21D4"/>
                </a:solidFill>
                <a:latin typeface="Aptos"/>
              </a:rPr>
              <a:t>Fusion Middleware · T1,2</a:t>
            </a:r>
          </a:p>
        </p:txBody>
      </p:sp>
      <p:sp>
        <p:nvSpPr>
          <p:cNvPr id="62" name="Rectangle 61"/>
          <p:cNvSpPr/>
          <p:nvPr/>
        </p:nvSpPr>
        <p:spPr>
          <a:xfrm>
            <a:off x="4584192" y="3334512"/>
            <a:ext cx="1389886" cy="225552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144" rIns="9144" tIns="4572" bIns="4572"/>
          <a:lstStyle/>
          <a:p>
            <a:pPr algn="l"/>
            <a:r>
              <a:rPr sz="900" b="0">
                <a:solidFill>
                  <a:srgbClr val="777777"/>
                </a:solidFill>
                <a:latin typeface="Aptos"/>
              </a:rPr>
              <a:t>Onshore · Contractor</a:t>
            </a:r>
          </a:p>
        </p:txBody>
      </p:sp>
      <p:sp>
        <p:nvSpPr>
          <p:cNvPr id="63" name="Rectangle 62"/>
          <p:cNvSpPr/>
          <p:nvPr/>
        </p:nvSpPr>
        <p:spPr>
          <a:xfrm>
            <a:off x="6156960" y="853440"/>
            <a:ext cx="5547360" cy="225552"/>
          </a:xfrm>
          <a:prstGeom prst="rect">
            <a:avLst/>
          </a:prstGeom>
          <a:solidFill>
            <a:srgbClr val="FFFFFF"/>
          </a:solidFill>
          <a:ln w="4445">
            <a:solidFill>
              <a:srgbClr val="EEEE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Rectangle 63"/>
          <p:cNvSpPr/>
          <p:nvPr/>
        </p:nvSpPr>
        <p:spPr>
          <a:xfrm>
            <a:off x="6156960" y="853440"/>
            <a:ext cx="42672" cy="225552"/>
          </a:xfrm>
          <a:prstGeom prst="rect">
            <a:avLst/>
          </a:prstGeom>
          <a:solidFill>
            <a:srgbClr val="6B21D4"/>
          </a:solidFill>
          <a:ln>
            <a:solidFill>
              <a:srgbClr val="6B21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Rectangle 64"/>
          <p:cNvSpPr/>
          <p:nvPr/>
        </p:nvSpPr>
        <p:spPr>
          <a:xfrm>
            <a:off x="6217920" y="853440"/>
            <a:ext cx="2109216" cy="225552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144" rIns="9144" tIns="4572" bIns="4572"/>
          <a:lstStyle/>
          <a:p>
            <a:pPr algn="l"/>
            <a:r>
              <a:rPr sz="1000" b="1">
                <a:solidFill>
                  <a:srgbClr val="111111"/>
                </a:solidFill>
                <a:latin typeface="Aptos"/>
              </a:rPr>
              <a:t>Hannah O'Connor</a:t>
            </a:r>
          </a:p>
        </p:txBody>
      </p:sp>
      <p:sp>
        <p:nvSpPr>
          <p:cNvPr id="66" name="Rectangle 65"/>
          <p:cNvSpPr/>
          <p:nvPr/>
        </p:nvSpPr>
        <p:spPr>
          <a:xfrm>
            <a:off x="8327136" y="853440"/>
            <a:ext cx="1950720" cy="225552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144" rIns="9144" tIns="4572" bIns="4572"/>
          <a:lstStyle/>
          <a:p>
            <a:pPr algn="l"/>
            <a:r>
              <a:rPr sz="1000" b="0">
                <a:solidFill>
                  <a:srgbClr val="6B21D4"/>
                </a:solidFill>
                <a:latin typeface="Aptos"/>
              </a:rPr>
              <a:t>PMO · T1,2</a:t>
            </a:r>
          </a:p>
        </p:txBody>
      </p:sp>
      <p:sp>
        <p:nvSpPr>
          <p:cNvPr id="67" name="Rectangle 66"/>
          <p:cNvSpPr/>
          <p:nvPr/>
        </p:nvSpPr>
        <p:spPr>
          <a:xfrm>
            <a:off x="10277856" y="853440"/>
            <a:ext cx="1389886" cy="225552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144" rIns="9144" tIns="4572" bIns="4572"/>
          <a:lstStyle/>
          <a:p>
            <a:pPr algn="l"/>
            <a:r>
              <a:rPr sz="900" b="0">
                <a:solidFill>
                  <a:srgbClr val="777777"/>
                </a:solidFill>
                <a:latin typeface="Aptos"/>
              </a:rPr>
              <a:t>Onshore · Trane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156960" y="1078992"/>
            <a:ext cx="5547360" cy="225552"/>
          </a:xfrm>
          <a:prstGeom prst="rect">
            <a:avLst/>
          </a:prstGeom>
          <a:solidFill>
            <a:srgbClr val="F3F0FA"/>
          </a:solidFill>
          <a:ln w="4445">
            <a:solidFill>
              <a:srgbClr val="EEEE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Rectangle 68"/>
          <p:cNvSpPr/>
          <p:nvPr/>
        </p:nvSpPr>
        <p:spPr>
          <a:xfrm>
            <a:off x="6156960" y="1078992"/>
            <a:ext cx="42672" cy="225552"/>
          </a:xfrm>
          <a:prstGeom prst="rect">
            <a:avLst/>
          </a:prstGeom>
          <a:solidFill>
            <a:srgbClr val="6B21D4"/>
          </a:solidFill>
          <a:ln>
            <a:solidFill>
              <a:srgbClr val="6B21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Rectangle 69"/>
          <p:cNvSpPr/>
          <p:nvPr/>
        </p:nvSpPr>
        <p:spPr>
          <a:xfrm>
            <a:off x="6217920" y="1078992"/>
            <a:ext cx="2109216" cy="225552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144" rIns="9144" tIns="4572" bIns="4572"/>
          <a:lstStyle/>
          <a:p>
            <a:pPr algn="l"/>
            <a:r>
              <a:rPr sz="1000" b="1">
                <a:solidFill>
                  <a:srgbClr val="111111"/>
                </a:solidFill>
                <a:latin typeface="Aptos"/>
              </a:rPr>
              <a:t>Anne Kelly</a:t>
            </a:r>
          </a:p>
        </p:txBody>
      </p:sp>
      <p:sp>
        <p:nvSpPr>
          <p:cNvPr id="71" name="Rectangle 70"/>
          <p:cNvSpPr/>
          <p:nvPr/>
        </p:nvSpPr>
        <p:spPr>
          <a:xfrm>
            <a:off x="8327136" y="1078992"/>
            <a:ext cx="1950720" cy="225552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144" rIns="9144" tIns="4572" bIns="4572"/>
          <a:lstStyle/>
          <a:p>
            <a:pPr algn="l"/>
            <a:r>
              <a:rPr sz="1000" b="0">
                <a:solidFill>
                  <a:srgbClr val="6B21D4"/>
                </a:solidFill>
                <a:latin typeface="Aptos"/>
              </a:rPr>
              <a:t>PMO · T1,2</a:t>
            </a:r>
          </a:p>
        </p:txBody>
      </p:sp>
      <p:sp>
        <p:nvSpPr>
          <p:cNvPr id="72" name="Rectangle 71"/>
          <p:cNvSpPr/>
          <p:nvPr/>
        </p:nvSpPr>
        <p:spPr>
          <a:xfrm>
            <a:off x="10277856" y="1078992"/>
            <a:ext cx="1389886" cy="225552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144" rIns="9144" tIns="4572" bIns="4572"/>
          <a:lstStyle/>
          <a:p>
            <a:pPr algn="l"/>
            <a:r>
              <a:rPr sz="900" b="0">
                <a:solidFill>
                  <a:srgbClr val="777777"/>
                </a:solidFill>
                <a:latin typeface="Aptos"/>
              </a:rPr>
              <a:t>Onshore · Contractor</a:t>
            </a:r>
          </a:p>
        </p:txBody>
      </p:sp>
      <p:sp>
        <p:nvSpPr>
          <p:cNvPr id="73" name="Rectangle 72"/>
          <p:cNvSpPr/>
          <p:nvPr/>
        </p:nvSpPr>
        <p:spPr>
          <a:xfrm>
            <a:off x="6156960" y="1304542"/>
            <a:ext cx="5547360" cy="225552"/>
          </a:xfrm>
          <a:prstGeom prst="rect">
            <a:avLst/>
          </a:prstGeom>
          <a:solidFill>
            <a:srgbClr val="FFFFFF"/>
          </a:solidFill>
          <a:ln w="4445">
            <a:solidFill>
              <a:srgbClr val="EEEE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Rectangle 73"/>
          <p:cNvSpPr/>
          <p:nvPr/>
        </p:nvSpPr>
        <p:spPr>
          <a:xfrm>
            <a:off x="6156960" y="1304542"/>
            <a:ext cx="42672" cy="225552"/>
          </a:xfrm>
          <a:prstGeom prst="rect">
            <a:avLst/>
          </a:prstGeom>
          <a:solidFill>
            <a:srgbClr val="6B21D4"/>
          </a:solidFill>
          <a:ln>
            <a:solidFill>
              <a:srgbClr val="6B21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Rectangle 74"/>
          <p:cNvSpPr/>
          <p:nvPr/>
        </p:nvSpPr>
        <p:spPr>
          <a:xfrm>
            <a:off x="6217920" y="1304542"/>
            <a:ext cx="2109216" cy="225552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144" rIns="9144" tIns="4572" bIns="4572"/>
          <a:lstStyle/>
          <a:p>
            <a:pPr algn="l"/>
            <a:r>
              <a:rPr sz="1000" b="1">
                <a:solidFill>
                  <a:srgbClr val="111111"/>
                </a:solidFill>
                <a:latin typeface="Aptos"/>
              </a:rPr>
              <a:t>Prabakaran K</a:t>
            </a:r>
          </a:p>
        </p:txBody>
      </p:sp>
      <p:sp>
        <p:nvSpPr>
          <p:cNvPr id="76" name="Rectangle 75"/>
          <p:cNvSpPr/>
          <p:nvPr/>
        </p:nvSpPr>
        <p:spPr>
          <a:xfrm>
            <a:off x="8327136" y="1304542"/>
            <a:ext cx="1950720" cy="225552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144" rIns="9144" tIns="4572" bIns="4572"/>
          <a:lstStyle/>
          <a:p>
            <a:pPr algn="l"/>
            <a:r>
              <a:rPr sz="1000" b="0">
                <a:solidFill>
                  <a:srgbClr val="6B21D4"/>
                </a:solidFill>
                <a:latin typeface="Aptos"/>
              </a:rPr>
              <a:t>Dev Tech Lead · T2</a:t>
            </a:r>
          </a:p>
        </p:txBody>
      </p:sp>
      <p:sp>
        <p:nvSpPr>
          <p:cNvPr id="77" name="Rectangle 76"/>
          <p:cNvSpPr/>
          <p:nvPr/>
        </p:nvSpPr>
        <p:spPr>
          <a:xfrm>
            <a:off x="10277856" y="1304542"/>
            <a:ext cx="1389886" cy="225552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144" rIns="9144" tIns="4572" bIns="4572"/>
          <a:lstStyle/>
          <a:p>
            <a:pPr algn="l"/>
            <a:r>
              <a:rPr sz="900" b="0">
                <a:solidFill>
                  <a:srgbClr val="777777"/>
                </a:solidFill>
                <a:latin typeface="Aptos"/>
              </a:rPr>
              <a:t>Onshore · Contractor</a:t>
            </a:r>
          </a:p>
        </p:txBody>
      </p:sp>
      <p:sp>
        <p:nvSpPr>
          <p:cNvPr id="78" name="Rectangle 77"/>
          <p:cNvSpPr/>
          <p:nvPr/>
        </p:nvSpPr>
        <p:spPr>
          <a:xfrm>
            <a:off x="6156960" y="1530096"/>
            <a:ext cx="5547360" cy="225552"/>
          </a:xfrm>
          <a:prstGeom prst="rect">
            <a:avLst/>
          </a:prstGeom>
          <a:solidFill>
            <a:srgbClr val="F3F0FA"/>
          </a:solidFill>
          <a:ln w="4445">
            <a:solidFill>
              <a:srgbClr val="EEEE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Rectangle 78"/>
          <p:cNvSpPr/>
          <p:nvPr/>
        </p:nvSpPr>
        <p:spPr>
          <a:xfrm>
            <a:off x="6156960" y="1530096"/>
            <a:ext cx="42672" cy="225552"/>
          </a:xfrm>
          <a:prstGeom prst="rect">
            <a:avLst/>
          </a:prstGeom>
          <a:solidFill>
            <a:srgbClr val="6B21D4"/>
          </a:solidFill>
          <a:ln>
            <a:solidFill>
              <a:srgbClr val="6B21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Rectangle 79"/>
          <p:cNvSpPr/>
          <p:nvPr/>
        </p:nvSpPr>
        <p:spPr>
          <a:xfrm>
            <a:off x="6217920" y="1530096"/>
            <a:ext cx="2109216" cy="225552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144" rIns="9144" tIns="4572" bIns="4572"/>
          <a:lstStyle/>
          <a:p>
            <a:pPr algn="l"/>
            <a:r>
              <a:rPr sz="1000" b="1">
                <a:solidFill>
                  <a:srgbClr val="111111"/>
                </a:solidFill>
                <a:latin typeface="Aptos"/>
              </a:rPr>
              <a:t>John Jeyasingh</a:t>
            </a:r>
          </a:p>
        </p:txBody>
      </p:sp>
      <p:sp>
        <p:nvSpPr>
          <p:cNvPr id="81" name="Rectangle 80"/>
          <p:cNvSpPr/>
          <p:nvPr/>
        </p:nvSpPr>
        <p:spPr>
          <a:xfrm>
            <a:off x="8327136" y="1530096"/>
            <a:ext cx="1950720" cy="225552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144" rIns="9144" tIns="4572" bIns="4572"/>
          <a:lstStyle/>
          <a:p>
            <a:pPr algn="l"/>
            <a:r>
              <a:rPr sz="900" b="0">
                <a:solidFill>
                  <a:srgbClr val="6B21D4"/>
                </a:solidFill>
                <a:latin typeface="Aptos"/>
              </a:rPr>
              <a:t>Dev Offshore Lead · T2</a:t>
            </a:r>
          </a:p>
        </p:txBody>
      </p:sp>
      <p:sp>
        <p:nvSpPr>
          <p:cNvPr id="82" name="Rectangle 81"/>
          <p:cNvSpPr/>
          <p:nvPr/>
        </p:nvSpPr>
        <p:spPr>
          <a:xfrm>
            <a:off x="10277856" y="1530096"/>
            <a:ext cx="1389886" cy="225552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144" rIns="9144" tIns="4572" bIns="4572"/>
          <a:lstStyle/>
          <a:p>
            <a:pPr algn="l"/>
            <a:r>
              <a:rPr sz="900" b="0">
                <a:solidFill>
                  <a:srgbClr val="777777"/>
                </a:solidFill>
                <a:latin typeface="Aptos"/>
              </a:rPr>
              <a:t>Offshore · Cognizant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156960" y="1755648"/>
            <a:ext cx="5547360" cy="225552"/>
          </a:xfrm>
          <a:prstGeom prst="rect">
            <a:avLst/>
          </a:prstGeom>
          <a:solidFill>
            <a:srgbClr val="FFFFFF"/>
          </a:solidFill>
          <a:ln w="4445">
            <a:solidFill>
              <a:srgbClr val="EEEE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Rectangle 83"/>
          <p:cNvSpPr/>
          <p:nvPr/>
        </p:nvSpPr>
        <p:spPr>
          <a:xfrm>
            <a:off x="6156960" y="1755648"/>
            <a:ext cx="42672" cy="225552"/>
          </a:xfrm>
          <a:prstGeom prst="rect">
            <a:avLst/>
          </a:prstGeom>
          <a:solidFill>
            <a:srgbClr val="6B21D4"/>
          </a:solidFill>
          <a:ln>
            <a:solidFill>
              <a:srgbClr val="6B21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Rectangle 84"/>
          <p:cNvSpPr/>
          <p:nvPr/>
        </p:nvSpPr>
        <p:spPr>
          <a:xfrm>
            <a:off x="6217920" y="1755648"/>
            <a:ext cx="2109216" cy="225552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144" rIns="9144" tIns="4572" bIns="4572"/>
          <a:lstStyle/>
          <a:p>
            <a:pPr algn="l"/>
            <a:r>
              <a:rPr sz="1000" b="1">
                <a:solidFill>
                  <a:srgbClr val="111111"/>
                </a:solidFill>
                <a:latin typeface="Aptos"/>
              </a:rPr>
              <a:t>Rishad A</a:t>
            </a:r>
          </a:p>
        </p:txBody>
      </p:sp>
      <p:sp>
        <p:nvSpPr>
          <p:cNvPr id="86" name="Rectangle 85"/>
          <p:cNvSpPr/>
          <p:nvPr/>
        </p:nvSpPr>
        <p:spPr>
          <a:xfrm>
            <a:off x="8327136" y="1755648"/>
            <a:ext cx="1950720" cy="225552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144" rIns="9144" tIns="4572" bIns="4572"/>
          <a:lstStyle/>
          <a:p>
            <a:pPr algn="l"/>
            <a:r>
              <a:rPr sz="1000" b="0">
                <a:solidFill>
                  <a:srgbClr val="6B21D4"/>
                </a:solidFill>
                <a:latin typeface="Aptos"/>
              </a:rPr>
              <a:t>Dev Full Stack · T2</a:t>
            </a:r>
          </a:p>
        </p:txBody>
      </p:sp>
      <p:sp>
        <p:nvSpPr>
          <p:cNvPr id="87" name="Rectangle 86"/>
          <p:cNvSpPr/>
          <p:nvPr/>
        </p:nvSpPr>
        <p:spPr>
          <a:xfrm>
            <a:off x="10277856" y="1755648"/>
            <a:ext cx="1389886" cy="225552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144" rIns="9144" tIns="4572" bIns="4572"/>
          <a:lstStyle/>
          <a:p>
            <a:pPr algn="l"/>
            <a:r>
              <a:rPr sz="900" b="0">
                <a:solidFill>
                  <a:srgbClr val="777777"/>
                </a:solidFill>
                <a:latin typeface="Aptos"/>
              </a:rPr>
              <a:t>Offshore · Cognizant</a:t>
            </a:r>
          </a:p>
        </p:txBody>
      </p:sp>
      <p:sp>
        <p:nvSpPr>
          <p:cNvPr id="88" name="Rectangle 87"/>
          <p:cNvSpPr/>
          <p:nvPr/>
        </p:nvSpPr>
        <p:spPr>
          <a:xfrm>
            <a:off x="6156960" y="1981200"/>
            <a:ext cx="5547360" cy="225552"/>
          </a:xfrm>
          <a:prstGeom prst="rect">
            <a:avLst/>
          </a:prstGeom>
          <a:solidFill>
            <a:srgbClr val="F3F0FA"/>
          </a:solidFill>
          <a:ln w="4445">
            <a:solidFill>
              <a:srgbClr val="EEEE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Rectangle 88"/>
          <p:cNvSpPr/>
          <p:nvPr/>
        </p:nvSpPr>
        <p:spPr>
          <a:xfrm>
            <a:off x="6156960" y="1981200"/>
            <a:ext cx="42672" cy="225552"/>
          </a:xfrm>
          <a:prstGeom prst="rect">
            <a:avLst/>
          </a:prstGeom>
          <a:solidFill>
            <a:srgbClr val="6B21D4"/>
          </a:solidFill>
          <a:ln>
            <a:solidFill>
              <a:srgbClr val="6B21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Rectangle 89"/>
          <p:cNvSpPr/>
          <p:nvPr/>
        </p:nvSpPr>
        <p:spPr>
          <a:xfrm>
            <a:off x="6217920" y="1981200"/>
            <a:ext cx="2109216" cy="225552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144" rIns="9144" tIns="4572" bIns="4572"/>
          <a:lstStyle/>
          <a:p>
            <a:pPr algn="l"/>
            <a:r>
              <a:rPr sz="1000" b="1">
                <a:solidFill>
                  <a:srgbClr val="111111"/>
                </a:solidFill>
                <a:latin typeface="Aptos"/>
              </a:rPr>
              <a:t>Pratiksha Kalamkar</a:t>
            </a:r>
          </a:p>
        </p:txBody>
      </p:sp>
      <p:sp>
        <p:nvSpPr>
          <p:cNvPr id="91" name="Rectangle 90"/>
          <p:cNvSpPr/>
          <p:nvPr/>
        </p:nvSpPr>
        <p:spPr>
          <a:xfrm>
            <a:off x="8327136" y="1981200"/>
            <a:ext cx="1950720" cy="225552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144" rIns="9144" tIns="4572" bIns="4572"/>
          <a:lstStyle/>
          <a:p>
            <a:pPr algn="l"/>
            <a:r>
              <a:rPr sz="1000" b="0">
                <a:solidFill>
                  <a:srgbClr val="6B21D4"/>
                </a:solidFill>
                <a:latin typeface="Aptos"/>
              </a:rPr>
              <a:t>Dev Full Stack · T2</a:t>
            </a:r>
          </a:p>
        </p:txBody>
      </p:sp>
      <p:sp>
        <p:nvSpPr>
          <p:cNvPr id="92" name="Rectangle 91"/>
          <p:cNvSpPr/>
          <p:nvPr/>
        </p:nvSpPr>
        <p:spPr>
          <a:xfrm>
            <a:off x="10277856" y="1981200"/>
            <a:ext cx="1389886" cy="225552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144" rIns="9144" tIns="4572" bIns="4572"/>
          <a:lstStyle/>
          <a:p>
            <a:pPr algn="l"/>
            <a:r>
              <a:rPr sz="900" b="0">
                <a:solidFill>
                  <a:srgbClr val="777777"/>
                </a:solidFill>
                <a:latin typeface="Aptos"/>
              </a:rPr>
              <a:t>Offshore · Cognizant</a:t>
            </a:r>
          </a:p>
        </p:txBody>
      </p:sp>
      <p:sp>
        <p:nvSpPr>
          <p:cNvPr id="93" name="Rectangle 92"/>
          <p:cNvSpPr/>
          <p:nvPr/>
        </p:nvSpPr>
        <p:spPr>
          <a:xfrm>
            <a:off x="6156960" y="2206750"/>
            <a:ext cx="5547360" cy="225552"/>
          </a:xfrm>
          <a:prstGeom prst="rect">
            <a:avLst/>
          </a:prstGeom>
          <a:solidFill>
            <a:srgbClr val="FFFFFF"/>
          </a:solidFill>
          <a:ln w="4445">
            <a:solidFill>
              <a:srgbClr val="EEEE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" name="Rectangle 93"/>
          <p:cNvSpPr/>
          <p:nvPr/>
        </p:nvSpPr>
        <p:spPr>
          <a:xfrm>
            <a:off x="6156960" y="2206750"/>
            <a:ext cx="42672" cy="225552"/>
          </a:xfrm>
          <a:prstGeom prst="rect">
            <a:avLst/>
          </a:prstGeom>
          <a:solidFill>
            <a:srgbClr val="6B21D4"/>
          </a:solidFill>
          <a:ln>
            <a:solidFill>
              <a:srgbClr val="6B21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Rectangle 94"/>
          <p:cNvSpPr/>
          <p:nvPr/>
        </p:nvSpPr>
        <p:spPr>
          <a:xfrm>
            <a:off x="6217920" y="2206750"/>
            <a:ext cx="2109216" cy="225552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144" rIns="9144" tIns="4572" bIns="4572"/>
          <a:lstStyle/>
          <a:p>
            <a:pPr algn="l"/>
            <a:r>
              <a:rPr sz="1000" b="1">
                <a:solidFill>
                  <a:srgbClr val="111111"/>
                </a:solidFill>
                <a:latin typeface="Aptos"/>
              </a:rPr>
              <a:t>Pradnya Khutwad</a:t>
            </a:r>
          </a:p>
        </p:txBody>
      </p:sp>
      <p:sp>
        <p:nvSpPr>
          <p:cNvPr id="96" name="Rectangle 95"/>
          <p:cNvSpPr/>
          <p:nvPr/>
        </p:nvSpPr>
        <p:spPr>
          <a:xfrm>
            <a:off x="8327136" y="2206750"/>
            <a:ext cx="1950720" cy="225552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144" rIns="9144" tIns="4572" bIns="4572"/>
          <a:lstStyle/>
          <a:p>
            <a:pPr algn="l"/>
            <a:r>
              <a:rPr sz="1000" b="0">
                <a:solidFill>
                  <a:srgbClr val="6B21D4"/>
                </a:solidFill>
                <a:latin typeface="Aptos"/>
              </a:rPr>
              <a:t>Dev Full Stack · T2</a:t>
            </a:r>
          </a:p>
        </p:txBody>
      </p:sp>
      <p:sp>
        <p:nvSpPr>
          <p:cNvPr id="97" name="Rectangle 96"/>
          <p:cNvSpPr/>
          <p:nvPr/>
        </p:nvSpPr>
        <p:spPr>
          <a:xfrm>
            <a:off x="10277856" y="2206750"/>
            <a:ext cx="1389886" cy="225552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144" rIns="9144" tIns="4572" bIns="4572"/>
          <a:lstStyle/>
          <a:p>
            <a:pPr algn="l"/>
            <a:r>
              <a:rPr sz="900" b="0">
                <a:solidFill>
                  <a:srgbClr val="777777"/>
                </a:solidFill>
                <a:latin typeface="Aptos"/>
              </a:rPr>
              <a:t>Offshore · Cognizant</a:t>
            </a:r>
          </a:p>
        </p:txBody>
      </p:sp>
      <p:sp>
        <p:nvSpPr>
          <p:cNvPr id="98" name="Rectangle 97"/>
          <p:cNvSpPr/>
          <p:nvPr/>
        </p:nvSpPr>
        <p:spPr>
          <a:xfrm>
            <a:off x="6156960" y="2432304"/>
            <a:ext cx="5547360" cy="225552"/>
          </a:xfrm>
          <a:prstGeom prst="rect">
            <a:avLst/>
          </a:prstGeom>
          <a:solidFill>
            <a:srgbClr val="F3F0FA"/>
          </a:solidFill>
          <a:ln w="4445">
            <a:solidFill>
              <a:srgbClr val="EEEE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Rectangle 98"/>
          <p:cNvSpPr/>
          <p:nvPr/>
        </p:nvSpPr>
        <p:spPr>
          <a:xfrm>
            <a:off x="6156960" y="2432304"/>
            <a:ext cx="42672" cy="225552"/>
          </a:xfrm>
          <a:prstGeom prst="rect">
            <a:avLst/>
          </a:prstGeom>
          <a:solidFill>
            <a:srgbClr val="6B21D4"/>
          </a:solidFill>
          <a:ln>
            <a:solidFill>
              <a:srgbClr val="6B21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" name="Rectangle 99"/>
          <p:cNvSpPr/>
          <p:nvPr/>
        </p:nvSpPr>
        <p:spPr>
          <a:xfrm>
            <a:off x="6217920" y="2432304"/>
            <a:ext cx="2109216" cy="225552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144" rIns="9144" tIns="4572" bIns="4572"/>
          <a:lstStyle/>
          <a:p>
            <a:pPr algn="l"/>
            <a:r>
              <a:rPr sz="1000" b="1">
                <a:solidFill>
                  <a:srgbClr val="111111"/>
                </a:solidFill>
                <a:latin typeface="Aptos"/>
              </a:rPr>
              <a:t>Dhanasekara P</a:t>
            </a:r>
          </a:p>
        </p:txBody>
      </p:sp>
      <p:sp>
        <p:nvSpPr>
          <p:cNvPr id="101" name="Rectangle 100"/>
          <p:cNvSpPr/>
          <p:nvPr/>
        </p:nvSpPr>
        <p:spPr>
          <a:xfrm>
            <a:off x="8327136" y="2432304"/>
            <a:ext cx="1950720" cy="225552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144" rIns="9144" tIns="4572" bIns="4572"/>
          <a:lstStyle/>
          <a:p>
            <a:pPr algn="l"/>
            <a:r>
              <a:rPr sz="1000" b="0">
                <a:solidFill>
                  <a:srgbClr val="6B21D4"/>
                </a:solidFill>
                <a:latin typeface="Aptos"/>
              </a:rPr>
              <a:t>Dev Full Stack · T2</a:t>
            </a:r>
          </a:p>
        </p:txBody>
      </p:sp>
      <p:sp>
        <p:nvSpPr>
          <p:cNvPr id="102" name="Rectangle 101"/>
          <p:cNvSpPr/>
          <p:nvPr/>
        </p:nvSpPr>
        <p:spPr>
          <a:xfrm>
            <a:off x="10277856" y="2432304"/>
            <a:ext cx="1389886" cy="225552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144" rIns="9144" tIns="4572" bIns="4572"/>
          <a:lstStyle/>
          <a:p>
            <a:pPr algn="l"/>
            <a:r>
              <a:rPr sz="900" b="0">
                <a:solidFill>
                  <a:srgbClr val="777777"/>
                </a:solidFill>
                <a:latin typeface="Aptos"/>
              </a:rPr>
              <a:t>Offshore · Cognizant</a:t>
            </a:r>
          </a:p>
        </p:txBody>
      </p:sp>
      <p:sp>
        <p:nvSpPr>
          <p:cNvPr id="103" name="Rectangle 102"/>
          <p:cNvSpPr/>
          <p:nvPr/>
        </p:nvSpPr>
        <p:spPr>
          <a:xfrm>
            <a:off x="6156960" y="2657854"/>
            <a:ext cx="5547360" cy="225552"/>
          </a:xfrm>
          <a:prstGeom prst="rect">
            <a:avLst/>
          </a:prstGeom>
          <a:solidFill>
            <a:srgbClr val="FFFFFF"/>
          </a:solidFill>
          <a:ln w="4445">
            <a:solidFill>
              <a:srgbClr val="EEEE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" name="Rectangle 103"/>
          <p:cNvSpPr/>
          <p:nvPr/>
        </p:nvSpPr>
        <p:spPr>
          <a:xfrm>
            <a:off x="6156960" y="2657854"/>
            <a:ext cx="42672" cy="225552"/>
          </a:xfrm>
          <a:prstGeom prst="rect">
            <a:avLst/>
          </a:prstGeom>
          <a:solidFill>
            <a:srgbClr val="6B21D4"/>
          </a:solidFill>
          <a:ln>
            <a:solidFill>
              <a:srgbClr val="6B21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Rectangle 104"/>
          <p:cNvSpPr/>
          <p:nvPr/>
        </p:nvSpPr>
        <p:spPr>
          <a:xfrm>
            <a:off x="6217920" y="2657854"/>
            <a:ext cx="2109216" cy="225552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144" rIns="9144" tIns="4572" bIns="4572"/>
          <a:lstStyle/>
          <a:p>
            <a:pPr algn="l"/>
            <a:r>
              <a:rPr sz="1000" b="1">
                <a:solidFill>
                  <a:srgbClr val="111111"/>
                </a:solidFill>
                <a:latin typeface="Aptos"/>
              </a:rPr>
              <a:t>Praveen Ponnada</a:t>
            </a:r>
          </a:p>
        </p:txBody>
      </p:sp>
      <p:sp>
        <p:nvSpPr>
          <p:cNvPr id="106" name="Rectangle 105"/>
          <p:cNvSpPr/>
          <p:nvPr/>
        </p:nvSpPr>
        <p:spPr>
          <a:xfrm>
            <a:off x="8327136" y="2657854"/>
            <a:ext cx="1950720" cy="225552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144" rIns="9144" tIns="4572" bIns="4572"/>
          <a:lstStyle/>
          <a:p>
            <a:pPr algn="l"/>
            <a:r>
              <a:rPr sz="1000" b="0">
                <a:solidFill>
                  <a:srgbClr val="6B21D4"/>
                </a:solidFill>
                <a:latin typeface="Aptos"/>
              </a:rPr>
              <a:t>Dev Full Stack · T2</a:t>
            </a:r>
          </a:p>
        </p:txBody>
      </p:sp>
      <p:sp>
        <p:nvSpPr>
          <p:cNvPr id="107" name="Rectangle 106"/>
          <p:cNvSpPr/>
          <p:nvPr/>
        </p:nvSpPr>
        <p:spPr>
          <a:xfrm>
            <a:off x="10277856" y="2657854"/>
            <a:ext cx="1389886" cy="225552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144" rIns="9144" tIns="4572" bIns="4572"/>
          <a:lstStyle/>
          <a:p>
            <a:pPr algn="l"/>
            <a:r>
              <a:rPr sz="900" b="0">
                <a:solidFill>
                  <a:srgbClr val="777777"/>
                </a:solidFill>
                <a:latin typeface="Aptos"/>
              </a:rPr>
              <a:t>Offshore · Cognizant</a:t>
            </a:r>
          </a:p>
        </p:txBody>
      </p:sp>
      <p:sp>
        <p:nvSpPr>
          <p:cNvPr id="108" name="Rectangle 107"/>
          <p:cNvSpPr/>
          <p:nvPr/>
        </p:nvSpPr>
        <p:spPr>
          <a:xfrm>
            <a:off x="6156960" y="2883408"/>
            <a:ext cx="5547360" cy="225552"/>
          </a:xfrm>
          <a:prstGeom prst="rect">
            <a:avLst/>
          </a:prstGeom>
          <a:solidFill>
            <a:srgbClr val="F3F0FA"/>
          </a:solidFill>
          <a:ln w="4445">
            <a:solidFill>
              <a:srgbClr val="EEEE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" name="Rectangle 108"/>
          <p:cNvSpPr/>
          <p:nvPr/>
        </p:nvSpPr>
        <p:spPr>
          <a:xfrm>
            <a:off x="6156960" y="2883408"/>
            <a:ext cx="42672" cy="225552"/>
          </a:xfrm>
          <a:prstGeom prst="rect">
            <a:avLst/>
          </a:prstGeom>
          <a:solidFill>
            <a:srgbClr val="6B21D4"/>
          </a:solidFill>
          <a:ln>
            <a:solidFill>
              <a:srgbClr val="6B21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" name="Rectangle 109"/>
          <p:cNvSpPr/>
          <p:nvPr/>
        </p:nvSpPr>
        <p:spPr>
          <a:xfrm>
            <a:off x="6217920" y="2883408"/>
            <a:ext cx="2109216" cy="225552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144" rIns="9144" tIns="4572" bIns="4572"/>
          <a:lstStyle/>
          <a:p>
            <a:pPr algn="l"/>
            <a:r>
              <a:rPr sz="1000" b="1">
                <a:solidFill>
                  <a:srgbClr val="111111"/>
                </a:solidFill>
                <a:latin typeface="Aptos"/>
              </a:rPr>
              <a:t>Kirupa Selvam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8327136" y="2883408"/>
            <a:ext cx="1950720" cy="225552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144" rIns="9144" tIns="4572" bIns="4572"/>
          <a:lstStyle/>
          <a:p>
            <a:pPr algn="l"/>
            <a:r>
              <a:rPr sz="1000" b="0">
                <a:solidFill>
                  <a:srgbClr val="6B21D4"/>
                </a:solidFill>
                <a:latin typeface="Aptos"/>
              </a:rPr>
              <a:t>Dev Full Stack · T2</a:t>
            </a:r>
          </a:p>
        </p:txBody>
      </p:sp>
      <p:sp>
        <p:nvSpPr>
          <p:cNvPr id="112" name="Rectangle 111"/>
          <p:cNvSpPr/>
          <p:nvPr/>
        </p:nvSpPr>
        <p:spPr>
          <a:xfrm>
            <a:off x="10277856" y="2883408"/>
            <a:ext cx="1389886" cy="225552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144" rIns="9144" tIns="4572" bIns="4572"/>
          <a:lstStyle/>
          <a:p>
            <a:pPr algn="l"/>
            <a:r>
              <a:rPr sz="900" b="0">
                <a:solidFill>
                  <a:srgbClr val="777777"/>
                </a:solidFill>
                <a:latin typeface="Aptos"/>
              </a:rPr>
              <a:t>Offshore · Cognizant</a:t>
            </a:r>
          </a:p>
        </p:txBody>
      </p:sp>
      <p:sp>
        <p:nvSpPr>
          <p:cNvPr id="113" name="Rectangle 112"/>
          <p:cNvSpPr/>
          <p:nvPr/>
        </p:nvSpPr>
        <p:spPr>
          <a:xfrm>
            <a:off x="6156960" y="3108960"/>
            <a:ext cx="5547360" cy="225552"/>
          </a:xfrm>
          <a:prstGeom prst="rect">
            <a:avLst/>
          </a:prstGeom>
          <a:solidFill>
            <a:srgbClr val="FFFFFF"/>
          </a:solidFill>
          <a:ln w="4445">
            <a:solidFill>
              <a:srgbClr val="EEEE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" name="Rectangle 113"/>
          <p:cNvSpPr/>
          <p:nvPr/>
        </p:nvSpPr>
        <p:spPr>
          <a:xfrm>
            <a:off x="6156960" y="3108960"/>
            <a:ext cx="42672" cy="225552"/>
          </a:xfrm>
          <a:prstGeom prst="rect">
            <a:avLst/>
          </a:prstGeom>
          <a:solidFill>
            <a:srgbClr val="6B21D4"/>
          </a:solidFill>
          <a:ln>
            <a:solidFill>
              <a:srgbClr val="6B21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" name="Rectangle 114"/>
          <p:cNvSpPr/>
          <p:nvPr/>
        </p:nvSpPr>
        <p:spPr>
          <a:xfrm>
            <a:off x="6217920" y="3108960"/>
            <a:ext cx="2109216" cy="225552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144" rIns="9144" tIns="4572" bIns="4572"/>
          <a:lstStyle/>
          <a:p>
            <a:pPr algn="l"/>
            <a:r>
              <a:rPr sz="1000" b="1">
                <a:solidFill>
                  <a:srgbClr val="111111"/>
                </a:solidFill>
                <a:latin typeface="Aptos"/>
              </a:rPr>
              <a:t>Keerthana S</a:t>
            </a:r>
          </a:p>
        </p:txBody>
      </p:sp>
      <p:sp>
        <p:nvSpPr>
          <p:cNvPr id="116" name="Rectangle 115"/>
          <p:cNvSpPr/>
          <p:nvPr/>
        </p:nvSpPr>
        <p:spPr>
          <a:xfrm>
            <a:off x="8327136" y="3108960"/>
            <a:ext cx="1950720" cy="225552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144" rIns="9144" tIns="4572" bIns="4572"/>
          <a:lstStyle/>
          <a:p>
            <a:pPr algn="l"/>
            <a:r>
              <a:rPr sz="1000" b="0">
                <a:solidFill>
                  <a:srgbClr val="6B21D4"/>
                </a:solidFill>
                <a:latin typeface="Aptos"/>
              </a:rPr>
              <a:t>Dev Full Stack · T2</a:t>
            </a:r>
          </a:p>
        </p:txBody>
      </p:sp>
      <p:sp>
        <p:nvSpPr>
          <p:cNvPr id="117" name="Rectangle 116"/>
          <p:cNvSpPr/>
          <p:nvPr/>
        </p:nvSpPr>
        <p:spPr>
          <a:xfrm>
            <a:off x="10277856" y="3108960"/>
            <a:ext cx="1389886" cy="225552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144" rIns="9144" tIns="4572" bIns="4572"/>
          <a:lstStyle/>
          <a:p>
            <a:pPr algn="l"/>
            <a:r>
              <a:rPr sz="900" b="0">
                <a:solidFill>
                  <a:srgbClr val="777777"/>
                </a:solidFill>
                <a:latin typeface="Aptos"/>
              </a:rPr>
              <a:t>Offshore · Cognizant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6156960" y="3334512"/>
            <a:ext cx="5547360" cy="225552"/>
          </a:xfrm>
          <a:prstGeom prst="rect">
            <a:avLst/>
          </a:prstGeom>
          <a:solidFill>
            <a:srgbClr val="F3F0FA"/>
          </a:solidFill>
          <a:ln w="4445">
            <a:solidFill>
              <a:srgbClr val="EEEE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Rectangle 118"/>
          <p:cNvSpPr/>
          <p:nvPr/>
        </p:nvSpPr>
        <p:spPr>
          <a:xfrm>
            <a:off x="6156960" y="3334512"/>
            <a:ext cx="42672" cy="225552"/>
          </a:xfrm>
          <a:prstGeom prst="rect">
            <a:avLst/>
          </a:prstGeom>
          <a:solidFill>
            <a:srgbClr val="6B21D4"/>
          </a:solidFill>
          <a:ln>
            <a:solidFill>
              <a:srgbClr val="6B21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0" name="Rectangle 119"/>
          <p:cNvSpPr/>
          <p:nvPr/>
        </p:nvSpPr>
        <p:spPr>
          <a:xfrm>
            <a:off x="6217920" y="3334512"/>
            <a:ext cx="2109216" cy="225552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144" rIns="9144" tIns="4572" bIns="4572"/>
          <a:lstStyle/>
          <a:p>
            <a:pPr algn="l"/>
            <a:r>
              <a:rPr sz="1000" b="1">
                <a:solidFill>
                  <a:srgbClr val="111111"/>
                </a:solidFill>
                <a:latin typeface="Aptos"/>
              </a:rPr>
              <a:t>Sowmya V</a:t>
            </a:r>
          </a:p>
        </p:txBody>
      </p:sp>
      <p:sp>
        <p:nvSpPr>
          <p:cNvPr id="121" name="Rectangle 120"/>
          <p:cNvSpPr/>
          <p:nvPr/>
        </p:nvSpPr>
        <p:spPr>
          <a:xfrm>
            <a:off x="8327136" y="3334512"/>
            <a:ext cx="1950720" cy="225552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144" rIns="9144" tIns="4572" bIns="4572"/>
          <a:lstStyle/>
          <a:p>
            <a:pPr algn="l"/>
            <a:r>
              <a:rPr sz="1000" b="0">
                <a:solidFill>
                  <a:srgbClr val="6B21D4"/>
                </a:solidFill>
                <a:latin typeface="Aptos"/>
              </a:rPr>
              <a:t>Dev Full Stack · T2</a:t>
            </a:r>
          </a:p>
        </p:txBody>
      </p:sp>
      <p:sp>
        <p:nvSpPr>
          <p:cNvPr id="122" name="Rectangle 121"/>
          <p:cNvSpPr/>
          <p:nvPr/>
        </p:nvSpPr>
        <p:spPr>
          <a:xfrm>
            <a:off x="10277856" y="3334512"/>
            <a:ext cx="1389886" cy="225552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144" rIns="9144" tIns="4572" bIns="4572"/>
          <a:lstStyle/>
          <a:p>
            <a:pPr algn="l"/>
            <a:r>
              <a:rPr sz="900" b="0">
                <a:solidFill>
                  <a:srgbClr val="777777"/>
                </a:solidFill>
                <a:latin typeface="Aptos"/>
              </a:rPr>
              <a:t>Offshore · Cognizant</a:t>
            </a:r>
          </a:p>
        </p:txBody>
      </p:sp>
      <p:sp>
        <p:nvSpPr>
          <p:cNvPr id="123" name="Rectangle 122"/>
          <p:cNvSpPr/>
          <p:nvPr/>
        </p:nvSpPr>
        <p:spPr>
          <a:xfrm>
            <a:off x="3657600" y="5218176"/>
            <a:ext cx="4632960" cy="24384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4572" bIns="4572"/>
          <a:lstStyle/>
          <a:p>
            <a:pPr algn="l"/>
            <a:r>
              <a:rPr sz="1000" b="1">
                <a:solidFill>
                  <a:srgbClr val="4A148C"/>
                </a:solidFill>
                <a:latin typeface="Aptos"/>
              </a:rPr>
              <a:t>Tax Team</a:t>
            </a:r>
          </a:p>
        </p:txBody>
      </p:sp>
      <p:sp>
        <p:nvSpPr>
          <p:cNvPr id="124" name="Rectangle 123"/>
          <p:cNvSpPr/>
          <p:nvPr/>
        </p:nvSpPr>
        <p:spPr>
          <a:xfrm>
            <a:off x="3657600" y="5510782"/>
            <a:ext cx="4632960" cy="219456"/>
          </a:xfrm>
          <a:prstGeom prst="rect">
            <a:avLst/>
          </a:prstGeom>
          <a:solidFill>
            <a:srgbClr val="FFFFFF"/>
          </a:solidFill>
          <a:ln w="4445">
            <a:solidFill>
              <a:srgbClr val="EEEE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5" name="Rectangle 124"/>
          <p:cNvSpPr/>
          <p:nvPr/>
        </p:nvSpPr>
        <p:spPr>
          <a:xfrm>
            <a:off x="3657600" y="5510782"/>
            <a:ext cx="42672" cy="219456"/>
          </a:xfrm>
          <a:prstGeom prst="rect">
            <a:avLst/>
          </a:prstGeom>
          <a:solidFill>
            <a:srgbClr val="6B21D4"/>
          </a:solidFill>
          <a:ln>
            <a:solidFill>
              <a:srgbClr val="6B21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" name="Rectangle 125"/>
          <p:cNvSpPr/>
          <p:nvPr/>
        </p:nvSpPr>
        <p:spPr>
          <a:xfrm>
            <a:off x="3718560" y="5510782"/>
            <a:ext cx="1645920" cy="219456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144" rIns="9144" tIns="4572" bIns="4572"/>
          <a:lstStyle/>
          <a:p>
            <a:pPr algn="l"/>
            <a:r>
              <a:rPr sz="1000" b="1">
                <a:solidFill>
                  <a:srgbClr val="111111"/>
                </a:solidFill>
                <a:latin typeface="Aptos"/>
              </a:rPr>
              <a:t>Corinne Kreuger</a:t>
            </a:r>
          </a:p>
        </p:txBody>
      </p:sp>
      <p:sp>
        <p:nvSpPr>
          <p:cNvPr id="127" name="Rectangle 126"/>
          <p:cNvSpPr/>
          <p:nvPr/>
        </p:nvSpPr>
        <p:spPr>
          <a:xfrm>
            <a:off x="5364480" y="5510782"/>
            <a:ext cx="1645920" cy="219456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144" rIns="9144" tIns="4572" bIns="4572"/>
          <a:lstStyle/>
          <a:p>
            <a:pPr algn="l"/>
            <a:r>
              <a:rPr sz="1000" b="0">
                <a:solidFill>
                  <a:srgbClr val="6B21D4"/>
                </a:solidFill>
                <a:latin typeface="Aptos"/>
              </a:rPr>
              <a:t>PO / BA</a:t>
            </a:r>
          </a:p>
        </p:txBody>
      </p:sp>
      <p:sp>
        <p:nvSpPr>
          <p:cNvPr id="128" name="Rectangle 127"/>
          <p:cNvSpPr/>
          <p:nvPr/>
        </p:nvSpPr>
        <p:spPr>
          <a:xfrm>
            <a:off x="7010400" y="5510782"/>
            <a:ext cx="1219200" cy="219456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144" rIns="9144" tIns="4572" bIns="4572"/>
          <a:lstStyle/>
          <a:p>
            <a:pPr algn="l"/>
            <a:r>
              <a:rPr sz="900" b="0">
                <a:solidFill>
                  <a:srgbClr val="777777"/>
                </a:solidFill>
                <a:latin typeface="Aptos"/>
              </a:rPr>
              <a:t>Onshore · Contractor</a:t>
            </a:r>
          </a:p>
        </p:txBody>
      </p:sp>
      <p:sp>
        <p:nvSpPr>
          <p:cNvPr id="129" name="Rectangle 128"/>
          <p:cNvSpPr/>
          <p:nvPr/>
        </p:nvSpPr>
        <p:spPr>
          <a:xfrm>
            <a:off x="3657600" y="5730238"/>
            <a:ext cx="4632960" cy="219456"/>
          </a:xfrm>
          <a:prstGeom prst="rect">
            <a:avLst/>
          </a:prstGeom>
          <a:solidFill>
            <a:srgbClr val="F3F0FA"/>
          </a:solidFill>
          <a:ln w="4445">
            <a:solidFill>
              <a:srgbClr val="EEEE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0" name="Rectangle 129"/>
          <p:cNvSpPr/>
          <p:nvPr/>
        </p:nvSpPr>
        <p:spPr>
          <a:xfrm>
            <a:off x="3657600" y="5730238"/>
            <a:ext cx="42672" cy="219456"/>
          </a:xfrm>
          <a:prstGeom prst="rect">
            <a:avLst/>
          </a:prstGeom>
          <a:solidFill>
            <a:srgbClr val="6B21D4"/>
          </a:solidFill>
          <a:ln>
            <a:solidFill>
              <a:srgbClr val="6B21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1" name="Rectangle 130"/>
          <p:cNvSpPr/>
          <p:nvPr/>
        </p:nvSpPr>
        <p:spPr>
          <a:xfrm>
            <a:off x="3718560" y="5730238"/>
            <a:ext cx="1645920" cy="219456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144" rIns="9144" tIns="4572" bIns="4572"/>
          <a:lstStyle/>
          <a:p>
            <a:pPr algn="l"/>
            <a:r>
              <a:rPr sz="1000" b="1">
                <a:solidFill>
                  <a:srgbClr val="111111"/>
                </a:solidFill>
                <a:latin typeface="Aptos"/>
              </a:rPr>
              <a:t>Sathish Kumar E</a:t>
            </a:r>
          </a:p>
        </p:txBody>
      </p:sp>
      <p:sp>
        <p:nvSpPr>
          <p:cNvPr id="132" name="Rectangle 131"/>
          <p:cNvSpPr/>
          <p:nvPr/>
        </p:nvSpPr>
        <p:spPr>
          <a:xfrm>
            <a:off x="5364480" y="5730238"/>
            <a:ext cx="1645920" cy="219456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144" rIns="9144" tIns="4572" bIns="4572"/>
          <a:lstStyle/>
          <a:p>
            <a:pPr algn="l"/>
            <a:r>
              <a:rPr sz="1000" b="0">
                <a:solidFill>
                  <a:srgbClr val="6B21D4"/>
                </a:solidFill>
                <a:latin typeface="Aptos"/>
              </a:rPr>
              <a:t>Product Analyst</a:t>
            </a:r>
          </a:p>
        </p:txBody>
      </p:sp>
      <p:sp>
        <p:nvSpPr>
          <p:cNvPr id="133" name="Rectangle 132"/>
          <p:cNvSpPr/>
          <p:nvPr/>
        </p:nvSpPr>
        <p:spPr>
          <a:xfrm>
            <a:off x="7010400" y="5730238"/>
            <a:ext cx="1219200" cy="219456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144" rIns="9144" tIns="4572" bIns="4572"/>
          <a:lstStyle/>
          <a:p>
            <a:pPr algn="l"/>
            <a:r>
              <a:rPr sz="900" b="0">
                <a:solidFill>
                  <a:srgbClr val="777777"/>
                </a:solidFill>
                <a:latin typeface="Aptos"/>
              </a:rPr>
              <a:t>Onshore · Contractor</a:t>
            </a:r>
          </a:p>
        </p:txBody>
      </p:sp>
      <p:sp>
        <p:nvSpPr>
          <p:cNvPr id="134" name="Rectangle 133"/>
          <p:cNvSpPr/>
          <p:nvPr/>
        </p:nvSpPr>
        <p:spPr>
          <a:xfrm>
            <a:off x="3657600" y="5949696"/>
            <a:ext cx="4632960" cy="219456"/>
          </a:xfrm>
          <a:prstGeom prst="rect">
            <a:avLst/>
          </a:prstGeom>
          <a:solidFill>
            <a:srgbClr val="FFFFFF"/>
          </a:solidFill>
          <a:ln w="4445">
            <a:solidFill>
              <a:srgbClr val="EEEE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5" name="Rectangle 134"/>
          <p:cNvSpPr/>
          <p:nvPr/>
        </p:nvSpPr>
        <p:spPr>
          <a:xfrm>
            <a:off x="3657600" y="5949696"/>
            <a:ext cx="42672" cy="219456"/>
          </a:xfrm>
          <a:prstGeom prst="rect">
            <a:avLst/>
          </a:prstGeom>
          <a:solidFill>
            <a:srgbClr val="6B21D4"/>
          </a:solidFill>
          <a:ln>
            <a:solidFill>
              <a:srgbClr val="6B21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6" name="Rectangle 135"/>
          <p:cNvSpPr/>
          <p:nvPr/>
        </p:nvSpPr>
        <p:spPr>
          <a:xfrm>
            <a:off x="3718560" y="5949696"/>
            <a:ext cx="1645920" cy="219456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144" rIns="9144" tIns="4572" bIns="4572"/>
          <a:lstStyle/>
          <a:p>
            <a:pPr algn="l"/>
            <a:r>
              <a:rPr sz="1000" b="1">
                <a:solidFill>
                  <a:srgbClr val="111111"/>
                </a:solidFill>
                <a:latin typeface="Aptos"/>
              </a:rPr>
              <a:t>Tushar Joshi</a:t>
            </a:r>
          </a:p>
        </p:txBody>
      </p:sp>
      <p:sp>
        <p:nvSpPr>
          <p:cNvPr id="137" name="Rectangle 136"/>
          <p:cNvSpPr/>
          <p:nvPr/>
        </p:nvSpPr>
        <p:spPr>
          <a:xfrm>
            <a:off x="5364480" y="5949696"/>
            <a:ext cx="1645920" cy="219456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144" rIns="9144" tIns="4572" bIns="4572"/>
          <a:lstStyle/>
          <a:p>
            <a:pPr algn="l"/>
            <a:r>
              <a:rPr sz="1000" b="0">
                <a:solidFill>
                  <a:srgbClr val="6B21D4"/>
                </a:solidFill>
                <a:latin typeface="Aptos"/>
              </a:rPr>
              <a:t>Product Analyst</a:t>
            </a:r>
          </a:p>
        </p:txBody>
      </p:sp>
      <p:sp>
        <p:nvSpPr>
          <p:cNvPr id="138" name="Rectangle 137"/>
          <p:cNvSpPr/>
          <p:nvPr/>
        </p:nvSpPr>
        <p:spPr>
          <a:xfrm>
            <a:off x="7010400" y="5949696"/>
            <a:ext cx="1219200" cy="219456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144" rIns="9144" tIns="4572" bIns="4572"/>
          <a:lstStyle/>
          <a:p>
            <a:pPr algn="l"/>
            <a:r>
              <a:rPr sz="900" b="0">
                <a:solidFill>
                  <a:srgbClr val="777777"/>
                </a:solidFill>
                <a:latin typeface="Aptos"/>
              </a:rPr>
              <a:t>Onshore · Contractor</a:t>
            </a:r>
          </a:p>
        </p:txBody>
      </p:sp>
      <p:sp>
        <p:nvSpPr>
          <p:cNvPr id="139" name="Rectangle 138"/>
          <p:cNvSpPr/>
          <p:nvPr/>
        </p:nvSpPr>
        <p:spPr>
          <a:xfrm>
            <a:off x="3657600" y="6169152"/>
            <a:ext cx="4632960" cy="219456"/>
          </a:xfrm>
          <a:prstGeom prst="rect">
            <a:avLst/>
          </a:prstGeom>
          <a:solidFill>
            <a:srgbClr val="F3F0FA"/>
          </a:solidFill>
          <a:ln w="4445">
            <a:solidFill>
              <a:srgbClr val="EEEE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0" name="Rectangle 139"/>
          <p:cNvSpPr/>
          <p:nvPr/>
        </p:nvSpPr>
        <p:spPr>
          <a:xfrm>
            <a:off x="3657600" y="6169152"/>
            <a:ext cx="42672" cy="219456"/>
          </a:xfrm>
          <a:prstGeom prst="rect">
            <a:avLst/>
          </a:prstGeom>
          <a:solidFill>
            <a:srgbClr val="6B21D4"/>
          </a:solidFill>
          <a:ln>
            <a:solidFill>
              <a:srgbClr val="6B21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1" name="Rectangle 140"/>
          <p:cNvSpPr/>
          <p:nvPr/>
        </p:nvSpPr>
        <p:spPr>
          <a:xfrm>
            <a:off x="3718560" y="6169152"/>
            <a:ext cx="1645920" cy="219456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144" rIns="9144" tIns="4572" bIns="4572"/>
          <a:lstStyle/>
          <a:p>
            <a:pPr algn="l"/>
            <a:r>
              <a:rPr sz="1000" b="1">
                <a:solidFill>
                  <a:srgbClr val="111111"/>
                </a:solidFill>
                <a:latin typeface="Aptos"/>
              </a:rPr>
              <a:t>Daniel Brenner</a:t>
            </a:r>
          </a:p>
        </p:txBody>
      </p:sp>
      <p:sp>
        <p:nvSpPr>
          <p:cNvPr id="142" name="Rectangle 141"/>
          <p:cNvSpPr/>
          <p:nvPr/>
        </p:nvSpPr>
        <p:spPr>
          <a:xfrm>
            <a:off x="5364480" y="6169152"/>
            <a:ext cx="1645920" cy="219456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144" rIns="9144" tIns="4572" bIns="4572"/>
          <a:lstStyle/>
          <a:p>
            <a:pPr algn="l"/>
            <a:r>
              <a:rPr sz="1000" b="0">
                <a:solidFill>
                  <a:srgbClr val="6B21D4"/>
                </a:solidFill>
                <a:latin typeface="Aptos"/>
              </a:rPr>
              <a:t>Scrum Master</a:t>
            </a:r>
          </a:p>
        </p:txBody>
      </p:sp>
      <p:sp>
        <p:nvSpPr>
          <p:cNvPr id="143" name="Rectangle 142"/>
          <p:cNvSpPr/>
          <p:nvPr/>
        </p:nvSpPr>
        <p:spPr>
          <a:xfrm>
            <a:off x="7010400" y="6169152"/>
            <a:ext cx="1219200" cy="219456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144" rIns="9144" tIns="4572" bIns="4572"/>
          <a:lstStyle/>
          <a:p>
            <a:pPr algn="l"/>
            <a:r>
              <a:rPr sz="900" b="0">
                <a:solidFill>
                  <a:srgbClr val="777777"/>
                </a:solidFill>
                <a:latin typeface="Aptos"/>
              </a:rPr>
              <a:t>Onshore · Trane</a:t>
            </a:r>
          </a:p>
        </p:txBody>
      </p:sp>
      <p:sp>
        <p:nvSpPr>
          <p:cNvPr id="144" name="Rectangle 143"/>
          <p:cNvSpPr/>
          <p:nvPr/>
        </p:nvSpPr>
        <p:spPr>
          <a:xfrm>
            <a:off x="463296" y="6388608"/>
            <a:ext cx="426720" cy="219456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4572" bIns="4572"/>
          <a:lstStyle/>
          <a:p>
            <a:pPr algn="l"/>
            <a:r>
              <a:rPr sz="900" b="0">
                <a:solidFill>
                  <a:srgbClr val="777777"/>
                </a:solidFill>
                <a:latin typeface="Aptos"/>
              </a:rPr>
              <a:t>8</a:t>
            </a:r>
          </a:p>
        </p:txBody>
      </p:sp>
      <p:pic>
        <p:nvPicPr>
          <p:cNvPr id="145" name="Picture 144" descr="trane_real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424160" y="6156960"/>
            <a:ext cx="1463040" cy="633984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63296" y="158496"/>
            <a:ext cx="11265408" cy="41452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4572" bIns="4572"/>
          <a:lstStyle/>
          <a:p>
            <a:pPr algn="l"/>
            <a:r>
              <a:rPr sz="2400" b="1">
                <a:solidFill>
                  <a:srgbClr val="6B21D4"/>
                </a:solidFill>
                <a:latin typeface="Aptos"/>
              </a:rPr>
              <a:t>S&amp;C Contracting – Team 1 (WorkSight &amp; R12 Devs / FAs)</a:t>
            </a:r>
          </a:p>
        </p:txBody>
      </p:sp>
      <p:sp>
        <p:nvSpPr>
          <p:cNvPr id="3" name="Rectangle 2"/>
          <p:cNvSpPr/>
          <p:nvPr/>
        </p:nvSpPr>
        <p:spPr>
          <a:xfrm>
            <a:off x="463296" y="829056"/>
            <a:ext cx="5547360" cy="231648"/>
          </a:xfrm>
          <a:prstGeom prst="rect">
            <a:avLst/>
          </a:prstGeom>
          <a:solidFill>
            <a:srgbClr val="FFFFFF"/>
          </a:solidFill>
          <a:ln w="4445">
            <a:solidFill>
              <a:srgbClr val="EEEE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63296" y="829056"/>
            <a:ext cx="42672" cy="231648"/>
          </a:xfrm>
          <a:prstGeom prst="rect">
            <a:avLst/>
          </a:prstGeom>
          <a:solidFill>
            <a:srgbClr val="6B21D4"/>
          </a:solidFill>
          <a:ln>
            <a:solidFill>
              <a:srgbClr val="6B21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24256" y="829056"/>
            <a:ext cx="2109216" cy="23164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144" rIns="9144" tIns="4572" bIns="4572"/>
          <a:lstStyle/>
          <a:p>
            <a:pPr algn="l"/>
            <a:r>
              <a:rPr sz="1000" b="1">
                <a:solidFill>
                  <a:srgbClr val="111111"/>
                </a:solidFill>
                <a:latin typeface="Aptos"/>
              </a:rPr>
              <a:t>Albin Xavier</a:t>
            </a:r>
          </a:p>
        </p:txBody>
      </p:sp>
      <p:sp>
        <p:nvSpPr>
          <p:cNvPr id="6" name="Rectangle 5"/>
          <p:cNvSpPr/>
          <p:nvPr/>
        </p:nvSpPr>
        <p:spPr>
          <a:xfrm>
            <a:off x="2633472" y="829056"/>
            <a:ext cx="1950720" cy="23164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144" rIns="9144" tIns="4572" bIns="4572"/>
          <a:lstStyle/>
          <a:p>
            <a:pPr algn="l"/>
            <a:r>
              <a:rPr sz="1000" b="0">
                <a:solidFill>
                  <a:srgbClr val="6B21D4"/>
                </a:solidFill>
                <a:latin typeface="Aptos"/>
              </a:rPr>
              <a:t>WorkSight FA</a:t>
            </a:r>
          </a:p>
        </p:txBody>
      </p:sp>
      <p:sp>
        <p:nvSpPr>
          <p:cNvPr id="7" name="Rectangle 6"/>
          <p:cNvSpPr/>
          <p:nvPr/>
        </p:nvSpPr>
        <p:spPr>
          <a:xfrm>
            <a:off x="4584192" y="829056"/>
            <a:ext cx="1389886" cy="23164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144" rIns="9144" tIns="4572" bIns="4572"/>
          <a:lstStyle/>
          <a:p>
            <a:pPr algn="l"/>
            <a:r>
              <a:rPr sz="1000" b="0">
                <a:solidFill>
                  <a:srgbClr val="777777"/>
                </a:solidFill>
                <a:latin typeface="Aptos"/>
              </a:rPr>
              <a:t>Onshore · Cognizant</a:t>
            </a:r>
          </a:p>
        </p:txBody>
      </p:sp>
      <p:sp>
        <p:nvSpPr>
          <p:cNvPr id="8" name="Rectangle 7"/>
          <p:cNvSpPr/>
          <p:nvPr/>
        </p:nvSpPr>
        <p:spPr>
          <a:xfrm>
            <a:off x="463296" y="1060704"/>
            <a:ext cx="5547360" cy="231648"/>
          </a:xfrm>
          <a:prstGeom prst="rect">
            <a:avLst/>
          </a:prstGeom>
          <a:solidFill>
            <a:srgbClr val="F3F0FA"/>
          </a:solidFill>
          <a:ln w="4445">
            <a:solidFill>
              <a:srgbClr val="EEEE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63296" y="1060704"/>
            <a:ext cx="42672" cy="231648"/>
          </a:xfrm>
          <a:prstGeom prst="rect">
            <a:avLst/>
          </a:prstGeom>
          <a:solidFill>
            <a:srgbClr val="6B21D4"/>
          </a:solidFill>
          <a:ln>
            <a:solidFill>
              <a:srgbClr val="6B21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24256" y="1060704"/>
            <a:ext cx="2109216" cy="23164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144" rIns="9144" tIns="4572" bIns="4572"/>
          <a:lstStyle/>
          <a:p>
            <a:pPr algn="l"/>
            <a:r>
              <a:rPr sz="1000" b="1">
                <a:solidFill>
                  <a:srgbClr val="111111"/>
                </a:solidFill>
                <a:latin typeface="Aptos"/>
              </a:rPr>
              <a:t>Narayan Kapali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633472" y="1060704"/>
            <a:ext cx="1950720" cy="23164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144" rIns="9144" tIns="4572" bIns="4572"/>
          <a:lstStyle/>
          <a:p>
            <a:pPr algn="l"/>
            <a:r>
              <a:rPr sz="1000" b="0">
                <a:solidFill>
                  <a:srgbClr val="6B21D4"/>
                </a:solidFill>
                <a:latin typeface="Aptos"/>
              </a:rPr>
              <a:t>WorkSight FA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584192" y="1060704"/>
            <a:ext cx="1389886" cy="23164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144" rIns="9144" tIns="4572" bIns="4572"/>
          <a:lstStyle/>
          <a:p>
            <a:pPr algn="l"/>
            <a:r>
              <a:rPr sz="1000" b="0">
                <a:solidFill>
                  <a:srgbClr val="777777"/>
                </a:solidFill>
                <a:latin typeface="Aptos"/>
              </a:rPr>
              <a:t>Onshore · Cognizant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63296" y="1292352"/>
            <a:ext cx="5547360" cy="231648"/>
          </a:xfrm>
          <a:prstGeom prst="rect">
            <a:avLst/>
          </a:prstGeom>
          <a:solidFill>
            <a:srgbClr val="FFFFFF"/>
          </a:solidFill>
          <a:ln w="4445">
            <a:solidFill>
              <a:srgbClr val="EEEE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63296" y="1292352"/>
            <a:ext cx="42672" cy="231648"/>
          </a:xfrm>
          <a:prstGeom prst="rect">
            <a:avLst/>
          </a:prstGeom>
          <a:solidFill>
            <a:srgbClr val="6B21D4"/>
          </a:solidFill>
          <a:ln>
            <a:solidFill>
              <a:srgbClr val="6B21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524256" y="1292352"/>
            <a:ext cx="2109216" cy="23164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144" rIns="9144" tIns="4572" bIns="4572"/>
          <a:lstStyle/>
          <a:p>
            <a:pPr algn="l"/>
            <a:r>
              <a:rPr sz="1000" b="1">
                <a:solidFill>
                  <a:srgbClr val="111111"/>
                </a:solidFill>
                <a:latin typeface="Aptos"/>
              </a:rPr>
              <a:t>Sachin Salvi</a:t>
            </a:r>
          </a:p>
        </p:txBody>
      </p:sp>
      <p:sp>
        <p:nvSpPr>
          <p:cNvPr id="16" name="Rectangle 15"/>
          <p:cNvSpPr/>
          <p:nvPr/>
        </p:nvSpPr>
        <p:spPr>
          <a:xfrm>
            <a:off x="2633472" y="1292352"/>
            <a:ext cx="1950720" cy="23164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144" rIns="9144" tIns="4572" bIns="4572"/>
          <a:lstStyle/>
          <a:p>
            <a:pPr algn="l"/>
            <a:r>
              <a:rPr sz="1000" b="0">
                <a:solidFill>
                  <a:srgbClr val="6B21D4"/>
                </a:solidFill>
                <a:latin typeface="Aptos"/>
              </a:rPr>
              <a:t>R12 FA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584192" y="1292352"/>
            <a:ext cx="1389886" cy="23164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144" rIns="9144" tIns="4572" bIns="4572"/>
          <a:lstStyle/>
          <a:p>
            <a:pPr algn="l"/>
            <a:r>
              <a:rPr sz="1000" b="0">
                <a:solidFill>
                  <a:srgbClr val="777777"/>
                </a:solidFill>
                <a:latin typeface="Aptos"/>
              </a:rPr>
              <a:t>Onshore · Contractor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63296" y="1524000"/>
            <a:ext cx="5547360" cy="231648"/>
          </a:xfrm>
          <a:prstGeom prst="rect">
            <a:avLst/>
          </a:prstGeom>
          <a:solidFill>
            <a:srgbClr val="F3F0FA"/>
          </a:solidFill>
          <a:ln w="4445">
            <a:solidFill>
              <a:srgbClr val="EEEE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463296" y="1524000"/>
            <a:ext cx="42672" cy="231648"/>
          </a:xfrm>
          <a:prstGeom prst="rect">
            <a:avLst/>
          </a:prstGeom>
          <a:solidFill>
            <a:srgbClr val="6B21D4"/>
          </a:solidFill>
          <a:ln>
            <a:solidFill>
              <a:srgbClr val="6B21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524256" y="1524000"/>
            <a:ext cx="2109216" cy="23164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144" rIns="9144" tIns="4572" bIns="4572"/>
          <a:lstStyle/>
          <a:p>
            <a:pPr algn="l"/>
            <a:r>
              <a:rPr sz="1000" b="1">
                <a:solidFill>
                  <a:srgbClr val="111111"/>
                </a:solidFill>
                <a:latin typeface="Aptos"/>
              </a:rPr>
              <a:t>Elizabeth Garcia</a:t>
            </a:r>
          </a:p>
        </p:txBody>
      </p:sp>
      <p:sp>
        <p:nvSpPr>
          <p:cNvPr id="21" name="Rectangle 20"/>
          <p:cNvSpPr/>
          <p:nvPr/>
        </p:nvSpPr>
        <p:spPr>
          <a:xfrm>
            <a:off x="2633472" y="1524000"/>
            <a:ext cx="1950720" cy="23164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144" rIns="9144" tIns="4572" bIns="4572"/>
          <a:lstStyle/>
          <a:p>
            <a:pPr algn="l"/>
            <a:r>
              <a:rPr sz="1000" b="0">
                <a:solidFill>
                  <a:srgbClr val="6B21D4"/>
                </a:solidFill>
                <a:latin typeface="Aptos"/>
              </a:rPr>
              <a:t>R12 FA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584192" y="1524000"/>
            <a:ext cx="1389886" cy="23164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144" rIns="9144" tIns="4572" bIns="4572"/>
          <a:lstStyle/>
          <a:p>
            <a:pPr algn="l"/>
            <a:r>
              <a:rPr sz="1000" b="0">
                <a:solidFill>
                  <a:srgbClr val="777777"/>
                </a:solidFill>
                <a:latin typeface="Aptos"/>
              </a:rPr>
              <a:t>Onshore · Trane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63296" y="1755648"/>
            <a:ext cx="5547360" cy="231648"/>
          </a:xfrm>
          <a:prstGeom prst="rect">
            <a:avLst/>
          </a:prstGeom>
          <a:solidFill>
            <a:srgbClr val="FFFFFF"/>
          </a:solidFill>
          <a:ln w="4445">
            <a:solidFill>
              <a:srgbClr val="EEEE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463296" y="1755648"/>
            <a:ext cx="42672" cy="231648"/>
          </a:xfrm>
          <a:prstGeom prst="rect">
            <a:avLst/>
          </a:prstGeom>
          <a:solidFill>
            <a:srgbClr val="6B21D4"/>
          </a:solidFill>
          <a:ln>
            <a:solidFill>
              <a:srgbClr val="6B21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524256" y="1755648"/>
            <a:ext cx="2109216" cy="23164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144" rIns="9144" tIns="4572" bIns="4572"/>
          <a:lstStyle/>
          <a:p>
            <a:pPr algn="l"/>
            <a:r>
              <a:rPr sz="1000" b="1">
                <a:solidFill>
                  <a:srgbClr val="111111"/>
                </a:solidFill>
                <a:latin typeface="Aptos"/>
              </a:rPr>
              <a:t>Krishna Kumar G</a:t>
            </a:r>
          </a:p>
        </p:txBody>
      </p:sp>
      <p:sp>
        <p:nvSpPr>
          <p:cNvPr id="26" name="Rectangle 25"/>
          <p:cNvSpPr/>
          <p:nvPr/>
        </p:nvSpPr>
        <p:spPr>
          <a:xfrm>
            <a:off x="2633472" y="1755648"/>
            <a:ext cx="1950720" cy="23164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144" rIns="9144" tIns="4572" bIns="4572"/>
          <a:lstStyle/>
          <a:p>
            <a:pPr algn="l"/>
            <a:r>
              <a:rPr sz="1000" b="0">
                <a:solidFill>
                  <a:srgbClr val="6B21D4"/>
                </a:solidFill>
                <a:latin typeface="Aptos"/>
              </a:rPr>
              <a:t>R12 FA</a:t>
            </a:r>
          </a:p>
        </p:txBody>
      </p:sp>
      <p:sp>
        <p:nvSpPr>
          <p:cNvPr id="27" name="Rectangle 26"/>
          <p:cNvSpPr/>
          <p:nvPr/>
        </p:nvSpPr>
        <p:spPr>
          <a:xfrm>
            <a:off x="4584192" y="1755648"/>
            <a:ext cx="1389886" cy="23164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144" rIns="9144" tIns="4572" bIns="4572"/>
          <a:lstStyle/>
          <a:p>
            <a:pPr algn="l"/>
            <a:r>
              <a:rPr sz="1000" b="0">
                <a:solidFill>
                  <a:srgbClr val="777777"/>
                </a:solidFill>
                <a:latin typeface="Aptos"/>
              </a:rPr>
              <a:t>Onshore · Contractor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63296" y="1987296"/>
            <a:ext cx="5547360" cy="231648"/>
          </a:xfrm>
          <a:prstGeom prst="rect">
            <a:avLst/>
          </a:prstGeom>
          <a:solidFill>
            <a:srgbClr val="F3F0FA"/>
          </a:solidFill>
          <a:ln w="4445">
            <a:solidFill>
              <a:srgbClr val="EEEE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463296" y="1987296"/>
            <a:ext cx="42672" cy="231648"/>
          </a:xfrm>
          <a:prstGeom prst="rect">
            <a:avLst/>
          </a:prstGeom>
          <a:solidFill>
            <a:srgbClr val="6B21D4"/>
          </a:solidFill>
          <a:ln>
            <a:solidFill>
              <a:srgbClr val="6B21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524256" y="1987296"/>
            <a:ext cx="2109216" cy="23164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144" rIns="9144" tIns="4572" bIns="4572"/>
          <a:lstStyle/>
          <a:p>
            <a:pPr algn="l"/>
            <a:r>
              <a:rPr sz="1000" b="1">
                <a:solidFill>
                  <a:srgbClr val="111111"/>
                </a:solidFill>
                <a:latin typeface="Aptos"/>
              </a:rPr>
              <a:t>Suresh S</a:t>
            </a:r>
          </a:p>
        </p:txBody>
      </p:sp>
      <p:sp>
        <p:nvSpPr>
          <p:cNvPr id="31" name="Rectangle 30"/>
          <p:cNvSpPr/>
          <p:nvPr/>
        </p:nvSpPr>
        <p:spPr>
          <a:xfrm>
            <a:off x="2633472" y="1987296"/>
            <a:ext cx="1950720" cy="23164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144" rIns="9144" tIns="4572" bIns="4572"/>
          <a:lstStyle/>
          <a:p>
            <a:pPr algn="l"/>
            <a:r>
              <a:rPr sz="1000" b="0">
                <a:solidFill>
                  <a:srgbClr val="6B21D4"/>
                </a:solidFill>
                <a:latin typeface="Aptos"/>
              </a:rPr>
              <a:t>WorkSight Dev Lead</a:t>
            </a:r>
          </a:p>
        </p:txBody>
      </p:sp>
      <p:sp>
        <p:nvSpPr>
          <p:cNvPr id="32" name="Rectangle 31"/>
          <p:cNvSpPr/>
          <p:nvPr/>
        </p:nvSpPr>
        <p:spPr>
          <a:xfrm>
            <a:off x="4584192" y="1987296"/>
            <a:ext cx="1389886" cy="23164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144" rIns="9144" tIns="4572" bIns="4572"/>
          <a:lstStyle/>
          <a:p>
            <a:pPr algn="l"/>
            <a:r>
              <a:rPr sz="1000" b="0">
                <a:solidFill>
                  <a:srgbClr val="777777"/>
                </a:solidFill>
                <a:latin typeface="Aptos"/>
              </a:rPr>
              <a:t>Onshore · Cognizant</a:t>
            </a:r>
          </a:p>
        </p:txBody>
      </p:sp>
      <p:sp>
        <p:nvSpPr>
          <p:cNvPr id="33" name="Rectangle 32"/>
          <p:cNvSpPr/>
          <p:nvPr/>
        </p:nvSpPr>
        <p:spPr>
          <a:xfrm>
            <a:off x="463296" y="2218944"/>
            <a:ext cx="5547360" cy="231648"/>
          </a:xfrm>
          <a:prstGeom prst="rect">
            <a:avLst/>
          </a:prstGeom>
          <a:solidFill>
            <a:srgbClr val="FFFFFF"/>
          </a:solidFill>
          <a:ln w="4445">
            <a:solidFill>
              <a:srgbClr val="EEEE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463296" y="2218944"/>
            <a:ext cx="42672" cy="231648"/>
          </a:xfrm>
          <a:prstGeom prst="rect">
            <a:avLst/>
          </a:prstGeom>
          <a:solidFill>
            <a:srgbClr val="6B21D4"/>
          </a:solidFill>
          <a:ln>
            <a:solidFill>
              <a:srgbClr val="6B21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524256" y="2218944"/>
            <a:ext cx="2109216" cy="23164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144" rIns="9144" tIns="4572" bIns="4572"/>
          <a:lstStyle/>
          <a:p>
            <a:pPr algn="l"/>
            <a:r>
              <a:rPr sz="1000" b="1">
                <a:solidFill>
                  <a:srgbClr val="111111"/>
                </a:solidFill>
                <a:latin typeface="Aptos"/>
              </a:rPr>
              <a:t>Bharathi N</a:t>
            </a:r>
          </a:p>
        </p:txBody>
      </p:sp>
      <p:sp>
        <p:nvSpPr>
          <p:cNvPr id="36" name="Rectangle 35"/>
          <p:cNvSpPr/>
          <p:nvPr/>
        </p:nvSpPr>
        <p:spPr>
          <a:xfrm>
            <a:off x="2633472" y="2218944"/>
            <a:ext cx="1950720" cy="23164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144" rIns="9144" tIns="4572" bIns="4572"/>
          <a:lstStyle/>
          <a:p>
            <a:pPr algn="l"/>
            <a:r>
              <a:rPr sz="1000" b="0">
                <a:solidFill>
                  <a:srgbClr val="6B21D4"/>
                </a:solidFill>
                <a:latin typeface="Aptos"/>
              </a:rPr>
              <a:t>WorkSight Dev Lead</a:t>
            </a:r>
          </a:p>
        </p:txBody>
      </p:sp>
      <p:sp>
        <p:nvSpPr>
          <p:cNvPr id="37" name="Rectangle 36"/>
          <p:cNvSpPr/>
          <p:nvPr/>
        </p:nvSpPr>
        <p:spPr>
          <a:xfrm>
            <a:off x="4584192" y="2218944"/>
            <a:ext cx="1389886" cy="23164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144" rIns="9144" tIns="4572" bIns="4572"/>
          <a:lstStyle/>
          <a:p>
            <a:pPr algn="l"/>
            <a:r>
              <a:rPr sz="1000" b="0">
                <a:solidFill>
                  <a:srgbClr val="777777"/>
                </a:solidFill>
                <a:latin typeface="Aptos"/>
              </a:rPr>
              <a:t>Onshore · Cognizant</a:t>
            </a:r>
          </a:p>
        </p:txBody>
      </p:sp>
      <p:sp>
        <p:nvSpPr>
          <p:cNvPr id="38" name="Rectangle 37"/>
          <p:cNvSpPr/>
          <p:nvPr/>
        </p:nvSpPr>
        <p:spPr>
          <a:xfrm>
            <a:off x="463296" y="2450592"/>
            <a:ext cx="5547360" cy="231648"/>
          </a:xfrm>
          <a:prstGeom prst="rect">
            <a:avLst/>
          </a:prstGeom>
          <a:solidFill>
            <a:srgbClr val="F3F0FA"/>
          </a:solidFill>
          <a:ln w="4445">
            <a:solidFill>
              <a:srgbClr val="EEEE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463296" y="2450592"/>
            <a:ext cx="42672" cy="231648"/>
          </a:xfrm>
          <a:prstGeom prst="rect">
            <a:avLst/>
          </a:prstGeom>
          <a:solidFill>
            <a:srgbClr val="6B21D4"/>
          </a:solidFill>
          <a:ln>
            <a:solidFill>
              <a:srgbClr val="6B21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524256" y="2450592"/>
            <a:ext cx="2109216" cy="23164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144" rIns="9144" tIns="4572" bIns="4572"/>
          <a:lstStyle/>
          <a:p>
            <a:pPr algn="l"/>
            <a:r>
              <a:rPr sz="1000" b="1">
                <a:solidFill>
                  <a:srgbClr val="111111"/>
                </a:solidFill>
                <a:latin typeface="Aptos"/>
              </a:rPr>
              <a:t>Nagarajan S</a:t>
            </a:r>
          </a:p>
        </p:txBody>
      </p:sp>
      <p:sp>
        <p:nvSpPr>
          <p:cNvPr id="41" name="Rectangle 40"/>
          <p:cNvSpPr/>
          <p:nvPr/>
        </p:nvSpPr>
        <p:spPr>
          <a:xfrm>
            <a:off x="2633472" y="2450592"/>
            <a:ext cx="1950720" cy="23164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144" rIns="9144" tIns="4572" bIns="4572"/>
          <a:lstStyle/>
          <a:p>
            <a:pPr algn="l"/>
            <a:r>
              <a:rPr sz="1000" b="0">
                <a:solidFill>
                  <a:srgbClr val="6B21D4"/>
                </a:solidFill>
                <a:latin typeface="Aptos"/>
              </a:rPr>
              <a:t>WorkSight Dev Lead</a:t>
            </a:r>
          </a:p>
        </p:txBody>
      </p:sp>
      <p:sp>
        <p:nvSpPr>
          <p:cNvPr id="42" name="Rectangle 41"/>
          <p:cNvSpPr/>
          <p:nvPr/>
        </p:nvSpPr>
        <p:spPr>
          <a:xfrm>
            <a:off x="4584192" y="2450592"/>
            <a:ext cx="1389886" cy="23164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144" rIns="9144" tIns="4572" bIns="4572"/>
          <a:lstStyle/>
          <a:p>
            <a:pPr algn="l"/>
            <a:r>
              <a:rPr sz="1000" b="0">
                <a:solidFill>
                  <a:srgbClr val="777777"/>
                </a:solidFill>
                <a:latin typeface="Aptos"/>
              </a:rPr>
              <a:t>Offshore · Cognizant</a:t>
            </a:r>
          </a:p>
        </p:txBody>
      </p:sp>
      <p:sp>
        <p:nvSpPr>
          <p:cNvPr id="43" name="Rectangle 42"/>
          <p:cNvSpPr/>
          <p:nvPr/>
        </p:nvSpPr>
        <p:spPr>
          <a:xfrm>
            <a:off x="463296" y="2682240"/>
            <a:ext cx="5547360" cy="231648"/>
          </a:xfrm>
          <a:prstGeom prst="rect">
            <a:avLst/>
          </a:prstGeom>
          <a:solidFill>
            <a:srgbClr val="FFFFFF"/>
          </a:solidFill>
          <a:ln w="4445">
            <a:solidFill>
              <a:srgbClr val="EEEE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463296" y="2682240"/>
            <a:ext cx="42672" cy="231648"/>
          </a:xfrm>
          <a:prstGeom prst="rect">
            <a:avLst/>
          </a:prstGeom>
          <a:solidFill>
            <a:srgbClr val="6B21D4"/>
          </a:solidFill>
          <a:ln>
            <a:solidFill>
              <a:srgbClr val="6B21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524256" y="2682240"/>
            <a:ext cx="2109216" cy="23164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144" rIns="9144" tIns="4572" bIns="4572"/>
          <a:lstStyle/>
          <a:p>
            <a:pPr algn="l"/>
            <a:r>
              <a:rPr sz="1000" b="1">
                <a:solidFill>
                  <a:srgbClr val="111111"/>
                </a:solidFill>
                <a:latin typeface="Aptos"/>
              </a:rPr>
              <a:t>Periadurai S</a:t>
            </a:r>
          </a:p>
        </p:txBody>
      </p:sp>
      <p:sp>
        <p:nvSpPr>
          <p:cNvPr id="46" name="Rectangle 45"/>
          <p:cNvSpPr/>
          <p:nvPr/>
        </p:nvSpPr>
        <p:spPr>
          <a:xfrm>
            <a:off x="2633472" y="2682240"/>
            <a:ext cx="1950720" cy="23164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144" rIns="9144" tIns="4572" bIns="4572"/>
          <a:lstStyle/>
          <a:p>
            <a:pPr algn="l"/>
            <a:r>
              <a:rPr sz="1000" b="0">
                <a:solidFill>
                  <a:srgbClr val="6B21D4"/>
                </a:solidFill>
                <a:latin typeface="Aptos"/>
              </a:rPr>
              <a:t>WorkSight Dev</a:t>
            </a:r>
          </a:p>
        </p:txBody>
      </p:sp>
      <p:sp>
        <p:nvSpPr>
          <p:cNvPr id="47" name="Rectangle 46"/>
          <p:cNvSpPr/>
          <p:nvPr/>
        </p:nvSpPr>
        <p:spPr>
          <a:xfrm>
            <a:off x="4584192" y="2682240"/>
            <a:ext cx="1389886" cy="23164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144" rIns="9144" tIns="4572" bIns="4572"/>
          <a:lstStyle/>
          <a:p>
            <a:pPr algn="l"/>
            <a:r>
              <a:rPr sz="1000" b="0">
                <a:solidFill>
                  <a:srgbClr val="777777"/>
                </a:solidFill>
                <a:latin typeface="Aptos"/>
              </a:rPr>
              <a:t>Offshore · Cognizant</a:t>
            </a:r>
          </a:p>
        </p:txBody>
      </p:sp>
      <p:sp>
        <p:nvSpPr>
          <p:cNvPr id="48" name="Rectangle 47"/>
          <p:cNvSpPr/>
          <p:nvPr/>
        </p:nvSpPr>
        <p:spPr>
          <a:xfrm>
            <a:off x="463296" y="2913888"/>
            <a:ext cx="5547360" cy="231648"/>
          </a:xfrm>
          <a:prstGeom prst="rect">
            <a:avLst/>
          </a:prstGeom>
          <a:solidFill>
            <a:srgbClr val="F3F0FA"/>
          </a:solidFill>
          <a:ln w="4445">
            <a:solidFill>
              <a:srgbClr val="EEEE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ectangle 48"/>
          <p:cNvSpPr/>
          <p:nvPr/>
        </p:nvSpPr>
        <p:spPr>
          <a:xfrm>
            <a:off x="463296" y="2913888"/>
            <a:ext cx="42672" cy="231648"/>
          </a:xfrm>
          <a:prstGeom prst="rect">
            <a:avLst/>
          </a:prstGeom>
          <a:solidFill>
            <a:srgbClr val="6B21D4"/>
          </a:solidFill>
          <a:ln>
            <a:solidFill>
              <a:srgbClr val="6B21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Rectangle 49"/>
          <p:cNvSpPr/>
          <p:nvPr/>
        </p:nvSpPr>
        <p:spPr>
          <a:xfrm>
            <a:off x="524256" y="2913888"/>
            <a:ext cx="2109216" cy="23164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144" rIns="9144" tIns="4572" bIns="4572"/>
          <a:lstStyle/>
          <a:p>
            <a:pPr algn="l"/>
            <a:r>
              <a:rPr sz="1000" b="1">
                <a:solidFill>
                  <a:srgbClr val="111111"/>
                </a:solidFill>
                <a:latin typeface="Aptos"/>
              </a:rPr>
              <a:t>Jayesh Dey</a:t>
            </a:r>
          </a:p>
        </p:txBody>
      </p:sp>
      <p:sp>
        <p:nvSpPr>
          <p:cNvPr id="51" name="Rectangle 50"/>
          <p:cNvSpPr/>
          <p:nvPr/>
        </p:nvSpPr>
        <p:spPr>
          <a:xfrm>
            <a:off x="2633472" y="2913888"/>
            <a:ext cx="1950720" cy="23164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144" rIns="9144" tIns="4572" bIns="4572"/>
          <a:lstStyle/>
          <a:p>
            <a:pPr algn="l"/>
            <a:r>
              <a:rPr sz="1000" b="0">
                <a:solidFill>
                  <a:srgbClr val="6B21D4"/>
                </a:solidFill>
                <a:latin typeface="Aptos"/>
              </a:rPr>
              <a:t>WorkSight Dev</a:t>
            </a:r>
          </a:p>
        </p:txBody>
      </p:sp>
      <p:sp>
        <p:nvSpPr>
          <p:cNvPr id="52" name="Rectangle 51"/>
          <p:cNvSpPr/>
          <p:nvPr/>
        </p:nvSpPr>
        <p:spPr>
          <a:xfrm>
            <a:off x="4584192" y="2913888"/>
            <a:ext cx="1389886" cy="23164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144" rIns="9144" tIns="4572" bIns="4572"/>
          <a:lstStyle/>
          <a:p>
            <a:pPr algn="l"/>
            <a:r>
              <a:rPr sz="1000" b="0">
                <a:solidFill>
                  <a:srgbClr val="777777"/>
                </a:solidFill>
                <a:latin typeface="Aptos"/>
              </a:rPr>
              <a:t>Offshore · Cognizant</a:t>
            </a:r>
          </a:p>
        </p:txBody>
      </p:sp>
      <p:sp>
        <p:nvSpPr>
          <p:cNvPr id="53" name="Rectangle 52"/>
          <p:cNvSpPr/>
          <p:nvPr/>
        </p:nvSpPr>
        <p:spPr>
          <a:xfrm>
            <a:off x="463296" y="3145536"/>
            <a:ext cx="5547360" cy="231648"/>
          </a:xfrm>
          <a:prstGeom prst="rect">
            <a:avLst/>
          </a:prstGeom>
          <a:solidFill>
            <a:srgbClr val="FFFFFF"/>
          </a:solidFill>
          <a:ln w="4445">
            <a:solidFill>
              <a:srgbClr val="EEEE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Rectangle 53"/>
          <p:cNvSpPr/>
          <p:nvPr/>
        </p:nvSpPr>
        <p:spPr>
          <a:xfrm>
            <a:off x="463296" y="3145536"/>
            <a:ext cx="42672" cy="231648"/>
          </a:xfrm>
          <a:prstGeom prst="rect">
            <a:avLst/>
          </a:prstGeom>
          <a:solidFill>
            <a:srgbClr val="6B21D4"/>
          </a:solidFill>
          <a:ln>
            <a:solidFill>
              <a:srgbClr val="6B21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524256" y="3145536"/>
            <a:ext cx="2109216" cy="23164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144" rIns="9144" tIns="4572" bIns="4572"/>
          <a:lstStyle/>
          <a:p>
            <a:pPr algn="l"/>
            <a:r>
              <a:rPr sz="1000" b="1">
                <a:solidFill>
                  <a:srgbClr val="111111"/>
                </a:solidFill>
                <a:latin typeface="Aptos"/>
              </a:rPr>
              <a:t>Venkat R</a:t>
            </a:r>
          </a:p>
        </p:txBody>
      </p:sp>
      <p:sp>
        <p:nvSpPr>
          <p:cNvPr id="56" name="Rectangle 55"/>
          <p:cNvSpPr/>
          <p:nvPr/>
        </p:nvSpPr>
        <p:spPr>
          <a:xfrm>
            <a:off x="2633472" y="3145536"/>
            <a:ext cx="1950720" cy="23164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144" rIns="9144" tIns="4572" bIns="4572"/>
          <a:lstStyle/>
          <a:p>
            <a:pPr algn="l"/>
            <a:r>
              <a:rPr sz="1000" b="0">
                <a:solidFill>
                  <a:srgbClr val="6B21D4"/>
                </a:solidFill>
                <a:latin typeface="Aptos"/>
              </a:rPr>
              <a:t>WorkSight Dev</a:t>
            </a:r>
          </a:p>
        </p:txBody>
      </p:sp>
      <p:sp>
        <p:nvSpPr>
          <p:cNvPr id="57" name="Rectangle 56"/>
          <p:cNvSpPr/>
          <p:nvPr/>
        </p:nvSpPr>
        <p:spPr>
          <a:xfrm>
            <a:off x="4584192" y="3145536"/>
            <a:ext cx="1389886" cy="23164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144" rIns="9144" tIns="4572" bIns="4572"/>
          <a:lstStyle/>
          <a:p>
            <a:pPr algn="l"/>
            <a:r>
              <a:rPr sz="1000" b="0">
                <a:solidFill>
                  <a:srgbClr val="777777"/>
                </a:solidFill>
                <a:latin typeface="Aptos"/>
              </a:rPr>
              <a:t>Offshore · Cognizant</a:t>
            </a:r>
          </a:p>
        </p:txBody>
      </p:sp>
      <p:sp>
        <p:nvSpPr>
          <p:cNvPr id="58" name="Rectangle 57"/>
          <p:cNvSpPr/>
          <p:nvPr/>
        </p:nvSpPr>
        <p:spPr>
          <a:xfrm>
            <a:off x="463296" y="3377184"/>
            <a:ext cx="5547360" cy="231648"/>
          </a:xfrm>
          <a:prstGeom prst="rect">
            <a:avLst/>
          </a:prstGeom>
          <a:solidFill>
            <a:srgbClr val="F3F0FA"/>
          </a:solidFill>
          <a:ln w="4445">
            <a:solidFill>
              <a:srgbClr val="EEEE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Rectangle 58"/>
          <p:cNvSpPr/>
          <p:nvPr/>
        </p:nvSpPr>
        <p:spPr>
          <a:xfrm>
            <a:off x="463296" y="3377184"/>
            <a:ext cx="42672" cy="231648"/>
          </a:xfrm>
          <a:prstGeom prst="rect">
            <a:avLst/>
          </a:prstGeom>
          <a:solidFill>
            <a:srgbClr val="6B21D4"/>
          </a:solidFill>
          <a:ln>
            <a:solidFill>
              <a:srgbClr val="6B21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Rectangle 59"/>
          <p:cNvSpPr/>
          <p:nvPr/>
        </p:nvSpPr>
        <p:spPr>
          <a:xfrm>
            <a:off x="524256" y="3377184"/>
            <a:ext cx="2109216" cy="23164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144" rIns="9144" tIns="4572" bIns="4572"/>
          <a:lstStyle/>
          <a:p>
            <a:pPr algn="l"/>
            <a:r>
              <a:rPr sz="1000" b="1">
                <a:solidFill>
                  <a:srgbClr val="111111"/>
                </a:solidFill>
                <a:latin typeface="Aptos"/>
              </a:rPr>
              <a:t>Bharathi S</a:t>
            </a:r>
          </a:p>
        </p:txBody>
      </p:sp>
      <p:sp>
        <p:nvSpPr>
          <p:cNvPr id="61" name="Rectangle 60"/>
          <p:cNvSpPr/>
          <p:nvPr/>
        </p:nvSpPr>
        <p:spPr>
          <a:xfrm>
            <a:off x="2633472" y="3377184"/>
            <a:ext cx="1950720" cy="23164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144" rIns="9144" tIns="4572" bIns="4572"/>
          <a:lstStyle/>
          <a:p>
            <a:pPr algn="l"/>
            <a:r>
              <a:rPr sz="1000" b="0">
                <a:solidFill>
                  <a:srgbClr val="6B21D4"/>
                </a:solidFill>
                <a:latin typeface="Aptos"/>
              </a:rPr>
              <a:t>WorkSight Dev</a:t>
            </a:r>
          </a:p>
        </p:txBody>
      </p:sp>
      <p:sp>
        <p:nvSpPr>
          <p:cNvPr id="62" name="Rectangle 61"/>
          <p:cNvSpPr/>
          <p:nvPr/>
        </p:nvSpPr>
        <p:spPr>
          <a:xfrm>
            <a:off x="4584192" y="3377184"/>
            <a:ext cx="1389886" cy="23164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144" rIns="9144" tIns="4572" bIns="4572"/>
          <a:lstStyle/>
          <a:p>
            <a:pPr algn="l"/>
            <a:r>
              <a:rPr sz="1000" b="0">
                <a:solidFill>
                  <a:srgbClr val="777777"/>
                </a:solidFill>
                <a:latin typeface="Aptos"/>
              </a:rPr>
              <a:t>Offshore · Cognizant</a:t>
            </a:r>
          </a:p>
        </p:txBody>
      </p:sp>
      <p:sp>
        <p:nvSpPr>
          <p:cNvPr id="63" name="Rectangle 62"/>
          <p:cNvSpPr/>
          <p:nvPr/>
        </p:nvSpPr>
        <p:spPr>
          <a:xfrm>
            <a:off x="463296" y="3608832"/>
            <a:ext cx="5547360" cy="231648"/>
          </a:xfrm>
          <a:prstGeom prst="rect">
            <a:avLst/>
          </a:prstGeom>
          <a:solidFill>
            <a:srgbClr val="FFFFFF"/>
          </a:solidFill>
          <a:ln w="4445">
            <a:solidFill>
              <a:srgbClr val="EEEE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Rectangle 63"/>
          <p:cNvSpPr/>
          <p:nvPr/>
        </p:nvSpPr>
        <p:spPr>
          <a:xfrm>
            <a:off x="463296" y="3608832"/>
            <a:ext cx="42672" cy="231648"/>
          </a:xfrm>
          <a:prstGeom prst="rect">
            <a:avLst/>
          </a:prstGeom>
          <a:solidFill>
            <a:srgbClr val="6B21D4"/>
          </a:solidFill>
          <a:ln>
            <a:solidFill>
              <a:srgbClr val="6B21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Rectangle 64"/>
          <p:cNvSpPr/>
          <p:nvPr/>
        </p:nvSpPr>
        <p:spPr>
          <a:xfrm>
            <a:off x="524256" y="3608832"/>
            <a:ext cx="2109216" cy="23164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144" rIns="9144" tIns="4572" bIns="4572"/>
          <a:lstStyle/>
          <a:p>
            <a:pPr algn="l"/>
            <a:r>
              <a:rPr sz="1000" b="1">
                <a:solidFill>
                  <a:srgbClr val="111111"/>
                </a:solidFill>
                <a:latin typeface="Aptos"/>
              </a:rPr>
              <a:t>Karthik S</a:t>
            </a:r>
          </a:p>
        </p:txBody>
      </p:sp>
      <p:sp>
        <p:nvSpPr>
          <p:cNvPr id="66" name="Rectangle 65"/>
          <p:cNvSpPr/>
          <p:nvPr/>
        </p:nvSpPr>
        <p:spPr>
          <a:xfrm>
            <a:off x="2633472" y="3608832"/>
            <a:ext cx="1950720" cy="23164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144" rIns="9144" tIns="4572" bIns="4572"/>
          <a:lstStyle/>
          <a:p>
            <a:pPr algn="l"/>
            <a:r>
              <a:rPr sz="1000" b="0">
                <a:solidFill>
                  <a:srgbClr val="6B21D4"/>
                </a:solidFill>
                <a:latin typeface="Aptos"/>
              </a:rPr>
              <a:t>WorkSight Dev</a:t>
            </a:r>
          </a:p>
        </p:txBody>
      </p:sp>
      <p:sp>
        <p:nvSpPr>
          <p:cNvPr id="67" name="Rectangle 66"/>
          <p:cNvSpPr/>
          <p:nvPr/>
        </p:nvSpPr>
        <p:spPr>
          <a:xfrm>
            <a:off x="4584192" y="3608832"/>
            <a:ext cx="1389886" cy="23164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144" rIns="9144" tIns="4572" bIns="4572"/>
          <a:lstStyle/>
          <a:p>
            <a:pPr algn="l"/>
            <a:r>
              <a:rPr sz="1000" b="0">
                <a:solidFill>
                  <a:srgbClr val="777777"/>
                </a:solidFill>
                <a:latin typeface="Aptos"/>
              </a:rPr>
              <a:t>Offshore · Cognizant</a:t>
            </a:r>
          </a:p>
        </p:txBody>
      </p:sp>
      <p:sp>
        <p:nvSpPr>
          <p:cNvPr id="68" name="Rectangle 67"/>
          <p:cNvSpPr/>
          <p:nvPr/>
        </p:nvSpPr>
        <p:spPr>
          <a:xfrm>
            <a:off x="463296" y="3840480"/>
            <a:ext cx="5547360" cy="231648"/>
          </a:xfrm>
          <a:prstGeom prst="rect">
            <a:avLst/>
          </a:prstGeom>
          <a:solidFill>
            <a:srgbClr val="F3F0FA"/>
          </a:solidFill>
          <a:ln w="4445">
            <a:solidFill>
              <a:srgbClr val="EEEE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Rectangle 68"/>
          <p:cNvSpPr/>
          <p:nvPr/>
        </p:nvSpPr>
        <p:spPr>
          <a:xfrm>
            <a:off x="463296" y="3840480"/>
            <a:ext cx="42672" cy="231648"/>
          </a:xfrm>
          <a:prstGeom prst="rect">
            <a:avLst/>
          </a:prstGeom>
          <a:solidFill>
            <a:srgbClr val="6B21D4"/>
          </a:solidFill>
          <a:ln>
            <a:solidFill>
              <a:srgbClr val="6B21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Rectangle 69"/>
          <p:cNvSpPr/>
          <p:nvPr/>
        </p:nvSpPr>
        <p:spPr>
          <a:xfrm>
            <a:off x="524256" y="3840480"/>
            <a:ext cx="2109216" cy="23164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144" rIns="9144" tIns="4572" bIns="4572"/>
          <a:lstStyle/>
          <a:p>
            <a:pPr algn="l"/>
            <a:r>
              <a:rPr sz="1000" b="1">
                <a:solidFill>
                  <a:srgbClr val="111111"/>
                </a:solidFill>
                <a:latin typeface="Aptos"/>
              </a:rPr>
              <a:t>Rishabh Soti</a:t>
            </a:r>
          </a:p>
        </p:txBody>
      </p:sp>
      <p:sp>
        <p:nvSpPr>
          <p:cNvPr id="71" name="Rectangle 70"/>
          <p:cNvSpPr/>
          <p:nvPr/>
        </p:nvSpPr>
        <p:spPr>
          <a:xfrm>
            <a:off x="2633472" y="3840480"/>
            <a:ext cx="1950720" cy="23164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144" rIns="9144" tIns="4572" bIns="4572"/>
          <a:lstStyle/>
          <a:p>
            <a:pPr algn="l"/>
            <a:r>
              <a:rPr sz="1000" b="0">
                <a:solidFill>
                  <a:srgbClr val="6B21D4"/>
                </a:solidFill>
                <a:latin typeface="Aptos"/>
              </a:rPr>
              <a:t>WorkSight Dev</a:t>
            </a:r>
          </a:p>
        </p:txBody>
      </p:sp>
      <p:sp>
        <p:nvSpPr>
          <p:cNvPr id="72" name="Rectangle 71"/>
          <p:cNvSpPr/>
          <p:nvPr/>
        </p:nvSpPr>
        <p:spPr>
          <a:xfrm>
            <a:off x="4584192" y="3840480"/>
            <a:ext cx="1389886" cy="23164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144" rIns="9144" tIns="4572" bIns="4572"/>
          <a:lstStyle/>
          <a:p>
            <a:pPr algn="l"/>
            <a:r>
              <a:rPr sz="1000" b="0">
                <a:solidFill>
                  <a:srgbClr val="777777"/>
                </a:solidFill>
                <a:latin typeface="Aptos"/>
              </a:rPr>
              <a:t>Offshore · Cognizant</a:t>
            </a:r>
          </a:p>
        </p:txBody>
      </p:sp>
      <p:sp>
        <p:nvSpPr>
          <p:cNvPr id="73" name="Rectangle 72"/>
          <p:cNvSpPr/>
          <p:nvPr/>
        </p:nvSpPr>
        <p:spPr>
          <a:xfrm>
            <a:off x="6156960" y="829056"/>
            <a:ext cx="5547360" cy="231648"/>
          </a:xfrm>
          <a:prstGeom prst="rect">
            <a:avLst/>
          </a:prstGeom>
          <a:solidFill>
            <a:srgbClr val="FFFFFF"/>
          </a:solidFill>
          <a:ln w="4445">
            <a:solidFill>
              <a:srgbClr val="EEEE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Rectangle 73"/>
          <p:cNvSpPr/>
          <p:nvPr/>
        </p:nvSpPr>
        <p:spPr>
          <a:xfrm>
            <a:off x="6156960" y="829056"/>
            <a:ext cx="42672" cy="231648"/>
          </a:xfrm>
          <a:prstGeom prst="rect">
            <a:avLst/>
          </a:prstGeom>
          <a:solidFill>
            <a:srgbClr val="6B21D4"/>
          </a:solidFill>
          <a:ln>
            <a:solidFill>
              <a:srgbClr val="6B21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Rectangle 74"/>
          <p:cNvSpPr/>
          <p:nvPr/>
        </p:nvSpPr>
        <p:spPr>
          <a:xfrm>
            <a:off x="6217920" y="829056"/>
            <a:ext cx="2109216" cy="23164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144" rIns="9144" tIns="4572" bIns="4572"/>
          <a:lstStyle/>
          <a:p>
            <a:pPr algn="l"/>
            <a:r>
              <a:rPr sz="1000" b="1">
                <a:solidFill>
                  <a:srgbClr val="111111"/>
                </a:solidFill>
                <a:latin typeface="Aptos"/>
              </a:rPr>
              <a:t>Vinay Thorat</a:t>
            </a:r>
          </a:p>
        </p:txBody>
      </p:sp>
      <p:sp>
        <p:nvSpPr>
          <p:cNvPr id="76" name="Rectangle 75"/>
          <p:cNvSpPr/>
          <p:nvPr/>
        </p:nvSpPr>
        <p:spPr>
          <a:xfrm>
            <a:off x="8327136" y="829056"/>
            <a:ext cx="1950720" cy="23164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144" rIns="9144" tIns="4572" bIns="4572"/>
          <a:lstStyle/>
          <a:p>
            <a:pPr algn="l"/>
            <a:r>
              <a:rPr sz="1000" b="0">
                <a:solidFill>
                  <a:srgbClr val="6B21D4"/>
                </a:solidFill>
                <a:latin typeface="Aptos"/>
              </a:rPr>
              <a:t>WorkSight Dev</a:t>
            </a:r>
          </a:p>
        </p:txBody>
      </p:sp>
      <p:sp>
        <p:nvSpPr>
          <p:cNvPr id="77" name="Rectangle 76"/>
          <p:cNvSpPr/>
          <p:nvPr/>
        </p:nvSpPr>
        <p:spPr>
          <a:xfrm>
            <a:off x="10277856" y="829056"/>
            <a:ext cx="1389886" cy="23164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144" rIns="9144" tIns="4572" bIns="4572"/>
          <a:lstStyle/>
          <a:p>
            <a:pPr algn="l"/>
            <a:r>
              <a:rPr sz="1000" b="0">
                <a:solidFill>
                  <a:srgbClr val="777777"/>
                </a:solidFill>
                <a:latin typeface="Aptos"/>
              </a:rPr>
              <a:t>Offshore · Cognizant</a:t>
            </a:r>
          </a:p>
        </p:txBody>
      </p:sp>
      <p:sp>
        <p:nvSpPr>
          <p:cNvPr id="78" name="Rectangle 77"/>
          <p:cNvSpPr/>
          <p:nvPr/>
        </p:nvSpPr>
        <p:spPr>
          <a:xfrm>
            <a:off x="6156960" y="1060704"/>
            <a:ext cx="5547360" cy="231648"/>
          </a:xfrm>
          <a:prstGeom prst="rect">
            <a:avLst/>
          </a:prstGeom>
          <a:solidFill>
            <a:srgbClr val="F3F0FA"/>
          </a:solidFill>
          <a:ln w="4445">
            <a:solidFill>
              <a:srgbClr val="EEEE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Rectangle 78"/>
          <p:cNvSpPr/>
          <p:nvPr/>
        </p:nvSpPr>
        <p:spPr>
          <a:xfrm>
            <a:off x="6156960" y="1060704"/>
            <a:ext cx="42672" cy="231648"/>
          </a:xfrm>
          <a:prstGeom prst="rect">
            <a:avLst/>
          </a:prstGeom>
          <a:solidFill>
            <a:srgbClr val="6B21D4"/>
          </a:solidFill>
          <a:ln>
            <a:solidFill>
              <a:srgbClr val="6B21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Rectangle 79"/>
          <p:cNvSpPr/>
          <p:nvPr/>
        </p:nvSpPr>
        <p:spPr>
          <a:xfrm>
            <a:off x="6217920" y="1060704"/>
            <a:ext cx="2109216" cy="23164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144" rIns="9144" tIns="4572" bIns="4572"/>
          <a:lstStyle/>
          <a:p>
            <a:pPr algn="l"/>
            <a:r>
              <a:rPr sz="1000" b="1">
                <a:solidFill>
                  <a:srgbClr val="111111"/>
                </a:solidFill>
                <a:latin typeface="Aptos"/>
              </a:rPr>
              <a:t>Manoj J</a:t>
            </a:r>
          </a:p>
        </p:txBody>
      </p:sp>
      <p:sp>
        <p:nvSpPr>
          <p:cNvPr id="81" name="Rectangle 80"/>
          <p:cNvSpPr/>
          <p:nvPr/>
        </p:nvSpPr>
        <p:spPr>
          <a:xfrm>
            <a:off x="8327136" y="1060704"/>
            <a:ext cx="1950720" cy="23164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144" rIns="9144" tIns="4572" bIns="4572"/>
          <a:lstStyle/>
          <a:p>
            <a:pPr algn="l"/>
            <a:r>
              <a:rPr sz="1000" b="0">
                <a:solidFill>
                  <a:srgbClr val="6B21D4"/>
                </a:solidFill>
                <a:latin typeface="Aptos"/>
              </a:rPr>
              <a:t>WorkSight Dev</a:t>
            </a:r>
          </a:p>
        </p:txBody>
      </p:sp>
      <p:sp>
        <p:nvSpPr>
          <p:cNvPr id="82" name="Rectangle 81"/>
          <p:cNvSpPr/>
          <p:nvPr/>
        </p:nvSpPr>
        <p:spPr>
          <a:xfrm>
            <a:off x="10277856" y="1060704"/>
            <a:ext cx="1389886" cy="23164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144" rIns="9144" tIns="4572" bIns="4572"/>
          <a:lstStyle/>
          <a:p>
            <a:pPr algn="l"/>
            <a:r>
              <a:rPr sz="1000" b="0">
                <a:solidFill>
                  <a:srgbClr val="777777"/>
                </a:solidFill>
                <a:latin typeface="Aptos"/>
              </a:rPr>
              <a:t>Offshore · Cognizant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156960" y="1292352"/>
            <a:ext cx="5547360" cy="231648"/>
          </a:xfrm>
          <a:prstGeom prst="rect">
            <a:avLst/>
          </a:prstGeom>
          <a:solidFill>
            <a:srgbClr val="FFFFFF"/>
          </a:solidFill>
          <a:ln w="4445">
            <a:solidFill>
              <a:srgbClr val="EEEE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Rectangle 83"/>
          <p:cNvSpPr/>
          <p:nvPr/>
        </p:nvSpPr>
        <p:spPr>
          <a:xfrm>
            <a:off x="6156960" y="1292352"/>
            <a:ext cx="42672" cy="231648"/>
          </a:xfrm>
          <a:prstGeom prst="rect">
            <a:avLst/>
          </a:prstGeom>
          <a:solidFill>
            <a:srgbClr val="6B21D4"/>
          </a:solidFill>
          <a:ln>
            <a:solidFill>
              <a:srgbClr val="6B21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Rectangle 84"/>
          <p:cNvSpPr/>
          <p:nvPr/>
        </p:nvSpPr>
        <p:spPr>
          <a:xfrm>
            <a:off x="6217920" y="1292352"/>
            <a:ext cx="2109216" cy="23164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144" rIns="9144" tIns="4572" bIns="4572"/>
          <a:lstStyle/>
          <a:p>
            <a:pPr algn="l"/>
            <a:r>
              <a:rPr sz="1000" b="1">
                <a:solidFill>
                  <a:srgbClr val="111111"/>
                </a:solidFill>
                <a:latin typeface="Aptos"/>
              </a:rPr>
              <a:t>Kalyan Paladugu</a:t>
            </a:r>
          </a:p>
        </p:txBody>
      </p:sp>
      <p:sp>
        <p:nvSpPr>
          <p:cNvPr id="86" name="Rectangle 85"/>
          <p:cNvSpPr/>
          <p:nvPr/>
        </p:nvSpPr>
        <p:spPr>
          <a:xfrm>
            <a:off x="8327136" y="1292352"/>
            <a:ext cx="1950720" cy="23164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144" rIns="9144" tIns="4572" bIns="4572"/>
          <a:lstStyle/>
          <a:p>
            <a:pPr algn="l"/>
            <a:r>
              <a:rPr sz="1000" b="0">
                <a:solidFill>
                  <a:srgbClr val="6B21D4"/>
                </a:solidFill>
                <a:latin typeface="Aptos"/>
              </a:rPr>
              <a:t>WorkSight Dev</a:t>
            </a:r>
          </a:p>
        </p:txBody>
      </p:sp>
      <p:sp>
        <p:nvSpPr>
          <p:cNvPr id="87" name="Rectangle 86"/>
          <p:cNvSpPr/>
          <p:nvPr/>
        </p:nvSpPr>
        <p:spPr>
          <a:xfrm>
            <a:off x="10277856" y="1292352"/>
            <a:ext cx="1389886" cy="23164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144" rIns="9144" tIns="4572" bIns="4572"/>
          <a:lstStyle/>
          <a:p>
            <a:pPr algn="l"/>
            <a:r>
              <a:rPr sz="1000" b="0">
                <a:solidFill>
                  <a:srgbClr val="777777"/>
                </a:solidFill>
                <a:latin typeface="Aptos"/>
              </a:rPr>
              <a:t>Offshore · Cognizant</a:t>
            </a:r>
          </a:p>
        </p:txBody>
      </p:sp>
      <p:sp>
        <p:nvSpPr>
          <p:cNvPr id="88" name="Rectangle 87"/>
          <p:cNvSpPr/>
          <p:nvPr/>
        </p:nvSpPr>
        <p:spPr>
          <a:xfrm>
            <a:off x="6156960" y="1524000"/>
            <a:ext cx="5547360" cy="231648"/>
          </a:xfrm>
          <a:prstGeom prst="rect">
            <a:avLst/>
          </a:prstGeom>
          <a:solidFill>
            <a:srgbClr val="F3F0FA"/>
          </a:solidFill>
          <a:ln w="4445">
            <a:solidFill>
              <a:srgbClr val="EEEE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Rectangle 88"/>
          <p:cNvSpPr/>
          <p:nvPr/>
        </p:nvSpPr>
        <p:spPr>
          <a:xfrm>
            <a:off x="6156960" y="1524000"/>
            <a:ext cx="42672" cy="231648"/>
          </a:xfrm>
          <a:prstGeom prst="rect">
            <a:avLst/>
          </a:prstGeom>
          <a:solidFill>
            <a:srgbClr val="6B21D4"/>
          </a:solidFill>
          <a:ln>
            <a:solidFill>
              <a:srgbClr val="6B21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Rectangle 89"/>
          <p:cNvSpPr/>
          <p:nvPr/>
        </p:nvSpPr>
        <p:spPr>
          <a:xfrm>
            <a:off x="6217920" y="1524000"/>
            <a:ext cx="2109216" cy="23164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144" rIns="9144" tIns="4572" bIns="4572"/>
          <a:lstStyle/>
          <a:p>
            <a:pPr algn="l"/>
            <a:r>
              <a:rPr sz="1000" b="1">
                <a:solidFill>
                  <a:srgbClr val="111111"/>
                </a:solidFill>
                <a:latin typeface="Aptos"/>
              </a:rPr>
              <a:t>Yamuna R</a:t>
            </a:r>
          </a:p>
        </p:txBody>
      </p:sp>
      <p:sp>
        <p:nvSpPr>
          <p:cNvPr id="91" name="Rectangle 90"/>
          <p:cNvSpPr/>
          <p:nvPr/>
        </p:nvSpPr>
        <p:spPr>
          <a:xfrm>
            <a:off x="8327136" y="1524000"/>
            <a:ext cx="1950720" cy="23164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144" rIns="9144" tIns="4572" bIns="4572"/>
          <a:lstStyle/>
          <a:p>
            <a:pPr algn="l"/>
            <a:r>
              <a:rPr sz="1000" b="0">
                <a:solidFill>
                  <a:srgbClr val="6B21D4"/>
                </a:solidFill>
                <a:latin typeface="Aptos"/>
              </a:rPr>
              <a:t>WorkSight Dev</a:t>
            </a:r>
          </a:p>
        </p:txBody>
      </p:sp>
      <p:sp>
        <p:nvSpPr>
          <p:cNvPr id="92" name="Rectangle 91"/>
          <p:cNvSpPr/>
          <p:nvPr/>
        </p:nvSpPr>
        <p:spPr>
          <a:xfrm>
            <a:off x="10277856" y="1524000"/>
            <a:ext cx="1389886" cy="23164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144" rIns="9144" tIns="4572" bIns="4572"/>
          <a:lstStyle/>
          <a:p>
            <a:pPr algn="l"/>
            <a:r>
              <a:rPr sz="1000" b="0">
                <a:solidFill>
                  <a:srgbClr val="777777"/>
                </a:solidFill>
                <a:latin typeface="Aptos"/>
              </a:rPr>
              <a:t>Offshore · Cognizant</a:t>
            </a:r>
          </a:p>
        </p:txBody>
      </p:sp>
      <p:sp>
        <p:nvSpPr>
          <p:cNvPr id="93" name="Rectangle 92"/>
          <p:cNvSpPr/>
          <p:nvPr/>
        </p:nvSpPr>
        <p:spPr>
          <a:xfrm>
            <a:off x="6156960" y="1755648"/>
            <a:ext cx="5547360" cy="231648"/>
          </a:xfrm>
          <a:prstGeom prst="rect">
            <a:avLst/>
          </a:prstGeom>
          <a:solidFill>
            <a:srgbClr val="FFFFFF"/>
          </a:solidFill>
          <a:ln w="4445">
            <a:solidFill>
              <a:srgbClr val="EEEE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" name="Rectangle 93"/>
          <p:cNvSpPr/>
          <p:nvPr/>
        </p:nvSpPr>
        <p:spPr>
          <a:xfrm>
            <a:off x="6156960" y="1755648"/>
            <a:ext cx="42672" cy="231648"/>
          </a:xfrm>
          <a:prstGeom prst="rect">
            <a:avLst/>
          </a:prstGeom>
          <a:solidFill>
            <a:srgbClr val="6B21D4"/>
          </a:solidFill>
          <a:ln>
            <a:solidFill>
              <a:srgbClr val="6B21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Rectangle 94"/>
          <p:cNvSpPr/>
          <p:nvPr/>
        </p:nvSpPr>
        <p:spPr>
          <a:xfrm>
            <a:off x="6217920" y="1755648"/>
            <a:ext cx="2109216" cy="23164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144" rIns="9144" tIns="4572" bIns="4572"/>
          <a:lstStyle/>
          <a:p>
            <a:pPr algn="l"/>
            <a:r>
              <a:rPr sz="1000" b="1">
                <a:solidFill>
                  <a:srgbClr val="111111"/>
                </a:solidFill>
                <a:latin typeface="Aptos"/>
              </a:rPr>
              <a:t>Chinna B</a:t>
            </a:r>
          </a:p>
        </p:txBody>
      </p:sp>
      <p:sp>
        <p:nvSpPr>
          <p:cNvPr id="96" name="Rectangle 95"/>
          <p:cNvSpPr/>
          <p:nvPr/>
        </p:nvSpPr>
        <p:spPr>
          <a:xfrm>
            <a:off x="8327136" y="1755648"/>
            <a:ext cx="1950720" cy="23164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144" rIns="9144" tIns="4572" bIns="4572"/>
          <a:lstStyle/>
          <a:p>
            <a:pPr algn="l"/>
            <a:r>
              <a:rPr sz="1000" b="0">
                <a:solidFill>
                  <a:srgbClr val="6B21D4"/>
                </a:solidFill>
                <a:latin typeface="Aptos"/>
              </a:rPr>
              <a:t>R12 Dev</a:t>
            </a:r>
          </a:p>
        </p:txBody>
      </p:sp>
      <p:sp>
        <p:nvSpPr>
          <p:cNvPr id="97" name="Rectangle 96"/>
          <p:cNvSpPr/>
          <p:nvPr/>
        </p:nvSpPr>
        <p:spPr>
          <a:xfrm>
            <a:off x="10277856" y="1755648"/>
            <a:ext cx="1389886" cy="23164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144" rIns="9144" tIns="4572" bIns="4572"/>
          <a:lstStyle/>
          <a:p>
            <a:pPr algn="l"/>
            <a:r>
              <a:rPr sz="1000" b="0">
                <a:solidFill>
                  <a:srgbClr val="777777"/>
                </a:solidFill>
                <a:latin typeface="Aptos"/>
              </a:rPr>
              <a:t>Offshore · TCS</a:t>
            </a:r>
          </a:p>
        </p:txBody>
      </p:sp>
      <p:sp>
        <p:nvSpPr>
          <p:cNvPr id="98" name="Rectangle 97"/>
          <p:cNvSpPr/>
          <p:nvPr/>
        </p:nvSpPr>
        <p:spPr>
          <a:xfrm>
            <a:off x="6156960" y="1987296"/>
            <a:ext cx="5547360" cy="231648"/>
          </a:xfrm>
          <a:prstGeom prst="rect">
            <a:avLst/>
          </a:prstGeom>
          <a:solidFill>
            <a:srgbClr val="F3F0FA"/>
          </a:solidFill>
          <a:ln w="4445">
            <a:solidFill>
              <a:srgbClr val="EEEE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Rectangle 98"/>
          <p:cNvSpPr/>
          <p:nvPr/>
        </p:nvSpPr>
        <p:spPr>
          <a:xfrm>
            <a:off x="6156960" y="1987296"/>
            <a:ext cx="42672" cy="231648"/>
          </a:xfrm>
          <a:prstGeom prst="rect">
            <a:avLst/>
          </a:prstGeom>
          <a:solidFill>
            <a:srgbClr val="6B21D4"/>
          </a:solidFill>
          <a:ln>
            <a:solidFill>
              <a:srgbClr val="6B21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" name="Rectangle 99"/>
          <p:cNvSpPr/>
          <p:nvPr/>
        </p:nvSpPr>
        <p:spPr>
          <a:xfrm>
            <a:off x="6217920" y="1987296"/>
            <a:ext cx="2109216" cy="23164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144" rIns="9144" tIns="4572" bIns="4572"/>
          <a:lstStyle/>
          <a:p>
            <a:pPr algn="l"/>
            <a:r>
              <a:rPr sz="1000" b="1">
                <a:solidFill>
                  <a:srgbClr val="111111"/>
                </a:solidFill>
                <a:latin typeface="Aptos"/>
              </a:rPr>
              <a:t>Siva Chilamakuri</a:t>
            </a:r>
          </a:p>
        </p:txBody>
      </p:sp>
      <p:sp>
        <p:nvSpPr>
          <p:cNvPr id="101" name="Rectangle 100"/>
          <p:cNvSpPr/>
          <p:nvPr/>
        </p:nvSpPr>
        <p:spPr>
          <a:xfrm>
            <a:off x="8327136" y="1987296"/>
            <a:ext cx="1950720" cy="23164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144" rIns="9144" tIns="4572" bIns="4572"/>
          <a:lstStyle/>
          <a:p>
            <a:pPr algn="l"/>
            <a:r>
              <a:rPr sz="1000" b="0">
                <a:solidFill>
                  <a:srgbClr val="6B21D4"/>
                </a:solidFill>
                <a:latin typeface="Aptos"/>
              </a:rPr>
              <a:t>R12 Dev</a:t>
            </a:r>
          </a:p>
        </p:txBody>
      </p:sp>
      <p:sp>
        <p:nvSpPr>
          <p:cNvPr id="102" name="Rectangle 101"/>
          <p:cNvSpPr/>
          <p:nvPr/>
        </p:nvSpPr>
        <p:spPr>
          <a:xfrm>
            <a:off x="10277856" y="1987296"/>
            <a:ext cx="1389886" cy="23164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144" rIns="9144" tIns="4572" bIns="4572"/>
          <a:lstStyle/>
          <a:p>
            <a:pPr algn="l"/>
            <a:r>
              <a:rPr sz="1000" b="0">
                <a:solidFill>
                  <a:srgbClr val="777777"/>
                </a:solidFill>
                <a:latin typeface="Aptos"/>
              </a:rPr>
              <a:t>Offshore · Cognizant</a:t>
            </a:r>
          </a:p>
        </p:txBody>
      </p:sp>
      <p:sp>
        <p:nvSpPr>
          <p:cNvPr id="103" name="Rectangle 102"/>
          <p:cNvSpPr/>
          <p:nvPr/>
        </p:nvSpPr>
        <p:spPr>
          <a:xfrm>
            <a:off x="6156960" y="2218944"/>
            <a:ext cx="5547360" cy="231648"/>
          </a:xfrm>
          <a:prstGeom prst="rect">
            <a:avLst/>
          </a:prstGeom>
          <a:solidFill>
            <a:srgbClr val="FFFFFF"/>
          </a:solidFill>
          <a:ln w="4445">
            <a:solidFill>
              <a:srgbClr val="EEEE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" name="Rectangle 103"/>
          <p:cNvSpPr/>
          <p:nvPr/>
        </p:nvSpPr>
        <p:spPr>
          <a:xfrm>
            <a:off x="6156960" y="2218944"/>
            <a:ext cx="42672" cy="231648"/>
          </a:xfrm>
          <a:prstGeom prst="rect">
            <a:avLst/>
          </a:prstGeom>
          <a:solidFill>
            <a:srgbClr val="6B21D4"/>
          </a:solidFill>
          <a:ln>
            <a:solidFill>
              <a:srgbClr val="6B21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Rectangle 104"/>
          <p:cNvSpPr/>
          <p:nvPr/>
        </p:nvSpPr>
        <p:spPr>
          <a:xfrm>
            <a:off x="6217920" y="2218944"/>
            <a:ext cx="2109216" cy="23164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144" rIns="9144" tIns="4572" bIns="4572"/>
          <a:lstStyle/>
          <a:p>
            <a:pPr algn="l"/>
            <a:r>
              <a:rPr sz="1000" b="1">
                <a:solidFill>
                  <a:srgbClr val="111111"/>
                </a:solidFill>
                <a:latin typeface="Aptos"/>
              </a:rPr>
              <a:t>Sourabh B</a:t>
            </a:r>
          </a:p>
        </p:txBody>
      </p:sp>
      <p:sp>
        <p:nvSpPr>
          <p:cNvPr id="106" name="Rectangle 105"/>
          <p:cNvSpPr/>
          <p:nvPr/>
        </p:nvSpPr>
        <p:spPr>
          <a:xfrm>
            <a:off x="8327136" y="2218944"/>
            <a:ext cx="1950720" cy="23164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144" rIns="9144" tIns="4572" bIns="4572"/>
          <a:lstStyle/>
          <a:p>
            <a:pPr algn="l"/>
            <a:r>
              <a:rPr sz="1000" b="0">
                <a:solidFill>
                  <a:srgbClr val="6B21D4"/>
                </a:solidFill>
                <a:latin typeface="Aptos"/>
              </a:rPr>
              <a:t>R12 Dev</a:t>
            </a:r>
          </a:p>
        </p:txBody>
      </p:sp>
      <p:sp>
        <p:nvSpPr>
          <p:cNvPr id="107" name="Rectangle 106"/>
          <p:cNvSpPr/>
          <p:nvPr/>
        </p:nvSpPr>
        <p:spPr>
          <a:xfrm>
            <a:off x="10277856" y="2218944"/>
            <a:ext cx="1389886" cy="23164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144" rIns="9144" tIns="4572" bIns="4572"/>
          <a:lstStyle/>
          <a:p>
            <a:pPr algn="l"/>
            <a:r>
              <a:rPr sz="1000" b="0">
                <a:solidFill>
                  <a:srgbClr val="777777"/>
                </a:solidFill>
                <a:latin typeface="Aptos"/>
              </a:rPr>
              <a:t>Offshore · TCS</a:t>
            </a:r>
          </a:p>
        </p:txBody>
      </p:sp>
      <p:sp>
        <p:nvSpPr>
          <p:cNvPr id="108" name="Rectangle 107"/>
          <p:cNvSpPr/>
          <p:nvPr/>
        </p:nvSpPr>
        <p:spPr>
          <a:xfrm>
            <a:off x="6156960" y="2450592"/>
            <a:ext cx="5547360" cy="231648"/>
          </a:xfrm>
          <a:prstGeom prst="rect">
            <a:avLst/>
          </a:prstGeom>
          <a:solidFill>
            <a:srgbClr val="F3F0FA"/>
          </a:solidFill>
          <a:ln w="4445">
            <a:solidFill>
              <a:srgbClr val="EEEE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" name="Rectangle 108"/>
          <p:cNvSpPr/>
          <p:nvPr/>
        </p:nvSpPr>
        <p:spPr>
          <a:xfrm>
            <a:off x="6156960" y="2450592"/>
            <a:ext cx="42672" cy="231648"/>
          </a:xfrm>
          <a:prstGeom prst="rect">
            <a:avLst/>
          </a:prstGeom>
          <a:solidFill>
            <a:srgbClr val="6B21D4"/>
          </a:solidFill>
          <a:ln>
            <a:solidFill>
              <a:srgbClr val="6B21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" name="Rectangle 109"/>
          <p:cNvSpPr/>
          <p:nvPr/>
        </p:nvSpPr>
        <p:spPr>
          <a:xfrm>
            <a:off x="6217920" y="2450592"/>
            <a:ext cx="2109216" cy="23164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144" rIns="9144" tIns="4572" bIns="4572"/>
          <a:lstStyle/>
          <a:p>
            <a:pPr algn="l"/>
            <a:r>
              <a:rPr sz="1000" b="1">
                <a:solidFill>
                  <a:srgbClr val="111111"/>
                </a:solidFill>
                <a:latin typeface="Aptos"/>
              </a:rPr>
              <a:t>Rohan Kollipara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8327136" y="2450592"/>
            <a:ext cx="1950720" cy="23164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144" rIns="9144" tIns="4572" bIns="4572"/>
          <a:lstStyle/>
          <a:p>
            <a:pPr algn="l"/>
            <a:r>
              <a:rPr sz="1000" b="0">
                <a:solidFill>
                  <a:srgbClr val="6B21D4"/>
                </a:solidFill>
                <a:latin typeface="Aptos"/>
              </a:rPr>
              <a:t>Developer</a:t>
            </a:r>
          </a:p>
        </p:txBody>
      </p:sp>
      <p:sp>
        <p:nvSpPr>
          <p:cNvPr id="112" name="Rectangle 111"/>
          <p:cNvSpPr/>
          <p:nvPr/>
        </p:nvSpPr>
        <p:spPr>
          <a:xfrm>
            <a:off x="10277856" y="2450592"/>
            <a:ext cx="1389886" cy="23164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144" rIns="9144" tIns="4572" bIns="4572"/>
          <a:lstStyle/>
          <a:p>
            <a:pPr algn="l"/>
            <a:r>
              <a:rPr sz="1000" b="0">
                <a:solidFill>
                  <a:srgbClr val="777777"/>
                </a:solidFill>
                <a:latin typeface="Aptos"/>
              </a:rPr>
              <a:t>Offshore · Cognizant</a:t>
            </a:r>
          </a:p>
        </p:txBody>
      </p:sp>
      <p:sp>
        <p:nvSpPr>
          <p:cNvPr id="113" name="Rectangle 112"/>
          <p:cNvSpPr/>
          <p:nvPr/>
        </p:nvSpPr>
        <p:spPr>
          <a:xfrm>
            <a:off x="6156960" y="2682240"/>
            <a:ext cx="5547360" cy="231648"/>
          </a:xfrm>
          <a:prstGeom prst="rect">
            <a:avLst/>
          </a:prstGeom>
          <a:solidFill>
            <a:srgbClr val="FFFFFF"/>
          </a:solidFill>
          <a:ln w="4445">
            <a:solidFill>
              <a:srgbClr val="EEEE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" name="Rectangle 113"/>
          <p:cNvSpPr/>
          <p:nvPr/>
        </p:nvSpPr>
        <p:spPr>
          <a:xfrm>
            <a:off x="6156960" y="2682240"/>
            <a:ext cx="42672" cy="231648"/>
          </a:xfrm>
          <a:prstGeom prst="rect">
            <a:avLst/>
          </a:prstGeom>
          <a:solidFill>
            <a:srgbClr val="6B21D4"/>
          </a:solidFill>
          <a:ln>
            <a:solidFill>
              <a:srgbClr val="6B21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" name="Rectangle 114"/>
          <p:cNvSpPr/>
          <p:nvPr/>
        </p:nvSpPr>
        <p:spPr>
          <a:xfrm>
            <a:off x="6217920" y="2682240"/>
            <a:ext cx="2109216" cy="23164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144" rIns="9144" tIns="4572" bIns="4572"/>
          <a:lstStyle/>
          <a:p>
            <a:pPr algn="l"/>
            <a:r>
              <a:rPr sz="1000" b="1">
                <a:solidFill>
                  <a:srgbClr val="111111"/>
                </a:solidFill>
                <a:latin typeface="Aptos"/>
              </a:rPr>
              <a:t>Raghu Maity</a:t>
            </a:r>
          </a:p>
        </p:txBody>
      </p:sp>
      <p:sp>
        <p:nvSpPr>
          <p:cNvPr id="116" name="Rectangle 115"/>
          <p:cNvSpPr/>
          <p:nvPr/>
        </p:nvSpPr>
        <p:spPr>
          <a:xfrm>
            <a:off x="8327136" y="2682240"/>
            <a:ext cx="1950720" cy="23164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144" rIns="9144" tIns="4572" bIns="4572"/>
          <a:lstStyle/>
          <a:p>
            <a:pPr algn="l"/>
            <a:r>
              <a:rPr sz="1000" b="0">
                <a:solidFill>
                  <a:srgbClr val="6B21D4"/>
                </a:solidFill>
                <a:latin typeface="Aptos"/>
              </a:rPr>
              <a:t>Dev – R12</a:t>
            </a:r>
          </a:p>
        </p:txBody>
      </p:sp>
      <p:sp>
        <p:nvSpPr>
          <p:cNvPr id="117" name="Rectangle 116"/>
          <p:cNvSpPr/>
          <p:nvPr/>
        </p:nvSpPr>
        <p:spPr>
          <a:xfrm>
            <a:off x="10277856" y="2682240"/>
            <a:ext cx="1389886" cy="23164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144" rIns="9144" tIns="4572" bIns="4572"/>
          <a:lstStyle/>
          <a:p>
            <a:pPr algn="l"/>
            <a:r>
              <a:rPr sz="1000" b="0">
                <a:solidFill>
                  <a:srgbClr val="777777"/>
                </a:solidFill>
                <a:latin typeface="Aptos"/>
              </a:rPr>
              <a:t>Offshore · Cognizant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6156960" y="2913888"/>
            <a:ext cx="5547360" cy="231648"/>
          </a:xfrm>
          <a:prstGeom prst="rect">
            <a:avLst/>
          </a:prstGeom>
          <a:solidFill>
            <a:srgbClr val="F3F0FA"/>
          </a:solidFill>
          <a:ln w="4445">
            <a:solidFill>
              <a:srgbClr val="EEEE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Rectangle 118"/>
          <p:cNvSpPr/>
          <p:nvPr/>
        </p:nvSpPr>
        <p:spPr>
          <a:xfrm>
            <a:off x="6156960" y="2913888"/>
            <a:ext cx="42672" cy="231648"/>
          </a:xfrm>
          <a:prstGeom prst="rect">
            <a:avLst/>
          </a:prstGeom>
          <a:solidFill>
            <a:srgbClr val="6B21D4"/>
          </a:solidFill>
          <a:ln>
            <a:solidFill>
              <a:srgbClr val="6B21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0" name="Rectangle 119"/>
          <p:cNvSpPr/>
          <p:nvPr/>
        </p:nvSpPr>
        <p:spPr>
          <a:xfrm>
            <a:off x="6217920" y="2913888"/>
            <a:ext cx="2109216" cy="23164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144" rIns="9144" tIns="4572" bIns="4572"/>
          <a:lstStyle/>
          <a:p>
            <a:pPr algn="l"/>
            <a:r>
              <a:rPr sz="1000" b="1">
                <a:solidFill>
                  <a:srgbClr val="111111"/>
                </a:solidFill>
                <a:latin typeface="Aptos"/>
              </a:rPr>
              <a:t>Satheesh Kutuva</a:t>
            </a:r>
          </a:p>
        </p:txBody>
      </p:sp>
      <p:sp>
        <p:nvSpPr>
          <p:cNvPr id="121" name="Rectangle 120"/>
          <p:cNvSpPr/>
          <p:nvPr/>
        </p:nvSpPr>
        <p:spPr>
          <a:xfrm>
            <a:off x="8327136" y="2913888"/>
            <a:ext cx="1950720" cy="23164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144" rIns="9144" tIns="4572" bIns="4572"/>
          <a:lstStyle/>
          <a:p>
            <a:pPr algn="l"/>
            <a:r>
              <a:rPr sz="1000" b="0">
                <a:solidFill>
                  <a:srgbClr val="6B21D4"/>
                </a:solidFill>
                <a:latin typeface="Aptos"/>
              </a:rPr>
              <a:t>Dev – R12</a:t>
            </a:r>
          </a:p>
        </p:txBody>
      </p:sp>
      <p:sp>
        <p:nvSpPr>
          <p:cNvPr id="122" name="Rectangle 121"/>
          <p:cNvSpPr/>
          <p:nvPr/>
        </p:nvSpPr>
        <p:spPr>
          <a:xfrm>
            <a:off x="10277856" y="2913888"/>
            <a:ext cx="1389886" cy="23164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144" rIns="9144" tIns="4572" bIns="4572"/>
          <a:lstStyle/>
          <a:p>
            <a:pPr algn="l"/>
            <a:r>
              <a:rPr sz="1000" b="0">
                <a:solidFill>
                  <a:srgbClr val="777777"/>
                </a:solidFill>
                <a:latin typeface="Aptos"/>
              </a:rPr>
              <a:t>Offshore · Cognizant</a:t>
            </a:r>
          </a:p>
        </p:txBody>
      </p:sp>
      <p:sp>
        <p:nvSpPr>
          <p:cNvPr id="123" name="Rectangle 122"/>
          <p:cNvSpPr/>
          <p:nvPr/>
        </p:nvSpPr>
        <p:spPr>
          <a:xfrm>
            <a:off x="6156960" y="3145536"/>
            <a:ext cx="5547360" cy="231648"/>
          </a:xfrm>
          <a:prstGeom prst="rect">
            <a:avLst/>
          </a:prstGeom>
          <a:solidFill>
            <a:srgbClr val="FFFFFF"/>
          </a:solidFill>
          <a:ln w="4445">
            <a:solidFill>
              <a:srgbClr val="EEEE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4" name="Rectangle 123"/>
          <p:cNvSpPr/>
          <p:nvPr/>
        </p:nvSpPr>
        <p:spPr>
          <a:xfrm>
            <a:off x="6156960" y="3145536"/>
            <a:ext cx="42672" cy="231648"/>
          </a:xfrm>
          <a:prstGeom prst="rect">
            <a:avLst/>
          </a:prstGeom>
          <a:solidFill>
            <a:srgbClr val="6B21D4"/>
          </a:solidFill>
          <a:ln>
            <a:solidFill>
              <a:srgbClr val="6B21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5" name="Rectangle 124"/>
          <p:cNvSpPr/>
          <p:nvPr/>
        </p:nvSpPr>
        <p:spPr>
          <a:xfrm>
            <a:off x="6217920" y="3145536"/>
            <a:ext cx="2109216" cy="23164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144" rIns="9144" tIns="4572" bIns="4572"/>
          <a:lstStyle/>
          <a:p>
            <a:pPr algn="l"/>
            <a:r>
              <a:rPr sz="1000" b="1">
                <a:solidFill>
                  <a:srgbClr val="111111"/>
                </a:solidFill>
                <a:latin typeface="Aptos"/>
              </a:rPr>
              <a:t>Soumen Ghosh</a:t>
            </a:r>
          </a:p>
        </p:txBody>
      </p:sp>
      <p:sp>
        <p:nvSpPr>
          <p:cNvPr id="126" name="Rectangle 125"/>
          <p:cNvSpPr/>
          <p:nvPr/>
        </p:nvSpPr>
        <p:spPr>
          <a:xfrm>
            <a:off x="8327136" y="3145536"/>
            <a:ext cx="1950720" cy="23164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144" rIns="9144" tIns="4572" bIns="4572"/>
          <a:lstStyle/>
          <a:p>
            <a:pPr algn="l"/>
            <a:r>
              <a:rPr sz="1000" b="0">
                <a:solidFill>
                  <a:srgbClr val="6B21D4"/>
                </a:solidFill>
                <a:latin typeface="Aptos"/>
              </a:rPr>
              <a:t>Dev – R12</a:t>
            </a:r>
          </a:p>
        </p:txBody>
      </p:sp>
      <p:sp>
        <p:nvSpPr>
          <p:cNvPr id="127" name="Rectangle 126"/>
          <p:cNvSpPr/>
          <p:nvPr/>
        </p:nvSpPr>
        <p:spPr>
          <a:xfrm>
            <a:off x="10277856" y="3145536"/>
            <a:ext cx="1389886" cy="23164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144" rIns="9144" tIns="4572" bIns="4572"/>
          <a:lstStyle/>
          <a:p>
            <a:pPr algn="l"/>
            <a:r>
              <a:rPr sz="1000" b="0">
                <a:solidFill>
                  <a:srgbClr val="777777"/>
                </a:solidFill>
                <a:latin typeface="Aptos"/>
              </a:rPr>
              <a:t>Onshore · Contractor</a:t>
            </a:r>
          </a:p>
        </p:txBody>
      </p:sp>
      <p:sp>
        <p:nvSpPr>
          <p:cNvPr id="128" name="Rectangle 127"/>
          <p:cNvSpPr/>
          <p:nvPr/>
        </p:nvSpPr>
        <p:spPr>
          <a:xfrm>
            <a:off x="6156960" y="3377184"/>
            <a:ext cx="5547360" cy="231648"/>
          </a:xfrm>
          <a:prstGeom prst="rect">
            <a:avLst/>
          </a:prstGeom>
          <a:solidFill>
            <a:srgbClr val="F3F0FA"/>
          </a:solidFill>
          <a:ln w="4445">
            <a:solidFill>
              <a:srgbClr val="EEEE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9" name="Rectangle 128"/>
          <p:cNvSpPr/>
          <p:nvPr/>
        </p:nvSpPr>
        <p:spPr>
          <a:xfrm>
            <a:off x="6156960" y="3377184"/>
            <a:ext cx="42672" cy="231648"/>
          </a:xfrm>
          <a:prstGeom prst="rect">
            <a:avLst/>
          </a:prstGeom>
          <a:solidFill>
            <a:srgbClr val="6B21D4"/>
          </a:solidFill>
          <a:ln>
            <a:solidFill>
              <a:srgbClr val="6B21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0" name="Rectangle 129"/>
          <p:cNvSpPr/>
          <p:nvPr/>
        </p:nvSpPr>
        <p:spPr>
          <a:xfrm>
            <a:off x="6217920" y="3377184"/>
            <a:ext cx="2109216" cy="23164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144" rIns="9144" tIns="4572" bIns="4572"/>
          <a:lstStyle/>
          <a:p>
            <a:pPr algn="l"/>
            <a:r>
              <a:rPr sz="1000" b="1">
                <a:solidFill>
                  <a:srgbClr val="111111"/>
                </a:solidFill>
                <a:latin typeface="Aptos"/>
              </a:rPr>
              <a:t>Santhosh R</a:t>
            </a:r>
          </a:p>
        </p:txBody>
      </p:sp>
      <p:sp>
        <p:nvSpPr>
          <p:cNvPr id="131" name="Rectangle 130"/>
          <p:cNvSpPr/>
          <p:nvPr/>
        </p:nvSpPr>
        <p:spPr>
          <a:xfrm>
            <a:off x="8327136" y="3377184"/>
            <a:ext cx="1950720" cy="23164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144" rIns="9144" tIns="4572" bIns="4572"/>
          <a:lstStyle/>
          <a:p>
            <a:pPr algn="l"/>
            <a:r>
              <a:rPr sz="1000" b="0">
                <a:solidFill>
                  <a:srgbClr val="6B21D4"/>
                </a:solidFill>
                <a:latin typeface="Aptos"/>
              </a:rPr>
              <a:t>Dev – R12</a:t>
            </a:r>
          </a:p>
        </p:txBody>
      </p:sp>
      <p:sp>
        <p:nvSpPr>
          <p:cNvPr id="132" name="Rectangle 131"/>
          <p:cNvSpPr/>
          <p:nvPr/>
        </p:nvSpPr>
        <p:spPr>
          <a:xfrm>
            <a:off x="10277856" y="3377184"/>
            <a:ext cx="1389886" cy="23164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144" rIns="9144" tIns="4572" bIns="4572"/>
          <a:lstStyle/>
          <a:p>
            <a:pPr algn="l"/>
            <a:r>
              <a:rPr sz="1000" b="0">
                <a:solidFill>
                  <a:srgbClr val="777777"/>
                </a:solidFill>
                <a:latin typeface="Aptos"/>
              </a:rPr>
              <a:t>Onshore · Cognizant</a:t>
            </a:r>
          </a:p>
        </p:txBody>
      </p:sp>
      <p:sp>
        <p:nvSpPr>
          <p:cNvPr id="133" name="Rectangle 132"/>
          <p:cNvSpPr/>
          <p:nvPr/>
        </p:nvSpPr>
        <p:spPr>
          <a:xfrm>
            <a:off x="6156960" y="3608832"/>
            <a:ext cx="5547360" cy="231648"/>
          </a:xfrm>
          <a:prstGeom prst="rect">
            <a:avLst/>
          </a:prstGeom>
          <a:solidFill>
            <a:srgbClr val="FFFFFF"/>
          </a:solidFill>
          <a:ln w="4445">
            <a:solidFill>
              <a:srgbClr val="EEEE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4" name="Rectangle 133"/>
          <p:cNvSpPr/>
          <p:nvPr/>
        </p:nvSpPr>
        <p:spPr>
          <a:xfrm>
            <a:off x="6156960" y="3608832"/>
            <a:ext cx="42672" cy="231648"/>
          </a:xfrm>
          <a:prstGeom prst="rect">
            <a:avLst/>
          </a:prstGeom>
          <a:solidFill>
            <a:srgbClr val="6B21D4"/>
          </a:solidFill>
          <a:ln>
            <a:solidFill>
              <a:srgbClr val="6B21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5" name="Rectangle 134"/>
          <p:cNvSpPr/>
          <p:nvPr/>
        </p:nvSpPr>
        <p:spPr>
          <a:xfrm>
            <a:off x="6217920" y="3608832"/>
            <a:ext cx="2109216" cy="23164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144" rIns="9144" tIns="4572" bIns="4572"/>
          <a:lstStyle/>
          <a:p>
            <a:pPr algn="l"/>
            <a:r>
              <a:rPr sz="1000" b="1">
                <a:solidFill>
                  <a:srgbClr val="111111"/>
                </a:solidFill>
                <a:latin typeface="Aptos"/>
              </a:rPr>
              <a:t>Sharanappa S</a:t>
            </a:r>
          </a:p>
        </p:txBody>
      </p:sp>
      <p:sp>
        <p:nvSpPr>
          <p:cNvPr id="136" name="Rectangle 135"/>
          <p:cNvSpPr/>
          <p:nvPr/>
        </p:nvSpPr>
        <p:spPr>
          <a:xfrm>
            <a:off x="8327136" y="3608832"/>
            <a:ext cx="1950720" cy="23164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144" rIns="9144" tIns="4572" bIns="4572"/>
          <a:lstStyle/>
          <a:p>
            <a:pPr algn="l"/>
            <a:r>
              <a:rPr sz="1000" b="0">
                <a:solidFill>
                  <a:srgbClr val="6B21D4"/>
                </a:solidFill>
                <a:latin typeface="Aptos"/>
              </a:rPr>
              <a:t>Developer</a:t>
            </a:r>
          </a:p>
        </p:txBody>
      </p:sp>
      <p:sp>
        <p:nvSpPr>
          <p:cNvPr id="137" name="Rectangle 136"/>
          <p:cNvSpPr/>
          <p:nvPr/>
        </p:nvSpPr>
        <p:spPr>
          <a:xfrm>
            <a:off x="10277856" y="3608832"/>
            <a:ext cx="1389886" cy="23164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144" rIns="9144" tIns="4572" bIns="4572"/>
          <a:lstStyle/>
          <a:p>
            <a:pPr algn="l"/>
            <a:r>
              <a:rPr sz="1000" b="0">
                <a:solidFill>
                  <a:srgbClr val="777777"/>
                </a:solidFill>
                <a:latin typeface="Aptos"/>
              </a:rPr>
              <a:t>Offshore · Trane-ITC-C2H</a:t>
            </a:r>
          </a:p>
        </p:txBody>
      </p:sp>
      <p:sp>
        <p:nvSpPr>
          <p:cNvPr id="138" name="Rectangle 137"/>
          <p:cNvSpPr/>
          <p:nvPr/>
        </p:nvSpPr>
        <p:spPr>
          <a:xfrm>
            <a:off x="463296" y="6388608"/>
            <a:ext cx="426720" cy="219456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4572" bIns="4572"/>
          <a:lstStyle/>
          <a:p>
            <a:pPr algn="l"/>
            <a:r>
              <a:rPr sz="900" b="0">
                <a:solidFill>
                  <a:srgbClr val="777777"/>
                </a:solidFill>
                <a:latin typeface="Aptos"/>
              </a:rPr>
              <a:t>9</a:t>
            </a:r>
          </a:p>
        </p:txBody>
      </p:sp>
      <p:pic>
        <p:nvPicPr>
          <p:cNvPr id="139" name="Picture 138" descr="trane_real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424160" y="6156960"/>
            <a:ext cx="1463040" cy="633984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63296" y="158496"/>
            <a:ext cx="11265408" cy="41452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4572" bIns="4572"/>
          <a:lstStyle/>
          <a:p>
            <a:pPr algn="l"/>
            <a:r>
              <a:rPr sz="2400" b="1">
                <a:solidFill>
                  <a:srgbClr val="6B21D4"/>
                </a:solidFill>
                <a:latin typeface="Aptos"/>
              </a:rPr>
              <a:t>Other Teams – WorkPackage, TSA, TDA, Jobs CoJo, Documents, Service</a:t>
            </a:r>
          </a:p>
        </p:txBody>
      </p:sp>
      <p:sp>
        <p:nvSpPr>
          <p:cNvPr id="3" name="Rectangle 2"/>
          <p:cNvSpPr/>
          <p:nvPr/>
        </p:nvSpPr>
        <p:spPr>
          <a:xfrm>
            <a:off x="463296" y="829056"/>
            <a:ext cx="5547360" cy="24384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4572" bIns="4572"/>
          <a:lstStyle/>
          <a:p>
            <a:pPr algn="l"/>
            <a:r>
              <a:rPr sz="1000" b="1">
                <a:solidFill>
                  <a:srgbClr val="4A148C"/>
                </a:solidFill>
                <a:latin typeface="Aptos"/>
              </a:rPr>
              <a:t>WorkPackage QA</a:t>
            </a:r>
          </a:p>
        </p:txBody>
      </p:sp>
      <p:sp>
        <p:nvSpPr>
          <p:cNvPr id="4" name="Rectangle 3"/>
          <p:cNvSpPr/>
          <p:nvPr/>
        </p:nvSpPr>
        <p:spPr>
          <a:xfrm>
            <a:off x="463296" y="1097280"/>
            <a:ext cx="5547360" cy="231648"/>
          </a:xfrm>
          <a:prstGeom prst="rect">
            <a:avLst/>
          </a:prstGeom>
          <a:solidFill>
            <a:srgbClr val="FFFFFF"/>
          </a:solidFill>
          <a:ln w="4445">
            <a:solidFill>
              <a:srgbClr val="EEEE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63296" y="1097280"/>
            <a:ext cx="42672" cy="231648"/>
          </a:xfrm>
          <a:prstGeom prst="rect">
            <a:avLst/>
          </a:prstGeom>
          <a:solidFill>
            <a:srgbClr val="6B21D4"/>
          </a:solidFill>
          <a:ln>
            <a:solidFill>
              <a:srgbClr val="6B21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24256" y="1097280"/>
            <a:ext cx="2109216" cy="23164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144" rIns="9144" tIns="4572" bIns="4572"/>
          <a:lstStyle/>
          <a:p>
            <a:pPr algn="l"/>
            <a:r>
              <a:rPr sz="1000" b="1">
                <a:solidFill>
                  <a:srgbClr val="111111"/>
                </a:solidFill>
                <a:latin typeface="Aptos"/>
              </a:rPr>
              <a:t>Likhith Pateel</a:t>
            </a:r>
          </a:p>
        </p:txBody>
      </p:sp>
      <p:sp>
        <p:nvSpPr>
          <p:cNvPr id="7" name="Rectangle 6"/>
          <p:cNvSpPr/>
          <p:nvPr/>
        </p:nvSpPr>
        <p:spPr>
          <a:xfrm>
            <a:off x="2633472" y="1097280"/>
            <a:ext cx="1950720" cy="23164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144" rIns="9144" tIns="4572" bIns="4572"/>
          <a:lstStyle/>
          <a:p>
            <a:pPr algn="l"/>
            <a:r>
              <a:rPr sz="1000" b="0">
                <a:solidFill>
                  <a:srgbClr val="6B21D4"/>
                </a:solidFill>
                <a:latin typeface="Aptos"/>
              </a:rPr>
              <a:t>QA Lead</a:t>
            </a:r>
          </a:p>
        </p:txBody>
      </p:sp>
      <p:sp>
        <p:nvSpPr>
          <p:cNvPr id="8" name="Rectangle 7"/>
          <p:cNvSpPr/>
          <p:nvPr/>
        </p:nvSpPr>
        <p:spPr>
          <a:xfrm>
            <a:off x="4584192" y="1097280"/>
            <a:ext cx="1389886" cy="23164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144" rIns="9144" tIns="4572" bIns="4572"/>
          <a:lstStyle/>
          <a:p>
            <a:pPr algn="l"/>
            <a:r>
              <a:rPr sz="900" b="0">
                <a:solidFill>
                  <a:srgbClr val="777777"/>
                </a:solidFill>
                <a:latin typeface="Aptos"/>
              </a:rPr>
              <a:t>Offshore · Trane-ITC</a:t>
            </a:r>
          </a:p>
        </p:txBody>
      </p:sp>
      <p:sp>
        <p:nvSpPr>
          <p:cNvPr id="9" name="Rectangle 8"/>
          <p:cNvSpPr/>
          <p:nvPr/>
        </p:nvSpPr>
        <p:spPr>
          <a:xfrm>
            <a:off x="463296" y="1328928"/>
            <a:ext cx="5547360" cy="231648"/>
          </a:xfrm>
          <a:prstGeom prst="rect">
            <a:avLst/>
          </a:prstGeom>
          <a:solidFill>
            <a:srgbClr val="F3F0FA"/>
          </a:solidFill>
          <a:ln w="4445">
            <a:solidFill>
              <a:srgbClr val="EEEE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63296" y="1328928"/>
            <a:ext cx="42672" cy="231648"/>
          </a:xfrm>
          <a:prstGeom prst="rect">
            <a:avLst/>
          </a:prstGeom>
          <a:solidFill>
            <a:srgbClr val="6B21D4"/>
          </a:solidFill>
          <a:ln>
            <a:solidFill>
              <a:srgbClr val="6B21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24256" y="1328928"/>
            <a:ext cx="2109216" cy="23164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144" rIns="9144" tIns="4572" bIns="4572"/>
          <a:lstStyle/>
          <a:p>
            <a:pPr algn="l"/>
            <a:r>
              <a:rPr sz="1000" b="1">
                <a:solidFill>
                  <a:srgbClr val="111111"/>
                </a:solidFill>
                <a:latin typeface="Aptos"/>
              </a:rPr>
              <a:t>Sudha Malbhage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633472" y="1328928"/>
            <a:ext cx="1950720" cy="23164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144" rIns="9144" tIns="4572" bIns="4572"/>
          <a:lstStyle/>
          <a:p>
            <a:pPr algn="l"/>
            <a:r>
              <a:rPr sz="1000" b="0">
                <a:solidFill>
                  <a:srgbClr val="6B21D4"/>
                </a:solidFill>
                <a:latin typeface="Aptos"/>
              </a:rPr>
              <a:t>QA – Functional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584192" y="1328928"/>
            <a:ext cx="1389886" cy="23164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144" rIns="9144" tIns="4572" bIns="4572"/>
          <a:lstStyle/>
          <a:p>
            <a:pPr algn="l"/>
            <a:r>
              <a:rPr sz="900" b="0">
                <a:solidFill>
                  <a:srgbClr val="777777"/>
                </a:solidFill>
                <a:latin typeface="Aptos"/>
              </a:rPr>
              <a:t>Offshore · Trane-ITC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63296" y="1560576"/>
            <a:ext cx="5547360" cy="231648"/>
          </a:xfrm>
          <a:prstGeom prst="rect">
            <a:avLst/>
          </a:prstGeom>
          <a:solidFill>
            <a:srgbClr val="FFFFFF"/>
          </a:solidFill>
          <a:ln w="4445">
            <a:solidFill>
              <a:srgbClr val="EEEE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63296" y="1560576"/>
            <a:ext cx="42672" cy="231648"/>
          </a:xfrm>
          <a:prstGeom prst="rect">
            <a:avLst/>
          </a:prstGeom>
          <a:solidFill>
            <a:srgbClr val="6B21D4"/>
          </a:solidFill>
          <a:ln>
            <a:solidFill>
              <a:srgbClr val="6B21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24256" y="1560576"/>
            <a:ext cx="2109216" cy="23164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144" rIns="9144" tIns="4572" bIns="4572"/>
          <a:lstStyle/>
          <a:p>
            <a:pPr algn="l"/>
            <a:r>
              <a:rPr sz="1000" b="1">
                <a:solidFill>
                  <a:srgbClr val="111111"/>
                </a:solidFill>
                <a:latin typeface="Aptos"/>
              </a:rPr>
              <a:t>Nitesh Achari</a:t>
            </a:r>
          </a:p>
        </p:txBody>
      </p:sp>
      <p:sp>
        <p:nvSpPr>
          <p:cNvPr id="17" name="Rectangle 16"/>
          <p:cNvSpPr/>
          <p:nvPr/>
        </p:nvSpPr>
        <p:spPr>
          <a:xfrm>
            <a:off x="2633472" y="1560576"/>
            <a:ext cx="1950720" cy="23164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144" rIns="9144" tIns="4572" bIns="4572"/>
          <a:lstStyle/>
          <a:p>
            <a:pPr algn="l"/>
            <a:r>
              <a:rPr sz="1000" b="0">
                <a:solidFill>
                  <a:srgbClr val="6B21D4"/>
                </a:solidFill>
                <a:latin typeface="Aptos"/>
              </a:rPr>
              <a:t>QA – Functional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584192" y="1560576"/>
            <a:ext cx="1389886" cy="23164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144" rIns="9144" tIns="4572" bIns="4572"/>
          <a:lstStyle/>
          <a:p>
            <a:pPr algn="l"/>
            <a:r>
              <a:rPr sz="900" b="0">
                <a:solidFill>
                  <a:srgbClr val="777777"/>
                </a:solidFill>
                <a:latin typeface="Aptos"/>
              </a:rPr>
              <a:t>Offshore · Trane-ITC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63296" y="1792224"/>
            <a:ext cx="5547360" cy="231648"/>
          </a:xfrm>
          <a:prstGeom prst="rect">
            <a:avLst/>
          </a:prstGeom>
          <a:solidFill>
            <a:srgbClr val="F3F0FA"/>
          </a:solidFill>
          <a:ln w="4445">
            <a:solidFill>
              <a:srgbClr val="EEEE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463296" y="1792224"/>
            <a:ext cx="42672" cy="231648"/>
          </a:xfrm>
          <a:prstGeom prst="rect">
            <a:avLst/>
          </a:prstGeom>
          <a:solidFill>
            <a:srgbClr val="6B21D4"/>
          </a:solidFill>
          <a:ln>
            <a:solidFill>
              <a:srgbClr val="6B21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524256" y="1792224"/>
            <a:ext cx="2109216" cy="23164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144" rIns="9144" tIns="4572" bIns="4572"/>
          <a:lstStyle/>
          <a:p>
            <a:pPr algn="l"/>
            <a:r>
              <a:rPr sz="1000" b="1">
                <a:solidFill>
                  <a:srgbClr val="111111"/>
                </a:solidFill>
                <a:latin typeface="Aptos"/>
              </a:rPr>
              <a:t>Pradeep K Battula</a:t>
            </a:r>
          </a:p>
        </p:txBody>
      </p:sp>
      <p:sp>
        <p:nvSpPr>
          <p:cNvPr id="22" name="Rectangle 21"/>
          <p:cNvSpPr/>
          <p:nvPr/>
        </p:nvSpPr>
        <p:spPr>
          <a:xfrm>
            <a:off x="2633472" y="1792224"/>
            <a:ext cx="1950720" cy="23164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144" rIns="9144" tIns="4572" bIns="4572"/>
          <a:lstStyle/>
          <a:p>
            <a:pPr algn="l"/>
            <a:r>
              <a:rPr sz="1000" b="0">
                <a:solidFill>
                  <a:srgbClr val="6B21D4"/>
                </a:solidFill>
                <a:latin typeface="Aptos"/>
              </a:rPr>
              <a:t>QA – Automation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584192" y="1792224"/>
            <a:ext cx="1389886" cy="23164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144" rIns="9144" tIns="4572" bIns="4572"/>
          <a:lstStyle/>
          <a:p>
            <a:pPr algn="l"/>
            <a:r>
              <a:rPr sz="900" b="0">
                <a:solidFill>
                  <a:srgbClr val="777777"/>
                </a:solidFill>
                <a:latin typeface="Aptos"/>
              </a:rPr>
              <a:t>Offshore · Trane-ITC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63296" y="2255520"/>
            <a:ext cx="5547360" cy="24384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4572" bIns="4572"/>
          <a:lstStyle/>
          <a:p>
            <a:pPr algn="l"/>
            <a:r>
              <a:rPr sz="1000" b="1">
                <a:solidFill>
                  <a:srgbClr val="4A148C"/>
                </a:solidFill>
                <a:latin typeface="Aptos"/>
              </a:rPr>
              <a:t>TSA QA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63296" y="2523744"/>
            <a:ext cx="5547360" cy="231648"/>
          </a:xfrm>
          <a:prstGeom prst="rect">
            <a:avLst/>
          </a:prstGeom>
          <a:solidFill>
            <a:srgbClr val="FFFFFF"/>
          </a:solidFill>
          <a:ln w="4445">
            <a:solidFill>
              <a:srgbClr val="EEEE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463296" y="2523744"/>
            <a:ext cx="42672" cy="231648"/>
          </a:xfrm>
          <a:prstGeom prst="rect">
            <a:avLst/>
          </a:prstGeom>
          <a:solidFill>
            <a:srgbClr val="6B21D4"/>
          </a:solidFill>
          <a:ln>
            <a:solidFill>
              <a:srgbClr val="6B21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524256" y="2523744"/>
            <a:ext cx="2109216" cy="23164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144" rIns="9144" tIns="4572" bIns="4572"/>
          <a:lstStyle/>
          <a:p>
            <a:pPr algn="l"/>
            <a:r>
              <a:rPr sz="1000" b="1">
                <a:solidFill>
                  <a:srgbClr val="111111"/>
                </a:solidFill>
                <a:latin typeface="Aptos"/>
              </a:rPr>
              <a:t>Varsha Chitray</a:t>
            </a:r>
          </a:p>
        </p:txBody>
      </p:sp>
      <p:sp>
        <p:nvSpPr>
          <p:cNvPr id="28" name="Rectangle 27"/>
          <p:cNvSpPr/>
          <p:nvPr/>
        </p:nvSpPr>
        <p:spPr>
          <a:xfrm>
            <a:off x="2633472" y="2523744"/>
            <a:ext cx="1950720" cy="23164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144" rIns="9144" tIns="4572" bIns="4572"/>
          <a:lstStyle/>
          <a:p>
            <a:pPr algn="l"/>
            <a:r>
              <a:rPr sz="1000" b="0">
                <a:solidFill>
                  <a:srgbClr val="6B21D4"/>
                </a:solidFill>
                <a:latin typeface="Aptos"/>
              </a:rPr>
              <a:t>QA Lead</a:t>
            </a:r>
          </a:p>
        </p:txBody>
      </p:sp>
      <p:sp>
        <p:nvSpPr>
          <p:cNvPr id="29" name="Rectangle 28"/>
          <p:cNvSpPr/>
          <p:nvPr/>
        </p:nvSpPr>
        <p:spPr>
          <a:xfrm>
            <a:off x="4584192" y="2523744"/>
            <a:ext cx="1389886" cy="23164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144" rIns="9144" tIns="4572" bIns="4572"/>
          <a:lstStyle/>
          <a:p>
            <a:pPr algn="l"/>
            <a:r>
              <a:rPr sz="900" b="0">
                <a:solidFill>
                  <a:srgbClr val="777777"/>
                </a:solidFill>
                <a:latin typeface="Aptos"/>
              </a:rPr>
              <a:t>Offshore · Trane-ITC</a:t>
            </a:r>
          </a:p>
        </p:txBody>
      </p:sp>
      <p:sp>
        <p:nvSpPr>
          <p:cNvPr id="30" name="Rectangle 29"/>
          <p:cNvSpPr/>
          <p:nvPr/>
        </p:nvSpPr>
        <p:spPr>
          <a:xfrm>
            <a:off x="463296" y="2755392"/>
            <a:ext cx="5547360" cy="231648"/>
          </a:xfrm>
          <a:prstGeom prst="rect">
            <a:avLst/>
          </a:prstGeom>
          <a:solidFill>
            <a:srgbClr val="F3F0FA"/>
          </a:solidFill>
          <a:ln w="4445">
            <a:solidFill>
              <a:srgbClr val="EEEE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463296" y="2755392"/>
            <a:ext cx="42672" cy="231648"/>
          </a:xfrm>
          <a:prstGeom prst="rect">
            <a:avLst/>
          </a:prstGeom>
          <a:solidFill>
            <a:srgbClr val="6B21D4"/>
          </a:solidFill>
          <a:ln>
            <a:solidFill>
              <a:srgbClr val="6B21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524256" y="2755392"/>
            <a:ext cx="2109216" cy="23164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144" rIns="9144" tIns="4572" bIns="4572"/>
          <a:lstStyle/>
          <a:p>
            <a:pPr algn="l"/>
            <a:r>
              <a:rPr sz="1000" b="1">
                <a:solidFill>
                  <a:srgbClr val="111111"/>
                </a:solidFill>
                <a:latin typeface="Aptos"/>
              </a:rPr>
              <a:t>Prarthana</a:t>
            </a:r>
          </a:p>
        </p:txBody>
      </p:sp>
      <p:sp>
        <p:nvSpPr>
          <p:cNvPr id="33" name="Rectangle 32"/>
          <p:cNvSpPr/>
          <p:nvPr/>
        </p:nvSpPr>
        <p:spPr>
          <a:xfrm>
            <a:off x="2633472" y="2755392"/>
            <a:ext cx="1950720" cy="23164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144" rIns="9144" tIns="4572" bIns="4572"/>
          <a:lstStyle/>
          <a:p>
            <a:pPr algn="l"/>
            <a:r>
              <a:rPr sz="1000" b="0">
                <a:solidFill>
                  <a:srgbClr val="6B21D4"/>
                </a:solidFill>
                <a:latin typeface="Aptos"/>
              </a:rPr>
              <a:t>QA – Functional</a:t>
            </a:r>
          </a:p>
        </p:txBody>
      </p:sp>
      <p:sp>
        <p:nvSpPr>
          <p:cNvPr id="34" name="Rectangle 33"/>
          <p:cNvSpPr/>
          <p:nvPr/>
        </p:nvSpPr>
        <p:spPr>
          <a:xfrm>
            <a:off x="4584192" y="2755392"/>
            <a:ext cx="1389886" cy="23164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144" rIns="9144" tIns="4572" bIns="4572"/>
          <a:lstStyle/>
          <a:p>
            <a:pPr algn="l"/>
            <a:r>
              <a:rPr sz="900" b="0">
                <a:solidFill>
                  <a:srgbClr val="777777"/>
                </a:solidFill>
                <a:latin typeface="Aptos"/>
              </a:rPr>
              <a:t>Offshore · Trane-ITC-C2H</a:t>
            </a:r>
          </a:p>
        </p:txBody>
      </p:sp>
      <p:sp>
        <p:nvSpPr>
          <p:cNvPr id="35" name="Rectangle 34"/>
          <p:cNvSpPr/>
          <p:nvPr/>
        </p:nvSpPr>
        <p:spPr>
          <a:xfrm>
            <a:off x="463296" y="2987040"/>
            <a:ext cx="5547360" cy="231648"/>
          </a:xfrm>
          <a:prstGeom prst="rect">
            <a:avLst/>
          </a:prstGeom>
          <a:solidFill>
            <a:srgbClr val="FFFFFF"/>
          </a:solidFill>
          <a:ln w="4445">
            <a:solidFill>
              <a:srgbClr val="EEEE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463296" y="2987040"/>
            <a:ext cx="42672" cy="231648"/>
          </a:xfrm>
          <a:prstGeom prst="rect">
            <a:avLst/>
          </a:prstGeom>
          <a:solidFill>
            <a:srgbClr val="6B21D4"/>
          </a:solidFill>
          <a:ln>
            <a:solidFill>
              <a:srgbClr val="6B21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524256" y="2987040"/>
            <a:ext cx="2109216" cy="23164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144" rIns="9144" tIns="4572" bIns="4572"/>
          <a:lstStyle/>
          <a:p>
            <a:pPr algn="l"/>
            <a:r>
              <a:rPr sz="1000" b="1">
                <a:solidFill>
                  <a:srgbClr val="111111"/>
                </a:solidFill>
                <a:latin typeface="Aptos"/>
              </a:rPr>
              <a:t>Sagar</a:t>
            </a:r>
          </a:p>
        </p:txBody>
      </p:sp>
      <p:sp>
        <p:nvSpPr>
          <p:cNvPr id="38" name="Rectangle 37"/>
          <p:cNvSpPr/>
          <p:nvPr/>
        </p:nvSpPr>
        <p:spPr>
          <a:xfrm>
            <a:off x="2633472" y="2987040"/>
            <a:ext cx="1950720" cy="23164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144" rIns="9144" tIns="4572" bIns="4572"/>
          <a:lstStyle/>
          <a:p>
            <a:pPr algn="l"/>
            <a:r>
              <a:rPr sz="1000" b="0">
                <a:solidFill>
                  <a:srgbClr val="6B21D4"/>
                </a:solidFill>
                <a:latin typeface="Aptos"/>
              </a:rPr>
              <a:t>QA – Functional</a:t>
            </a:r>
          </a:p>
        </p:txBody>
      </p:sp>
      <p:sp>
        <p:nvSpPr>
          <p:cNvPr id="39" name="Rectangle 38"/>
          <p:cNvSpPr/>
          <p:nvPr/>
        </p:nvSpPr>
        <p:spPr>
          <a:xfrm>
            <a:off x="4584192" y="2987040"/>
            <a:ext cx="1389886" cy="23164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144" rIns="9144" tIns="4572" bIns="4572"/>
          <a:lstStyle/>
          <a:p>
            <a:pPr algn="l"/>
            <a:r>
              <a:rPr sz="900" b="0">
                <a:solidFill>
                  <a:srgbClr val="777777"/>
                </a:solidFill>
                <a:latin typeface="Aptos"/>
              </a:rPr>
              <a:t>Offshore · Trane-ITC-C2H</a:t>
            </a:r>
          </a:p>
        </p:txBody>
      </p:sp>
      <p:sp>
        <p:nvSpPr>
          <p:cNvPr id="40" name="Rectangle 39"/>
          <p:cNvSpPr/>
          <p:nvPr/>
        </p:nvSpPr>
        <p:spPr>
          <a:xfrm>
            <a:off x="463296" y="3218688"/>
            <a:ext cx="5547360" cy="231648"/>
          </a:xfrm>
          <a:prstGeom prst="rect">
            <a:avLst/>
          </a:prstGeom>
          <a:solidFill>
            <a:srgbClr val="F3F0FA"/>
          </a:solidFill>
          <a:ln w="4445">
            <a:solidFill>
              <a:srgbClr val="EEEE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463296" y="3218688"/>
            <a:ext cx="42672" cy="231648"/>
          </a:xfrm>
          <a:prstGeom prst="rect">
            <a:avLst/>
          </a:prstGeom>
          <a:solidFill>
            <a:srgbClr val="6B21D4"/>
          </a:solidFill>
          <a:ln>
            <a:solidFill>
              <a:srgbClr val="6B21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524256" y="3218688"/>
            <a:ext cx="2109216" cy="23164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144" rIns="9144" tIns="4572" bIns="4572"/>
          <a:lstStyle/>
          <a:p>
            <a:pPr algn="l"/>
            <a:r>
              <a:rPr sz="1000" b="1">
                <a:solidFill>
                  <a:srgbClr val="111111"/>
                </a:solidFill>
                <a:latin typeface="Aptos"/>
              </a:rPr>
              <a:t>Aastha Tripathi</a:t>
            </a:r>
          </a:p>
        </p:txBody>
      </p:sp>
      <p:sp>
        <p:nvSpPr>
          <p:cNvPr id="43" name="Rectangle 42"/>
          <p:cNvSpPr/>
          <p:nvPr/>
        </p:nvSpPr>
        <p:spPr>
          <a:xfrm>
            <a:off x="2633472" y="3218688"/>
            <a:ext cx="1950720" cy="23164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144" rIns="9144" tIns="4572" bIns="4572"/>
          <a:lstStyle/>
          <a:p>
            <a:pPr algn="l"/>
            <a:r>
              <a:rPr sz="1000" b="0">
                <a:solidFill>
                  <a:srgbClr val="6B21D4"/>
                </a:solidFill>
                <a:latin typeface="Aptos"/>
              </a:rPr>
              <a:t>QA – Func/Auto</a:t>
            </a:r>
          </a:p>
        </p:txBody>
      </p:sp>
      <p:sp>
        <p:nvSpPr>
          <p:cNvPr id="44" name="Rectangle 43"/>
          <p:cNvSpPr/>
          <p:nvPr/>
        </p:nvSpPr>
        <p:spPr>
          <a:xfrm>
            <a:off x="4584192" y="3218688"/>
            <a:ext cx="1389886" cy="23164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144" rIns="9144" tIns="4572" bIns="4572"/>
          <a:lstStyle/>
          <a:p>
            <a:pPr algn="l"/>
            <a:r>
              <a:rPr sz="900" b="0">
                <a:solidFill>
                  <a:srgbClr val="777777"/>
                </a:solidFill>
                <a:latin typeface="Aptos"/>
              </a:rPr>
              <a:t>Offshore · Trane-ITC</a:t>
            </a:r>
          </a:p>
        </p:txBody>
      </p:sp>
      <p:sp>
        <p:nvSpPr>
          <p:cNvPr id="45" name="Rectangle 44"/>
          <p:cNvSpPr/>
          <p:nvPr/>
        </p:nvSpPr>
        <p:spPr>
          <a:xfrm>
            <a:off x="463296" y="3718560"/>
            <a:ext cx="5547360" cy="24384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4572" bIns="4572"/>
          <a:lstStyle/>
          <a:p>
            <a:pPr algn="l"/>
            <a:r>
              <a:rPr sz="1000" b="1">
                <a:solidFill>
                  <a:srgbClr val="4A148C"/>
                </a:solidFill>
                <a:latin typeface="Aptos"/>
              </a:rPr>
              <a:t>TDA QA</a:t>
            </a:r>
          </a:p>
        </p:txBody>
      </p:sp>
      <p:sp>
        <p:nvSpPr>
          <p:cNvPr id="46" name="Rectangle 45"/>
          <p:cNvSpPr/>
          <p:nvPr/>
        </p:nvSpPr>
        <p:spPr>
          <a:xfrm>
            <a:off x="463296" y="3986784"/>
            <a:ext cx="5547360" cy="231648"/>
          </a:xfrm>
          <a:prstGeom prst="rect">
            <a:avLst/>
          </a:prstGeom>
          <a:solidFill>
            <a:srgbClr val="FFFFFF"/>
          </a:solidFill>
          <a:ln w="4445">
            <a:solidFill>
              <a:srgbClr val="EEEE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463296" y="3986784"/>
            <a:ext cx="42672" cy="231648"/>
          </a:xfrm>
          <a:prstGeom prst="rect">
            <a:avLst/>
          </a:prstGeom>
          <a:solidFill>
            <a:srgbClr val="6B21D4"/>
          </a:solidFill>
          <a:ln>
            <a:solidFill>
              <a:srgbClr val="6B21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524256" y="3986784"/>
            <a:ext cx="2109216" cy="23164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144" rIns="9144" tIns="4572" bIns="4572"/>
          <a:lstStyle/>
          <a:p>
            <a:pPr algn="l"/>
            <a:r>
              <a:rPr sz="1000" b="1">
                <a:solidFill>
                  <a:srgbClr val="111111"/>
                </a:solidFill>
                <a:latin typeface="Aptos"/>
              </a:rPr>
              <a:t>Naveen H</a:t>
            </a:r>
          </a:p>
        </p:txBody>
      </p:sp>
      <p:sp>
        <p:nvSpPr>
          <p:cNvPr id="49" name="Rectangle 48"/>
          <p:cNvSpPr/>
          <p:nvPr/>
        </p:nvSpPr>
        <p:spPr>
          <a:xfrm>
            <a:off x="2633472" y="3986784"/>
            <a:ext cx="1950720" cy="23164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144" rIns="9144" tIns="4572" bIns="4572"/>
          <a:lstStyle/>
          <a:p>
            <a:pPr algn="l"/>
            <a:r>
              <a:rPr sz="1000" b="0">
                <a:solidFill>
                  <a:srgbClr val="6B21D4"/>
                </a:solidFill>
                <a:latin typeface="Aptos"/>
              </a:rPr>
              <a:t>QA Lead</a:t>
            </a:r>
          </a:p>
        </p:txBody>
      </p:sp>
      <p:sp>
        <p:nvSpPr>
          <p:cNvPr id="50" name="Rectangle 49"/>
          <p:cNvSpPr/>
          <p:nvPr/>
        </p:nvSpPr>
        <p:spPr>
          <a:xfrm>
            <a:off x="4584192" y="3986784"/>
            <a:ext cx="1389886" cy="23164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144" rIns="9144" tIns="4572" bIns="4572"/>
          <a:lstStyle/>
          <a:p>
            <a:pPr algn="l"/>
            <a:r>
              <a:rPr sz="900" b="0">
                <a:solidFill>
                  <a:srgbClr val="777777"/>
                </a:solidFill>
                <a:latin typeface="Aptos"/>
              </a:rPr>
              <a:t>Offshore · Trane-ITC</a:t>
            </a:r>
          </a:p>
        </p:txBody>
      </p:sp>
      <p:sp>
        <p:nvSpPr>
          <p:cNvPr id="51" name="Rectangle 50"/>
          <p:cNvSpPr/>
          <p:nvPr/>
        </p:nvSpPr>
        <p:spPr>
          <a:xfrm>
            <a:off x="463296" y="4218432"/>
            <a:ext cx="5547360" cy="231648"/>
          </a:xfrm>
          <a:prstGeom prst="rect">
            <a:avLst/>
          </a:prstGeom>
          <a:solidFill>
            <a:srgbClr val="F3F0FA"/>
          </a:solidFill>
          <a:ln w="4445">
            <a:solidFill>
              <a:srgbClr val="EEEE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Rectangle 51"/>
          <p:cNvSpPr/>
          <p:nvPr/>
        </p:nvSpPr>
        <p:spPr>
          <a:xfrm>
            <a:off x="463296" y="4218432"/>
            <a:ext cx="42672" cy="231648"/>
          </a:xfrm>
          <a:prstGeom prst="rect">
            <a:avLst/>
          </a:prstGeom>
          <a:solidFill>
            <a:srgbClr val="6B21D4"/>
          </a:solidFill>
          <a:ln>
            <a:solidFill>
              <a:srgbClr val="6B21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Rectangle 52"/>
          <p:cNvSpPr/>
          <p:nvPr/>
        </p:nvSpPr>
        <p:spPr>
          <a:xfrm>
            <a:off x="524256" y="4218432"/>
            <a:ext cx="2109216" cy="23164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144" rIns="9144" tIns="4572" bIns="4572"/>
          <a:lstStyle/>
          <a:p>
            <a:pPr algn="l"/>
            <a:r>
              <a:rPr sz="1000" b="1">
                <a:solidFill>
                  <a:srgbClr val="111111"/>
                </a:solidFill>
                <a:latin typeface="Aptos"/>
              </a:rPr>
              <a:t>Navya B R</a:t>
            </a:r>
          </a:p>
        </p:txBody>
      </p:sp>
      <p:sp>
        <p:nvSpPr>
          <p:cNvPr id="54" name="Rectangle 53"/>
          <p:cNvSpPr/>
          <p:nvPr/>
        </p:nvSpPr>
        <p:spPr>
          <a:xfrm>
            <a:off x="2633472" y="4218432"/>
            <a:ext cx="1950720" cy="23164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144" rIns="9144" tIns="4572" bIns="4572"/>
          <a:lstStyle/>
          <a:p>
            <a:pPr algn="l"/>
            <a:r>
              <a:rPr sz="1000" b="0">
                <a:solidFill>
                  <a:srgbClr val="6B21D4"/>
                </a:solidFill>
                <a:latin typeface="Aptos"/>
              </a:rPr>
              <a:t>QA</a:t>
            </a:r>
          </a:p>
        </p:txBody>
      </p:sp>
      <p:sp>
        <p:nvSpPr>
          <p:cNvPr id="55" name="Rectangle 54"/>
          <p:cNvSpPr/>
          <p:nvPr/>
        </p:nvSpPr>
        <p:spPr>
          <a:xfrm>
            <a:off x="4584192" y="4218432"/>
            <a:ext cx="1389886" cy="23164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144" rIns="9144" tIns="4572" bIns="4572"/>
          <a:lstStyle/>
          <a:p>
            <a:pPr algn="l"/>
            <a:r>
              <a:rPr sz="900" b="0">
                <a:solidFill>
                  <a:srgbClr val="777777"/>
                </a:solidFill>
                <a:latin typeface="Aptos"/>
              </a:rPr>
              <a:t>Offshore · Trane-ITC-C2H</a:t>
            </a:r>
          </a:p>
        </p:txBody>
      </p:sp>
      <p:sp>
        <p:nvSpPr>
          <p:cNvPr id="56" name="Rectangle 55"/>
          <p:cNvSpPr/>
          <p:nvPr/>
        </p:nvSpPr>
        <p:spPr>
          <a:xfrm>
            <a:off x="463296" y="4450080"/>
            <a:ext cx="5547360" cy="231648"/>
          </a:xfrm>
          <a:prstGeom prst="rect">
            <a:avLst/>
          </a:prstGeom>
          <a:solidFill>
            <a:srgbClr val="FFFFFF"/>
          </a:solidFill>
          <a:ln w="4445">
            <a:solidFill>
              <a:srgbClr val="EEEE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Rectangle 56"/>
          <p:cNvSpPr/>
          <p:nvPr/>
        </p:nvSpPr>
        <p:spPr>
          <a:xfrm>
            <a:off x="463296" y="4450080"/>
            <a:ext cx="42672" cy="231648"/>
          </a:xfrm>
          <a:prstGeom prst="rect">
            <a:avLst/>
          </a:prstGeom>
          <a:solidFill>
            <a:srgbClr val="6B21D4"/>
          </a:solidFill>
          <a:ln>
            <a:solidFill>
              <a:srgbClr val="6B21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Rectangle 57"/>
          <p:cNvSpPr/>
          <p:nvPr/>
        </p:nvSpPr>
        <p:spPr>
          <a:xfrm>
            <a:off x="524256" y="4450080"/>
            <a:ext cx="2109216" cy="23164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144" rIns="9144" tIns="4572" bIns="4572"/>
          <a:lstStyle/>
          <a:p>
            <a:pPr algn="l"/>
            <a:r>
              <a:rPr sz="1000" b="1">
                <a:solidFill>
                  <a:srgbClr val="111111"/>
                </a:solidFill>
                <a:latin typeface="Aptos"/>
              </a:rPr>
              <a:t>Manoj Kulkarni</a:t>
            </a:r>
          </a:p>
        </p:txBody>
      </p:sp>
      <p:sp>
        <p:nvSpPr>
          <p:cNvPr id="59" name="Rectangle 58"/>
          <p:cNvSpPr/>
          <p:nvPr/>
        </p:nvSpPr>
        <p:spPr>
          <a:xfrm>
            <a:off x="2633472" y="4450080"/>
            <a:ext cx="1950720" cy="23164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144" rIns="9144" tIns="4572" bIns="4572"/>
          <a:lstStyle/>
          <a:p>
            <a:pPr algn="l"/>
            <a:r>
              <a:rPr sz="1000" b="0">
                <a:solidFill>
                  <a:srgbClr val="6B21D4"/>
                </a:solidFill>
                <a:latin typeface="Aptos"/>
              </a:rPr>
              <a:t>QA</a:t>
            </a:r>
          </a:p>
        </p:txBody>
      </p:sp>
      <p:sp>
        <p:nvSpPr>
          <p:cNvPr id="60" name="Rectangle 59"/>
          <p:cNvSpPr/>
          <p:nvPr/>
        </p:nvSpPr>
        <p:spPr>
          <a:xfrm>
            <a:off x="4584192" y="4450080"/>
            <a:ext cx="1389886" cy="23164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144" rIns="9144" tIns="4572" bIns="4572"/>
          <a:lstStyle/>
          <a:p>
            <a:pPr algn="l"/>
            <a:r>
              <a:rPr sz="900" b="0">
                <a:solidFill>
                  <a:srgbClr val="777777"/>
                </a:solidFill>
                <a:latin typeface="Aptos"/>
              </a:rPr>
              <a:t>Offshore · Trane-ITC-C2H</a:t>
            </a:r>
          </a:p>
        </p:txBody>
      </p:sp>
      <p:sp>
        <p:nvSpPr>
          <p:cNvPr id="61" name="Rectangle 60"/>
          <p:cNvSpPr/>
          <p:nvPr/>
        </p:nvSpPr>
        <p:spPr>
          <a:xfrm>
            <a:off x="463296" y="4681728"/>
            <a:ext cx="5547360" cy="231648"/>
          </a:xfrm>
          <a:prstGeom prst="rect">
            <a:avLst/>
          </a:prstGeom>
          <a:solidFill>
            <a:srgbClr val="F3F0FA"/>
          </a:solidFill>
          <a:ln w="4445">
            <a:solidFill>
              <a:srgbClr val="EEEE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Rectangle 61"/>
          <p:cNvSpPr/>
          <p:nvPr/>
        </p:nvSpPr>
        <p:spPr>
          <a:xfrm>
            <a:off x="463296" y="4681728"/>
            <a:ext cx="42672" cy="231648"/>
          </a:xfrm>
          <a:prstGeom prst="rect">
            <a:avLst/>
          </a:prstGeom>
          <a:solidFill>
            <a:srgbClr val="6B21D4"/>
          </a:solidFill>
          <a:ln>
            <a:solidFill>
              <a:srgbClr val="6B21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Rectangle 62"/>
          <p:cNvSpPr/>
          <p:nvPr/>
        </p:nvSpPr>
        <p:spPr>
          <a:xfrm>
            <a:off x="524256" y="4681728"/>
            <a:ext cx="2109216" cy="23164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144" rIns="9144" tIns="4572" bIns="4572"/>
          <a:lstStyle/>
          <a:p>
            <a:pPr algn="l"/>
            <a:r>
              <a:rPr sz="1000" b="1">
                <a:solidFill>
                  <a:srgbClr val="111111"/>
                </a:solidFill>
                <a:latin typeface="Aptos"/>
              </a:rPr>
              <a:t>Gurulingappa</a:t>
            </a:r>
          </a:p>
        </p:txBody>
      </p:sp>
      <p:sp>
        <p:nvSpPr>
          <p:cNvPr id="64" name="Rectangle 63"/>
          <p:cNvSpPr/>
          <p:nvPr/>
        </p:nvSpPr>
        <p:spPr>
          <a:xfrm>
            <a:off x="2633472" y="4681728"/>
            <a:ext cx="1950720" cy="23164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144" rIns="9144" tIns="4572" bIns="4572"/>
          <a:lstStyle/>
          <a:p>
            <a:pPr algn="l"/>
            <a:r>
              <a:rPr sz="1000" b="0">
                <a:solidFill>
                  <a:srgbClr val="6B21D4"/>
                </a:solidFill>
                <a:latin typeface="Aptos"/>
              </a:rPr>
              <a:t>QA</a:t>
            </a:r>
          </a:p>
        </p:txBody>
      </p:sp>
      <p:sp>
        <p:nvSpPr>
          <p:cNvPr id="65" name="Rectangle 64"/>
          <p:cNvSpPr/>
          <p:nvPr/>
        </p:nvSpPr>
        <p:spPr>
          <a:xfrm>
            <a:off x="4584192" y="4681728"/>
            <a:ext cx="1389886" cy="23164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144" rIns="9144" tIns="4572" bIns="4572"/>
          <a:lstStyle/>
          <a:p>
            <a:pPr algn="l"/>
            <a:r>
              <a:rPr sz="900" b="0">
                <a:solidFill>
                  <a:srgbClr val="777777"/>
                </a:solidFill>
                <a:latin typeface="Aptos"/>
              </a:rPr>
              <a:t>Offshore · Trane-ITC-C2H</a:t>
            </a:r>
          </a:p>
        </p:txBody>
      </p:sp>
      <p:sp>
        <p:nvSpPr>
          <p:cNvPr id="66" name="Rectangle 65"/>
          <p:cNvSpPr/>
          <p:nvPr/>
        </p:nvSpPr>
        <p:spPr>
          <a:xfrm>
            <a:off x="6156960" y="829056"/>
            <a:ext cx="5547360" cy="24384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4572" bIns="4572"/>
          <a:lstStyle/>
          <a:p>
            <a:pPr algn="l"/>
            <a:r>
              <a:rPr sz="1000" b="1">
                <a:solidFill>
                  <a:srgbClr val="4A148C"/>
                </a:solidFill>
                <a:latin typeface="Aptos"/>
              </a:rPr>
              <a:t>Jobs CoJo QA &amp; Key</a:t>
            </a:r>
          </a:p>
        </p:txBody>
      </p:sp>
      <p:sp>
        <p:nvSpPr>
          <p:cNvPr id="67" name="Rectangle 66"/>
          <p:cNvSpPr/>
          <p:nvPr/>
        </p:nvSpPr>
        <p:spPr>
          <a:xfrm>
            <a:off x="6156960" y="1097280"/>
            <a:ext cx="5547360" cy="231648"/>
          </a:xfrm>
          <a:prstGeom prst="rect">
            <a:avLst/>
          </a:prstGeom>
          <a:solidFill>
            <a:srgbClr val="FFFFFF"/>
          </a:solidFill>
          <a:ln w="4445">
            <a:solidFill>
              <a:srgbClr val="EEEE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Rectangle 67"/>
          <p:cNvSpPr/>
          <p:nvPr/>
        </p:nvSpPr>
        <p:spPr>
          <a:xfrm>
            <a:off x="6156960" y="1097280"/>
            <a:ext cx="42672" cy="231648"/>
          </a:xfrm>
          <a:prstGeom prst="rect">
            <a:avLst/>
          </a:prstGeom>
          <a:solidFill>
            <a:srgbClr val="6B21D4"/>
          </a:solidFill>
          <a:ln>
            <a:solidFill>
              <a:srgbClr val="6B21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Rectangle 68"/>
          <p:cNvSpPr/>
          <p:nvPr/>
        </p:nvSpPr>
        <p:spPr>
          <a:xfrm>
            <a:off x="6217920" y="1097280"/>
            <a:ext cx="2109216" cy="23164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144" rIns="9144" tIns="4572" bIns="4572"/>
          <a:lstStyle/>
          <a:p>
            <a:pPr algn="l"/>
            <a:r>
              <a:rPr sz="1000" b="1">
                <a:solidFill>
                  <a:srgbClr val="111111"/>
                </a:solidFill>
                <a:latin typeface="Aptos"/>
              </a:rPr>
              <a:t>Rashmi Ranganath</a:t>
            </a:r>
          </a:p>
        </p:txBody>
      </p:sp>
      <p:sp>
        <p:nvSpPr>
          <p:cNvPr id="70" name="Rectangle 69"/>
          <p:cNvSpPr/>
          <p:nvPr/>
        </p:nvSpPr>
        <p:spPr>
          <a:xfrm>
            <a:off x="8327136" y="1097280"/>
            <a:ext cx="1950720" cy="23164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144" rIns="9144" tIns="4572" bIns="4572"/>
          <a:lstStyle/>
          <a:p>
            <a:pPr algn="l"/>
            <a:r>
              <a:rPr sz="1000" b="0">
                <a:solidFill>
                  <a:srgbClr val="6B21D4"/>
                </a:solidFill>
                <a:latin typeface="Aptos"/>
              </a:rPr>
              <a:t>QA Lead</a:t>
            </a:r>
          </a:p>
        </p:txBody>
      </p:sp>
      <p:sp>
        <p:nvSpPr>
          <p:cNvPr id="71" name="Rectangle 70"/>
          <p:cNvSpPr/>
          <p:nvPr/>
        </p:nvSpPr>
        <p:spPr>
          <a:xfrm>
            <a:off x="10277856" y="1097280"/>
            <a:ext cx="1389886" cy="23164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144" rIns="9144" tIns="4572" bIns="4572"/>
          <a:lstStyle/>
          <a:p>
            <a:pPr algn="l"/>
            <a:r>
              <a:rPr sz="900" b="0">
                <a:solidFill>
                  <a:srgbClr val="777777"/>
                </a:solidFill>
                <a:latin typeface="Aptos"/>
              </a:rPr>
              <a:t>Offshore · Trane-ITC</a:t>
            </a:r>
          </a:p>
        </p:txBody>
      </p:sp>
      <p:sp>
        <p:nvSpPr>
          <p:cNvPr id="72" name="Rectangle 71"/>
          <p:cNvSpPr/>
          <p:nvPr/>
        </p:nvSpPr>
        <p:spPr>
          <a:xfrm>
            <a:off x="6156960" y="1328928"/>
            <a:ext cx="5547360" cy="231648"/>
          </a:xfrm>
          <a:prstGeom prst="rect">
            <a:avLst/>
          </a:prstGeom>
          <a:solidFill>
            <a:srgbClr val="F3F0FA"/>
          </a:solidFill>
          <a:ln w="4445">
            <a:solidFill>
              <a:srgbClr val="EEEE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Rectangle 72"/>
          <p:cNvSpPr/>
          <p:nvPr/>
        </p:nvSpPr>
        <p:spPr>
          <a:xfrm>
            <a:off x="6156960" y="1328928"/>
            <a:ext cx="42672" cy="231648"/>
          </a:xfrm>
          <a:prstGeom prst="rect">
            <a:avLst/>
          </a:prstGeom>
          <a:solidFill>
            <a:srgbClr val="6B21D4"/>
          </a:solidFill>
          <a:ln>
            <a:solidFill>
              <a:srgbClr val="6B21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Rectangle 73"/>
          <p:cNvSpPr/>
          <p:nvPr/>
        </p:nvSpPr>
        <p:spPr>
          <a:xfrm>
            <a:off x="6217920" y="1328928"/>
            <a:ext cx="2109216" cy="23164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144" rIns="9144" tIns="4572" bIns="4572"/>
          <a:lstStyle/>
          <a:p>
            <a:pPr algn="l"/>
            <a:r>
              <a:rPr sz="1000" b="1">
                <a:solidFill>
                  <a:srgbClr val="111111"/>
                </a:solidFill>
                <a:latin typeface="Aptos"/>
              </a:rPr>
              <a:t>Chethana B</a:t>
            </a:r>
          </a:p>
        </p:txBody>
      </p:sp>
      <p:sp>
        <p:nvSpPr>
          <p:cNvPr id="75" name="Rectangle 74"/>
          <p:cNvSpPr/>
          <p:nvPr/>
        </p:nvSpPr>
        <p:spPr>
          <a:xfrm>
            <a:off x="8327136" y="1328928"/>
            <a:ext cx="1950720" cy="23164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144" rIns="9144" tIns="4572" bIns="4572"/>
          <a:lstStyle/>
          <a:p>
            <a:pPr algn="l"/>
            <a:r>
              <a:rPr sz="1000" b="0">
                <a:solidFill>
                  <a:srgbClr val="6B21D4"/>
                </a:solidFill>
                <a:latin typeface="Aptos"/>
              </a:rPr>
              <a:t>QA – Functional</a:t>
            </a:r>
          </a:p>
        </p:txBody>
      </p:sp>
      <p:sp>
        <p:nvSpPr>
          <p:cNvPr id="76" name="Rectangle 75"/>
          <p:cNvSpPr/>
          <p:nvPr/>
        </p:nvSpPr>
        <p:spPr>
          <a:xfrm>
            <a:off x="10277856" y="1328928"/>
            <a:ext cx="1389886" cy="23164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144" rIns="9144" tIns="4572" bIns="4572"/>
          <a:lstStyle/>
          <a:p>
            <a:pPr algn="l"/>
            <a:r>
              <a:rPr sz="900" b="0">
                <a:solidFill>
                  <a:srgbClr val="777777"/>
                </a:solidFill>
                <a:latin typeface="Aptos"/>
              </a:rPr>
              <a:t>Offshore · Trane-ITC-C2H</a:t>
            </a:r>
          </a:p>
        </p:txBody>
      </p:sp>
      <p:sp>
        <p:nvSpPr>
          <p:cNvPr id="77" name="Rectangle 76"/>
          <p:cNvSpPr/>
          <p:nvPr/>
        </p:nvSpPr>
        <p:spPr>
          <a:xfrm>
            <a:off x="6156960" y="1560576"/>
            <a:ext cx="5547360" cy="231648"/>
          </a:xfrm>
          <a:prstGeom prst="rect">
            <a:avLst/>
          </a:prstGeom>
          <a:solidFill>
            <a:srgbClr val="FFFFFF"/>
          </a:solidFill>
          <a:ln w="4445">
            <a:solidFill>
              <a:srgbClr val="EEEE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Rectangle 77"/>
          <p:cNvSpPr/>
          <p:nvPr/>
        </p:nvSpPr>
        <p:spPr>
          <a:xfrm>
            <a:off x="6156960" y="1560576"/>
            <a:ext cx="42672" cy="231648"/>
          </a:xfrm>
          <a:prstGeom prst="rect">
            <a:avLst/>
          </a:prstGeom>
          <a:solidFill>
            <a:srgbClr val="6B21D4"/>
          </a:solidFill>
          <a:ln>
            <a:solidFill>
              <a:srgbClr val="6B21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Rectangle 78"/>
          <p:cNvSpPr/>
          <p:nvPr/>
        </p:nvSpPr>
        <p:spPr>
          <a:xfrm>
            <a:off x="6217920" y="1560576"/>
            <a:ext cx="2109216" cy="23164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144" rIns="9144" tIns="4572" bIns="4572"/>
          <a:lstStyle/>
          <a:p>
            <a:pPr algn="l"/>
            <a:r>
              <a:rPr sz="1000" b="1">
                <a:solidFill>
                  <a:srgbClr val="111111"/>
                </a:solidFill>
                <a:latin typeface="Aptos"/>
              </a:rPr>
              <a:t>Ajay Shankar</a:t>
            </a:r>
          </a:p>
        </p:txBody>
      </p:sp>
      <p:sp>
        <p:nvSpPr>
          <p:cNvPr id="80" name="Rectangle 79"/>
          <p:cNvSpPr/>
          <p:nvPr/>
        </p:nvSpPr>
        <p:spPr>
          <a:xfrm>
            <a:off x="8327136" y="1560576"/>
            <a:ext cx="1950720" cy="23164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144" rIns="9144" tIns="4572" bIns="4572"/>
          <a:lstStyle/>
          <a:p>
            <a:pPr algn="l"/>
            <a:r>
              <a:rPr sz="1000" b="0">
                <a:solidFill>
                  <a:srgbClr val="6B21D4"/>
                </a:solidFill>
                <a:latin typeface="Aptos"/>
              </a:rPr>
              <a:t>Scrum Master</a:t>
            </a:r>
          </a:p>
        </p:txBody>
      </p:sp>
      <p:sp>
        <p:nvSpPr>
          <p:cNvPr id="81" name="Rectangle 80"/>
          <p:cNvSpPr/>
          <p:nvPr/>
        </p:nvSpPr>
        <p:spPr>
          <a:xfrm>
            <a:off x="10277856" y="1560576"/>
            <a:ext cx="1389886" cy="23164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144" rIns="9144" tIns="4572" bIns="4572"/>
          <a:lstStyle/>
          <a:p>
            <a:pPr algn="l"/>
            <a:r>
              <a:rPr sz="900" b="0">
                <a:solidFill>
                  <a:srgbClr val="777777"/>
                </a:solidFill>
                <a:latin typeface="Aptos"/>
              </a:rPr>
              <a:t>Offshore · Trane-ITC-C2H</a:t>
            </a:r>
          </a:p>
        </p:txBody>
      </p:sp>
      <p:sp>
        <p:nvSpPr>
          <p:cNvPr id="82" name="Rectangle 81"/>
          <p:cNvSpPr/>
          <p:nvPr/>
        </p:nvSpPr>
        <p:spPr>
          <a:xfrm>
            <a:off x="6156960" y="1792224"/>
            <a:ext cx="5547360" cy="231648"/>
          </a:xfrm>
          <a:prstGeom prst="rect">
            <a:avLst/>
          </a:prstGeom>
          <a:solidFill>
            <a:srgbClr val="F3F0FA"/>
          </a:solidFill>
          <a:ln w="4445">
            <a:solidFill>
              <a:srgbClr val="EEEE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Rectangle 82"/>
          <p:cNvSpPr/>
          <p:nvPr/>
        </p:nvSpPr>
        <p:spPr>
          <a:xfrm>
            <a:off x="6156960" y="1792224"/>
            <a:ext cx="42672" cy="231648"/>
          </a:xfrm>
          <a:prstGeom prst="rect">
            <a:avLst/>
          </a:prstGeom>
          <a:solidFill>
            <a:srgbClr val="6B21D4"/>
          </a:solidFill>
          <a:ln>
            <a:solidFill>
              <a:srgbClr val="6B21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Rectangle 83"/>
          <p:cNvSpPr/>
          <p:nvPr/>
        </p:nvSpPr>
        <p:spPr>
          <a:xfrm>
            <a:off x="6217920" y="1792224"/>
            <a:ext cx="2109216" cy="23164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144" rIns="9144" tIns="4572" bIns="4572"/>
          <a:lstStyle/>
          <a:p>
            <a:pPr algn="l"/>
            <a:r>
              <a:rPr sz="1000" b="1">
                <a:solidFill>
                  <a:srgbClr val="111111"/>
                </a:solidFill>
                <a:latin typeface="Aptos"/>
              </a:rPr>
              <a:t>Shrideepa Sharath</a:t>
            </a:r>
          </a:p>
        </p:txBody>
      </p:sp>
      <p:sp>
        <p:nvSpPr>
          <p:cNvPr id="85" name="Rectangle 84"/>
          <p:cNvSpPr/>
          <p:nvPr/>
        </p:nvSpPr>
        <p:spPr>
          <a:xfrm>
            <a:off x="8327136" y="1792224"/>
            <a:ext cx="1950720" cy="23164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144" rIns="9144" tIns="4572" bIns="4572"/>
          <a:lstStyle/>
          <a:p>
            <a:pPr algn="l"/>
            <a:r>
              <a:rPr sz="1000" b="0">
                <a:solidFill>
                  <a:srgbClr val="6B21D4"/>
                </a:solidFill>
                <a:latin typeface="Aptos"/>
              </a:rPr>
              <a:t>Developer</a:t>
            </a:r>
          </a:p>
        </p:txBody>
      </p:sp>
      <p:sp>
        <p:nvSpPr>
          <p:cNvPr id="86" name="Rectangle 85"/>
          <p:cNvSpPr/>
          <p:nvPr/>
        </p:nvSpPr>
        <p:spPr>
          <a:xfrm>
            <a:off x="10277856" y="1792224"/>
            <a:ext cx="1389886" cy="23164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144" rIns="9144" tIns="4572" bIns="4572"/>
          <a:lstStyle/>
          <a:p>
            <a:pPr algn="l"/>
            <a:r>
              <a:rPr sz="900" b="0">
                <a:solidFill>
                  <a:srgbClr val="777777"/>
                </a:solidFill>
                <a:latin typeface="Aptos"/>
              </a:rPr>
              <a:t>Offshore · Trane-ITC</a:t>
            </a:r>
          </a:p>
        </p:txBody>
      </p:sp>
      <p:sp>
        <p:nvSpPr>
          <p:cNvPr id="87" name="Rectangle 86"/>
          <p:cNvSpPr/>
          <p:nvPr/>
        </p:nvSpPr>
        <p:spPr>
          <a:xfrm>
            <a:off x="6156960" y="2023872"/>
            <a:ext cx="5547360" cy="231648"/>
          </a:xfrm>
          <a:prstGeom prst="rect">
            <a:avLst/>
          </a:prstGeom>
          <a:solidFill>
            <a:srgbClr val="FFFFFF"/>
          </a:solidFill>
          <a:ln w="4445">
            <a:solidFill>
              <a:srgbClr val="EEEE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Rectangle 87"/>
          <p:cNvSpPr/>
          <p:nvPr/>
        </p:nvSpPr>
        <p:spPr>
          <a:xfrm>
            <a:off x="6156960" y="2023872"/>
            <a:ext cx="42672" cy="231648"/>
          </a:xfrm>
          <a:prstGeom prst="rect">
            <a:avLst/>
          </a:prstGeom>
          <a:solidFill>
            <a:srgbClr val="6B21D4"/>
          </a:solidFill>
          <a:ln>
            <a:solidFill>
              <a:srgbClr val="6B21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Rectangle 88"/>
          <p:cNvSpPr/>
          <p:nvPr/>
        </p:nvSpPr>
        <p:spPr>
          <a:xfrm>
            <a:off x="6217920" y="2023872"/>
            <a:ext cx="2109216" cy="23164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144" rIns="9144" tIns="4572" bIns="4572"/>
          <a:lstStyle/>
          <a:p>
            <a:pPr algn="l"/>
            <a:r>
              <a:rPr sz="1000" b="1">
                <a:solidFill>
                  <a:srgbClr val="111111"/>
                </a:solidFill>
                <a:latin typeface="Aptos"/>
              </a:rPr>
              <a:t>Matt Parish</a:t>
            </a:r>
          </a:p>
        </p:txBody>
      </p:sp>
      <p:sp>
        <p:nvSpPr>
          <p:cNvPr id="90" name="Rectangle 89"/>
          <p:cNvSpPr/>
          <p:nvPr/>
        </p:nvSpPr>
        <p:spPr>
          <a:xfrm>
            <a:off x="8327136" y="2023872"/>
            <a:ext cx="1950720" cy="23164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144" rIns="9144" tIns="4572" bIns="4572"/>
          <a:lstStyle/>
          <a:p>
            <a:pPr algn="l"/>
            <a:r>
              <a:rPr sz="1000" b="0">
                <a:solidFill>
                  <a:srgbClr val="6B21D4"/>
                </a:solidFill>
                <a:latin typeface="Aptos"/>
              </a:rPr>
              <a:t>Product Owner</a:t>
            </a:r>
          </a:p>
        </p:txBody>
      </p:sp>
      <p:sp>
        <p:nvSpPr>
          <p:cNvPr id="91" name="Rectangle 90"/>
          <p:cNvSpPr/>
          <p:nvPr/>
        </p:nvSpPr>
        <p:spPr>
          <a:xfrm>
            <a:off x="10277856" y="2023872"/>
            <a:ext cx="1389886" cy="23164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144" rIns="9144" tIns="4572" bIns="4572"/>
          <a:lstStyle/>
          <a:p>
            <a:pPr algn="l"/>
            <a:r>
              <a:rPr sz="900" b="0">
                <a:solidFill>
                  <a:srgbClr val="777777"/>
                </a:solidFill>
                <a:latin typeface="Aptos"/>
              </a:rPr>
              <a:t>Onshore · Trane</a:t>
            </a:r>
          </a:p>
        </p:txBody>
      </p:sp>
      <p:sp>
        <p:nvSpPr>
          <p:cNvPr id="92" name="Rectangle 91"/>
          <p:cNvSpPr/>
          <p:nvPr/>
        </p:nvSpPr>
        <p:spPr>
          <a:xfrm>
            <a:off x="6156960" y="2255520"/>
            <a:ext cx="5547360" cy="231648"/>
          </a:xfrm>
          <a:prstGeom prst="rect">
            <a:avLst/>
          </a:prstGeom>
          <a:solidFill>
            <a:srgbClr val="F3F0FA"/>
          </a:solidFill>
          <a:ln w="4445">
            <a:solidFill>
              <a:srgbClr val="EEEE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Rectangle 92"/>
          <p:cNvSpPr/>
          <p:nvPr/>
        </p:nvSpPr>
        <p:spPr>
          <a:xfrm>
            <a:off x="6156960" y="2255520"/>
            <a:ext cx="42672" cy="231648"/>
          </a:xfrm>
          <a:prstGeom prst="rect">
            <a:avLst/>
          </a:prstGeom>
          <a:solidFill>
            <a:srgbClr val="6B21D4"/>
          </a:solidFill>
          <a:ln>
            <a:solidFill>
              <a:srgbClr val="6B21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" name="Rectangle 93"/>
          <p:cNvSpPr/>
          <p:nvPr/>
        </p:nvSpPr>
        <p:spPr>
          <a:xfrm>
            <a:off x="6217920" y="2255520"/>
            <a:ext cx="2109216" cy="23164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144" rIns="9144" tIns="4572" bIns="4572"/>
          <a:lstStyle/>
          <a:p>
            <a:pPr algn="l"/>
            <a:r>
              <a:rPr sz="1000" b="1">
                <a:solidFill>
                  <a:srgbClr val="111111"/>
                </a:solidFill>
                <a:latin typeface="Aptos"/>
              </a:rPr>
              <a:t>Hasan Al Quasem</a:t>
            </a:r>
          </a:p>
        </p:txBody>
      </p:sp>
      <p:sp>
        <p:nvSpPr>
          <p:cNvPr id="95" name="Rectangle 94"/>
          <p:cNvSpPr/>
          <p:nvPr/>
        </p:nvSpPr>
        <p:spPr>
          <a:xfrm>
            <a:off x="8327136" y="2255520"/>
            <a:ext cx="1950720" cy="23164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144" rIns="9144" tIns="4572" bIns="4572"/>
          <a:lstStyle/>
          <a:p>
            <a:pPr algn="l"/>
            <a:r>
              <a:rPr sz="1000" b="0">
                <a:solidFill>
                  <a:srgbClr val="6B21D4"/>
                </a:solidFill>
                <a:latin typeface="Aptos"/>
              </a:rPr>
              <a:t>IT Prod Analyst</a:t>
            </a:r>
          </a:p>
        </p:txBody>
      </p:sp>
      <p:sp>
        <p:nvSpPr>
          <p:cNvPr id="96" name="Rectangle 95"/>
          <p:cNvSpPr/>
          <p:nvPr/>
        </p:nvSpPr>
        <p:spPr>
          <a:xfrm>
            <a:off x="10277856" y="2255520"/>
            <a:ext cx="1389886" cy="23164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144" rIns="9144" tIns="4572" bIns="4572"/>
          <a:lstStyle/>
          <a:p>
            <a:pPr algn="l"/>
            <a:r>
              <a:rPr sz="900" b="0">
                <a:solidFill>
                  <a:srgbClr val="777777"/>
                </a:solidFill>
                <a:latin typeface="Aptos"/>
              </a:rPr>
              <a:t>Onshore · Trane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156960" y="2901696"/>
            <a:ext cx="5547360" cy="24384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4572" bIns="4572"/>
          <a:lstStyle/>
          <a:p>
            <a:pPr algn="l"/>
            <a:r>
              <a:rPr sz="1000" b="1">
                <a:solidFill>
                  <a:srgbClr val="4A148C"/>
                </a:solidFill>
                <a:latin typeface="Aptos"/>
              </a:rPr>
              <a:t>Documents / DocGen</a:t>
            </a:r>
          </a:p>
        </p:txBody>
      </p:sp>
      <p:sp>
        <p:nvSpPr>
          <p:cNvPr id="98" name="Rectangle 97"/>
          <p:cNvSpPr/>
          <p:nvPr/>
        </p:nvSpPr>
        <p:spPr>
          <a:xfrm>
            <a:off x="6156960" y="3169920"/>
            <a:ext cx="5547360" cy="231648"/>
          </a:xfrm>
          <a:prstGeom prst="rect">
            <a:avLst/>
          </a:prstGeom>
          <a:solidFill>
            <a:srgbClr val="FFFFFF"/>
          </a:solidFill>
          <a:ln w="4445">
            <a:solidFill>
              <a:srgbClr val="EEEE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Rectangle 98"/>
          <p:cNvSpPr/>
          <p:nvPr/>
        </p:nvSpPr>
        <p:spPr>
          <a:xfrm>
            <a:off x="6156960" y="3169920"/>
            <a:ext cx="42672" cy="231648"/>
          </a:xfrm>
          <a:prstGeom prst="rect">
            <a:avLst/>
          </a:prstGeom>
          <a:solidFill>
            <a:srgbClr val="6B21D4"/>
          </a:solidFill>
          <a:ln>
            <a:solidFill>
              <a:srgbClr val="6B21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" name="Rectangle 99"/>
          <p:cNvSpPr/>
          <p:nvPr/>
        </p:nvSpPr>
        <p:spPr>
          <a:xfrm>
            <a:off x="6217920" y="3169920"/>
            <a:ext cx="2109216" cy="23164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144" rIns="9144" tIns="4572" bIns="4572"/>
          <a:lstStyle/>
          <a:p>
            <a:pPr algn="l"/>
            <a:r>
              <a:rPr sz="1000" b="1">
                <a:solidFill>
                  <a:srgbClr val="111111"/>
                </a:solidFill>
                <a:latin typeface="Aptos"/>
              </a:rPr>
              <a:t>Sandhyarani M</a:t>
            </a:r>
          </a:p>
        </p:txBody>
      </p:sp>
      <p:sp>
        <p:nvSpPr>
          <p:cNvPr id="101" name="Rectangle 100"/>
          <p:cNvSpPr/>
          <p:nvPr/>
        </p:nvSpPr>
        <p:spPr>
          <a:xfrm>
            <a:off x="8327136" y="3169920"/>
            <a:ext cx="1950720" cy="23164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144" rIns="9144" tIns="4572" bIns="4572"/>
          <a:lstStyle/>
          <a:p>
            <a:pPr algn="l"/>
            <a:r>
              <a:rPr sz="1000" b="0">
                <a:solidFill>
                  <a:srgbClr val="6B21D4"/>
                </a:solidFill>
                <a:latin typeface="Aptos"/>
              </a:rPr>
              <a:t>QA – Func/Perf</a:t>
            </a:r>
          </a:p>
        </p:txBody>
      </p:sp>
      <p:sp>
        <p:nvSpPr>
          <p:cNvPr id="102" name="Rectangle 101"/>
          <p:cNvSpPr/>
          <p:nvPr/>
        </p:nvSpPr>
        <p:spPr>
          <a:xfrm>
            <a:off x="10277856" y="3169920"/>
            <a:ext cx="1389886" cy="23164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144" rIns="9144" tIns="4572" bIns="4572"/>
          <a:lstStyle/>
          <a:p>
            <a:pPr algn="l"/>
            <a:r>
              <a:rPr sz="900" b="0">
                <a:solidFill>
                  <a:srgbClr val="777777"/>
                </a:solidFill>
                <a:latin typeface="Aptos"/>
              </a:rPr>
              <a:t>Offshore · Trane-ITC</a:t>
            </a:r>
          </a:p>
        </p:txBody>
      </p:sp>
      <p:sp>
        <p:nvSpPr>
          <p:cNvPr id="103" name="Rectangle 102"/>
          <p:cNvSpPr/>
          <p:nvPr/>
        </p:nvSpPr>
        <p:spPr>
          <a:xfrm>
            <a:off x="6156960" y="3401568"/>
            <a:ext cx="5547360" cy="231648"/>
          </a:xfrm>
          <a:prstGeom prst="rect">
            <a:avLst/>
          </a:prstGeom>
          <a:solidFill>
            <a:srgbClr val="F3F0FA"/>
          </a:solidFill>
          <a:ln w="4445">
            <a:solidFill>
              <a:srgbClr val="EEEE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" name="Rectangle 103"/>
          <p:cNvSpPr/>
          <p:nvPr/>
        </p:nvSpPr>
        <p:spPr>
          <a:xfrm>
            <a:off x="6156960" y="3401568"/>
            <a:ext cx="42672" cy="231648"/>
          </a:xfrm>
          <a:prstGeom prst="rect">
            <a:avLst/>
          </a:prstGeom>
          <a:solidFill>
            <a:srgbClr val="6B21D4"/>
          </a:solidFill>
          <a:ln>
            <a:solidFill>
              <a:srgbClr val="6B21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Rectangle 104"/>
          <p:cNvSpPr/>
          <p:nvPr/>
        </p:nvSpPr>
        <p:spPr>
          <a:xfrm>
            <a:off x="6217920" y="3401568"/>
            <a:ext cx="2109216" cy="23164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144" rIns="9144" tIns="4572" bIns="4572"/>
          <a:lstStyle/>
          <a:p>
            <a:pPr algn="l"/>
            <a:r>
              <a:rPr sz="1000" b="1">
                <a:solidFill>
                  <a:srgbClr val="111111"/>
                </a:solidFill>
                <a:latin typeface="Aptos"/>
              </a:rPr>
              <a:t>Angela Puent</a:t>
            </a:r>
          </a:p>
        </p:txBody>
      </p:sp>
      <p:sp>
        <p:nvSpPr>
          <p:cNvPr id="106" name="Rectangle 105"/>
          <p:cNvSpPr/>
          <p:nvPr/>
        </p:nvSpPr>
        <p:spPr>
          <a:xfrm>
            <a:off x="8327136" y="3401568"/>
            <a:ext cx="1950720" cy="23164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144" rIns="9144" tIns="4572" bIns="4572"/>
          <a:lstStyle/>
          <a:p>
            <a:pPr algn="l"/>
            <a:r>
              <a:rPr sz="1000" b="0">
                <a:solidFill>
                  <a:srgbClr val="6B21D4"/>
                </a:solidFill>
                <a:latin typeface="Aptos"/>
              </a:rPr>
              <a:t>Product Owner</a:t>
            </a:r>
          </a:p>
        </p:txBody>
      </p:sp>
      <p:sp>
        <p:nvSpPr>
          <p:cNvPr id="107" name="Rectangle 106"/>
          <p:cNvSpPr/>
          <p:nvPr/>
        </p:nvSpPr>
        <p:spPr>
          <a:xfrm>
            <a:off x="10277856" y="3401568"/>
            <a:ext cx="1389886" cy="23164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144" rIns="9144" tIns="4572" bIns="4572"/>
          <a:lstStyle/>
          <a:p>
            <a:pPr algn="l"/>
            <a:r>
              <a:rPr sz="900" b="0">
                <a:solidFill>
                  <a:srgbClr val="777777"/>
                </a:solidFill>
                <a:latin typeface="Aptos"/>
              </a:rPr>
              <a:t>Onshore · Trane</a:t>
            </a:r>
          </a:p>
        </p:txBody>
      </p:sp>
      <p:sp>
        <p:nvSpPr>
          <p:cNvPr id="108" name="Rectangle 107"/>
          <p:cNvSpPr/>
          <p:nvPr/>
        </p:nvSpPr>
        <p:spPr>
          <a:xfrm>
            <a:off x="6156960" y="3633216"/>
            <a:ext cx="5547360" cy="231648"/>
          </a:xfrm>
          <a:prstGeom prst="rect">
            <a:avLst/>
          </a:prstGeom>
          <a:solidFill>
            <a:srgbClr val="FFFFFF"/>
          </a:solidFill>
          <a:ln w="4445">
            <a:solidFill>
              <a:srgbClr val="EEEE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" name="Rectangle 108"/>
          <p:cNvSpPr/>
          <p:nvPr/>
        </p:nvSpPr>
        <p:spPr>
          <a:xfrm>
            <a:off x="6156960" y="3633216"/>
            <a:ext cx="42672" cy="231648"/>
          </a:xfrm>
          <a:prstGeom prst="rect">
            <a:avLst/>
          </a:prstGeom>
          <a:solidFill>
            <a:srgbClr val="6B21D4"/>
          </a:solidFill>
          <a:ln>
            <a:solidFill>
              <a:srgbClr val="6B21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" name="Rectangle 109"/>
          <p:cNvSpPr/>
          <p:nvPr/>
        </p:nvSpPr>
        <p:spPr>
          <a:xfrm>
            <a:off x="6217920" y="3633216"/>
            <a:ext cx="2109216" cy="23164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144" rIns="9144" tIns="4572" bIns="4572"/>
          <a:lstStyle/>
          <a:p>
            <a:pPr algn="l"/>
            <a:r>
              <a:rPr sz="1000" b="1">
                <a:solidFill>
                  <a:srgbClr val="111111"/>
                </a:solidFill>
                <a:latin typeface="Aptos"/>
              </a:rPr>
              <a:t>Brett Meddaugh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8327136" y="3633216"/>
            <a:ext cx="1950720" cy="23164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144" rIns="9144" tIns="4572" bIns="4572"/>
          <a:lstStyle/>
          <a:p>
            <a:pPr algn="l"/>
            <a:r>
              <a:rPr sz="1000" b="0">
                <a:solidFill>
                  <a:srgbClr val="6B21D4"/>
                </a:solidFill>
                <a:latin typeface="Aptos"/>
              </a:rPr>
              <a:t>Architect</a:t>
            </a:r>
          </a:p>
        </p:txBody>
      </p:sp>
      <p:sp>
        <p:nvSpPr>
          <p:cNvPr id="112" name="Rectangle 111"/>
          <p:cNvSpPr/>
          <p:nvPr/>
        </p:nvSpPr>
        <p:spPr>
          <a:xfrm>
            <a:off x="10277856" y="3633216"/>
            <a:ext cx="1389886" cy="23164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144" rIns="9144" tIns="4572" bIns="4572"/>
          <a:lstStyle/>
          <a:p>
            <a:pPr algn="l"/>
            <a:r>
              <a:rPr sz="900" b="0">
                <a:solidFill>
                  <a:srgbClr val="777777"/>
                </a:solidFill>
                <a:latin typeface="Aptos"/>
              </a:rPr>
              <a:t>Onshore · Trane</a:t>
            </a:r>
          </a:p>
        </p:txBody>
      </p:sp>
      <p:sp>
        <p:nvSpPr>
          <p:cNvPr id="113" name="Rectangle 112"/>
          <p:cNvSpPr/>
          <p:nvPr/>
        </p:nvSpPr>
        <p:spPr>
          <a:xfrm>
            <a:off x="6156960" y="3864864"/>
            <a:ext cx="5547360" cy="231648"/>
          </a:xfrm>
          <a:prstGeom prst="rect">
            <a:avLst/>
          </a:prstGeom>
          <a:solidFill>
            <a:srgbClr val="F3F0FA"/>
          </a:solidFill>
          <a:ln w="4445">
            <a:solidFill>
              <a:srgbClr val="EEEE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" name="Rectangle 113"/>
          <p:cNvSpPr/>
          <p:nvPr/>
        </p:nvSpPr>
        <p:spPr>
          <a:xfrm>
            <a:off x="6156960" y="3864864"/>
            <a:ext cx="42672" cy="231648"/>
          </a:xfrm>
          <a:prstGeom prst="rect">
            <a:avLst/>
          </a:prstGeom>
          <a:solidFill>
            <a:srgbClr val="6B21D4"/>
          </a:solidFill>
          <a:ln>
            <a:solidFill>
              <a:srgbClr val="6B21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" name="Rectangle 114"/>
          <p:cNvSpPr/>
          <p:nvPr/>
        </p:nvSpPr>
        <p:spPr>
          <a:xfrm>
            <a:off x="6217920" y="3864864"/>
            <a:ext cx="2109216" cy="23164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144" rIns="9144" tIns="4572" bIns="4572"/>
          <a:lstStyle/>
          <a:p>
            <a:pPr algn="l"/>
            <a:r>
              <a:rPr sz="1000" b="1">
                <a:solidFill>
                  <a:srgbClr val="111111"/>
                </a:solidFill>
                <a:latin typeface="Aptos"/>
              </a:rPr>
              <a:t>Chandana Gowda</a:t>
            </a:r>
          </a:p>
        </p:txBody>
      </p:sp>
      <p:sp>
        <p:nvSpPr>
          <p:cNvPr id="116" name="Rectangle 115"/>
          <p:cNvSpPr/>
          <p:nvPr/>
        </p:nvSpPr>
        <p:spPr>
          <a:xfrm>
            <a:off x="8327136" y="3864864"/>
            <a:ext cx="1950720" cy="23164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144" rIns="9144" tIns="4572" bIns="4572"/>
          <a:lstStyle/>
          <a:p>
            <a:pPr algn="l"/>
            <a:r>
              <a:rPr sz="1000" b="0">
                <a:solidFill>
                  <a:srgbClr val="6B21D4"/>
                </a:solidFill>
                <a:latin typeface="Aptos"/>
              </a:rPr>
              <a:t>Developer</a:t>
            </a:r>
          </a:p>
        </p:txBody>
      </p:sp>
      <p:sp>
        <p:nvSpPr>
          <p:cNvPr id="117" name="Rectangle 116"/>
          <p:cNvSpPr/>
          <p:nvPr/>
        </p:nvSpPr>
        <p:spPr>
          <a:xfrm>
            <a:off x="10277856" y="3864864"/>
            <a:ext cx="1389886" cy="23164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144" rIns="9144" tIns="4572" bIns="4572"/>
          <a:lstStyle/>
          <a:p>
            <a:pPr algn="l"/>
            <a:r>
              <a:rPr sz="900" b="0">
                <a:solidFill>
                  <a:srgbClr val="777777"/>
                </a:solidFill>
                <a:latin typeface="Aptos"/>
              </a:rPr>
              <a:t>Offshore · Trane-ITC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6156960" y="4413504"/>
            <a:ext cx="5547360" cy="24384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4572" bIns="4572"/>
          <a:lstStyle/>
          <a:p>
            <a:pPr algn="l"/>
            <a:r>
              <a:rPr sz="1000" b="1">
                <a:solidFill>
                  <a:srgbClr val="4A148C"/>
                </a:solidFill>
                <a:latin typeface="Aptos"/>
              </a:rPr>
              <a:t>Service</a:t>
            </a:r>
          </a:p>
        </p:txBody>
      </p:sp>
      <p:sp>
        <p:nvSpPr>
          <p:cNvPr id="119" name="Rectangle 118"/>
          <p:cNvSpPr/>
          <p:nvPr/>
        </p:nvSpPr>
        <p:spPr>
          <a:xfrm>
            <a:off x="6156960" y="4681728"/>
            <a:ext cx="5547360" cy="231648"/>
          </a:xfrm>
          <a:prstGeom prst="rect">
            <a:avLst/>
          </a:prstGeom>
          <a:solidFill>
            <a:srgbClr val="FFFFFF"/>
          </a:solidFill>
          <a:ln w="4445">
            <a:solidFill>
              <a:srgbClr val="EEEE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0" name="Rectangle 119"/>
          <p:cNvSpPr/>
          <p:nvPr/>
        </p:nvSpPr>
        <p:spPr>
          <a:xfrm>
            <a:off x="6156960" y="4681728"/>
            <a:ext cx="42672" cy="231648"/>
          </a:xfrm>
          <a:prstGeom prst="rect">
            <a:avLst/>
          </a:prstGeom>
          <a:solidFill>
            <a:srgbClr val="6B21D4"/>
          </a:solidFill>
          <a:ln>
            <a:solidFill>
              <a:srgbClr val="6B21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1" name="Rectangle 120"/>
          <p:cNvSpPr/>
          <p:nvPr/>
        </p:nvSpPr>
        <p:spPr>
          <a:xfrm>
            <a:off x="6217920" y="4681728"/>
            <a:ext cx="2109216" cy="23164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144" rIns="9144" tIns="4572" bIns="4572"/>
          <a:lstStyle/>
          <a:p>
            <a:pPr algn="l"/>
            <a:r>
              <a:rPr sz="1000" b="1">
                <a:solidFill>
                  <a:srgbClr val="111111"/>
                </a:solidFill>
                <a:latin typeface="Aptos"/>
              </a:rPr>
              <a:t>Kreidermacher, Tara</a:t>
            </a:r>
          </a:p>
        </p:txBody>
      </p:sp>
      <p:sp>
        <p:nvSpPr>
          <p:cNvPr id="122" name="Rectangle 121"/>
          <p:cNvSpPr/>
          <p:nvPr/>
        </p:nvSpPr>
        <p:spPr>
          <a:xfrm>
            <a:off x="8327136" y="4681728"/>
            <a:ext cx="1950720" cy="23164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144" rIns="9144" tIns="4572" bIns="4572"/>
          <a:lstStyle/>
          <a:p>
            <a:pPr algn="l"/>
            <a:r>
              <a:rPr sz="1000" b="0">
                <a:solidFill>
                  <a:srgbClr val="6B21D4"/>
                </a:solidFill>
                <a:latin typeface="Aptos"/>
              </a:rPr>
              <a:t>Scrum Master</a:t>
            </a:r>
          </a:p>
        </p:txBody>
      </p:sp>
      <p:sp>
        <p:nvSpPr>
          <p:cNvPr id="123" name="Rectangle 122"/>
          <p:cNvSpPr/>
          <p:nvPr/>
        </p:nvSpPr>
        <p:spPr>
          <a:xfrm>
            <a:off x="10277856" y="4681728"/>
            <a:ext cx="1389886" cy="23164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144" rIns="9144" tIns="4572" bIns="4572"/>
          <a:lstStyle/>
          <a:p>
            <a:pPr algn="l"/>
            <a:r>
              <a:rPr sz="900" b="0">
                <a:solidFill>
                  <a:srgbClr val="777777"/>
                </a:solidFill>
                <a:latin typeface="Aptos"/>
              </a:rPr>
              <a:t>Onshore · Trane</a:t>
            </a:r>
          </a:p>
        </p:txBody>
      </p:sp>
      <p:sp>
        <p:nvSpPr>
          <p:cNvPr id="124" name="Rectangle 123"/>
          <p:cNvSpPr/>
          <p:nvPr/>
        </p:nvSpPr>
        <p:spPr>
          <a:xfrm>
            <a:off x="6156960" y="4913376"/>
            <a:ext cx="5547360" cy="231648"/>
          </a:xfrm>
          <a:prstGeom prst="rect">
            <a:avLst/>
          </a:prstGeom>
          <a:solidFill>
            <a:srgbClr val="F3F0FA"/>
          </a:solidFill>
          <a:ln w="4445">
            <a:solidFill>
              <a:srgbClr val="EEEE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5" name="Rectangle 124"/>
          <p:cNvSpPr/>
          <p:nvPr/>
        </p:nvSpPr>
        <p:spPr>
          <a:xfrm>
            <a:off x="6156960" y="4913376"/>
            <a:ext cx="42672" cy="231648"/>
          </a:xfrm>
          <a:prstGeom prst="rect">
            <a:avLst/>
          </a:prstGeom>
          <a:solidFill>
            <a:srgbClr val="6B21D4"/>
          </a:solidFill>
          <a:ln>
            <a:solidFill>
              <a:srgbClr val="6B21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" name="Rectangle 125"/>
          <p:cNvSpPr/>
          <p:nvPr/>
        </p:nvSpPr>
        <p:spPr>
          <a:xfrm>
            <a:off x="6217920" y="4913376"/>
            <a:ext cx="2109216" cy="23164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144" rIns="9144" tIns="4572" bIns="4572"/>
          <a:lstStyle/>
          <a:p>
            <a:pPr algn="l"/>
            <a:r>
              <a:rPr sz="1000" b="1">
                <a:solidFill>
                  <a:srgbClr val="111111"/>
                </a:solidFill>
                <a:latin typeface="Aptos"/>
              </a:rPr>
              <a:t>Pruner, Kenneth</a:t>
            </a:r>
          </a:p>
        </p:txBody>
      </p:sp>
      <p:sp>
        <p:nvSpPr>
          <p:cNvPr id="127" name="Rectangle 126"/>
          <p:cNvSpPr/>
          <p:nvPr/>
        </p:nvSpPr>
        <p:spPr>
          <a:xfrm>
            <a:off x="8327136" y="4913376"/>
            <a:ext cx="1950720" cy="23164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144" rIns="9144" tIns="4572" bIns="4572"/>
          <a:lstStyle/>
          <a:p>
            <a:pPr algn="l"/>
            <a:r>
              <a:rPr sz="1000" b="0">
                <a:solidFill>
                  <a:srgbClr val="6B21D4"/>
                </a:solidFill>
                <a:latin typeface="Aptos"/>
              </a:rPr>
              <a:t>Project Manager</a:t>
            </a:r>
          </a:p>
        </p:txBody>
      </p:sp>
      <p:sp>
        <p:nvSpPr>
          <p:cNvPr id="128" name="Rectangle 127"/>
          <p:cNvSpPr/>
          <p:nvPr/>
        </p:nvSpPr>
        <p:spPr>
          <a:xfrm>
            <a:off x="10277856" y="4913376"/>
            <a:ext cx="1389886" cy="23164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144" rIns="9144" tIns="4572" bIns="4572"/>
          <a:lstStyle/>
          <a:p>
            <a:pPr algn="l"/>
            <a:r>
              <a:rPr sz="900" b="0">
                <a:solidFill>
                  <a:srgbClr val="777777"/>
                </a:solidFill>
                <a:latin typeface="Aptos"/>
              </a:rPr>
              <a:t>Onshore · Trane</a:t>
            </a:r>
          </a:p>
        </p:txBody>
      </p:sp>
      <p:sp>
        <p:nvSpPr>
          <p:cNvPr id="129" name="Rectangle 128"/>
          <p:cNvSpPr/>
          <p:nvPr/>
        </p:nvSpPr>
        <p:spPr>
          <a:xfrm>
            <a:off x="463296" y="6388608"/>
            <a:ext cx="426720" cy="219456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4572" bIns="4572"/>
          <a:lstStyle/>
          <a:p>
            <a:pPr algn="l"/>
            <a:r>
              <a:rPr sz="900" b="0">
                <a:solidFill>
                  <a:srgbClr val="777777"/>
                </a:solidFill>
                <a:latin typeface="Aptos"/>
              </a:rPr>
              <a:t>10</a:t>
            </a:r>
          </a:p>
        </p:txBody>
      </p:sp>
      <p:pic>
        <p:nvPicPr>
          <p:cNvPr id="130" name="Picture 129" descr="trane_real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424160" y="6156960"/>
            <a:ext cx="1463040" cy="633984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63296" y="158496"/>
            <a:ext cx="11265408" cy="41452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4572" bIns="4572"/>
          <a:lstStyle/>
          <a:p>
            <a:pPr algn="l"/>
            <a:r>
              <a:rPr sz="2400" b="1">
                <a:solidFill>
                  <a:srgbClr val="6B21D4"/>
                </a:solidFill>
                <a:latin typeface="Aptos"/>
              </a:rPr>
              <a:t>The work we do – Projects &amp; Applications</a:t>
            </a:r>
          </a:p>
        </p:txBody>
      </p:sp>
      <p:sp>
        <p:nvSpPr>
          <p:cNvPr id="3" name="Rectangle 2"/>
          <p:cNvSpPr/>
          <p:nvPr/>
        </p:nvSpPr>
        <p:spPr>
          <a:xfrm>
            <a:off x="463296" y="682752"/>
            <a:ext cx="10972800" cy="195072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4572" bIns="4572"/>
          <a:lstStyle/>
          <a:p>
            <a:pPr algn="l"/>
            <a:r>
              <a:rPr sz="1000" b="0">
                <a:solidFill>
                  <a:srgbClr val="777777"/>
                </a:solidFill>
                <a:latin typeface="Aptos"/>
              </a:rPr>
              <a:t>Testing types: Smoke · System · Regression · Automation · Performance · QA PoC</a:t>
            </a:r>
          </a:p>
        </p:txBody>
      </p:sp>
      <p:sp>
        <p:nvSpPr>
          <p:cNvPr id="4" name="Rectangle 3"/>
          <p:cNvSpPr/>
          <p:nvPr/>
        </p:nvSpPr>
        <p:spPr>
          <a:xfrm>
            <a:off x="463296" y="1158240"/>
            <a:ext cx="3474720" cy="1158240"/>
          </a:xfrm>
          <a:prstGeom prst="rect">
            <a:avLst/>
          </a:prstGeom>
          <a:solidFill>
            <a:srgbClr val="F3F0FA"/>
          </a:solidFill>
          <a:ln w="6350">
            <a:solidFill>
              <a:srgbClr val="C4B5F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4572" bIns="4572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09600" y="1304542"/>
            <a:ext cx="3169920" cy="219456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4572" bIns="4572"/>
          <a:lstStyle/>
          <a:p>
            <a:pPr algn="l"/>
            <a:r>
              <a:rPr sz="1000" b="1">
                <a:solidFill>
                  <a:srgbClr val="111111"/>
                </a:solidFill>
                <a:latin typeface="Aptos"/>
              </a:rPr>
              <a:t>Trane Select Assist</a:t>
            </a:r>
          </a:p>
        </p:txBody>
      </p:sp>
      <p:sp>
        <p:nvSpPr>
          <p:cNvPr id="6" name="Rectangle 5"/>
          <p:cNvSpPr/>
          <p:nvPr/>
        </p:nvSpPr>
        <p:spPr>
          <a:xfrm>
            <a:off x="609600" y="1670304"/>
            <a:ext cx="3169920" cy="512064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7432" rIns="27432" tIns="4572" bIns="4572"/>
          <a:lstStyle/>
          <a:p>
            <a:pPr algn="l"/>
            <a:r>
              <a:rPr sz="1000" b="0">
                <a:solidFill>
                  <a:srgbClr val="6B21D4"/>
                </a:solidFill>
                <a:latin typeface="Aptos"/>
              </a:rPr>
              <a:t>PoC: Varsha Chitray</a:t>
            </a:r>
          </a:p>
          <a:p>
            <a:pPr algn="l"/>
            <a:r>
              <a:rPr sz="1000" b="0">
                <a:solidFill>
                  <a:srgbClr val="6B21D4"/>
                </a:solidFill>
                <a:latin typeface="Aptos"/>
              </a:rPr>
              <a:t>Equipment</a:t>
            </a:r>
          </a:p>
        </p:txBody>
      </p:sp>
      <p:sp>
        <p:nvSpPr>
          <p:cNvPr id="7" name="Rectangle 6"/>
          <p:cNvSpPr/>
          <p:nvPr/>
        </p:nvSpPr>
        <p:spPr>
          <a:xfrm>
            <a:off x="4303776" y="1158240"/>
            <a:ext cx="3474720" cy="1158240"/>
          </a:xfrm>
          <a:prstGeom prst="rect">
            <a:avLst/>
          </a:prstGeom>
          <a:solidFill>
            <a:srgbClr val="F3F0FA"/>
          </a:solidFill>
          <a:ln w="6350">
            <a:solidFill>
              <a:srgbClr val="C4B5F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4572" bIns="4572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450080" y="1304542"/>
            <a:ext cx="3169920" cy="219456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4572" bIns="4572"/>
          <a:lstStyle/>
          <a:p>
            <a:pPr algn="l"/>
            <a:r>
              <a:rPr sz="1000" b="1">
                <a:solidFill>
                  <a:srgbClr val="111111"/>
                </a:solidFill>
                <a:latin typeface="Aptos"/>
              </a:rPr>
              <a:t>Equipment (R12)</a:t>
            </a:r>
          </a:p>
        </p:txBody>
      </p:sp>
      <p:sp>
        <p:nvSpPr>
          <p:cNvPr id="9" name="Rectangle 8"/>
          <p:cNvSpPr/>
          <p:nvPr/>
        </p:nvSpPr>
        <p:spPr>
          <a:xfrm>
            <a:off x="4450080" y="1670304"/>
            <a:ext cx="3169920" cy="512064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7432" rIns="27432" tIns="4572" bIns="4572"/>
          <a:lstStyle/>
          <a:p>
            <a:pPr algn="l"/>
            <a:r>
              <a:rPr sz="1000" b="0">
                <a:solidFill>
                  <a:srgbClr val="6B21D4"/>
                </a:solidFill>
                <a:latin typeface="Aptos"/>
              </a:rPr>
              <a:t>PoC:</a:t>
            </a:r>
          </a:p>
          <a:p>
            <a:pPr algn="l"/>
            <a:r>
              <a:rPr sz="1000" b="0">
                <a:solidFill>
                  <a:srgbClr val="6B21D4"/>
                </a:solidFill>
                <a:latin typeface="Aptos"/>
              </a:rPr>
              <a:t>Equipment</a:t>
            </a:r>
          </a:p>
        </p:txBody>
      </p:sp>
      <p:sp>
        <p:nvSpPr>
          <p:cNvPr id="10" name="Rectangle 9"/>
          <p:cNvSpPr/>
          <p:nvPr/>
        </p:nvSpPr>
        <p:spPr>
          <a:xfrm>
            <a:off x="8144256" y="1158240"/>
            <a:ext cx="3474720" cy="1158240"/>
          </a:xfrm>
          <a:prstGeom prst="rect">
            <a:avLst/>
          </a:prstGeom>
          <a:solidFill>
            <a:srgbClr val="F3F0FA"/>
          </a:solidFill>
          <a:ln w="6350">
            <a:solidFill>
              <a:srgbClr val="C4B5F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4572" bIns="4572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8290560" y="1304542"/>
            <a:ext cx="3169920" cy="219456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4572" bIns="4572"/>
          <a:lstStyle/>
          <a:p>
            <a:pPr algn="l"/>
            <a:r>
              <a:rPr sz="1000" b="1">
                <a:solidFill>
                  <a:srgbClr val="111111"/>
                </a:solidFill>
                <a:latin typeface="Aptos"/>
              </a:rPr>
              <a:t>DMC / MDP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290560" y="1670304"/>
            <a:ext cx="3169920" cy="512064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7432" rIns="27432" tIns="4572" bIns="4572"/>
          <a:lstStyle/>
          <a:p>
            <a:pPr algn="l"/>
            <a:r>
              <a:rPr sz="1000" b="0">
                <a:solidFill>
                  <a:srgbClr val="6B21D4"/>
                </a:solidFill>
                <a:latin typeface="Aptos"/>
              </a:rPr>
              <a:t>PoC: Mahesh Laddi &amp; Anusha G</a:t>
            </a:r>
          </a:p>
          <a:p>
            <a:pPr algn="l"/>
            <a:r>
              <a:rPr sz="1000" b="0">
                <a:solidFill>
                  <a:srgbClr val="6B21D4"/>
                </a:solidFill>
                <a:latin typeface="Aptos"/>
              </a:rPr>
              <a:t>DMC / MDP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63296" y="2682240"/>
            <a:ext cx="3474720" cy="1158240"/>
          </a:xfrm>
          <a:prstGeom prst="rect">
            <a:avLst/>
          </a:prstGeom>
          <a:solidFill>
            <a:srgbClr val="F3F0FA"/>
          </a:solidFill>
          <a:ln w="6350">
            <a:solidFill>
              <a:srgbClr val="C4B5F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4572" bIns="4572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09600" y="2828544"/>
            <a:ext cx="3169920" cy="219456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4572" bIns="4572"/>
          <a:lstStyle/>
          <a:p>
            <a:pPr algn="l"/>
            <a:r>
              <a:rPr sz="1000" b="1">
                <a:solidFill>
                  <a:srgbClr val="111111"/>
                </a:solidFill>
                <a:latin typeface="Aptos"/>
              </a:rPr>
              <a:t>Jobs &amp; CoJo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09600" y="3194304"/>
            <a:ext cx="3169920" cy="512064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7432" rIns="27432" tIns="4572" bIns="4572"/>
          <a:lstStyle/>
          <a:p>
            <a:pPr algn="l"/>
            <a:r>
              <a:rPr sz="1000" b="0">
                <a:solidFill>
                  <a:srgbClr val="6B21D4"/>
                </a:solidFill>
                <a:latin typeface="Aptos"/>
              </a:rPr>
              <a:t>PoC: Rashmi Ranganath</a:t>
            </a:r>
          </a:p>
          <a:p>
            <a:pPr algn="l"/>
            <a:r>
              <a:rPr sz="1000" b="0">
                <a:solidFill>
                  <a:srgbClr val="6B21D4"/>
                </a:solidFill>
                <a:latin typeface="Aptos"/>
              </a:rPr>
              <a:t>S&amp;C – T1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303776" y="2682240"/>
            <a:ext cx="3474720" cy="1158240"/>
          </a:xfrm>
          <a:prstGeom prst="rect">
            <a:avLst/>
          </a:prstGeom>
          <a:solidFill>
            <a:srgbClr val="F3F0FA"/>
          </a:solidFill>
          <a:ln w="6350">
            <a:solidFill>
              <a:srgbClr val="C4B5F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4572" bIns="4572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4450080" y="2828544"/>
            <a:ext cx="3169920" cy="219456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4572" bIns="4572"/>
          <a:lstStyle/>
          <a:p>
            <a:pPr algn="l"/>
            <a:r>
              <a:rPr sz="1000" b="1">
                <a:solidFill>
                  <a:srgbClr val="111111"/>
                </a:solidFill>
                <a:latin typeface="Aptos"/>
              </a:rPr>
              <a:t>Contracting Team 1,2 (Tax)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450080" y="3194304"/>
            <a:ext cx="3169920" cy="512064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7432" rIns="27432" tIns="4572" bIns="4572"/>
          <a:lstStyle/>
          <a:p>
            <a:pPr algn="l"/>
            <a:r>
              <a:rPr sz="1000" b="0">
                <a:solidFill>
                  <a:srgbClr val="6B21D4"/>
                </a:solidFill>
                <a:latin typeface="Aptos"/>
              </a:rPr>
              <a:t>PoC: Vignesh Sheshababu/Preeti k/Srinivas R</a:t>
            </a:r>
          </a:p>
          <a:p>
            <a:pPr algn="l"/>
            <a:r>
              <a:rPr sz="1000" b="0">
                <a:solidFill>
                  <a:srgbClr val="6B21D4"/>
                </a:solidFill>
                <a:latin typeface="Aptos"/>
              </a:rPr>
              <a:t>S&amp;C – T2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144256" y="2682240"/>
            <a:ext cx="3474720" cy="1158240"/>
          </a:xfrm>
          <a:prstGeom prst="rect">
            <a:avLst/>
          </a:prstGeom>
          <a:solidFill>
            <a:srgbClr val="F3F0FA"/>
          </a:solidFill>
          <a:ln w="6350">
            <a:solidFill>
              <a:srgbClr val="C4B5F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4572" bIns="4572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8290560" y="2828544"/>
            <a:ext cx="3169920" cy="219456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4572" bIns="4572"/>
          <a:lstStyle/>
          <a:p>
            <a:pPr algn="l"/>
            <a:r>
              <a:rPr sz="1000" b="1">
                <a:solidFill>
                  <a:srgbClr val="111111"/>
                </a:solidFill>
                <a:latin typeface="Aptos"/>
              </a:rPr>
              <a:t>TDA</a:t>
            </a:r>
          </a:p>
        </p:txBody>
      </p:sp>
      <p:sp>
        <p:nvSpPr>
          <p:cNvPr id="21" name="Rectangle 20"/>
          <p:cNvSpPr/>
          <p:nvPr/>
        </p:nvSpPr>
        <p:spPr>
          <a:xfrm>
            <a:off x="8290560" y="3194304"/>
            <a:ext cx="3169920" cy="512064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7432" rIns="27432" tIns="4572" bIns="4572"/>
          <a:lstStyle/>
          <a:p>
            <a:pPr algn="l"/>
            <a:r>
              <a:rPr sz="1000" b="0">
                <a:solidFill>
                  <a:srgbClr val="6B21D4"/>
                </a:solidFill>
                <a:latin typeface="Aptos"/>
              </a:rPr>
              <a:t>PoC: Naveen H</a:t>
            </a:r>
          </a:p>
          <a:p>
            <a:pPr algn="l"/>
            <a:r>
              <a:rPr sz="1000" b="0">
                <a:solidFill>
                  <a:srgbClr val="6B21D4"/>
                </a:solidFill>
                <a:latin typeface="Aptos"/>
              </a:rPr>
              <a:t>S&amp;C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63296" y="4206240"/>
            <a:ext cx="3474720" cy="1158240"/>
          </a:xfrm>
          <a:prstGeom prst="rect">
            <a:avLst/>
          </a:prstGeom>
          <a:solidFill>
            <a:srgbClr val="F3F0FA"/>
          </a:solidFill>
          <a:ln w="6350">
            <a:solidFill>
              <a:srgbClr val="C4B5F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4572" bIns="4572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09600" y="4352544"/>
            <a:ext cx="3169920" cy="219456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4572" bIns="4572"/>
          <a:lstStyle/>
          <a:p>
            <a:pPr algn="l"/>
            <a:r>
              <a:rPr sz="1000" b="1">
                <a:solidFill>
                  <a:srgbClr val="111111"/>
                </a:solidFill>
                <a:latin typeface="Aptos"/>
              </a:rPr>
              <a:t>Work Package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09600" y="4718304"/>
            <a:ext cx="3169920" cy="512064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7432" rIns="27432" tIns="4572" bIns="4572"/>
          <a:lstStyle/>
          <a:p>
            <a:pPr algn="l"/>
            <a:r>
              <a:rPr sz="1000" b="0">
                <a:solidFill>
                  <a:srgbClr val="6B21D4"/>
                </a:solidFill>
                <a:latin typeface="Aptos"/>
              </a:rPr>
              <a:t>PoC: Likhith Pateel</a:t>
            </a:r>
          </a:p>
          <a:p>
            <a:pPr algn="l"/>
            <a:r>
              <a:rPr sz="1000" b="0">
                <a:solidFill>
                  <a:srgbClr val="6B21D4"/>
                </a:solidFill>
                <a:latin typeface="Aptos"/>
              </a:rPr>
              <a:t>S&amp;C – T1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303776" y="4206240"/>
            <a:ext cx="3474720" cy="1158240"/>
          </a:xfrm>
          <a:prstGeom prst="rect">
            <a:avLst/>
          </a:prstGeom>
          <a:solidFill>
            <a:srgbClr val="F3F0FA"/>
          </a:solidFill>
          <a:ln w="6350">
            <a:solidFill>
              <a:srgbClr val="C4B5F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4572" bIns="4572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4450080" y="4352544"/>
            <a:ext cx="3169920" cy="219456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4572" bIns="4572"/>
          <a:lstStyle/>
          <a:p>
            <a:pPr algn="l"/>
            <a:r>
              <a:rPr sz="1000" b="1">
                <a:solidFill>
                  <a:srgbClr val="111111"/>
                </a:solidFill>
                <a:latin typeface="Aptos"/>
              </a:rPr>
              <a:t>Documents / DocGen</a:t>
            </a:r>
          </a:p>
        </p:txBody>
      </p:sp>
      <p:sp>
        <p:nvSpPr>
          <p:cNvPr id="27" name="Rectangle 26"/>
          <p:cNvSpPr/>
          <p:nvPr/>
        </p:nvSpPr>
        <p:spPr>
          <a:xfrm>
            <a:off x="4450080" y="4718304"/>
            <a:ext cx="3169920" cy="512064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7432" rIns="27432" tIns="4572" bIns="4572"/>
          <a:lstStyle/>
          <a:p>
            <a:pPr algn="l"/>
            <a:r>
              <a:rPr sz="1000" b="0">
                <a:solidFill>
                  <a:srgbClr val="6B21D4"/>
                </a:solidFill>
                <a:latin typeface="Aptos"/>
              </a:rPr>
              <a:t>PoC: Sandhyarani M</a:t>
            </a:r>
          </a:p>
          <a:p>
            <a:pPr algn="l"/>
            <a:r>
              <a:rPr sz="1000" b="0">
                <a:solidFill>
                  <a:srgbClr val="6B21D4"/>
                </a:solidFill>
                <a:latin typeface="Aptos"/>
              </a:rPr>
              <a:t>S&amp;C</a:t>
            </a:r>
          </a:p>
        </p:txBody>
      </p:sp>
      <p:sp>
        <p:nvSpPr>
          <p:cNvPr id="28" name="Rectangle 27"/>
          <p:cNvSpPr/>
          <p:nvPr/>
        </p:nvSpPr>
        <p:spPr>
          <a:xfrm>
            <a:off x="8144256" y="4206240"/>
            <a:ext cx="3474720" cy="1158240"/>
          </a:xfrm>
          <a:prstGeom prst="rect">
            <a:avLst/>
          </a:prstGeom>
          <a:solidFill>
            <a:srgbClr val="F3F0FA"/>
          </a:solidFill>
          <a:ln w="6350">
            <a:solidFill>
              <a:srgbClr val="C4B5F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4572" bIns="4572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8290560" y="4352544"/>
            <a:ext cx="3169920" cy="219456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4572" bIns="4572"/>
          <a:lstStyle/>
          <a:p>
            <a:pPr algn="l"/>
            <a:r>
              <a:rPr sz="1000" b="1">
                <a:solidFill>
                  <a:srgbClr val="111111"/>
                </a:solidFill>
                <a:latin typeface="Aptos"/>
              </a:rPr>
              <a:t>Service</a:t>
            </a:r>
          </a:p>
        </p:txBody>
      </p:sp>
      <p:sp>
        <p:nvSpPr>
          <p:cNvPr id="30" name="Rectangle 29"/>
          <p:cNvSpPr/>
          <p:nvPr/>
        </p:nvSpPr>
        <p:spPr>
          <a:xfrm>
            <a:off x="8290560" y="4718304"/>
            <a:ext cx="3169920" cy="512064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7432" rIns="27432" tIns="4572" bIns="4572"/>
          <a:lstStyle/>
          <a:p>
            <a:pPr algn="l"/>
            <a:r>
              <a:rPr sz="1000" b="0">
                <a:solidFill>
                  <a:srgbClr val="6B21D4"/>
                </a:solidFill>
                <a:latin typeface="Aptos"/>
              </a:rPr>
              <a:t>PoC: Frank Murcia</a:t>
            </a:r>
          </a:p>
          <a:p>
            <a:pPr algn="l"/>
            <a:r>
              <a:rPr sz="1000" b="0">
                <a:solidFill>
                  <a:srgbClr val="6B21D4"/>
                </a:solidFill>
                <a:latin typeface="Aptos"/>
              </a:rPr>
              <a:t>Service</a:t>
            </a:r>
          </a:p>
        </p:txBody>
      </p:sp>
      <p:sp>
        <p:nvSpPr>
          <p:cNvPr id="31" name="Rectangle 30"/>
          <p:cNvSpPr/>
          <p:nvPr/>
        </p:nvSpPr>
        <p:spPr>
          <a:xfrm>
            <a:off x="463296" y="6388608"/>
            <a:ext cx="426720" cy="219456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4572" bIns="4572"/>
          <a:lstStyle/>
          <a:p>
            <a:pPr algn="l"/>
            <a:r>
              <a:rPr sz="900" b="0">
                <a:solidFill>
                  <a:srgbClr val="777777"/>
                </a:solidFill>
                <a:latin typeface="Aptos"/>
              </a:rPr>
              <a:t>11</a:t>
            </a:r>
          </a:p>
        </p:txBody>
      </p:sp>
      <p:pic>
        <p:nvPicPr>
          <p:cNvPr id="32" name="Picture 31" descr="trane_real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424160" y="6156960"/>
            <a:ext cx="1463040" cy="633984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63296" y="158496"/>
            <a:ext cx="11265408" cy="41452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4572" bIns="4572"/>
          <a:lstStyle/>
          <a:p>
            <a:pPr algn="l"/>
            <a:r>
              <a:rPr sz="2400" b="1">
                <a:solidFill>
                  <a:srgbClr val="6B21D4"/>
                </a:solidFill>
                <a:latin typeface="Aptos"/>
              </a:rPr>
              <a:t>The things you need – Checklist &amp; Application URLs</a:t>
            </a:r>
          </a:p>
        </p:txBody>
      </p:sp>
      <p:sp>
        <p:nvSpPr>
          <p:cNvPr id="3" name="Rectangle 2"/>
          <p:cNvSpPr/>
          <p:nvPr/>
        </p:nvSpPr>
        <p:spPr>
          <a:xfrm>
            <a:off x="463296" y="670560"/>
            <a:ext cx="5730240" cy="24384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4572" bIns="4572"/>
          <a:lstStyle/>
          <a:p>
            <a:pPr algn="l"/>
            <a:r>
              <a:rPr sz="1000" b="1">
                <a:solidFill>
                  <a:srgbClr val="4A148C"/>
                </a:solidFill>
                <a:latin typeface="Aptos"/>
              </a:rPr>
              <a:t>What you need</a:t>
            </a:r>
          </a:p>
        </p:txBody>
      </p:sp>
      <p:sp>
        <p:nvSpPr>
          <p:cNvPr id="4" name="Rectangle 3"/>
          <p:cNvSpPr/>
          <p:nvPr/>
        </p:nvSpPr>
        <p:spPr>
          <a:xfrm>
            <a:off x="463296" y="999744"/>
            <a:ext cx="5730240" cy="292608"/>
          </a:xfrm>
          <a:prstGeom prst="rect">
            <a:avLst/>
          </a:prstGeom>
          <a:solidFill>
            <a:srgbClr val="FFFFFF"/>
          </a:solidFill>
          <a:ln w="4445">
            <a:solidFill>
              <a:srgbClr val="EEEE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63296" y="999744"/>
            <a:ext cx="42672" cy="292608"/>
          </a:xfrm>
          <a:prstGeom prst="rect">
            <a:avLst/>
          </a:prstGeom>
          <a:solidFill>
            <a:srgbClr val="6B21D4"/>
          </a:solidFill>
          <a:ln>
            <a:solidFill>
              <a:srgbClr val="6B21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999744"/>
            <a:ext cx="1767840" cy="268224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4572" bIns="4572"/>
          <a:lstStyle/>
          <a:p>
            <a:pPr algn="l"/>
            <a:r>
              <a:rPr sz="1000" b="1">
                <a:solidFill>
                  <a:srgbClr val="111111"/>
                </a:solidFill>
                <a:latin typeface="Aptos"/>
              </a:rPr>
              <a:t>Laptop</a:t>
            </a:r>
          </a:p>
        </p:txBody>
      </p:sp>
      <p:sp>
        <p:nvSpPr>
          <p:cNvPr id="7" name="Rectangle 6"/>
          <p:cNvSpPr/>
          <p:nvPr/>
        </p:nvSpPr>
        <p:spPr>
          <a:xfrm>
            <a:off x="2438400" y="999744"/>
            <a:ext cx="3535680" cy="268224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4572" bIns="4572"/>
          <a:lstStyle/>
          <a:p>
            <a:pPr algn="l"/>
            <a:r>
              <a:rPr sz="1000" b="0">
                <a:solidFill>
                  <a:srgbClr val="777777"/>
                </a:solidFill>
                <a:latin typeface="Aptos"/>
              </a:rPr>
              <a:t>FST Team</a:t>
            </a:r>
          </a:p>
        </p:txBody>
      </p:sp>
      <p:sp>
        <p:nvSpPr>
          <p:cNvPr id="8" name="Rectangle 7"/>
          <p:cNvSpPr/>
          <p:nvPr/>
        </p:nvSpPr>
        <p:spPr>
          <a:xfrm>
            <a:off x="463296" y="1365502"/>
            <a:ext cx="5730240" cy="292608"/>
          </a:xfrm>
          <a:prstGeom prst="rect">
            <a:avLst/>
          </a:prstGeom>
          <a:solidFill>
            <a:srgbClr val="F3F0FA"/>
          </a:solidFill>
          <a:ln w="4445">
            <a:solidFill>
              <a:srgbClr val="EEEE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63296" y="1365502"/>
            <a:ext cx="42672" cy="292608"/>
          </a:xfrm>
          <a:prstGeom prst="rect">
            <a:avLst/>
          </a:prstGeom>
          <a:solidFill>
            <a:srgbClr val="6B21D4"/>
          </a:solidFill>
          <a:ln>
            <a:solidFill>
              <a:srgbClr val="6B21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48640" y="1365502"/>
            <a:ext cx="1767840" cy="268224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4572" bIns="4572"/>
          <a:lstStyle/>
          <a:p>
            <a:pPr algn="l"/>
            <a:r>
              <a:rPr sz="1000" b="1">
                <a:solidFill>
                  <a:srgbClr val="111111"/>
                </a:solidFill>
                <a:latin typeface="Aptos"/>
              </a:rPr>
              <a:t>VPN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438400" y="1365502"/>
            <a:ext cx="3535680" cy="268224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4572" bIns="4572"/>
          <a:lstStyle/>
          <a:p>
            <a:pPr algn="l"/>
            <a:r>
              <a:rPr sz="1000" b="0">
                <a:solidFill>
                  <a:srgbClr val="777777"/>
                </a:solidFill>
                <a:latin typeface="Aptos"/>
              </a:rPr>
              <a:t>FST Team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63296" y="1731264"/>
            <a:ext cx="5730240" cy="292608"/>
          </a:xfrm>
          <a:prstGeom prst="rect">
            <a:avLst/>
          </a:prstGeom>
          <a:solidFill>
            <a:srgbClr val="FFFFFF"/>
          </a:solidFill>
          <a:ln w="4445">
            <a:solidFill>
              <a:srgbClr val="EEEE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63296" y="1731264"/>
            <a:ext cx="42672" cy="292608"/>
          </a:xfrm>
          <a:prstGeom prst="rect">
            <a:avLst/>
          </a:prstGeom>
          <a:solidFill>
            <a:srgbClr val="6B21D4"/>
          </a:solidFill>
          <a:ln>
            <a:solidFill>
              <a:srgbClr val="6B21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548640" y="1731264"/>
            <a:ext cx="1767840" cy="268224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4572" bIns="4572"/>
          <a:lstStyle/>
          <a:p>
            <a:pPr algn="l"/>
            <a:r>
              <a:rPr sz="1000" b="1">
                <a:solidFill>
                  <a:srgbClr val="111111"/>
                </a:solidFill>
                <a:latin typeface="Aptos"/>
              </a:rPr>
              <a:t>Headphones / Mouse</a:t>
            </a:r>
          </a:p>
        </p:txBody>
      </p:sp>
      <p:sp>
        <p:nvSpPr>
          <p:cNvPr id="15" name="Rectangle 14"/>
          <p:cNvSpPr/>
          <p:nvPr/>
        </p:nvSpPr>
        <p:spPr>
          <a:xfrm>
            <a:off x="2438400" y="1731264"/>
            <a:ext cx="3535680" cy="268224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4572" bIns="4572"/>
          <a:lstStyle/>
          <a:p>
            <a:pPr algn="l"/>
            <a:r>
              <a:rPr sz="1000" b="0">
                <a:solidFill>
                  <a:srgbClr val="777777"/>
                </a:solidFill>
                <a:latin typeface="Aptos"/>
              </a:rPr>
              <a:t>FST Team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63296" y="2097022"/>
            <a:ext cx="5730240" cy="292608"/>
          </a:xfrm>
          <a:prstGeom prst="rect">
            <a:avLst/>
          </a:prstGeom>
          <a:solidFill>
            <a:srgbClr val="F3F0FA"/>
          </a:solidFill>
          <a:ln w="4445">
            <a:solidFill>
              <a:srgbClr val="EEEE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463296" y="2097022"/>
            <a:ext cx="42672" cy="292608"/>
          </a:xfrm>
          <a:prstGeom prst="rect">
            <a:avLst/>
          </a:prstGeom>
          <a:solidFill>
            <a:srgbClr val="6B21D4"/>
          </a:solidFill>
          <a:ln>
            <a:solidFill>
              <a:srgbClr val="6B21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548640" y="2097022"/>
            <a:ext cx="1767840" cy="268224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4572" bIns="4572"/>
          <a:lstStyle/>
          <a:p>
            <a:pPr algn="l"/>
            <a:r>
              <a:rPr sz="1000" b="1">
                <a:solidFill>
                  <a:srgbClr val="111111"/>
                </a:solidFill>
                <a:latin typeface="Aptos"/>
              </a:rPr>
              <a:t>Administrator ID</a:t>
            </a:r>
          </a:p>
        </p:txBody>
      </p:sp>
      <p:sp>
        <p:nvSpPr>
          <p:cNvPr id="19" name="Rectangle 18"/>
          <p:cNvSpPr/>
          <p:nvPr/>
        </p:nvSpPr>
        <p:spPr>
          <a:xfrm>
            <a:off x="2438400" y="2097022"/>
            <a:ext cx="3535680" cy="268224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4572" bIns="4572"/>
          <a:lstStyle/>
          <a:p>
            <a:pPr algn="l"/>
            <a:r>
              <a:rPr sz="1000" b="0">
                <a:solidFill>
                  <a:srgbClr val="777777"/>
                </a:solidFill>
                <a:latin typeface="Aptos"/>
              </a:rPr>
              <a:t>ServiceNow Request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63296" y="2462784"/>
            <a:ext cx="5730240" cy="292608"/>
          </a:xfrm>
          <a:prstGeom prst="rect">
            <a:avLst/>
          </a:prstGeom>
          <a:solidFill>
            <a:srgbClr val="FFFFFF"/>
          </a:solidFill>
          <a:ln w="4445">
            <a:solidFill>
              <a:srgbClr val="EEEE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463296" y="2462784"/>
            <a:ext cx="42672" cy="292608"/>
          </a:xfrm>
          <a:prstGeom prst="rect">
            <a:avLst/>
          </a:prstGeom>
          <a:solidFill>
            <a:srgbClr val="6B21D4"/>
          </a:solidFill>
          <a:ln>
            <a:solidFill>
              <a:srgbClr val="6B21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548640" y="2462784"/>
            <a:ext cx="1767840" cy="268224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4572" bIns="4572"/>
          <a:lstStyle/>
          <a:p>
            <a:pPr algn="l"/>
            <a:r>
              <a:rPr sz="1000" b="1">
                <a:solidFill>
                  <a:srgbClr val="111111"/>
                </a:solidFill>
                <a:latin typeface="Aptos"/>
              </a:rPr>
              <a:t>Jira Access</a:t>
            </a:r>
          </a:p>
        </p:txBody>
      </p:sp>
      <p:sp>
        <p:nvSpPr>
          <p:cNvPr id="23" name="Rectangle 22"/>
          <p:cNvSpPr/>
          <p:nvPr/>
        </p:nvSpPr>
        <p:spPr>
          <a:xfrm>
            <a:off x="2438400" y="2462784"/>
            <a:ext cx="3535680" cy="268224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4572" bIns="4572"/>
          <a:lstStyle/>
          <a:p>
            <a:pPr algn="l"/>
            <a:r>
              <a:rPr sz="1000" b="0">
                <a:solidFill>
                  <a:srgbClr val="777777"/>
                </a:solidFill>
                <a:latin typeface="Aptos"/>
              </a:rPr>
              <a:t>Contact QA Lead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63296" y="2828544"/>
            <a:ext cx="5730240" cy="292608"/>
          </a:xfrm>
          <a:prstGeom prst="rect">
            <a:avLst/>
          </a:prstGeom>
          <a:solidFill>
            <a:srgbClr val="F3F0FA"/>
          </a:solidFill>
          <a:ln w="4445">
            <a:solidFill>
              <a:srgbClr val="EEEE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463296" y="2828544"/>
            <a:ext cx="42672" cy="292608"/>
          </a:xfrm>
          <a:prstGeom prst="rect">
            <a:avLst/>
          </a:prstGeom>
          <a:solidFill>
            <a:srgbClr val="6B21D4"/>
          </a:solidFill>
          <a:ln>
            <a:solidFill>
              <a:srgbClr val="6B21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548640" y="2828544"/>
            <a:ext cx="1767840" cy="268224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4572" bIns="4572"/>
          <a:lstStyle/>
          <a:p>
            <a:pPr algn="l"/>
            <a:r>
              <a:rPr sz="1000" b="1">
                <a:solidFill>
                  <a:srgbClr val="111111"/>
                </a:solidFill>
                <a:latin typeface="Aptos"/>
              </a:rPr>
              <a:t>Java</a:t>
            </a:r>
          </a:p>
        </p:txBody>
      </p:sp>
      <p:sp>
        <p:nvSpPr>
          <p:cNvPr id="27" name="Rectangle 26"/>
          <p:cNvSpPr/>
          <p:nvPr/>
        </p:nvSpPr>
        <p:spPr>
          <a:xfrm>
            <a:off x="2438400" y="2828544"/>
            <a:ext cx="3535680" cy="268224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4572" bIns="4572"/>
          <a:lstStyle/>
          <a:p>
            <a:pPr algn="l"/>
            <a:r>
              <a:rPr sz="1000" b="0">
                <a:solidFill>
                  <a:srgbClr val="777777"/>
                </a:solidFill>
                <a:latin typeface="Aptos"/>
              </a:rPr>
              <a:t>ServiceNow – Computer Software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63296" y="3194302"/>
            <a:ext cx="5730240" cy="292608"/>
          </a:xfrm>
          <a:prstGeom prst="rect">
            <a:avLst/>
          </a:prstGeom>
          <a:solidFill>
            <a:srgbClr val="FFFFFF"/>
          </a:solidFill>
          <a:ln w="4445">
            <a:solidFill>
              <a:srgbClr val="EEEE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463296" y="3194302"/>
            <a:ext cx="42672" cy="292608"/>
          </a:xfrm>
          <a:prstGeom prst="rect">
            <a:avLst/>
          </a:prstGeom>
          <a:solidFill>
            <a:srgbClr val="6B21D4"/>
          </a:solidFill>
          <a:ln>
            <a:solidFill>
              <a:srgbClr val="6B21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548640" y="3194302"/>
            <a:ext cx="1767840" cy="268224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4572" bIns="4572"/>
          <a:lstStyle/>
          <a:p>
            <a:pPr algn="l"/>
            <a:r>
              <a:rPr sz="1000" b="1">
                <a:solidFill>
                  <a:srgbClr val="111111"/>
                </a:solidFill>
                <a:latin typeface="Aptos"/>
              </a:rPr>
              <a:t>Eclipse IDE</a:t>
            </a:r>
          </a:p>
        </p:txBody>
      </p:sp>
      <p:sp>
        <p:nvSpPr>
          <p:cNvPr id="31" name="Rectangle 30"/>
          <p:cNvSpPr/>
          <p:nvPr/>
        </p:nvSpPr>
        <p:spPr>
          <a:xfrm>
            <a:off x="2438400" y="3194302"/>
            <a:ext cx="3535680" cy="268224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4572" bIns="4572"/>
          <a:lstStyle/>
          <a:p>
            <a:pPr algn="l"/>
            <a:r>
              <a:rPr sz="1000" b="0">
                <a:solidFill>
                  <a:srgbClr val="777777"/>
                </a:solidFill>
                <a:latin typeface="Aptos"/>
              </a:rPr>
              <a:t>ServiceNow – Computer Software</a:t>
            </a:r>
          </a:p>
        </p:txBody>
      </p:sp>
      <p:sp>
        <p:nvSpPr>
          <p:cNvPr id="32" name="Rectangle 31"/>
          <p:cNvSpPr/>
          <p:nvPr/>
        </p:nvSpPr>
        <p:spPr>
          <a:xfrm>
            <a:off x="463296" y="3560064"/>
            <a:ext cx="5730240" cy="292608"/>
          </a:xfrm>
          <a:prstGeom prst="rect">
            <a:avLst/>
          </a:prstGeom>
          <a:solidFill>
            <a:srgbClr val="F3F0FA"/>
          </a:solidFill>
          <a:ln w="4445">
            <a:solidFill>
              <a:srgbClr val="EEEE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463296" y="3560064"/>
            <a:ext cx="42672" cy="292608"/>
          </a:xfrm>
          <a:prstGeom prst="rect">
            <a:avLst/>
          </a:prstGeom>
          <a:solidFill>
            <a:srgbClr val="6B21D4"/>
          </a:solidFill>
          <a:ln>
            <a:solidFill>
              <a:srgbClr val="6B21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548640" y="3560064"/>
            <a:ext cx="1767840" cy="268224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4572" bIns="4572"/>
          <a:lstStyle/>
          <a:p>
            <a:pPr algn="l"/>
            <a:r>
              <a:rPr sz="1000" b="1">
                <a:solidFill>
                  <a:srgbClr val="111111"/>
                </a:solidFill>
                <a:latin typeface="Aptos"/>
              </a:rPr>
              <a:t>Git Bash / GitHub</a:t>
            </a:r>
          </a:p>
        </p:txBody>
      </p:sp>
      <p:sp>
        <p:nvSpPr>
          <p:cNvPr id="35" name="Rectangle 34"/>
          <p:cNvSpPr/>
          <p:nvPr/>
        </p:nvSpPr>
        <p:spPr>
          <a:xfrm>
            <a:off x="2438400" y="3560064"/>
            <a:ext cx="3535680" cy="268224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4572" bIns="4572"/>
          <a:lstStyle/>
          <a:p>
            <a:pPr algn="l"/>
            <a:r>
              <a:rPr sz="1000" b="0">
                <a:solidFill>
                  <a:srgbClr val="777777"/>
                </a:solidFill>
                <a:latin typeface="Aptos"/>
              </a:rPr>
              <a:t>ServiceNow – KB0040682</a:t>
            </a:r>
          </a:p>
        </p:txBody>
      </p:sp>
      <p:sp>
        <p:nvSpPr>
          <p:cNvPr id="36" name="Rectangle 35"/>
          <p:cNvSpPr/>
          <p:nvPr/>
        </p:nvSpPr>
        <p:spPr>
          <a:xfrm>
            <a:off x="463296" y="3925824"/>
            <a:ext cx="5730240" cy="292608"/>
          </a:xfrm>
          <a:prstGeom prst="rect">
            <a:avLst/>
          </a:prstGeom>
          <a:solidFill>
            <a:srgbClr val="FFFFFF"/>
          </a:solidFill>
          <a:ln w="4445">
            <a:solidFill>
              <a:srgbClr val="EEEE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463296" y="3925824"/>
            <a:ext cx="42672" cy="292608"/>
          </a:xfrm>
          <a:prstGeom prst="rect">
            <a:avLst/>
          </a:prstGeom>
          <a:solidFill>
            <a:srgbClr val="6B21D4"/>
          </a:solidFill>
          <a:ln>
            <a:solidFill>
              <a:srgbClr val="6B21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548640" y="3925824"/>
            <a:ext cx="1767840" cy="268224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4572" bIns="4572"/>
          <a:lstStyle/>
          <a:p>
            <a:pPr algn="l"/>
            <a:r>
              <a:rPr sz="1000" b="1">
                <a:solidFill>
                  <a:srgbClr val="111111"/>
                </a:solidFill>
                <a:latin typeface="Aptos"/>
              </a:rPr>
              <a:t>TOSCA License</a:t>
            </a:r>
          </a:p>
        </p:txBody>
      </p:sp>
      <p:sp>
        <p:nvSpPr>
          <p:cNvPr id="39" name="Rectangle 38"/>
          <p:cNvSpPr/>
          <p:nvPr/>
        </p:nvSpPr>
        <p:spPr>
          <a:xfrm>
            <a:off x="2438400" y="3925824"/>
            <a:ext cx="3535680" cy="268224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4572" bIns="4572"/>
          <a:lstStyle/>
          <a:p>
            <a:pPr algn="l"/>
            <a:r>
              <a:rPr sz="1000" b="0">
                <a:solidFill>
                  <a:srgbClr val="777777"/>
                </a:solidFill>
                <a:latin typeface="Aptos"/>
              </a:rPr>
              <a:t>RITM0731045</a:t>
            </a:r>
          </a:p>
        </p:txBody>
      </p:sp>
      <p:sp>
        <p:nvSpPr>
          <p:cNvPr id="40" name="Rectangle 39"/>
          <p:cNvSpPr/>
          <p:nvPr/>
        </p:nvSpPr>
        <p:spPr>
          <a:xfrm>
            <a:off x="463296" y="4291582"/>
            <a:ext cx="5730240" cy="292608"/>
          </a:xfrm>
          <a:prstGeom prst="rect">
            <a:avLst/>
          </a:prstGeom>
          <a:solidFill>
            <a:srgbClr val="F3F0FA"/>
          </a:solidFill>
          <a:ln w="4445">
            <a:solidFill>
              <a:srgbClr val="EEEE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463296" y="4291582"/>
            <a:ext cx="42672" cy="292608"/>
          </a:xfrm>
          <a:prstGeom prst="rect">
            <a:avLst/>
          </a:prstGeom>
          <a:solidFill>
            <a:srgbClr val="6B21D4"/>
          </a:solidFill>
          <a:ln>
            <a:solidFill>
              <a:srgbClr val="6B21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548640" y="4291582"/>
            <a:ext cx="1767840" cy="268224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4572" bIns="4572"/>
          <a:lstStyle/>
          <a:p>
            <a:pPr algn="l"/>
            <a:r>
              <a:rPr sz="1000" b="1">
                <a:solidFill>
                  <a:srgbClr val="111111"/>
                </a:solidFill>
                <a:latin typeface="Aptos"/>
              </a:rPr>
              <a:t>TOSCA Access</a:t>
            </a:r>
          </a:p>
        </p:txBody>
      </p:sp>
      <p:sp>
        <p:nvSpPr>
          <p:cNvPr id="43" name="Rectangle 42"/>
          <p:cNvSpPr/>
          <p:nvPr/>
        </p:nvSpPr>
        <p:spPr>
          <a:xfrm>
            <a:off x="2438400" y="4291582"/>
            <a:ext cx="3535680" cy="268224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4572" bIns="4572"/>
          <a:lstStyle/>
          <a:p>
            <a:pPr algn="l"/>
            <a:r>
              <a:rPr sz="1000" b="0">
                <a:solidFill>
                  <a:srgbClr val="777777"/>
                </a:solidFill>
                <a:latin typeface="Aptos"/>
              </a:rPr>
              <a:t>RITM0731066</a:t>
            </a:r>
          </a:p>
        </p:txBody>
      </p:sp>
      <p:sp>
        <p:nvSpPr>
          <p:cNvPr id="44" name="Rectangle 43"/>
          <p:cNvSpPr/>
          <p:nvPr/>
        </p:nvSpPr>
        <p:spPr>
          <a:xfrm>
            <a:off x="463296" y="4657344"/>
            <a:ext cx="5730240" cy="292608"/>
          </a:xfrm>
          <a:prstGeom prst="rect">
            <a:avLst/>
          </a:prstGeom>
          <a:solidFill>
            <a:srgbClr val="FFFFFF"/>
          </a:solidFill>
          <a:ln w="4445">
            <a:solidFill>
              <a:srgbClr val="EEEE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463296" y="4657344"/>
            <a:ext cx="42672" cy="292608"/>
          </a:xfrm>
          <a:prstGeom prst="rect">
            <a:avLst/>
          </a:prstGeom>
          <a:solidFill>
            <a:srgbClr val="6B21D4"/>
          </a:solidFill>
          <a:ln>
            <a:solidFill>
              <a:srgbClr val="6B21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ectangle 45"/>
          <p:cNvSpPr/>
          <p:nvPr/>
        </p:nvSpPr>
        <p:spPr>
          <a:xfrm>
            <a:off x="548640" y="4657344"/>
            <a:ext cx="1767840" cy="268224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4572" bIns="4572"/>
          <a:lstStyle/>
          <a:p>
            <a:pPr algn="l"/>
            <a:r>
              <a:rPr sz="1000" b="1">
                <a:solidFill>
                  <a:srgbClr val="111111"/>
                </a:solidFill>
                <a:latin typeface="Aptos"/>
              </a:rPr>
              <a:t>Server / DB Access</a:t>
            </a:r>
          </a:p>
        </p:txBody>
      </p:sp>
      <p:sp>
        <p:nvSpPr>
          <p:cNvPr id="47" name="Rectangle 46"/>
          <p:cNvSpPr/>
          <p:nvPr/>
        </p:nvSpPr>
        <p:spPr>
          <a:xfrm>
            <a:off x="2438400" y="4657344"/>
            <a:ext cx="3535680" cy="268224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4572" bIns="4572"/>
          <a:lstStyle/>
          <a:p>
            <a:pPr algn="l"/>
            <a:r>
              <a:rPr sz="1000" b="0">
                <a:solidFill>
                  <a:srgbClr val="777777"/>
                </a:solidFill>
                <a:latin typeface="Aptos"/>
              </a:rPr>
              <a:t>ServiceNow Request</a:t>
            </a:r>
          </a:p>
        </p:txBody>
      </p:sp>
      <p:sp>
        <p:nvSpPr>
          <p:cNvPr id="48" name="Rectangle 47"/>
          <p:cNvSpPr/>
          <p:nvPr/>
        </p:nvSpPr>
        <p:spPr>
          <a:xfrm>
            <a:off x="463296" y="5023104"/>
            <a:ext cx="5730240" cy="292608"/>
          </a:xfrm>
          <a:prstGeom prst="rect">
            <a:avLst/>
          </a:prstGeom>
          <a:solidFill>
            <a:srgbClr val="F3F0FA"/>
          </a:solidFill>
          <a:ln w="4445">
            <a:solidFill>
              <a:srgbClr val="EEEE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ectangle 48"/>
          <p:cNvSpPr/>
          <p:nvPr/>
        </p:nvSpPr>
        <p:spPr>
          <a:xfrm>
            <a:off x="463296" y="5023104"/>
            <a:ext cx="42672" cy="292608"/>
          </a:xfrm>
          <a:prstGeom prst="rect">
            <a:avLst/>
          </a:prstGeom>
          <a:solidFill>
            <a:srgbClr val="6B21D4"/>
          </a:solidFill>
          <a:ln>
            <a:solidFill>
              <a:srgbClr val="6B21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Rectangle 49"/>
          <p:cNvSpPr/>
          <p:nvPr/>
        </p:nvSpPr>
        <p:spPr>
          <a:xfrm>
            <a:off x="548640" y="5023104"/>
            <a:ext cx="1767840" cy="268224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4572" bIns="4572"/>
          <a:lstStyle/>
          <a:p>
            <a:pPr algn="l"/>
            <a:r>
              <a:rPr sz="1000" b="1">
                <a:solidFill>
                  <a:srgbClr val="111111"/>
                </a:solidFill>
                <a:latin typeface="Aptos"/>
              </a:rPr>
              <a:t>Jenkins</a:t>
            </a:r>
          </a:p>
        </p:txBody>
      </p:sp>
      <p:sp>
        <p:nvSpPr>
          <p:cNvPr id="51" name="Rectangle 50"/>
          <p:cNvSpPr/>
          <p:nvPr/>
        </p:nvSpPr>
        <p:spPr>
          <a:xfrm>
            <a:off x="2438400" y="5023104"/>
            <a:ext cx="3535680" cy="268224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4572" bIns="4572"/>
          <a:lstStyle/>
          <a:p>
            <a:pPr algn="l"/>
            <a:r>
              <a:rPr sz="1000" b="0">
                <a:solidFill>
                  <a:srgbClr val="777777"/>
                </a:solidFill>
                <a:latin typeface="Aptos"/>
              </a:rPr>
              <a:t>build.webtopss.com</a:t>
            </a:r>
          </a:p>
        </p:txBody>
      </p:sp>
      <p:sp>
        <p:nvSpPr>
          <p:cNvPr id="52" name="Rectangle 51"/>
          <p:cNvSpPr/>
          <p:nvPr/>
        </p:nvSpPr>
        <p:spPr>
          <a:xfrm>
            <a:off x="463296" y="5388864"/>
            <a:ext cx="5730240" cy="292608"/>
          </a:xfrm>
          <a:prstGeom prst="rect">
            <a:avLst/>
          </a:prstGeom>
          <a:solidFill>
            <a:srgbClr val="FFFFFF"/>
          </a:solidFill>
          <a:ln w="4445">
            <a:solidFill>
              <a:srgbClr val="EEEE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Rectangle 52"/>
          <p:cNvSpPr/>
          <p:nvPr/>
        </p:nvSpPr>
        <p:spPr>
          <a:xfrm>
            <a:off x="463296" y="5388864"/>
            <a:ext cx="42672" cy="292608"/>
          </a:xfrm>
          <a:prstGeom prst="rect">
            <a:avLst/>
          </a:prstGeom>
          <a:solidFill>
            <a:srgbClr val="6B21D4"/>
          </a:solidFill>
          <a:ln>
            <a:solidFill>
              <a:srgbClr val="6B21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Rectangle 53"/>
          <p:cNvSpPr/>
          <p:nvPr/>
        </p:nvSpPr>
        <p:spPr>
          <a:xfrm>
            <a:off x="548640" y="5388864"/>
            <a:ext cx="1767840" cy="268224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4572" bIns="4572"/>
          <a:lstStyle/>
          <a:p>
            <a:pPr algn="l"/>
            <a:r>
              <a:rPr sz="1000" b="1">
                <a:solidFill>
                  <a:srgbClr val="111111"/>
                </a:solidFill>
                <a:latin typeface="Aptos"/>
              </a:rPr>
              <a:t>App URLs</a:t>
            </a:r>
          </a:p>
        </p:txBody>
      </p:sp>
      <p:sp>
        <p:nvSpPr>
          <p:cNvPr id="55" name="Rectangle 54"/>
          <p:cNvSpPr/>
          <p:nvPr/>
        </p:nvSpPr>
        <p:spPr>
          <a:xfrm>
            <a:off x="2438400" y="5388864"/>
            <a:ext cx="3535680" cy="268224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4572" bIns="4572"/>
          <a:lstStyle/>
          <a:p>
            <a:pPr algn="l"/>
            <a:r>
              <a:rPr sz="1000" b="0">
                <a:solidFill>
                  <a:srgbClr val="777777"/>
                </a:solidFill>
                <a:latin typeface="Aptos"/>
              </a:rPr>
              <a:t>See right column</a:t>
            </a:r>
          </a:p>
        </p:txBody>
      </p:sp>
      <p:sp>
        <p:nvSpPr>
          <p:cNvPr id="56" name="Rectangle 55"/>
          <p:cNvSpPr/>
          <p:nvPr/>
        </p:nvSpPr>
        <p:spPr>
          <a:xfrm>
            <a:off x="463296" y="5754624"/>
            <a:ext cx="5730240" cy="292608"/>
          </a:xfrm>
          <a:prstGeom prst="rect">
            <a:avLst/>
          </a:prstGeom>
          <a:solidFill>
            <a:srgbClr val="F3F0FA"/>
          </a:solidFill>
          <a:ln w="4445">
            <a:solidFill>
              <a:srgbClr val="EEEE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Rectangle 56"/>
          <p:cNvSpPr/>
          <p:nvPr/>
        </p:nvSpPr>
        <p:spPr>
          <a:xfrm>
            <a:off x="463296" y="5754624"/>
            <a:ext cx="42672" cy="292608"/>
          </a:xfrm>
          <a:prstGeom prst="rect">
            <a:avLst/>
          </a:prstGeom>
          <a:solidFill>
            <a:srgbClr val="6B21D4"/>
          </a:solidFill>
          <a:ln>
            <a:solidFill>
              <a:srgbClr val="6B21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Rectangle 57"/>
          <p:cNvSpPr/>
          <p:nvPr/>
        </p:nvSpPr>
        <p:spPr>
          <a:xfrm>
            <a:off x="548640" y="5754624"/>
            <a:ext cx="1767840" cy="268224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4572" bIns="4572"/>
          <a:lstStyle/>
          <a:p>
            <a:pPr algn="l"/>
            <a:r>
              <a:rPr sz="1000" b="1">
                <a:solidFill>
                  <a:srgbClr val="111111"/>
                </a:solidFill>
                <a:latin typeface="Aptos"/>
              </a:rPr>
              <a:t>MDP/DMC URLs</a:t>
            </a:r>
          </a:p>
        </p:txBody>
      </p:sp>
      <p:sp>
        <p:nvSpPr>
          <p:cNvPr id="59" name="Rectangle 58"/>
          <p:cNvSpPr/>
          <p:nvPr/>
        </p:nvSpPr>
        <p:spPr>
          <a:xfrm>
            <a:off x="2438400" y="5754624"/>
            <a:ext cx="3535680" cy="268224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4572" bIns="4572"/>
          <a:lstStyle/>
          <a:p>
            <a:pPr algn="l"/>
            <a:r>
              <a:rPr sz="1000" b="0">
                <a:solidFill>
                  <a:srgbClr val="777777"/>
                </a:solidFill>
                <a:latin typeface="Aptos"/>
              </a:rPr>
              <a:t>ServiceNow Request</a:t>
            </a:r>
          </a:p>
        </p:txBody>
      </p:sp>
      <p:sp>
        <p:nvSpPr>
          <p:cNvPr id="60" name="Rectangle 59"/>
          <p:cNvSpPr/>
          <p:nvPr/>
        </p:nvSpPr>
        <p:spPr>
          <a:xfrm>
            <a:off x="6461760" y="670560"/>
            <a:ext cx="5242560" cy="24384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4572" bIns="4572"/>
          <a:lstStyle/>
          <a:p>
            <a:pPr algn="l"/>
            <a:r>
              <a:rPr sz="1000" b="1">
                <a:solidFill>
                  <a:srgbClr val="4A148C"/>
                </a:solidFill>
                <a:latin typeface="Aptos"/>
              </a:rPr>
              <a:t>Application URLs</a:t>
            </a:r>
          </a:p>
        </p:txBody>
      </p:sp>
      <p:sp>
        <p:nvSpPr>
          <p:cNvPr id="61" name="Rectangle 60"/>
          <p:cNvSpPr/>
          <p:nvPr/>
        </p:nvSpPr>
        <p:spPr>
          <a:xfrm>
            <a:off x="6461760" y="999744"/>
            <a:ext cx="5242560" cy="23164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4572" bIns="4572"/>
          <a:lstStyle/>
          <a:p>
            <a:pPr algn="l"/>
            <a:r>
              <a:rPr sz="1000" b="1">
                <a:solidFill>
                  <a:srgbClr val="4A148C"/>
                </a:solidFill>
                <a:latin typeface="Aptos"/>
              </a:rPr>
              <a:t>TSA</a:t>
            </a:r>
          </a:p>
        </p:txBody>
      </p:sp>
      <p:sp>
        <p:nvSpPr>
          <p:cNvPr id="62" name="Rectangle 61"/>
          <p:cNvSpPr/>
          <p:nvPr/>
        </p:nvSpPr>
        <p:spPr>
          <a:xfrm>
            <a:off x="6461760" y="1280160"/>
            <a:ext cx="5242560" cy="256032"/>
          </a:xfrm>
          <a:prstGeom prst="rect">
            <a:avLst/>
          </a:prstGeom>
          <a:solidFill>
            <a:srgbClr val="FFFFFF"/>
          </a:solidFill>
          <a:ln w="4445">
            <a:solidFill>
              <a:srgbClr val="EEEE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Rectangle 62"/>
          <p:cNvSpPr/>
          <p:nvPr/>
        </p:nvSpPr>
        <p:spPr>
          <a:xfrm>
            <a:off x="6461760" y="1280160"/>
            <a:ext cx="42672" cy="256032"/>
          </a:xfrm>
          <a:prstGeom prst="rect">
            <a:avLst/>
          </a:prstGeom>
          <a:solidFill>
            <a:srgbClr val="6B21D4"/>
          </a:solidFill>
          <a:ln>
            <a:solidFill>
              <a:srgbClr val="6B21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Rectangle 63"/>
          <p:cNvSpPr/>
          <p:nvPr/>
        </p:nvSpPr>
        <p:spPr>
          <a:xfrm>
            <a:off x="6534912" y="1280160"/>
            <a:ext cx="950976" cy="23164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4572" bIns="4572"/>
          <a:lstStyle/>
          <a:p>
            <a:pPr algn="l"/>
            <a:r>
              <a:rPr sz="1000" b="1">
                <a:solidFill>
                  <a:srgbClr val="111111"/>
                </a:solidFill>
                <a:latin typeface="Aptos"/>
              </a:rPr>
              <a:t>Dev:</a:t>
            </a:r>
          </a:p>
        </p:txBody>
      </p:sp>
      <p:sp>
        <p:nvSpPr>
          <p:cNvPr id="65" name="Rectangle 64"/>
          <p:cNvSpPr/>
          <p:nvPr/>
        </p:nvSpPr>
        <p:spPr>
          <a:xfrm>
            <a:off x="7559040" y="1280160"/>
            <a:ext cx="3962400" cy="23164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4572" bIns="4572"/>
          <a:lstStyle/>
          <a:p>
            <a:pPr algn="l"/>
            <a:r>
              <a:rPr sz="1000" b="0">
                <a:solidFill>
                  <a:srgbClr val="777777"/>
                </a:solidFill>
                <a:latin typeface="Aptos"/>
              </a:rPr>
              <a:t>dev.traneselectassist.com</a:t>
            </a:r>
          </a:p>
        </p:txBody>
      </p:sp>
      <p:sp>
        <p:nvSpPr>
          <p:cNvPr id="66" name="Rectangle 65"/>
          <p:cNvSpPr/>
          <p:nvPr/>
        </p:nvSpPr>
        <p:spPr>
          <a:xfrm>
            <a:off x="6461760" y="1536192"/>
            <a:ext cx="5242560" cy="256032"/>
          </a:xfrm>
          <a:prstGeom prst="rect">
            <a:avLst/>
          </a:prstGeom>
          <a:solidFill>
            <a:srgbClr val="FFFFFF"/>
          </a:solidFill>
          <a:ln w="4445">
            <a:solidFill>
              <a:srgbClr val="EEEE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Rectangle 66"/>
          <p:cNvSpPr/>
          <p:nvPr/>
        </p:nvSpPr>
        <p:spPr>
          <a:xfrm>
            <a:off x="6461760" y="1536192"/>
            <a:ext cx="42672" cy="256032"/>
          </a:xfrm>
          <a:prstGeom prst="rect">
            <a:avLst/>
          </a:prstGeom>
          <a:solidFill>
            <a:srgbClr val="6B21D4"/>
          </a:solidFill>
          <a:ln>
            <a:solidFill>
              <a:srgbClr val="6B21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Rectangle 67"/>
          <p:cNvSpPr/>
          <p:nvPr/>
        </p:nvSpPr>
        <p:spPr>
          <a:xfrm>
            <a:off x="6534912" y="1536192"/>
            <a:ext cx="950976" cy="23164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4572" bIns="4572"/>
          <a:lstStyle/>
          <a:p>
            <a:pPr algn="l"/>
            <a:r>
              <a:rPr sz="1000" b="1">
                <a:solidFill>
                  <a:srgbClr val="111111"/>
                </a:solidFill>
                <a:latin typeface="Aptos"/>
              </a:rPr>
              <a:t>Test:</a:t>
            </a:r>
          </a:p>
        </p:txBody>
      </p:sp>
      <p:sp>
        <p:nvSpPr>
          <p:cNvPr id="69" name="Rectangle 68"/>
          <p:cNvSpPr/>
          <p:nvPr/>
        </p:nvSpPr>
        <p:spPr>
          <a:xfrm>
            <a:off x="7559040" y="1536192"/>
            <a:ext cx="3962400" cy="23164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4572" bIns="4572"/>
          <a:lstStyle/>
          <a:p>
            <a:pPr algn="l"/>
            <a:r>
              <a:rPr sz="1000" b="0">
                <a:solidFill>
                  <a:srgbClr val="777777"/>
                </a:solidFill>
                <a:latin typeface="Aptos"/>
              </a:rPr>
              <a:t>test.traneselectassist.com</a:t>
            </a:r>
          </a:p>
        </p:txBody>
      </p:sp>
      <p:sp>
        <p:nvSpPr>
          <p:cNvPr id="70" name="Rectangle 69"/>
          <p:cNvSpPr/>
          <p:nvPr/>
        </p:nvSpPr>
        <p:spPr>
          <a:xfrm>
            <a:off x="6461760" y="1792224"/>
            <a:ext cx="5242560" cy="256032"/>
          </a:xfrm>
          <a:prstGeom prst="rect">
            <a:avLst/>
          </a:prstGeom>
          <a:solidFill>
            <a:srgbClr val="FFFFFF"/>
          </a:solidFill>
          <a:ln w="4445">
            <a:solidFill>
              <a:srgbClr val="EEEE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Rectangle 70"/>
          <p:cNvSpPr/>
          <p:nvPr/>
        </p:nvSpPr>
        <p:spPr>
          <a:xfrm>
            <a:off x="6461760" y="1792224"/>
            <a:ext cx="42672" cy="256032"/>
          </a:xfrm>
          <a:prstGeom prst="rect">
            <a:avLst/>
          </a:prstGeom>
          <a:solidFill>
            <a:srgbClr val="6B21D4"/>
          </a:solidFill>
          <a:ln>
            <a:solidFill>
              <a:srgbClr val="6B21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Rectangle 71"/>
          <p:cNvSpPr/>
          <p:nvPr/>
        </p:nvSpPr>
        <p:spPr>
          <a:xfrm>
            <a:off x="6534912" y="1792224"/>
            <a:ext cx="950976" cy="23164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4572" bIns="4572"/>
          <a:lstStyle/>
          <a:p>
            <a:pPr algn="l"/>
            <a:r>
              <a:rPr sz="1000" b="1">
                <a:solidFill>
                  <a:srgbClr val="111111"/>
                </a:solidFill>
                <a:latin typeface="Aptos"/>
              </a:rPr>
              <a:t>Prod:</a:t>
            </a:r>
          </a:p>
        </p:txBody>
      </p:sp>
      <p:sp>
        <p:nvSpPr>
          <p:cNvPr id="73" name="Rectangle 72"/>
          <p:cNvSpPr/>
          <p:nvPr/>
        </p:nvSpPr>
        <p:spPr>
          <a:xfrm>
            <a:off x="7559040" y="1792224"/>
            <a:ext cx="3962400" cy="23164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4572" bIns="4572"/>
          <a:lstStyle/>
          <a:p>
            <a:pPr algn="l"/>
            <a:r>
              <a:rPr sz="1000" b="0">
                <a:solidFill>
                  <a:srgbClr val="777777"/>
                </a:solidFill>
                <a:latin typeface="Aptos"/>
              </a:rPr>
              <a:t>traneselectassist.com</a:t>
            </a:r>
          </a:p>
        </p:txBody>
      </p:sp>
      <p:sp>
        <p:nvSpPr>
          <p:cNvPr id="74" name="Rectangle 73"/>
          <p:cNvSpPr/>
          <p:nvPr/>
        </p:nvSpPr>
        <p:spPr>
          <a:xfrm>
            <a:off x="6461760" y="2048256"/>
            <a:ext cx="5242560" cy="23164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4572" bIns="4572"/>
          <a:lstStyle/>
          <a:p>
            <a:pPr algn="l"/>
            <a:r>
              <a:rPr sz="1000" b="1">
                <a:solidFill>
                  <a:srgbClr val="4A148C"/>
                </a:solidFill>
                <a:latin typeface="Aptos"/>
              </a:rPr>
              <a:t>TSMT</a:t>
            </a:r>
          </a:p>
        </p:txBody>
      </p:sp>
      <p:sp>
        <p:nvSpPr>
          <p:cNvPr id="75" name="Rectangle 74"/>
          <p:cNvSpPr/>
          <p:nvPr/>
        </p:nvSpPr>
        <p:spPr>
          <a:xfrm>
            <a:off x="6461760" y="2328672"/>
            <a:ext cx="5242560" cy="256032"/>
          </a:xfrm>
          <a:prstGeom prst="rect">
            <a:avLst/>
          </a:prstGeom>
          <a:solidFill>
            <a:srgbClr val="FFFFFF"/>
          </a:solidFill>
          <a:ln w="4445">
            <a:solidFill>
              <a:srgbClr val="EEEE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Rectangle 75"/>
          <p:cNvSpPr/>
          <p:nvPr/>
        </p:nvSpPr>
        <p:spPr>
          <a:xfrm>
            <a:off x="6461760" y="2328672"/>
            <a:ext cx="42672" cy="256032"/>
          </a:xfrm>
          <a:prstGeom prst="rect">
            <a:avLst/>
          </a:prstGeom>
          <a:solidFill>
            <a:srgbClr val="6B21D4"/>
          </a:solidFill>
          <a:ln>
            <a:solidFill>
              <a:srgbClr val="6B21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Rectangle 76"/>
          <p:cNvSpPr/>
          <p:nvPr/>
        </p:nvSpPr>
        <p:spPr>
          <a:xfrm>
            <a:off x="6534912" y="2328672"/>
            <a:ext cx="950976" cy="23164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4572" bIns="4572"/>
          <a:lstStyle/>
          <a:p>
            <a:pPr algn="l"/>
            <a:r>
              <a:rPr sz="1000" b="1">
                <a:solidFill>
                  <a:srgbClr val="111111"/>
                </a:solidFill>
                <a:latin typeface="Aptos"/>
              </a:rPr>
              <a:t>Dev:</a:t>
            </a:r>
          </a:p>
        </p:txBody>
      </p:sp>
      <p:sp>
        <p:nvSpPr>
          <p:cNvPr id="78" name="Rectangle 77"/>
          <p:cNvSpPr/>
          <p:nvPr/>
        </p:nvSpPr>
        <p:spPr>
          <a:xfrm>
            <a:off x="7559040" y="2328672"/>
            <a:ext cx="3962400" cy="23164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4572" bIns="4572"/>
          <a:lstStyle/>
          <a:p>
            <a:pPr algn="l"/>
            <a:r>
              <a:rPr sz="1000" b="0">
                <a:solidFill>
                  <a:srgbClr val="777777"/>
                </a:solidFill>
                <a:latin typeface="Aptos"/>
              </a:rPr>
              <a:t>devsalestools.trane.com</a:t>
            </a:r>
          </a:p>
        </p:txBody>
      </p:sp>
      <p:sp>
        <p:nvSpPr>
          <p:cNvPr id="79" name="Rectangle 78"/>
          <p:cNvSpPr/>
          <p:nvPr/>
        </p:nvSpPr>
        <p:spPr>
          <a:xfrm>
            <a:off x="6461760" y="2584704"/>
            <a:ext cx="5242560" cy="256032"/>
          </a:xfrm>
          <a:prstGeom prst="rect">
            <a:avLst/>
          </a:prstGeom>
          <a:solidFill>
            <a:srgbClr val="FFFFFF"/>
          </a:solidFill>
          <a:ln w="4445">
            <a:solidFill>
              <a:srgbClr val="EEEE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Rectangle 79"/>
          <p:cNvSpPr/>
          <p:nvPr/>
        </p:nvSpPr>
        <p:spPr>
          <a:xfrm>
            <a:off x="6461760" y="2584704"/>
            <a:ext cx="42672" cy="256032"/>
          </a:xfrm>
          <a:prstGeom prst="rect">
            <a:avLst/>
          </a:prstGeom>
          <a:solidFill>
            <a:srgbClr val="6B21D4"/>
          </a:solidFill>
          <a:ln>
            <a:solidFill>
              <a:srgbClr val="6B21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Rectangle 80"/>
          <p:cNvSpPr/>
          <p:nvPr/>
        </p:nvSpPr>
        <p:spPr>
          <a:xfrm>
            <a:off x="6534912" y="2584704"/>
            <a:ext cx="950976" cy="23164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4572" bIns="4572"/>
          <a:lstStyle/>
          <a:p>
            <a:pPr algn="l"/>
            <a:r>
              <a:rPr sz="1000" b="1">
                <a:solidFill>
                  <a:srgbClr val="111111"/>
                </a:solidFill>
                <a:latin typeface="Aptos"/>
              </a:rPr>
              <a:t>Test:</a:t>
            </a:r>
          </a:p>
        </p:txBody>
      </p:sp>
      <p:sp>
        <p:nvSpPr>
          <p:cNvPr id="82" name="Rectangle 81"/>
          <p:cNvSpPr/>
          <p:nvPr/>
        </p:nvSpPr>
        <p:spPr>
          <a:xfrm>
            <a:off x="7559040" y="2584704"/>
            <a:ext cx="3962400" cy="23164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4572" bIns="4572"/>
          <a:lstStyle/>
          <a:p>
            <a:pPr algn="l"/>
            <a:r>
              <a:rPr sz="1000" b="0">
                <a:solidFill>
                  <a:srgbClr val="777777"/>
                </a:solidFill>
                <a:latin typeface="Aptos"/>
              </a:rPr>
              <a:t>uatsalestools.trane.com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461760" y="2840736"/>
            <a:ext cx="5242560" cy="256032"/>
          </a:xfrm>
          <a:prstGeom prst="rect">
            <a:avLst/>
          </a:prstGeom>
          <a:solidFill>
            <a:srgbClr val="FFFFFF"/>
          </a:solidFill>
          <a:ln w="4445">
            <a:solidFill>
              <a:srgbClr val="EEEE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Rectangle 83"/>
          <p:cNvSpPr/>
          <p:nvPr/>
        </p:nvSpPr>
        <p:spPr>
          <a:xfrm>
            <a:off x="6461760" y="2840736"/>
            <a:ext cx="42672" cy="256032"/>
          </a:xfrm>
          <a:prstGeom prst="rect">
            <a:avLst/>
          </a:prstGeom>
          <a:solidFill>
            <a:srgbClr val="6B21D4"/>
          </a:solidFill>
          <a:ln>
            <a:solidFill>
              <a:srgbClr val="6B21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Rectangle 84"/>
          <p:cNvSpPr/>
          <p:nvPr/>
        </p:nvSpPr>
        <p:spPr>
          <a:xfrm>
            <a:off x="6534912" y="2840736"/>
            <a:ext cx="950976" cy="23164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4572" bIns="4572"/>
          <a:lstStyle/>
          <a:p>
            <a:pPr algn="l"/>
            <a:r>
              <a:rPr sz="1000" b="1">
                <a:solidFill>
                  <a:srgbClr val="111111"/>
                </a:solidFill>
                <a:latin typeface="Aptos"/>
              </a:rPr>
              <a:t>Prod:</a:t>
            </a:r>
          </a:p>
        </p:txBody>
      </p:sp>
      <p:sp>
        <p:nvSpPr>
          <p:cNvPr id="86" name="Rectangle 85"/>
          <p:cNvSpPr/>
          <p:nvPr/>
        </p:nvSpPr>
        <p:spPr>
          <a:xfrm>
            <a:off x="7559040" y="2840736"/>
            <a:ext cx="3962400" cy="23164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4572" bIns="4572"/>
          <a:lstStyle/>
          <a:p>
            <a:pPr algn="l"/>
            <a:r>
              <a:rPr sz="1000" b="0">
                <a:solidFill>
                  <a:srgbClr val="777777"/>
                </a:solidFill>
                <a:latin typeface="Aptos"/>
              </a:rPr>
              <a:t>salestools.trane.com</a:t>
            </a:r>
          </a:p>
        </p:txBody>
      </p:sp>
      <p:sp>
        <p:nvSpPr>
          <p:cNvPr id="87" name="Rectangle 86"/>
          <p:cNvSpPr/>
          <p:nvPr/>
        </p:nvSpPr>
        <p:spPr>
          <a:xfrm>
            <a:off x="6461760" y="3096768"/>
            <a:ext cx="5242560" cy="23164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4572" bIns="4572"/>
          <a:lstStyle/>
          <a:p>
            <a:pPr algn="l"/>
            <a:r>
              <a:rPr sz="1000" b="1">
                <a:solidFill>
                  <a:srgbClr val="4A148C"/>
                </a:solidFill>
                <a:latin typeface="Aptos"/>
              </a:rPr>
              <a:t>MDP/DMC</a:t>
            </a:r>
          </a:p>
        </p:txBody>
      </p:sp>
      <p:sp>
        <p:nvSpPr>
          <p:cNvPr id="88" name="Rectangle 87"/>
          <p:cNvSpPr/>
          <p:nvPr/>
        </p:nvSpPr>
        <p:spPr>
          <a:xfrm>
            <a:off x="6461760" y="3377184"/>
            <a:ext cx="5242560" cy="256032"/>
          </a:xfrm>
          <a:prstGeom prst="rect">
            <a:avLst/>
          </a:prstGeom>
          <a:solidFill>
            <a:srgbClr val="FFFFFF"/>
          </a:solidFill>
          <a:ln w="4445">
            <a:solidFill>
              <a:srgbClr val="EEEE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Rectangle 88"/>
          <p:cNvSpPr/>
          <p:nvPr/>
        </p:nvSpPr>
        <p:spPr>
          <a:xfrm>
            <a:off x="6461760" y="3377184"/>
            <a:ext cx="42672" cy="256032"/>
          </a:xfrm>
          <a:prstGeom prst="rect">
            <a:avLst/>
          </a:prstGeom>
          <a:solidFill>
            <a:srgbClr val="6B21D4"/>
          </a:solidFill>
          <a:ln>
            <a:solidFill>
              <a:srgbClr val="6B21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Rectangle 89"/>
          <p:cNvSpPr/>
          <p:nvPr/>
        </p:nvSpPr>
        <p:spPr>
          <a:xfrm>
            <a:off x="6534912" y="3377184"/>
            <a:ext cx="950976" cy="23164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4572" bIns="4572"/>
          <a:lstStyle/>
          <a:p>
            <a:pPr algn="l"/>
            <a:r>
              <a:rPr sz="1000" b="1">
                <a:solidFill>
                  <a:srgbClr val="111111"/>
                </a:solidFill>
                <a:latin typeface="Aptos"/>
              </a:rPr>
              <a:t>Dev:</a:t>
            </a:r>
          </a:p>
        </p:txBody>
      </p:sp>
      <p:sp>
        <p:nvSpPr>
          <p:cNvPr id="91" name="Rectangle 90"/>
          <p:cNvSpPr/>
          <p:nvPr/>
        </p:nvSpPr>
        <p:spPr>
          <a:xfrm>
            <a:off x="7559040" y="3377184"/>
            <a:ext cx="3962400" cy="23164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4572" bIns="4572"/>
          <a:lstStyle/>
          <a:p>
            <a:pPr algn="l"/>
            <a:r>
              <a:rPr sz="1000" b="0">
                <a:solidFill>
                  <a:srgbClr val="777777"/>
                </a:solidFill>
                <a:latin typeface="Aptos"/>
              </a:rPr>
              <a:t>devdmc.trane.com</a:t>
            </a:r>
          </a:p>
        </p:txBody>
      </p:sp>
      <p:sp>
        <p:nvSpPr>
          <p:cNvPr id="92" name="Rectangle 91"/>
          <p:cNvSpPr/>
          <p:nvPr/>
        </p:nvSpPr>
        <p:spPr>
          <a:xfrm>
            <a:off x="6461760" y="3633216"/>
            <a:ext cx="5242560" cy="256032"/>
          </a:xfrm>
          <a:prstGeom prst="rect">
            <a:avLst/>
          </a:prstGeom>
          <a:solidFill>
            <a:srgbClr val="FFFFFF"/>
          </a:solidFill>
          <a:ln w="4445">
            <a:solidFill>
              <a:srgbClr val="EEEE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Rectangle 92"/>
          <p:cNvSpPr/>
          <p:nvPr/>
        </p:nvSpPr>
        <p:spPr>
          <a:xfrm>
            <a:off x="6461760" y="3633216"/>
            <a:ext cx="42672" cy="256032"/>
          </a:xfrm>
          <a:prstGeom prst="rect">
            <a:avLst/>
          </a:prstGeom>
          <a:solidFill>
            <a:srgbClr val="6B21D4"/>
          </a:solidFill>
          <a:ln>
            <a:solidFill>
              <a:srgbClr val="6B21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" name="Rectangle 93"/>
          <p:cNvSpPr/>
          <p:nvPr/>
        </p:nvSpPr>
        <p:spPr>
          <a:xfrm>
            <a:off x="6534912" y="3633216"/>
            <a:ext cx="950976" cy="23164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4572" bIns="4572"/>
          <a:lstStyle/>
          <a:p>
            <a:pPr algn="l"/>
            <a:r>
              <a:rPr sz="1000" b="1">
                <a:solidFill>
                  <a:srgbClr val="111111"/>
                </a:solidFill>
                <a:latin typeface="Aptos"/>
              </a:rPr>
              <a:t>Test:</a:t>
            </a:r>
          </a:p>
        </p:txBody>
      </p:sp>
      <p:sp>
        <p:nvSpPr>
          <p:cNvPr id="95" name="Rectangle 94"/>
          <p:cNvSpPr/>
          <p:nvPr/>
        </p:nvSpPr>
        <p:spPr>
          <a:xfrm>
            <a:off x="7559040" y="3633216"/>
            <a:ext cx="3962400" cy="23164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4572" bIns="4572"/>
          <a:lstStyle/>
          <a:p>
            <a:pPr algn="l"/>
            <a:r>
              <a:rPr sz="1000" b="0">
                <a:solidFill>
                  <a:srgbClr val="777777"/>
                </a:solidFill>
                <a:latin typeface="Aptos"/>
              </a:rPr>
              <a:t>uatdmc.trane.com</a:t>
            </a:r>
          </a:p>
        </p:txBody>
      </p:sp>
      <p:sp>
        <p:nvSpPr>
          <p:cNvPr id="96" name="Rectangle 95"/>
          <p:cNvSpPr/>
          <p:nvPr/>
        </p:nvSpPr>
        <p:spPr>
          <a:xfrm>
            <a:off x="6461760" y="3889248"/>
            <a:ext cx="5242560" cy="256032"/>
          </a:xfrm>
          <a:prstGeom prst="rect">
            <a:avLst/>
          </a:prstGeom>
          <a:solidFill>
            <a:srgbClr val="FFFFFF"/>
          </a:solidFill>
          <a:ln w="4445">
            <a:solidFill>
              <a:srgbClr val="EEEE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Rectangle 96"/>
          <p:cNvSpPr/>
          <p:nvPr/>
        </p:nvSpPr>
        <p:spPr>
          <a:xfrm>
            <a:off x="6461760" y="3889248"/>
            <a:ext cx="42672" cy="256032"/>
          </a:xfrm>
          <a:prstGeom prst="rect">
            <a:avLst/>
          </a:prstGeom>
          <a:solidFill>
            <a:srgbClr val="6B21D4"/>
          </a:solidFill>
          <a:ln>
            <a:solidFill>
              <a:srgbClr val="6B21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Rectangle 97"/>
          <p:cNvSpPr/>
          <p:nvPr/>
        </p:nvSpPr>
        <p:spPr>
          <a:xfrm>
            <a:off x="6534912" y="3889248"/>
            <a:ext cx="950976" cy="23164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4572" bIns="4572"/>
          <a:lstStyle/>
          <a:p>
            <a:pPr algn="l"/>
            <a:r>
              <a:rPr sz="1000" b="1">
                <a:solidFill>
                  <a:srgbClr val="111111"/>
                </a:solidFill>
                <a:latin typeface="Aptos"/>
              </a:rPr>
              <a:t>Prod:</a:t>
            </a:r>
          </a:p>
        </p:txBody>
      </p:sp>
      <p:sp>
        <p:nvSpPr>
          <p:cNvPr id="99" name="Rectangle 98"/>
          <p:cNvSpPr/>
          <p:nvPr/>
        </p:nvSpPr>
        <p:spPr>
          <a:xfrm>
            <a:off x="7559040" y="3889248"/>
            <a:ext cx="3962400" cy="23164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4572" bIns="4572"/>
          <a:lstStyle/>
          <a:p>
            <a:pPr algn="l"/>
            <a:r>
              <a:rPr sz="1000" b="0">
                <a:solidFill>
                  <a:srgbClr val="777777"/>
                </a:solidFill>
                <a:latin typeface="Aptos"/>
              </a:rPr>
              <a:t>dmc.trane.com</a:t>
            </a:r>
          </a:p>
        </p:txBody>
      </p:sp>
      <p:sp>
        <p:nvSpPr>
          <p:cNvPr id="100" name="Rectangle 99"/>
          <p:cNvSpPr/>
          <p:nvPr/>
        </p:nvSpPr>
        <p:spPr>
          <a:xfrm>
            <a:off x="6461760" y="4145280"/>
            <a:ext cx="5242560" cy="23164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4572" bIns="4572"/>
          <a:lstStyle/>
          <a:p>
            <a:pPr algn="l"/>
            <a:r>
              <a:rPr sz="1000" b="1">
                <a:solidFill>
                  <a:srgbClr val="4A148C"/>
                </a:solidFill>
                <a:latin typeface="Aptos"/>
              </a:rPr>
              <a:t>Portals</a:t>
            </a:r>
          </a:p>
        </p:txBody>
      </p:sp>
      <p:sp>
        <p:nvSpPr>
          <p:cNvPr id="101" name="Rectangle 100"/>
          <p:cNvSpPr/>
          <p:nvPr/>
        </p:nvSpPr>
        <p:spPr>
          <a:xfrm>
            <a:off x="6461760" y="4425696"/>
            <a:ext cx="5242560" cy="256032"/>
          </a:xfrm>
          <a:prstGeom prst="rect">
            <a:avLst/>
          </a:prstGeom>
          <a:solidFill>
            <a:srgbClr val="FFFFFF"/>
          </a:solidFill>
          <a:ln w="4445">
            <a:solidFill>
              <a:srgbClr val="EEEE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" name="Rectangle 101"/>
          <p:cNvSpPr/>
          <p:nvPr/>
        </p:nvSpPr>
        <p:spPr>
          <a:xfrm>
            <a:off x="6461760" y="4425696"/>
            <a:ext cx="42672" cy="256032"/>
          </a:xfrm>
          <a:prstGeom prst="rect">
            <a:avLst/>
          </a:prstGeom>
          <a:solidFill>
            <a:srgbClr val="6B21D4"/>
          </a:solidFill>
          <a:ln>
            <a:solidFill>
              <a:srgbClr val="6B21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" name="Rectangle 102"/>
          <p:cNvSpPr/>
          <p:nvPr/>
        </p:nvSpPr>
        <p:spPr>
          <a:xfrm>
            <a:off x="6534912" y="4425696"/>
            <a:ext cx="950976" cy="23164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4572" bIns="4572"/>
          <a:lstStyle/>
          <a:p>
            <a:pPr algn="l"/>
            <a:r>
              <a:rPr sz="1000" b="1">
                <a:solidFill>
                  <a:srgbClr val="111111"/>
                </a:solidFill>
                <a:latin typeface="Aptos"/>
              </a:rPr>
              <a:t>ServiceNow: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7559040" y="4425696"/>
            <a:ext cx="3962400" cy="23164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4572" bIns="4572"/>
          <a:lstStyle/>
          <a:p>
            <a:pPr algn="l"/>
            <a:r>
              <a:rPr sz="1000" b="0">
                <a:solidFill>
                  <a:srgbClr val="777777"/>
                </a:solidFill>
                <a:latin typeface="Aptos"/>
              </a:rPr>
              <a:t>tranetechnologies.service-now.com/sp</a:t>
            </a:r>
          </a:p>
        </p:txBody>
      </p:sp>
      <p:sp>
        <p:nvSpPr>
          <p:cNvPr id="105" name="Rectangle 104"/>
          <p:cNvSpPr/>
          <p:nvPr/>
        </p:nvSpPr>
        <p:spPr>
          <a:xfrm>
            <a:off x="6461760" y="4681728"/>
            <a:ext cx="5242560" cy="256032"/>
          </a:xfrm>
          <a:prstGeom prst="rect">
            <a:avLst/>
          </a:prstGeom>
          <a:solidFill>
            <a:srgbClr val="FFFFFF"/>
          </a:solidFill>
          <a:ln w="4445">
            <a:solidFill>
              <a:srgbClr val="EEEE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" name="Rectangle 105"/>
          <p:cNvSpPr/>
          <p:nvPr/>
        </p:nvSpPr>
        <p:spPr>
          <a:xfrm>
            <a:off x="6461760" y="4681728"/>
            <a:ext cx="42672" cy="256032"/>
          </a:xfrm>
          <a:prstGeom prst="rect">
            <a:avLst/>
          </a:prstGeom>
          <a:solidFill>
            <a:srgbClr val="6B21D4"/>
          </a:solidFill>
          <a:ln>
            <a:solidFill>
              <a:srgbClr val="6B21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" name="Rectangle 106"/>
          <p:cNvSpPr/>
          <p:nvPr/>
        </p:nvSpPr>
        <p:spPr>
          <a:xfrm>
            <a:off x="6534912" y="4681728"/>
            <a:ext cx="950976" cy="23164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4572" bIns="4572"/>
          <a:lstStyle/>
          <a:p>
            <a:pPr algn="l"/>
            <a:r>
              <a:rPr sz="1000" b="1">
                <a:solidFill>
                  <a:srgbClr val="111111"/>
                </a:solidFill>
                <a:latin typeface="Aptos"/>
              </a:rPr>
              <a:t>Confluence:</a:t>
            </a:r>
          </a:p>
        </p:txBody>
      </p:sp>
      <p:sp>
        <p:nvSpPr>
          <p:cNvPr id="108" name="Rectangle 107"/>
          <p:cNvSpPr/>
          <p:nvPr/>
        </p:nvSpPr>
        <p:spPr>
          <a:xfrm>
            <a:off x="7559040" y="4681728"/>
            <a:ext cx="3962400" cy="23164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4572" bIns="4572"/>
          <a:lstStyle/>
          <a:p>
            <a:pPr algn="l"/>
            <a:r>
              <a:rPr sz="1000" b="0">
                <a:solidFill>
                  <a:srgbClr val="777777"/>
                </a:solidFill>
                <a:latin typeface="Aptos"/>
              </a:rPr>
              <a:t>tranetis.jira.com/wiki/spaces/TOPSS</a:t>
            </a:r>
          </a:p>
        </p:txBody>
      </p:sp>
      <p:sp>
        <p:nvSpPr>
          <p:cNvPr id="109" name="Rectangle 108"/>
          <p:cNvSpPr/>
          <p:nvPr/>
        </p:nvSpPr>
        <p:spPr>
          <a:xfrm>
            <a:off x="6461760" y="4937760"/>
            <a:ext cx="5242560" cy="256032"/>
          </a:xfrm>
          <a:prstGeom prst="rect">
            <a:avLst/>
          </a:prstGeom>
          <a:solidFill>
            <a:srgbClr val="FFFFFF"/>
          </a:solidFill>
          <a:ln w="4445">
            <a:solidFill>
              <a:srgbClr val="EEEE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" name="Rectangle 109"/>
          <p:cNvSpPr/>
          <p:nvPr/>
        </p:nvSpPr>
        <p:spPr>
          <a:xfrm>
            <a:off x="6461760" y="4937760"/>
            <a:ext cx="42672" cy="256032"/>
          </a:xfrm>
          <a:prstGeom prst="rect">
            <a:avLst/>
          </a:prstGeom>
          <a:solidFill>
            <a:srgbClr val="6B21D4"/>
          </a:solidFill>
          <a:ln>
            <a:solidFill>
              <a:srgbClr val="6B21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Rectangle 110"/>
          <p:cNvSpPr/>
          <p:nvPr/>
        </p:nvSpPr>
        <p:spPr>
          <a:xfrm>
            <a:off x="6534912" y="4937760"/>
            <a:ext cx="950976" cy="23164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4572" bIns="4572"/>
          <a:lstStyle/>
          <a:p>
            <a:pPr algn="l"/>
            <a:r>
              <a:rPr sz="1000" b="1">
                <a:solidFill>
                  <a:srgbClr val="111111"/>
                </a:solidFill>
                <a:latin typeface="Aptos"/>
              </a:rPr>
              <a:t>GitHub:</a:t>
            </a:r>
          </a:p>
        </p:txBody>
      </p:sp>
      <p:sp>
        <p:nvSpPr>
          <p:cNvPr id="112" name="Rectangle 111"/>
          <p:cNvSpPr/>
          <p:nvPr/>
        </p:nvSpPr>
        <p:spPr>
          <a:xfrm>
            <a:off x="7559040" y="4937760"/>
            <a:ext cx="3962400" cy="23164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4572" bIns="4572"/>
          <a:lstStyle/>
          <a:p>
            <a:pPr algn="l"/>
            <a:r>
              <a:rPr sz="1000" b="0">
                <a:solidFill>
                  <a:srgbClr val="777777"/>
                </a:solidFill>
                <a:latin typeface="Aptos"/>
              </a:rPr>
              <a:t>github.com/enterprises/tranetechnologies/sso</a:t>
            </a:r>
          </a:p>
        </p:txBody>
      </p:sp>
      <p:sp>
        <p:nvSpPr>
          <p:cNvPr id="113" name="Rectangle 112"/>
          <p:cNvSpPr/>
          <p:nvPr/>
        </p:nvSpPr>
        <p:spPr>
          <a:xfrm>
            <a:off x="6461760" y="5193792"/>
            <a:ext cx="5242560" cy="256032"/>
          </a:xfrm>
          <a:prstGeom prst="rect">
            <a:avLst/>
          </a:prstGeom>
          <a:solidFill>
            <a:srgbClr val="FFFFFF"/>
          </a:solidFill>
          <a:ln w="4445">
            <a:solidFill>
              <a:srgbClr val="EEEE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" name="Rectangle 113"/>
          <p:cNvSpPr/>
          <p:nvPr/>
        </p:nvSpPr>
        <p:spPr>
          <a:xfrm>
            <a:off x="6461760" y="5193792"/>
            <a:ext cx="42672" cy="256032"/>
          </a:xfrm>
          <a:prstGeom prst="rect">
            <a:avLst/>
          </a:prstGeom>
          <a:solidFill>
            <a:srgbClr val="6B21D4"/>
          </a:solidFill>
          <a:ln>
            <a:solidFill>
              <a:srgbClr val="6B21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" name="Rectangle 114"/>
          <p:cNvSpPr/>
          <p:nvPr/>
        </p:nvSpPr>
        <p:spPr>
          <a:xfrm>
            <a:off x="6534912" y="5193792"/>
            <a:ext cx="950976" cy="23164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4572" bIns="4572"/>
          <a:lstStyle/>
          <a:p>
            <a:pPr algn="l"/>
            <a:r>
              <a:rPr sz="1000" b="1">
                <a:solidFill>
                  <a:srgbClr val="111111"/>
                </a:solidFill>
                <a:latin typeface="Aptos"/>
              </a:rPr>
              <a:t>HR Portal:</a:t>
            </a:r>
          </a:p>
        </p:txBody>
      </p:sp>
      <p:sp>
        <p:nvSpPr>
          <p:cNvPr id="116" name="Rectangle 115"/>
          <p:cNvSpPr/>
          <p:nvPr/>
        </p:nvSpPr>
        <p:spPr>
          <a:xfrm>
            <a:off x="7559040" y="5193792"/>
            <a:ext cx="3962400" cy="23164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4572" bIns="4572"/>
          <a:lstStyle/>
          <a:p>
            <a:pPr algn="l"/>
            <a:r>
              <a:rPr sz="1000" b="0">
                <a:solidFill>
                  <a:srgbClr val="777777"/>
                </a:solidFill>
                <a:latin typeface="Aptos"/>
              </a:rPr>
              <a:t>tranetechnologies.service-now.com/hrportal</a:t>
            </a:r>
          </a:p>
        </p:txBody>
      </p:sp>
      <p:sp>
        <p:nvSpPr>
          <p:cNvPr id="117" name="Rectangle 116"/>
          <p:cNvSpPr/>
          <p:nvPr/>
        </p:nvSpPr>
        <p:spPr>
          <a:xfrm>
            <a:off x="6461760" y="5449824"/>
            <a:ext cx="5242560" cy="256032"/>
          </a:xfrm>
          <a:prstGeom prst="rect">
            <a:avLst/>
          </a:prstGeom>
          <a:solidFill>
            <a:srgbClr val="FFFFFF"/>
          </a:solidFill>
          <a:ln w="4445">
            <a:solidFill>
              <a:srgbClr val="EEEE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8" name="Rectangle 117"/>
          <p:cNvSpPr/>
          <p:nvPr/>
        </p:nvSpPr>
        <p:spPr>
          <a:xfrm>
            <a:off x="6461760" y="5449824"/>
            <a:ext cx="42672" cy="256032"/>
          </a:xfrm>
          <a:prstGeom prst="rect">
            <a:avLst/>
          </a:prstGeom>
          <a:solidFill>
            <a:srgbClr val="6B21D4"/>
          </a:solidFill>
          <a:ln>
            <a:solidFill>
              <a:srgbClr val="6B21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Rectangle 118"/>
          <p:cNvSpPr/>
          <p:nvPr/>
        </p:nvSpPr>
        <p:spPr>
          <a:xfrm>
            <a:off x="6534912" y="5449824"/>
            <a:ext cx="950976" cy="23164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4572" bIns="4572"/>
          <a:lstStyle/>
          <a:p>
            <a:pPr algn="l"/>
            <a:r>
              <a:rPr sz="1000" b="1">
                <a:solidFill>
                  <a:srgbClr val="111111"/>
                </a:solidFill>
                <a:latin typeface="Aptos"/>
              </a:rPr>
              <a:t>Citrix:</a:t>
            </a:r>
          </a:p>
        </p:txBody>
      </p:sp>
      <p:sp>
        <p:nvSpPr>
          <p:cNvPr id="120" name="Rectangle 119"/>
          <p:cNvSpPr/>
          <p:nvPr/>
        </p:nvSpPr>
        <p:spPr>
          <a:xfrm>
            <a:off x="7559040" y="5449824"/>
            <a:ext cx="3962400" cy="23164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4572" bIns="4572"/>
          <a:lstStyle/>
          <a:p>
            <a:pPr algn="l"/>
            <a:r>
              <a:rPr sz="1000" b="0">
                <a:solidFill>
                  <a:srgbClr val="777777"/>
                </a:solidFill>
                <a:latin typeface="Aptos"/>
              </a:rPr>
              <a:t>tranecitrix.corp.global</a:t>
            </a:r>
          </a:p>
        </p:txBody>
      </p:sp>
      <p:sp>
        <p:nvSpPr>
          <p:cNvPr id="121" name="Rectangle 120"/>
          <p:cNvSpPr/>
          <p:nvPr/>
        </p:nvSpPr>
        <p:spPr>
          <a:xfrm>
            <a:off x="463296" y="6388608"/>
            <a:ext cx="426720" cy="219456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4572" bIns="4572"/>
          <a:lstStyle/>
          <a:p>
            <a:pPr algn="l"/>
            <a:r>
              <a:rPr sz="900" b="0">
                <a:solidFill>
                  <a:srgbClr val="777777"/>
                </a:solidFill>
                <a:latin typeface="Aptos"/>
              </a:rPr>
              <a:t>12</a:t>
            </a:r>
          </a:p>
        </p:txBody>
      </p:sp>
      <p:pic>
        <p:nvPicPr>
          <p:cNvPr id="122" name="Picture 121" descr="trane_real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424160" y="6156960"/>
            <a:ext cx="1463040" cy="633984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63296" y="158496"/>
            <a:ext cx="11265408" cy="41452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4572" bIns="4572"/>
          <a:lstStyle/>
          <a:p>
            <a:pPr algn="l"/>
            <a:r>
              <a:rPr sz="2400" b="1">
                <a:solidFill>
                  <a:srgbClr val="6B21D4"/>
                </a:solidFill>
                <a:latin typeface="Aptos"/>
              </a:rPr>
              <a:t>Things to do · KT Plan · Points of Contact</a:t>
            </a:r>
          </a:p>
        </p:txBody>
      </p:sp>
      <p:sp>
        <p:nvSpPr>
          <p:cNvPr id="3" name="Rectangle 2"/>
          <p:cNvSpPr/>
          <p:nvPr/>
        </p:nvSpPr>
        <p:spPr>
          <a:xfrm>
            <a:off x="463296" y="670560"/>
            <a:ext cx="3901440" cy="24384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4572" bIns="4572"/>
          <a:lstStyle/>
          <a:p>
            <a:pPr algn="l"/>
            <a:r>
              <a:rPr sz="1000" b="1">
                <a:solidFill>
                  <a:srgbClr val="4A148C"/>
                </a:solidFill>
                <a:latin typeface="Aptos"/>
              </a:rPr>
              <a:t>Onboarding actions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036320"/>
            <a:ext cx="268224" cy="268224"/>
          </a:xfrm>
          <a:prstGeom prst="rect">
            <a:avLst/>
          </a:prstGeom>
          <a:solidFill>
            <a:srgbClr val="6B21D4"/>
          </a:solidFill>
          <a:ln w="6350">
            <a:solidFill>
              <a:srgbClr val="6B21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4572" bIns="4572"/>
          <a:lstStyle/>
          <a:p>
            <a:pPr algn="ctr"/>
            <a:r>
              <a:rPr sz="1000" b="1">
                <a:solidFill>
                  <a:srgbClr val="FFFFFF"/>
                </a:solidFill>
                <a:latin typeface="Aptos"/>
              </a:rPr>
              <a:t>1</a:t>
            </a:r>
          </a:p>
        </p:txBody>
      </p:sp>
      <p:sp>
        <p:nvSpPr>
          <p:cNvPr id="5" name="Rectangle 4"/>
          <p:cNvSpPr/>
          <p:nvPr/>
        </p:nvSpPr>
        <p:spPr>
          <a:xfrm>
            <a:off x="914400" y="1036320"/>
            <a:ext cx="3535680" cy="219456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4572" bIns="4572"/>
          <a:lstStyle/>
          <a:p>
            <a:pPr algn="l"/>
            <a:r>
              <a:rPr sz="1000" b="1">
                <a:solidFill>
                  <a:srgbClr val="111111"/>
                </a:solidFill>
                <a:latin typeface="Aptos"/>
              </a:rPr>
              <a:t>Mandatory certifications</a:t>
            </a:r>
          </a:p>
        </p:txBody>
      </p:sp>
      <p:sp>
        <p:nvSpPr>
          <p:cNvPr id="6" name="Rectangle 5"/>
          <p:cNvSpPr/>
          <p:nvPr/>
        </p:nvSpPr>
        <p:spPr>
          <a:xfrm>
            <a:off x="914400" y="1280160"/>
            <a:ext cx="3535680" cy="195072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4572" bIns="4572"/>
          <a:lstStyle/>
          <a:p>
            <a:pPr algn="l"/>
            <a:r>
              <a:rPr sz="1000" b="0">
                <a:solidFill>
                  <a:srgbClr val="777777"/>
                </a:solidFill>
                <a:latin typeface="Aptos"/>
              </a:rPr>
              <a:t>HR Portal → LMS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1609342"/>
            <a:ext cx="268224" cy="268224"/>
          </a:xfrm>
          <a:prstGeom prst="rect">
            <a:avLst/>
          </a:prstGeom>
          <a:solidFill>
            <a:srgbClr val="6B21D4"/>
          </a:solidFill>
          <a:ln w="6350">
            <a:solidFill>
              <a:srgbClr val="6B21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4572" bIns="4572"/>
          <a:lstStyle/>
          <a:p>
            <a:pPr algn="ctr"/>
            <a:r>
              <a:rPr sz="1000" b="1">
                <a:solidFill>
                  <a:srgbClr val="FFFFFF"/>
                </a:solidFill>
                <a:latin typeface="Aptos"/>
              </a:rPr>
              <a:t>2</a:t>
            </a:r>
          </a:p>
        </p:txBody>
      </p:sp>
      <p:sp>
        <p:nvSpPr>
          <p:cNvPr id="8" name="Rectangle 7"/>
          <p:cNvSpPr/>
          <p:nvPr/>
        </p:nvSpPr>
        <p:spPr>
          <a:xfrm>
            <a:off x="914400" y="1609342"/>
            <a:ext cx="3535680" cy="219456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4572" bIns="4572"/>
          <a:lstStyle/>
          <a:p>
            <a:pPr algn="l"/>
            <a:r>
              <a:rPr sz="1000" b="1">
                <a:solidFill>
                  <a:srgbClr val="111111"/>
                </a:solidFill>
                <a:latin typeface="Aptos"/>
              </a:rPr>
              <a:t>Goal setting</a:t>
            </a:r>
          </a:p>
        </p:txBody>
      </p:sp>
      <p:sp>
        <p:nvSpPr>
          <p:cNvPr id="9" name="Rectangle 8"/>
          <p:cNvSpPr/>
          <p:nvPr/>
        </p:nvSpPr>
        <p:spPr>
          <a:xfrm>
            <a:off x="914400" y="1853182"/>
            <a:ext cx="3535680" cy="195072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4572" bIns="4572"/>
          <a:lstStyle/>
          <a:p>
            <a:pPr algn="l"/>
            <a:r>
              <a:rPr sz="1000" b="0">
                <a:solidFill>
                  <a:srgbClr val="777777"/>
                </a:solidFill>
                <a:latin typeface="Aptos"/>
              </a:rPr>
              <a:t>HR Portal → Talent Mgmt</a:t>
            </a:r>
          </a:p>
        </p:txBody>
      </p:sp>
      <p:sp>
        <p:nvSpPr>
          <p:cNvPr id="10" name="Rectangle 9"/>
          <p:cNvSpPr/>
          <p:nvPr/>
        </p:nvSpPr>
        <p:spPr>
          <a:xfrm>
            <a:off x="548640" y="2182368"/>
            <a:ext cx="268224" cy="268224"/>
          </a:xfrm>
          <a:prstGeom prst="rect">
            <a:avLst/>
          </a:prstGeom>
          <a:solidFill>
            <a:srgbClr val="6B21D4"/>
          </a:solidFill>
          <a:ln w="6350">
            <a:solidFill>
              <a:srgbClr val="6B21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4572" bIns="4572"/>
          <a:lstStyle/>
          <a:p>
            <a:pPr algn="ctr"/>
            <a:r>
              <a:rPr sz="1000" b="1">
                <a:solidFill>
                  <a:srgbClr val="FFFFFF"/>
                </a:solidFill>
                <a:latin typeface="Aptos"/>
              </a:rPr>
              <a:t>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914400" y="2182368"/>
            <a:ext cx="3535680" cy="219456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4572" bIns="4572"/>
          <a:lstStyle/>
          <a:p>
            <a:pPr algn="l"/>
            <a:r>
              <a:rPr sz="1000" b="1">
                <a:solidFill>
                  <a:srgbClr val="111111"/>
                </a:solidFill>
                <a:latin typeface="Aptos"/>
              </a:rPr>
              <a:t>Complete People Profile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14400" y="2426208"/>
            <a:ext cx="3535680" cy="195072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4572" bIns="4572"/>
          <a:lstStyle/>
          <a:p>
            <a:pPr algn="l"/>
            <a:r>
              <a:rPr sz="1000" b="0">
                <a:solidFill>
                  <a:srgbClr val="777777"/>
                </a:solidFill>
                <a:latin typeface="Aptos"/>
              </a:rPr>
              <a:t>SuccessFactors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48640" y="2755390"/>
            <a:ext cx="268224" cy="268224"/>
          </a:xfrm>
          <a:prstGeom prst="rect">
            <a:avLst/>
          </a:prstGeom>
          <a:solidFill>
            <a:srgbClr val="6B21D4"/>
          </a:solidFill>
          <a:ln w="6350">
            <a:solidFill>
              <a:srgbClr val="6B21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4572" bIns="4572"/>
          <a:lstStyle/>
          <a:p>
            <a:pPr algn="ctr"/>
            <a:r>
              <a:rPr sz="1000" b="1">
                <a:solidFill>
                  <a:srgbClr val="FFFFFF"/>
                </a:solidFill>
                <a:latin typeface="Aptos"/>
              </a:rPr>
              <a:t>4</a:t>
            </a:r>
          </a:p>
        </p:txBody>
      </p:sp>
      <p:sp>
        <p:nvSpPr>
          <p:cNvPr id="14" name="Rectangle 13"/>
          <p:cNvSpPr/>
          <p:nvPr/>
        </p:nvSpPr>
        <p:spPr>
          <a:xfrm>
            <a:off x="914400" y="2755390"/>
            <a:ext cx="3535680" cy="219456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4572" bIns="4572"/>
          <a:lstStyle/>
          <a:p>
            <a:pPr algn="l"/>
            <a:r>
              <a:rPr sz="1000" b="1">
                <a:solidFill>
                  <a:srgbClr val="111111"/>
                </a:solidFill>
                <a:latin typeface="Aptos"/>
              </a:rPr>
              <a:t>Update TOPSSQA Site</a:t>
            </a:r>
          </a:p>
        </p:txBody>
      </p:sp>
      <p:sp>
        <p:nvSpPr>
          <p:cNvPr id="15" name="Rectangle 14"/>
          <p:cNvSpPr/>
          <p:nvPr/>
        </p:nvSpPr>
        <p:spPr>
          <a:xfrm>
            <a:off x="914400" y="2999232"/>
            <a:ext cx="3535680" cy="195072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4572" bIns="4572"/>
          <a:lstStyle/>
          <a:p>
            <a:pPr algn="l"/>
            <a:r>
              <a:rPr sz="1000" b="0">
                <a:solidFill>
                  <a:srgbClr val="777777"/>
                </a:solidFill>
                <a:latin typeface="Aptos"/>
              </a:rPr>
              <a:t>sharepoint.com/sites/topss.com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48640" y="3328416"/>
            <a:ext cx="268224" cy="268224"/>
          </a:xfrm>
          <a:prstGeom prst="rect">
            <a:avLst/>
          </a:prstGeom>
          <a:solidFill>
            <a:srgbClr val="6B21D4"/>
          </a:solidFill>
          <a:ln w="6350">
            <a:solidFill>
              <a:srgbClr val="6B21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4572" bIns="4572"/>
          <a:lstStyle/>
          <a:p>
            <a:pPr algn="ctr"/>
            <a:r>
              <a:rPr sz="1000" b="1">
                <a:solidFill>
                  <a:srgbClr val="FFFFFF"/>
                </a:solidFill>
                <a:latin typeface="Aptos"/>
              </a:rPr>
              <a:t>5</a:t>
            </a:r>
          </a:p>
        </p:txBody>
      </p:sp>
      <p:sp>
        <p:nvSpPr>
          <p:cNvPr id="17" name="Rectangle 16"/>
          <p:cNvSpPr/>
          <p:nvPr/>
        </p:nvSpPr>
        <p:spPr>
          <a:xfrm>
            <a:off x="914400" y="3328416"/>
            <a:ext cx="3535680" cy="219456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4572" bIns="4572"/>
          <a:lstStyle/>
          <a:p>
            <a:pPr algn="l"/>
            <a:r>
              <a:rPr sz="1000" b="1">
                <a:solidFill>
                  <a:srgbClr val="111111"/>
                </a:solidFill>
                <a:latin typeface="Aptos"/>
              </a:rPr>
              <a:t>Apply leave</a:t>
            </a:r>
          </a:p>
        </p:txBody>
      </p:sp>
      <p:sp>
        <p:nvSpPr>
          <p:cNvPr id="18" name="Rectangle 17"/>
          <p:cNvSpPr/>
          <p:nvPr/>
        </p:nvSpPr>
        <p:spPr>
          <a:xfrm>
            <a:off x="914400" y="3572256"/>
            <a:ext cx="3535680" cy="195072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4572" bIns="4572"/>
          <a:lstStyle/>
          <a:p>
            <a:pPr algn="l"/>
            <a:r>
              <a:rPr sz="1000" b="0">
                <a:solidFill>
                  <a:srgbClr val="777777"/>
                </a:solidFill>
                <a:latin typeface="Aptos"/>
              </a:rPr>
              <a:t>HR Portal → Leave Mgmt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63296" y="4084320"/>
            <a:ext cx="4389120" cy="24384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4572" bIns="4572"/>
          <a:lstStyle/>
          <a:p>
            <a:pPr algn="l"/>
            <a:r>
              <a:rPr sz="1000" b="1">
                <a:solidFill>
                  <a:srgbClr val="4A148C"/>
                </a:solidFill>
                <a:latin typeface="Aptos"/>
              </a:rPr>
              <a:t>ServiceNow Requests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63296" y="4389120"/>
            <a:ext cx="4572000" cy="268224"/>
          </a:xfrm>
          <a:prstGeom prst="rect">
            <a:avLst/>
          </a:prstGeom>
          <a:solidFill>
            <a:srgbClr val="FFFFFF"/>
          </a:solidFill>
          <a:ln w="4445">
            <a:solidFill>
              <a:srgbClr val="EEEE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463296" y="4389120"/>
            <a:ext cx="42672" cy="268224"/>
          </a:xfrm>
          <a:prstGeom prst="rect">
            <a:avLst/>
          </a:prstGeom>
          <a:solidFill>
            <a:srgbClr val="6B21D4"/>
          </a:solidFill>
          <a:ln>
            <a:solidFill>
              <a:srgbClr val="6B21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548640" y="4389120"/>
            <a:ext cx="1524000" cy="23164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4572" bIns="4572"/>
          <a:lstStyle/>
          <a:p>
            <a:pPr algn="l"/>
            <a:r>
              <a:rPr sz="1000" b="1">
                <a:solidFill>
                  <a:srgbClr val="111111"/>
                </a:solidFill>
                <a:latin typeface="Aptos"/>
              </a:rPr>
              <a:t>Software:</a:t>
            </a:r>
          </a:p>
        </p:txBody>
      </p:sp>
      <p:sp>
        <p:nvSpPr>
          <p:cNvPr id="23" name="Rectangle 22"/>
          <p:cNvSpPr/>
          <p:nvPr/>
        </p:nvSpPr>
        <p:spPr>
          <a:xfrm>
            <a:off x="2133600" y="4389120"/>
            <a:ext cx="2743200" cy="23164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4572" bIns="4572"/>
          <a:lstStyle/>
          <a:p>
            <a:pPr algn="l"/>
            <a:r>
              <a:rPr sz="1000" b="0">
                <a:solidFill>
                  <a:srgbClr val="777777"/>
                </a:solidFill>
                <a:latin typeface="Aptos"/>
              </a:rPr>
              <a:t>ServiceNow → Computer Software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63296" y="4681728"/>
            <a:ext cx="4572000" cy="268224"/>
          </a:xfrm>
          <a:prstGeom prst="rect">
            <a:avLst/>
          </a:prstGeom>
          <a:solidFill>
            <a:srgbClr val="F3F0FA"/>
          </a:solidFill>
          <a:ln w="4445">
            <a:solidFill>
              <a:srgbClr val="EEEE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463296" y="4681728"/>
            <a:ext cx="42672" cy="268224"/>
          </a:xfrm>
          <a:prstGeom prst="rect">
            <a:avLst/>
          </a:prstGeom>
          <a:solidFill>
            <a:srgbClr val="6B21D4"/>
          </a:solidFill>
          <a:ln>
            <a:solidFill>
              <a:srgbClr val="6B21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548640" y="4681728"/>
            <a:ext cx="1524000" cy="23164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4572" bIns="4572"/>
          <a:lstStyle/>
          <a:p>
            <a:pPr algn="l"/>
            <a:r>
              <a:rPr sz="1000" b="1">
                <a:solidFill>
                  <a:srgbClr val="111111"/>
                </a:solidFill>
                <a:latin typeface="Aptos"/>
              </a:rPr>
              <a:t>Admin ID / Server:</a:t>
            </a:r>
          </a:p>
        </p:txBody>
      </p:sp>
      <p:sp>
        <p:nvSpPr>
          <p:cNvPr id="27" name="Rectangle 26"/>
          <p:cNvSpPr/>
          <p:nvPr/>
        </p:nvSpPr>
        <p:spPr>
          <a:xfrm>
            <a:off x="2133600" y="4681728"/>
            <a:ext cx="2743200" cy="23164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4572" bIns="4572"/>
          <a:lstStyle/>
          <a:p>
            <a:pPr algn="l"/>
            <a:r>
              <a:rPr sz="1000" b="0">
                <a:solidFill>
                  <a:srgbClr val="777777"/>
                </a:solidFill>
                <a:latin typeface="Aptos"/>
              </a:rPr>
              <a:t>ServiceNow → Access Request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63296" y="4974336"/>
            <a:ext cx="4572000" cy="268224"/>
          </a:xfrm>
          <a:prstGeom prst="rect">
            <a:avLst/>
          </a:prstGeom>
          <a:solidFill>
            <a:srgbClr val="FFFFFF"/>
          </a:solidFill>
          <a:ln w="4445">
            <a:solidFill>
              <a:srgbClr val="EEEE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463296" y="4974336"/>
            <a:ext cx="42672" cy="268224"/>
          </a:xfrm>
          <a:prstGeom prst="rect">
            <a:avLst/>
          </a:prstGeom>
          <a:solidFill>
            <a:srgbClr val="6B21D4"/>
          </a:solidFill>
          <a:ln>
            <a:solidFill>
              <a:srgbClr val="6B21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548640" y="4974336"/>
            <a:ext cx="1524000" cy="23164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4572" bIns="4572"/>
          <a:lstStyle/>
          <a:p>
            <a:pPr algn="l"/>
            <a:r>
              <a:rPr sz="1000" b="1">
                <a:solidFill>
                  <a:srgbClr val="111111"/>
                </a:solidFill>
                <a:latin typeface="Aptos"/>
              </a:rPr>
              <a:t>GitHub:</a:t>
            </a:r>
          </a:p>
        </p:txBody>
      </p:sp>
      <p:sp>
        <p:nvSpPr>
          <p:cNvPr id="31" name="Rectangle 30"/>
          <p:cNvSpPr/>
          <p:nvPr/>
        </p:nvSpPr>
        <p:spPr>
          <a:xfrm>
            <a:off x="2133600" y="4974336"/>
            <a:ext cx="2743200" cy="23164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4572" bIns="4572"/>
          <a:lstStyle/>
          <a:p>
            <a:pPr algn="l"/>
            <a:r>
              <a:rPr sz="1000" b="0">
                <a:solidFill>
                  <a:srgbClr val="777777"/>
                </a:solidFill>
                <a:latin typeface="Aptos"/>
              </a:rPr>
              <a:t>KB0040682</a:t>
            </a:r>
          </a:p>
        </p:txBody>
      </p:sp>
      <p:sp>
        <p:nvSpPr>
          <p:cNvPr id="32" name="Rectangle 31"/>
          <p:cNvSpPr/>
          <p:nvPr/>
        </p:nvSpPr>
        <p:spPr>
          <a:xfrm>
            <a:off x="463296" y="5266944"/>
            <a:ext cx="4572000" cy="268224"/>
          </a:xfrm>
          <a:prstGeom prst="rect">
            <a:avLst/>
          </a:prstGeom>
          <a:solidFill>
            <a:srgbClr val="F3F0FA"/>
          </a:solidFill>
          <a:ln w="4445">
            <a:solidFill>
              <a:srgbClr val="EEEE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463296" y="5266944"/>
            <a:ext cx="42672" cy="268224"/>
          </a:xfrm>
          <a:prstGeom prst="rect">
            <a:avLst/>
          </a:prstGeom>
          <a:solidFill>
            <a:srgbClr val="6B21D4"/>
          </a:solidFill>
          <a:ln>
            <a:solidFill>
              <a:srgbClr val="6B21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548640" y="5266944"/>
            <a:ext cx="1524000" cy="23164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4572" bIns="4572"/>
          <a:lstStyle/>
          <a:p>
            <a:pPr algn="l"/>
            <a:r>
              <a:rPr sz="1000" b="1">
                <a:solidFill>
                  <a:srgbClr val="111111"/>
                </a:solidFill>
                <a:latin typeface="Aptos"/>
              </a:rPr>
              <a:t>TOSCA License:</a:t>
            </a:r>
          </a:p>
        </p:txBody>
      </p:sp>
      <p:sp>
        <p:nvSpPr>
          <p:cNvPr id="35" name="Rectangle 34"/>
          <p:cNvSpPr/>
          <p:nvPr/>
        </p:nvSpPr>
        <p:spPr>
          <a:xfrm>
            <a:off x="2133600" y="5266944"/>
            <a:ext cx="2743200" cy="23164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4572" bIns="4572"/>
          <a:lstStyle/>
          <a:p>
            <a:pPr algn="l"/>
            <a:r>
              <a:rPr sz="1000" b="0">
                <a:solidFill>
                  <a:srgbClr val="777777"/>
                </a:solidFill>
                <a:latin typeface="Aptos"/>
              </a:rPr>
              <a:t>RITM0731045</a:t>
            </a:r>
          </a:p>
        </p:txBody>
      </p:sp>
      <p:sp>
        <p:nvSpPr>
          <p:cNvPr id="36" name="Rectangle 35"/>
          <p:cNvSpPr/>
          <p:nvPr/>
        </p:nvSpPr>
        <p:spPr>
          <a:xfrm>
            <a:off x="463296" y="5559552"/>
            <a:ext cx="4572000" cy="268224"/>
          </a:xfrm>
          <a:prstGeom prst="rect">
            <a:avLst/>
          </a:prstGeom>
          <a:solidFill>
            <a:srgbClr val="FFFFFF"/>
          </a:solidFill>
          <a:ln w="4445">
            <a:solidFill>
              <a:srgbClr val="EEEE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463296" y="5559552"/>
            <a:ext cx="42672" cy="268224"/>
          </a:xfrm>
          <a:prstGeom prst="rect">
            <a:avLst/>
          </a:prstGeom>
          <a:solidFill>
            <a:srgbClr val="6B21D4"/>
          </a:solidFill>
          <a:ln>
            <a:solidFill>
              <a:srgbClr val="6B21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548640" y="5559552"/>
            <a:ext cx="1524000" cy="23164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4572" bIns="4572"/>
          <a:lstStyle/>
          <a:p>
            <a:pPr algn="l"/>
            <a:r>
              <a:rPr sz="1000" b="1">
                <a:solidFill>
                  <a:srgbClr val="111111"/>
                </a:solidFill>
                <a:latin typeface="Aptos"/>
              </a:rPr>
              <a:t>TOSCA Access:</a:t>
            </a:r>
          </a:p>
        </p:txBody>
      </p:sp>
      <p:sp>
        <p:nvSpPr>
          <p:cNvPr id="39" name="Rectangle 38"/>
          <p:cNvSpPr/>
          <p:nvPr/>
        </p:nvSpPr>
        <p:spPr>
          <a:xfrm>
            <a:off x="2133600" y="5559552"/>
            <a:ext cx="2743200" cy="23164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4572" bIns="4572"/>
          <a:lstStyle/>
          <a:p>
            <a:pPr algn="l"/>
            <a:r>
              <a:rPr sz="1000" b="0">
                <a:solidFill>
                  <a:srgbClr val="777777"/>
                </a:solidFill>
                <a:latin typeface="Aptos"/>
              </a:rPr>
              <a:t>RITM0731066</a:t>
            </a:r>
          </a:p>
        </p:txBody>
      </p:sp>
      <p:sp>
        <p:nvSpPr>
          <p:cNvPr id="40" name="Rectangle 39"/>
          <p:cNvSpPr/>
          <p:nvPr/>
        </p:nvSpPr>
        <p:spPr>
          <a:xfrm>
            <a:off x="463296" y="5852160"/>
            <a:ext cx="4572000" cy="268224"/>
          </a:xfrm>
          <a:prstGeom prst="rect">
            <a:avLst/>
          </a:prstGeom>
          <a:solidFill>
            <a:srgbClr val="F3F0FA"/>
          </a:solidFill>
          <a:ln w="4445">
            <a:solidFill>
              <a:srgbClr val="EEEE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463296" y="5852160"/>
            <a:ext cx="42672" cy="268224"/>
          </a:xfrm>
          <a:prstGeom prst="rect">
            <a:avLst/>
          </a:prstGeom>
          <a:solidFill>
            <a:srgbClr val="6B21D4"/>
          </a:solidFill>
          <a:ln>
            <a:solidFill>
              <a:srgbClr val="6B21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548640" y="5852160"/>
            <a:ext cx="1524000" cy="23164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4572" bIns="4572"/>
          <a:lstStyle/>
          <a:p>
            <a:pPr algn="l"/>
            <a:r>
              <a:rPr sz="1000" b="1">
                <a:solidFill>
                  <a:srgbClr val="111111"/>
                </a:solidFill>
                <a:latin typeface="Aptos"/>
              </a:rPr>
              <a:t>MDP/DMC:</a:t>
            </a:r>
          </a:p>
        </p:txBody>
      </p:sp>
      <p:sp>
        <p:nvSpPr>
          <p:cNvPr id="43" name="Rectangle 42"/>
          <p:cNvSpPr/>
          <p:nvPr/>
        </p:nvSpPr>
        <p:spPr>
          <a:xfrm>
            <a:off x="2133600" y="5852160"/>
            <a:ext cx="2743200" cy="23164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4572" bIns="4572"/>
          <a:lstStyle/>
          <a:p>
            <a:pPr algn="l"/>
            <a:r>
              <a:rPr sz="1000" b="0">
                <a:solidFill>
                  <a:srgbClr val="777777"/>
                </a:solidFill>
                <a:latin typeface="Aptos"/>
              </a:rPr>
              <a:t>Options 1,5,8,9</a:t>
            </a:r>
          </a:p>
        </p:txBody>
      </p:sp>
      <p:sp>
        <p:nvSpPr>
          <p:cNvPr id="44" name="Rectangle 43"/>
          <p:cNvSpPr/>
          <p:nvPr/>
        </p:nvSpPr>
        <p:spPr>
          <a:xfrm>
            <a:off x="5242560" y="670560"/>
            <a:ext cx="3108960" cy="24384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4572" bIns="4572"/>
          <a:lstStyle/>
          <a:p>
            <a:pPr algn="l"/>
            <a:r>
              <a:rPr sz="1000" b="1">
                <a:solidFill>
                  <a:srgbClr val="4A148C"/>
                </a:solidFill>
                <a:latin typeface="Aptos"/>
              </a:rPr>
              <a:t>KT Plan</a:t>
            </a:r>
          </a:p>
        </p:txBody>
      </p:sp>
      <p:sp>
        <p:nvSpPr>
          <p:cNvPr id="45" name="Rectangle 44"/>
          <p:cNvSpPr/>
          <p:nvPr/>
        </p:nvSpPr>
        <p:spPr>
          <a:xfrm>
            <a:off x="5242560" y="999744"/>
            <a:ext cx="3108960" cy="365760"/>
          </a:xfrm>
          <a:prstGeom prst="rect">
            <a:avLst/>
          </a:prstGeom>
          <a:solidFill>
            <a:srgbClr val="FFFFFF"/>
          </a:solidFill>
          <a:ln w="4445">
            <a:solidFill>
              <a:srgbClr val="EEEE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ectangle 45"/>
          <p:cNvSpPr/>
          <p:nvPr/>
        </p:nvSpPr>
        <p:spPr>
          <a:xfrm>
            <a:off x="5242560" y="999744"/>
            <a:ext cx="42672" cy="365760"/>
          </a:xfrm>
          <a:prstGeom prst="rect">
            <a:avLst/>
          </a:prstGeom>
          <a:solidFill>
            <a:srgbClr val="6B21D4"/>
          </a:solidFill>
          <a:ln>
            <a:solidFill>
              <a:srgbClr val="6B21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5315712" y="999744"/>
            <a:ext cx="1402080" cy="316992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4572" bIns="4572"/>
          <a:lstStyle/>
          <a:p>
            <a:pPr algn="l"/>
            <a:r>
              <a:rPr sz="1000" b="1">
                <a:solidFill>
                  <a:srgbClr val="111111"/>
                </a:solidFill>
                <a:latin typeface="Aptos"/>
              </a:rPr>
              <a:t>TSA</a:t>
            </a:r>
          </a:p>
        </p:txBody>
      </p:sp>
      <p:sp>
        <p:nvSpPr>
          <p:cNvPr id="48" name="Rectangle 47"/>
          <p:cNvSpPr/>
          <p:nvPr/>
        </p:nvSpPr>
        <p:spPr>
          <a:xfrm>
            <a:off x="6766560" y="999744"/>
            <a:ext cx="1402080" cy="316992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4572" bIns="4572"/>
          <a:lstStyle/>
          <a:p>
            <a:pPr algn="l"/>
            <a:r>
              <a:rPr sz="1000" b="0">
                <a:solidFill>
                  <a:srgbClr val="6B21D4"/>
                </a:solidFill>
                <a:latin typeface="Aptos"/>
              </a:rPr>
              <a:t>Varsha Chitray</a:t>
            </a:r>
          </a:p>
        </p:txBody>
      </p:sp>
      <p:sp>
        <p:nvSpPr>
          <p:cNvPr id="49" name="Rectangle 48"/>
          <p:cNvSpPr/>
          <p:nvPr/>
        </p:nvSpPr>
        <p:spPr>
          <a:xfrm>
            <a:off x="5242560" y="1438656"/>
            <a:ext cx="3108960" cy="365760"/>
          </a:xfrm>
          <a:prstGeom prst="rect">
            <a:avLst/>
          </a:prstGeom>
          <a:solidFill>
            <a:srgbClr val="F3F0FA"/>
          </a:solidFill>
          <a:ln w="4445">
            <a:solidFill>
              <a:srgbClr val="EEEE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Rectangle 49"/>
          <p:cNvSpPr/>
          <p:nvPr/>
        </p:nvSpPr>
        <p:spPr>
          <a:xfrm>
            <a:off x="5242560" y="1438656"/>
            <a:ext cx="42672" cy="365760"/>
          </a:xfrm>
          <a:prstGeom prst="rect">
            <a:avLst/>
          </a:prstGeom>
          <a:solidFill>
            <a:srgbClr val="6B21D4"/>
          </a:solidFill>
          <a:ln>
            <a:solidFill>
              <a:srgbClr val="6B21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Rectangle 50"/>
          <p:cNvSpPr/>
          <p:nvPr/>
        </p:nvSpPr>
        <p:spPr>
          <a:xfrm>
            <a:off x="5315712" y="1438656"/>
            <a:ext cx="1402080" cy="316992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4572" bIns="4572"/>
          <a:lstStyle/>
          <a:p>
            <a:pPr algn="l"/>
            <a:r>
              <a:rPr sz="1000" b="1">
                <a:solidFill>
                  <a:srgbClr val="111111"/>
                </a:solidFill>
                <a:latin typeface="Aptos"/>
              </a:rPr>
              <a:t>Jobs &amp; CoJo</a:t>
            </a:r>
          </a:p>
        </p:txBody>
      </p:sp>
      <p:sp>
        <p:nvSpPr>
          <p:cNvPr id="52" name="Rectangle 51"/>
          <p:cNvSpPr/>
          <p:nvPr/>
        </p:nvSpPr>
        <p:spPr>
          <a:xfrm>
            <a:off x="6766560" y="1438656"/>
            <a:ext cx="1402080" cy="316992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4572" bIns="4572"/>
          <a:lstStyle/>
          <a:p>
            <a:pPr algn="l"/>
            <a:r>
              <a:rPr sz="1000" b="0">
                <a:solidFill>
                  <a:srgbClr val="6B21D4"/>
                </a:solidFill>
                <a:latin typeface="Aptos"/>
              </a:rPr>
              <a:t>Rashmi Ranganath</a:t>
            </a:r>
          </a:p>
        </p:txBody>
      </p:sp>
      <p:sp>
        <p:nvSpPr>
          <p:cNvPr id="53" name="Rectangle 52"/>
          <p:cNvSpPr/>
          <p:nvPr/>
        </p:nvSpPr>
        <p:spPr>
          <a:xfrm>
            <a:off x="5242560" y="1877568"/>
            <a:ext cx="3108960" cy="365760"/>
          </a:xfrm>
          <a:prstGeom prst="rect">
            <a:avLst/>
          </a:prstGeom>
          <a:solidFill>
            <a:srgbClr val="FFFFFF"/>
          </a:solidFill>
          <a:ln w="4445">
            <a:solidFill>
              <a:srgbClr val="EEEE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Rectangle 53"/>
          <p:cNvSpPr/>
          <p:nvPr/>
        </p:nvSpPr>
        <p:spPr>
          <a:xfrm>
            <a:off x="5242560" y="1877568"/>
            <a:ext cx="42672" cy="365760"/>
          </a:xfrm>
          <a:prstGeom prst="rect">
            <a:avLst/>
          </a:prstGeom>
          <a:solidFill>
            <a:srgbClr val="6B21D4"/>
          </a:solidFill>
          <a:ln>
            <a:solidFill>
              <a:srgbClr val="6B21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5315712" y="1877568"/>
            <a:ext cx="1402080" cy="316992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4572" bIns="4572"/>
          <a:lstStyle/>
          <a:p>
            <a:pPr algn="l"/>
            <a:r>
              <a:rPr sz="1000" b="1">
                <a:solidFill>
                  <a:srgbClr val="111111"/>
                </a:solidFill>
                <a:latin typeface="Aptos"/>
              </a:rPr>
              <a:t>Contracting/Tax</a:t>
            </a:r>
          </a:p>
        </p:txBody>
      </p:sp>
      <p:sp>
        <p:nvSpPr>
          <p:cNvPr id="56" name="Rectangle 55"/>
          <p:cNvSpPr/>
          <p:nvPr/>
        </p:nvSpPr>
        <p:spPr>
          <a:xfrm>
            <a:off x="6766560" y="1877568"/>
            <a:ext cx="1402080" cy="316992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4572" bIns="4572"/>
          <a:lstStyle/>
          <a:p>
            <a:pPr algn="l"/>
            <a:r>
              <a:rPr sz="1000" b="0">
                <a:solidFill>
                  <a:srgbClr val="6B21D4"/>
                </a:solidFill>
                <a:latin typeface="Aptos"/>
              </a:rPr>
              <a:t>Vignesh S</a:t>
            </a:r>
          </a:p>
        </p:txBody>
      </p:sp>
      <p:sp>
        <p:nvSpPr>
          <p:cNvPr id="57" name="Rectangle 56"/>
          <p:cNvSpPr/>
          <p:nvPr/>
        </p:nvSpPr>
        <p:spPr>
          <a:xfrm>
            <a:off x="5242560" y="2316480"/>
            <a:ext cx="3108960" cy="365760"/>
          </a:xfrm>
          <a:prstGeom prst="rect">
            <a:avLst/>
          </a:prstGeom>
          <a:solidFill>
            <a:srgbClr val="F3F0FA"/>
          </a:solidFill>
          <a:ln w="4445">
            <a:solidFill>
              <a:srgbClr val="EEEE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Rectangle 57"/>
          <p:cNvSpPr/>
          <p:nvPr/>
        </p:nvSpPr>
        <p:spPr>
          <a:xfrm>
            <a:off x="5242560" y="2316480"/>
            <a:ext cx="42672" cy="365760"/>
          </a:xfrm>
          <a:prstGeom prst="rect">
            <a:avLst/>
          </a:prstGeom>
          <a:solidFill>
            <a:srgbClr val="6B21D4"/>
          </a:solidFill>
          <a:ln>
            <a:solidFill>
              <a:srgbClr val="6B21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Rectangle 58"/>
          <p:cNvSpPr/>
          <p:nvPr/>
        </p:nvSpPr>
        <p:spPr>
          <a:xfrm>
            <a:off x="5315712" y="2316480"/>
            <a:ext cx="1402080" cy="316992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4572" bIns="4572"/>
          <a:lstStyle/>
          <a:p>
            <a:pPr algn="l"/>
            <a:r>
              <a:rPr sz="1000" b="1">
                <a:solidFill>
                  <a:srgbClr val="111111"/>
                </a:solidFill>
                <a:latin typeface="Aptos"/>
              </a:rPr>
              <a:t>MDP/DMC</a:t>
            </a:r>
          </a:p>
        </p:txBody>
      </p:sp>
      <p:sp>
        <p:nvSpPr>
          <p:cNvPr id="60" name="Rectangle 59"/>
          <p:cNvSpPr/>
          <p:nvPr/>
        </p:nvSpPr>
        <p:spPr>
          <a:xfrm>
            <a:off x="6766560" y="2316480"/>
            <a:ext cx="1402080" cy="316992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4572" bIns="4572"/>
          <a:lstStyle/>
          <a:p>
            <a:pPr algn="l"/>
            <a:r>
              <a:rPr sz="1000" b="0">
                <a:solidFill>
                  <a:srgbClr val="6B21D4"/>
                </a:solidFill>
                <a:latin typeface="Aptos"/>
              </a:rPr>
              <a:t>Mahesh Laddi</a:t>
            </a:r>
          </a:p>
        </p:txBody>
      </p:sp>
      <p:sp>
        <p:nvSpPr>
          <p:cNvPr id="61" name="Rectangle 60"/>
          <p:cNvSpPr/>
          <p:nvPr/>
        </p:nvSpPr>
        <p:spPr>
          <a:xfrm>
            <a:off x="5242560" y="2755390"/>
            <a:ext cx="3108960" cy="365760"/>
          </a:xfrm>
          <a:prstGeom prst="rect">
            <a:avLst/>
          </a:prstGeom>
          <a:solidFill>
            <a:srgbClr val="FFFFFF"/>
          </a:solidFill>
          <a:ln w="4445">
            <a:solidFill>
              <a:srgbClr val="EEEE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Rectangle 61"/>
          <p:cNvSpPr/>
          <p:nvPr/>
        </p:nvSpPr>
        <p:spPr>
          <a:xfrm>
            <a:off x="5242560" y="2755390"/>
            <a:ext cx="42672" cy="365760"/>
          </a:xfrm>
          <a:prstGeom prst="rect">
            <a:avLst/>
          </a:prstGeom>
          <a:solidFill>
            <a:srgbClr val="6B21D4"/>
          </a:solidFill>
          <a:ln>
            <a:solidFill>
              <a:srgbClr val="6B21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Rectangle 62"/>
          <p:cNvSpPr/>
          <p:nvPr/>
        </p:nvSpPr>
        <p:spPr>
          <a:xfrm>
            <a:off x="5315712" y="2755390"/>
            <a:ext cx="1402080" cy="316992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4572" bIns="4572"/>
          <a:lstStyle/>
          <a:p>
            <a:pPr algn="l"/>
            <a:r>
              <a:rPr sz="1000" b="1">
                <a:solidFill>
                  <a:srgbClr val="111111"/>
                </a:solidFill>
                <a:latin typeface="Aptos"/>
              </a:rPr>
              <a:t>TDA</a:t>
            </a:r>
          </a:p>
        </p:txBody>
      </p:sp>
      <p:sp>
        <p:nvSpPr>
          <p:cNvPr id="64" name="Rectangle 63"/>
          <p:cNvSpPr/>
          <p:nvPr/>
        </p:nvSpPr>
        <p:spPr>
          <a:xfrm>
            <a:off x="6766560" y="2755390"/>
            <a:ext cx="1402080" cy="316992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4572" bIns="4572"/>
          <a:lstStyle/>
          <a:p>
            <a:pPr algn="l"/>
            <a:r>
              <a:rPr sz="1000" b="0">
                <a:solidFill>
                  <a:srgbClr val="6B21D4"/>
                </a:solidFill>
                <a:latin typeface="Aptos"/>
              </a:rPr>
              <a:t>Naveen H</a:t>
            </a:r>
          </a:p>
        </p:txBody>
      </p:sp>
      <p:sp>
        <p:nvSpPr>
          <p:cNvPr id="65" name="Rectangle 64"/>
          <p:cNvSpPr/>
          <p:nvPr/>
        </p:nvSpPr>
        <p:spPr>
          <a:xfrm>
            <a:off x="5242560" y="3194302"/>
            <a:ext cx="3108960" cy="365760"/>
          </a:xfrm>
          <a:prstGeom prst="rect">
            <a:avLst/>
          </a:prstGeom>
          <a:solidFill>
            <a:srgbClr val="F3F0FA"/>
          </a:solidFill>
          <a:ln w="4445">
            <a:solidFill>
              <a:srgbClr val="EEEE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Rectangle 65"/>
          <p:cNvSpPr/>
          <p:nvPr/>
        </p:nvSpPr>
        <p:spPr>
          <a:xfrm>
            <a:off x="5242560" y="3194302"/>
            <a:ext cx="42672" cy="365760"/>
          </a:xfrm>
          <a:prstGeom prst="rect">
            <a:avLst/>
          </a:prstGeom>
          <a:solidFill>
            <a:srgbClr val="6B21D4"/>
          </a:solidFill>
          <a:ln>
            <a:solidFill>
              <a:srgbClr val="6B21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Rectangle 66"/>
          <p:cNvSpPr/>
          <p:nvPr/>
        </p:nvSpPr>
        <p:spPr>
          <a:xfrm>
            <a:off x="5315712" y="3194302"/>
            <a:ext cx="1402080" cy="316992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4572" bIns="4572"/>
          <a:lstStyle/>
          <a:p>
            <a:pPr algn="l"/>
            <a:r>
              <a:rPr sz="1000" b="1">
                <a:solidFill>
                  <a:srgbClr val="111111"/>
                </a:solidFill>
                <a:latin typeface="Aptos"/>
              </a:rPr>
              <a:t>Performance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766560" y="3194302"/>
            <a:ext cx="1402080" cy="316992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4572" bIns="4572"/>
          <a:lstStyle/>
          <a:p>
            <a:pPr algn="l"/>
            <a:r>
              <a:rPr sz="1000" b="0">
                <a:solidFill>
                  <a:srgbClr val="6B21D4"/>
                </a:solidFill>
                <a:latin typeface="Aptos"/>
              </a:rPr>
              <a:t>Srinivasa R</a:t>
            </a:r>
          </a:p>
        </p:txBody>
      </p:sp>
      <p:sp>
        <p:nvSpPr>
          <p:cNvPr id="69" name="Rectangle 68"/>
          <p:cNvSpPr/>
          <p:nvPr/>
        </p:nvSpPr>
        <p:spPr>
          <a:xfrm>
            <a:off x="5242560" y="3633216"/>
            <a:ext cx="3108960" cy="365760"/>
          </a:xfrm>
          <a:prstGeom prst="rect">
            <a:avLst/>
          </a:prstGeom>
          <a:solidFill>
            <a:srgbClr val="FFFFFF"/>
          </a:solidFill>
          <a:ln w="4445">
            <a:solidFill>
              <a:srgbClr val="EEEE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Rectangle 69"/>
          <p:cNvSpPr/>
          <p:nvPr/>
        </p:nvSpPr>
        <p:spPr>
          <a:xfrm>
            <a:off x="5242560" y="3633216"/>
            <a:ext cx="42672" cy="365760"/>
          </a:xfrm>
          <a:prstGeom prst="rect">
            <a:avLst/>
          </a:prstGeom>
          <a:solidFill>
            <a:srgbClr val="6B21D4"/>
          </a:solidFill>
          <a:ln>
            <a:solidFill>
              <a:srgbClr val="6B21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Rectangle 70"/>
          <p:cNvSpPr/>
          <p:nvPr/>
        </p:nvSpPr>
        <p:spPr>
          <a:xfrm>
            <a:off x="5315712" y="3633216"/>
            <a:ext cx="1402080" cy="316992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4572" bIns="4572"/>
          <a:lstStyle/>
          <a:p>
            <a:pPr algn="l"/>
            <a:r>
              <a:rPr sz="1000" b="1">
                <a:solidFill>
                  <a:srgbClr val="111111"/>
                </a:solidFill>
                <a:latin typeface="Aptos"/>
              </a:rPr>
              <a:t>Selenium (TestNG)</a:t>
            </a:r>
          </a:p>
        </p:txBody>
      </p:sp>
      <p:sp>
        <p:nvSpPr>
          <p:cNvPr id="72" name="Rectangle 71"/>
          <p:cNvSpPr/>
          <p:nvPr/>
        </p:nvSpPr>
        <p:spPr>
          <a:xfrm>
            <a:off x="6766560" y="3633216"/>
            <a:ext cx="1402080" cy="316992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4572" bIns="4572"/>
          <a:lstStyle/>
          <a:p>
            <a:pPr algn="l"/>
            <a:r>
              <a:rPr sz="1000" b="0">
                <a:solidFill>
                  <a:srgbClr val="6B21D4"/>
                </a:solidFill>
                <a:latin typeface="Aptos"/>
              </a:rPr>
              <a:t>Varsha Chitray</a:t>
            </a:r>
          </a:p>
        </p:txBody>
      </p:sp>
      <p:sp>
        <p:nvSpPr>
          <p:cNvPr id="73" name="Rectangle 72"/>
          <p:cNvSpPr/>
          <p:nvPr/>
        </p:nvSpPr>
        <p:spPr>
          <a:xfrm>
            <a:off x="5242560" y="4072128"/>
            <a:ext cx="3108960" cy="365760"/>
          </a:xfrm>
          <a:prstGeom prst="rect">
            <a:avLst/>
          </a:prstGeom>
          <a:solidFill>
            <a:srgbClr val="F3F0FA"/>
          </a:solidFill>
          <a:ln w="4445">
            <a:solidFill>
              <a:srgbClr val="EEEE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Rectangle 73"/>
          <p:cNvSpPr/>
          <p:nvPr/>
        </p:nvSpPr>
        <p:spPr>
          <a:xfrm>
            <a:off x="5242560" y="4072128"/>
            <a:ext cx="42672" cy="365760"/>
          </a:xfrm>
          <a:prstGeom prst="rect">
            <a:avLst/>
          </a:prstGeom>
          <a:solidFill>
            <a:srgbClr val="6B21D4"/>
          </a:solidFill>
          <a:ln>
            <a:solidFill>
              <a:srgbClr val="6B21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Rectangle 74"/>
          <p:cNvSpPr/>
          <p:nvPr/>
        </p:nvSpPr>
        <p:spPr>
          <a:xfrm>
            <a:off x="5315712" y="4072128"/>
            <a:ext cx="1402080" cy="316992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4572" bIns="4572"/>
          <a:lstStyle/>
          <a:p>
            <a:pPr algn="l"/>
            <a:r>
              <a:rPr sz="1000" b="1">
                <a:solidFill>
                  <a:srgbClr val="111111"/>
                </a:solidFill>
                <a:latin typeface="Aptos"/>
              </a:rPr>
              <a:t>Selenium (Hybrid)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766560" y="4072128"/>
            <a:ext cx="1402080" cy="316992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4572" bIns="4572"/>
          <a:lstStyle/>
          <a:p>
            <a:pPr algn="l"/>
            <a:r>
              <a:rPr sz="1000" b="0">
                <a:solidFill>
                  <a:srgbClr val="6B21D4"/>
                </a:solidFill>
                <a:latin typeface="Aptos"/>
              </a:rPr>
              <a:t>Deepak Chhabria</a:t>
            </a:r>
          </a:p>
        </p:txBody>
      </p:sp>
      <p:sp>
        <p:nvSpPr>
          <p:cNvPr id="77" name="Rectangle 76"/>
          <p:cNvSpPr/>
          <p:nvPr/>
        </p:nvSpPr>
        <p:spPr>
          <a:xfrm>
            <a:off x="5242560" y="4511038"/>
            <a:ext cx="3108960" cy="365760"/>
          </a:xfrm>
          <a:prstGeom prst="rect">
            <a:avLst/>
          </a:prstGeom>
          <a:solidFill>
            <a:srgbClr val="FFFFFF"/>
          </a:solidFill>
          <a:ln w="4445">
            <a:solidFill>
              <a:srgbClr val="EEEE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Rectangle 77"/>
          <p:cNvSpPr/>
          <p:nvPr/>
        </p:nvSpPr>
        <p:spPr>
          <a:xfrm>
            <a:off x="5242560" y="4511038"/>
            <a:ext cx="42672" cy="365760"/>
          </a:xfrm>
          <a:prstGeom prst="rect">
            <a:avLst/>
          </a:prstGeom>
          <a:solidFill>
            <a:srgbClr val="6B21D4"/>
          </a:solidFill>
          <a:ln>
            <a:solidFill>
              <a:srgbClr val="6B21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Rectangle 78"/>
          <p:cNvSpPr/>
          <p:nvPr/>
        </p:nvSpPr>
        <p:spPr>
          <a:xfrm>
            <a:off x="5315712" y="4511038"/>
            <a:ext cx="1402080" cy="316992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4572" bIns="4572"/>
          <a:lstStyle/>
          <a:p>
            <a:pPr algn="l"/>
            <a:r>
              <a:rPr sz="1000" b="1">
                <a:solidFill>
                  <a:srgbClr val="111111"/>
                </a:solidFill>
                <a:latin typeface="Aptos"/>
              </a:rPr>
              <a:t>TOSCA Auto</a:t>
            </a:r>
          </a:p>
        </p:txBody>
      </p:sp>
      <p:sp>
        <p:nvSpPr>
          <p:cNvPr id="80" name="Rectangle 79"/>
          <p:cNvSpPr/>
          <p:nvPr/>
        </p:nvSpPr>
        <p:spPr>
          <a:xfrm>
            <a:off x="6766560" y="4511038"/>
            <a:ext cx="1402080" cy="316992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4572" bIns="4572"/>
          <a:lstStyle/>
          <a:p>
            <a:pPr algn="l"/>
            <a:r>
              <a:rPr sz="1000" b="0">
                <a:solidFill>
                  <a:srgbClr val="6B21D4"/>
                </a:solidFill>
                <a:latin typeface="Aptos"/>
              </a:rPr>
              <a:t>Team Lead</a:t>
            </a:r>
          </a:p>
        </p:txBody>
      </p:sp>
      <p:sp>
        <p:nvSpPr>
          <p:cNvPr id="81" name="Rectangle 80"/>
          <p:cNvSpPr/>
          <p:nvPr/>
        </p:nvSpPr>
        <p:spPr>
          <a:xfrm>
            <a:off x="5242560" y="4949950"/>
            <a:ext cx="3108960" cy="365760"/>
          </a:xfrm>
          <a:prstGeom prst="rect">
            <a:avLst/>
          </a:prstGeom>
          <a:solidFill>
            <a:srgbClr val="F3F0FA"/>
          </a:solidFill>
          <a:ln w="4445">
            <a:solidFill>
              <a:srgbClr val="EEEE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Rectangle 81"/>
          <p:cNvSpPr/>
          <p:nvPr/>
        </p:nvSpPr>
        <p:spPr>
          <a:xfrm>
            <a:off x="5242560" y="4949950"/>
            <a:ext cx="42672" cy="365760"/>
          </a:xfrm>
          <a:prstGeom prst="rect">
            <a:avLst/>
          </a:prstGeom>
          <a:solidFill>
            <a:srgbClr val="6B21D4"/>
          </a:solidFill>
          <a:ln>
            <a:solidFill>
              <a:srgbClr val="6B21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Rectangle 82"/>
          <p:cNvSpPr/>
          <p:nvPr/>
        </p:nvSpPr>
        <p:spPr>
          <a:xfrm>
            <a:off x="5315712" y="4949950"/>
            <a:ext cx="1402080" cy="316992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4572" bIns="4572"/>
          <a:lstStyle/>
          <a:p>
            <a:pPr algn="l"/>
            <a:r>
              <a:rPr sz="1000" b="1">
                <a:solidFill>
                  <a:srgbClr val="111111"/>
                </a:solidFill>
                <a:latin typeface="Aptos"/>
              </a:rPr>
              <a:t>Work Package</a:t>
            </a:r>
          </a:p>
        </p:txBody>
      </p:sp>
      <p:sp>
        <p:nvSpPr>
          <p:cNvPr id="84" name="Rectangle 83"/>
          <p:cNvSpPr/>
          <p:nvPr/>
        </p:nvSpPr>
        <p:spPr>
          <a:xfrm>
            <a:off x="6766560" y="4949950"/>
            <a:ext cx="1402080" cy="316992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4572" bIns="4572"/>
          <a:lstStyle/>
          <a:p>
            <a:pPr algn="l"/>
            <a:r>
              <a:rPr sz="1000" b="0">
                <a:solidFill>
                  <a:srgbClr val="6B21D4"/>
                </a:solidFill>
                <a:latin typeface="Aptos"/>
              </a:rPr>
              <a:t>Likhith Pateel</a:t>
            </a:r>
          </a:p>
        </p:txBody>
      </p:sp>
      <p:sp>
        <p:nvSpPr>
          <p:cNvPr id="85" name="Rectangle 84"/>
          <p:cNvSpPr/>
          <p:nvPr/>
        </p:nvSpPr>
        <p:spPr>
          <a:xfrm>
            <a:off x="5242560" y="5388864"/>
            <a:ext cx="3108960" cy="365760"/>
          </a:xfrm>
          <a:prstGeom prst="rect">
            <a:avLst/>
          </a:prstGeom>
          <a:solidFill>
            <a:srgbClr val="FFFFFF"/>
          </a:solidFill>
          <a:ln w="4445">
            <a:solidFill>
              <a:srgbClr val="EEEE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Rectangle 85"/>
          <p:cNvSpPr/>
          <p:nvPr/>
        </p:nvSpPr>
        <p:spPr>
          <a:xfrm>
            <a:off x="5242560" y="5388864"/>
            <a:ext cx="42672" cy="365760"/>
          </a:xfrm>
          <a:prstGeom prst="rect">
            <a:avLst/>
          </a:prstGeom>
          <a:solidFill>
            <a:srgbClr val="6B21D4"/>
          </a:solidFill>
          <a:ln>
            <a:solidFill>
              <a:srgbClr val="6B21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Rectangle 86"/>
          <p:cNvSpPr/>
          <p:nvPr/>
        </p:nvSpPr>
        <p:spPr>
          <a:xfrm>
            <a:off x="5315712" y="5388864"/>
            <a:ext cx="1402080" cy="316992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4572" bIns="4572"/>
          <a:lstStyle/>
          <a:p>
            <a:pPr algn="l"/>
            <a:r>
              <a:rPr sz="1000" b="1">
                <a:solidFill>
                  <a:srgbClr val="111111"/>
                </a:solidFill>
                <a:latin typeface="Aptos"/>
              </a:rPr>
              <a:t>DocGen</a:t>
            </a:r>
          </a:p>
        </p:txBody>
      </p:sp>
      <p:sp>
        <p:nvSpPr>
          <p:cNvPr id="88" name="Rectangle 87"/>
          <p:cNvSpPr/>
          <p:nvPr/>
        </p:nvSpPr>
        <p:spPr>
          <a:xfrm>
            <a:off x="6766560" y="5388864"/>
            <a:ext cx="1402080" cy="316992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4572" bIns="4572"/>
          <a:lstStyle/>
          <a:p>
            <a:pPr algn="l"/>
            <a:r>
              <a:rPr sz="1000" b="0">
                <a:solidFill>
                  <a:srgbClr val="6B21D4"/>
                </a:solidFill>
                <a:latin typeface="Aptos"/>
              </a:rPr>
              <a:t>Sandhyarani M</a:t>
            </a:r>
          </a:p>
        </p:txBody>
      </p:sp>
      <p:sp>
        <p:nvSpPr>
          <p:cNvPr id="89" name="Rectangle 88"/>
          <p:cNvSpPr/>
          <p:nvPr/>
        </p:nvSpPr>
        <p:spPr>
          <a:xfrm>
            <a:off x="8778240" y="670560"/>
            <a:ext cx="2926080" cy="24384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4572" bIns="4572"/>
          <a:lstStyle/>
          <a:p>
            <a:pPr algn="l"/>
            <a:r>
              <a:rPr sz="1000" b="1">
                <a:solidFill>
                  <a:srgbClr val="4A148C"/>
                </a:solidFill>
                <a:latin typeface="Aptos"/>
              </a:rPr>
              <a:t>Points of Contact</a:t>
            </a:r>
          </a:p>
        </p:txBody>
      </p:sp>
      <p:sp>
        <p:nvSpPr>
          <p:cNvPr id="90" name="Rectangle 89"/>
          <p:cNvSpPr/>
          <p:nvPr/>
        </p:nvSpPr>
        <p:spPr>
          <a:xfrm>
            <a:off x="8778240" y="999744"/>
            <a:ext cx="2926080" cy="316992"/>
          </a:xfrm>
          <a:prstGeom prst="rect">
            <a:avLst/>
          </a:prstGeom>
          <a:solidFill>
            <a:srgbClr val="FFFFFF"/>
          </a:solidFill>
          <a:ln w="4445">
            <a:solidFill>
              <a:srgbClr val="EEEE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Rectangle 90"/>
          <p:cNvSpPr/>
          <p:nvPr/>
        </p:nvSpPr>
        <p:spPr>
          <a:xfrm>
            <a:off x="8778240" y="999744"/>
            <a:ext cx="42672" cy="316992"/>
          </a:xfrm>
          <a:prstGeom prst="rect">
            <a:avLst/>
          </a:prstGeom>
          <a:solidFill>
            <a:srgbClr val="6B21D4"/>
          </a:solidFill>
          <a:ln>
            <a:solidFill>
              <a:srgbClr val="6B21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Rectangle 91"/>
          <p:cNvSpPr/>
          <p:nvPr/>
        </p:nvSpPr>
        <p:spPr>
          <a:xfrm>
            <a:off x="8851392" y="999744"/>
            <a:ext cx="1036320" cy="280416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4572" bIns="4572"/>
          <a:lstStyle/>
          <a:p>
            <a:pPr algn="l"/>
            <a:r>
              <a:rPr sz="1000" b="1">
                <a:solidFill>
                  <a:srgbClr val="111111"/>
                </a:solidFill>
                <a:latin typeface="Aptos"/>
              </a:rPr>
              <a:t>TSA</a:t>
            </a:r>
          </a:p>
        </p:txBody>
      </p:sp>
      <p:sp>
        <p:nvSpPr>
          <p:cNvPr id="93" name="Rectangle 92"/>
          <p:cNvSpPr/>
          <p:nvPr/>
        </p:nvSpPr>
        <p:spPr>
          <a:xfrm>
            <a:off x="9948672" y="999744"/>
            <a:ext cx="1524000" cy="280416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4572" bIns="4572"/>
          <a:lstStyle/>
          <a:p>
            <a:pPr algn="l"/>
            <a:r>
              <a:rPr sz="1000" b="0">
                <a:solidFill>
                  <a:srgbClr val="6B21D4"/>
                </a:solidFill>
                <a:latin typeface="Aptos"/>
              </a:rPr>
              <a:t>Varsha C</a:t>
            </a:r>
          </a:p>
        </p:txBody>
      </p:sp>
      <p:sp>
        <p:nvSpPr>
          <p:cNvPr id="94" name="Rectangle 93"/>
          <p:cNvSpPr/>
          <p:nvPr/>
        </p:nvSpPr>
        <p:spPr>
          <a:xfrm>
            <a:off x="8778240" y="1377694"/>
            <a:ext cx="2926080" cy="316992"/>
          </a:xfrm>
          <a:prstGeom prst="rect">
            <a:avLst/>
          </a:prstGeom>
          <a:solidFill>
            <a:srgbClr val="F3F0FA"/>
          </a:solidFill>
          <a:ln w="4445">
            <a:solidFill>
              <a:srgbClr val="EEEE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Rectangle 94"/>
          <p:cNvSpPr/>
          <p:nvPr/>
        </p:nvSpPr>
        <p:spPr>
          <a:xfrm>
            <a:off x="8778240" y="1377694"/>
            <a:ext cx="42672" cy="316992"/>
          </a:xfrm>
          <a:prstGeom prst="rect">
            <a:avLst/>
          </a:prstGeom>
          <a:solidFill>
            <a:srgbClr val="6B21D4"/>
          </a:solidFill>
          <a:ln>
            <a:solidFill>
              <a:srgbClr val="6B21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Rectangle 95"/>
          <p:cNvSpPr/>
          <p:nvPr/>
        </p:nvSpPr>
        <p:spPr>
          <a:xfrm>
            <a:off x="8851392" y="1377694"/>
            <a:ext cx="1036320" cy="280416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4572" bIns="4572"/>
          <a:lstStyle/>
          <a:p>
            <a:pPr algn="l"/>
            <a:r>
              <a:rPr sz="1000" b="1">
                <a:solidFill>
                  <a:srgbClr val="111111"/>
                </a:solidFill>
                <a:latin typeface="Aptos"/>
              </a:rPr>
              <a:t>Contracting T1 &amp; T2</a:t>
            </a:r>
          </a:p>
        </p:txBody>
      </p:sp>
      <p:sp>
        <p:nvSpPr>
          <p:cNvPr id="97" name="Rectangle 96"/>
          <p:cNvSpPr/>
          <p:nvPr/>
        </p:nvSpPr>
        <p:spPr>
          <a:xfrm>
            <a:off x="9948672" y="1377694"/>
            <a:ext cx="1524000" cy="280416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4572" bIns="4572"/>
          <a:lstStyle/>
          <a:p>
            <a:pPr algn="l"/>
            <a:r>
              <a:rPr sz="1000" b="0">
                <a:solidFill>
                  <a:srgbClr val="6B21D4"/>
                </a:solidFill>
                <a:latin typeface="Aptos"/>
              </a:rPr>
              <a:t>Vignesh S/Preeti k/Srinivas R</a:t>
            </a:r>
          </a:p>
        </p:txBody>
      </p:sp>
      <p:sp>
        <p:nvSpPr>
          <p:cNvPr id="98" name="Rectangle 97"/>
          <p:cNvSpPr/>
          <p:nvPr/>
        </p:nvSpPr>
        <p:spPr>
          <a:xfrm>
            <a:off x="8778240" y="1755648"/>
            <a:ext cx="2926080" cy="316992"/>
          </a:xfrm>
          <a:prstGeom prst="rect">
            <a:avLst/>
          </a:prstGeom>
          <a:solidFill>
            <a:srgbClr val="FFFFFF"/>
          </a:solidFill>
          <a:ln w="4445">
            <a:solidFill>
              <a:srgbClr val="EEEE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Rectangle 98"/>
          <p:cNvSpPr/>
          <p:nvPr/>
        </p:nvSpPr>
        <p:spPr>
          <a:xfrm>
            <a:off x="8778240" y="1755648"/>
            <a:ext cx="42672" cy="316992"/>
          </a:xfrm>
          <a:prstGeom prst="rect">
            <a:avLst/>
          </a:prstGeom>
          <a:solidFill>
            <a:srgbClr val="6B21D4"/>
          </a:solidFill>
          <a:ln>
            <a:solidFill>
              <a:srgbClr val="6B21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" name="Rectangle 99"/>
          <p:cNvSpPr/>
          <p:nvPr/>
        </p:nvSpPr>
        <p:spPr>
          <a:xfrm>
            <a:off x="8851392" y="1755648"/>
            <a:ext cx="1036320" cy="280416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4572" bIns="4572"/>
          <a:lstStyle/>
          <a:p>
            <a:pPr algn="l"/>
            <a:r>
              <a:rPr sz="1000" b="1">
                <a:solidFill>
                  <a:srgbClr val="111111"/>
                </a:solidFill>
                <a:latin typeface="Aptos"/>
              </a:rPr>
              <a:t>Jobs &amp; CoJo</a:t>
            </a:r>
          </a:p>
        </p:txBody>
      </p:sp>
      <p:sp>
        <p:nvSpPr>
          <p:cNvPr id="101" name="Rectangle 100"/>
          <p:cNvSpPr/>
          <p:nvPr/>
        </p:nvSpPr>
        <p:spPr>
          <a:xfrm>
            <a:off x="9948672" y="1755648"/>
            <a:ext cx="1524000" cy="280416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4572" bIns="4572"/>
          <a:lstStyle/>
          <a:p>
            <a:pPr algn="l"/>
            <a:r>
              <a:rPr sz="1000" b="0">
                <a:solidFill>
                  <a:srgbClr val="6B21D4"/>
                </a:solidFill>
                <a:latin typeface="Aptos"/>
              </a:rPr>
              <a:t>Rashmi R</a:t>
            </a:r>
          </a:p>
        </p:txBody>
      </p:sp>
      <p:sp>
        <p:nvSpPr>
          <p:cNvPr id="102" name="Rectangle 101"/>
          <p:cNvSpPr/>
          <p:nvPr/>
        </p:nvSpPr>
        <p:spPr>
          <a:xfrm>
            <a:off x="8778240" y="2133600"/>
            <a:ext cx="2926080" cy="316992"/>
          </a:xfrm>
          <a:prstGeom prst="rect">
            <a:avLst/>
          </a:prstGeom>
          <a:solidFill>
            <a:srgbClr val="F3F0FA"/>
          </a:solidFill>
          <a:ln w="4445">
            <a:solidFill>
              <a:srgbClr val="EEEE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" name="Rectangle 102"/>
          <p:cNvSpPr/>
          <p:nvPr/>
        </p:nvSpPr>
        <p:spPr>
          <a:xfrm>
            <a:off x="8778240" y="2133600"/>
            <a:ext cx="42672" cy="316992"/>
          </a:xfrm>
          <a:prstGeom prst="rect">
            <a:avLst/>
          </a:prstGeom>
          <a:solidFill>
            <a:srgbClr val="6B21D4"/>
          </a:solidFill>
          <a:ln>
            <a:solidFill>
              <a:srgbClr val="6B21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" name="Rectangle 103"/>
          <p:cNvSpPr/>
          <p:nvPr/>
        </p:nvSpPr>
        <p:spPr>
          <a:xfrm>
            <a:off x="8851392" y="2133600"/>
            <a:ext cx="1036320" cy="280416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4572" bIns="4572"/>
          <a:lstStyle/>
          <a:p>
            <a:pPr algn="l"/>
            <a:r>
              <a:rPr sz="1000" b="1">
                <a:solidFill>
                  <a:srgbClr val="111111"/>
                </a:solidFill>
                <a:latin typeface="Aptos"/>
              </a:rPr>
              <a:t>MDP/DMC</a:t>
            </a:r>
          </a:p>
        </p:txBody>
      </p:sp>
      <p:sp>
        <p:nvSpPr>
          <p:cNvPr id="105" name="Rectangle 104"/>
          <p:cNvSpPr/>
          <p:nvPr/>
        </p:nvSpPr>
        <p:spPr>
          <a:xfrm>
            <a:off x="9948672" y="2133600"/>
            <a:ext cx="1524000" cy="280416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4572" bIns="4572"/>
          <a:lstStyle/>
          <a:p>
            <a:pPr algn="l"/>
            <a:r>
              <a:rPr sz="1000" b="0">
                <a:solidFill>
                  <a:srgbClr val="6B21D4"/>
                </a:solidFill>
                <a:latin typeface="Aptos"/>
              </a:rPr>
              <a:t>Mahesh L/Anusha</a:t>
            </a:r>
          </a:p>
        </p:txBody>
      </p:sp>
      <p:sp>
        <p:nvSpPr>
          <p:cNvPr id="106" name="Rectangle 105"/>
          <p:cNvSpPr/>
          <p:nvPr/>
        </p:nvSpPr>
        <p:spPr>
          <a:xfrm>
            <a:off x="8778240" y="2511552"/>
            <a:ext cx="2926080" cy="316992"/>
          </a:xfrm>
          <a:prstGeom prst="rect">
            <a:avLst/>
          </a:prstGeom>
          <a:solidFill>
            <a:srgbClr val="FFFFFF"/>
          </a:solidFill>
          <a:ln w="4445">
            <a:solidFill>
              <a:srgbClr val="EEEE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" name="Rectangle 106"/>
          <p:cNvSpPr/>
          <p:nvPr/>
        </p:nvSpPr>
        <p:spPr>
          <a:xfrm>
            <a:off x="8778240" y="2511552"/>
            <a:ext cx="42672" cy="316992"/>
          </a:xfrm>
          <a:prstGeom prst="rect">
            <a:avLst/>
          </a:prstGeom>
          <a:solidFill>
            <a:srgbClr val="6B21D4"/>
          </a:solidFill>
          <a:ln>
            <a:solidFill>
              <a:srgbClr val="6B21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" name="Rectangle 107"/>
          <p:cNvSpPr/>
          <p:nvPr/>
        </p:nvSpPr>
        <p:spPr>
          <a:xfrm>
            <a:off x="8851392" y="2511552"/>
            <a:ext cx="1036320" cy="280416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4572" bIns="4572"/>
          <a:lstStyle/>
          <a:p>
            <a:pPr algn="l"/>
            <a:r>
              <a:rPr sz="1000" b="1">
                <a:solidFill>
                  <a:srgbClr val="111111"/>
                </a:solidFill>
                <a:latin typeface="Aptos"/>
              </a:rPr>
              <a:t>TDA</a:t>
            </a:r>
          </a:p>
        </p:txBody>
      </p:sp>
      <p:sp>
        <p:nvSpPr>
          <p:cNvPr id="109" name="Rectangle 108"/>
          <p:cNvSpPr/>
          <p:nvPr/>
        </p:nvSpPr>
        <p:spPr>
          <a:xfrm>
            <a:off x="9948672" y="2511552"/>
            <a:ext cx="1524000" cy="280416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4572" bIns="4572"/>
          <a:lstStyle/>
          <a:p>
            <a:pPr algn="l"/>
            <a:r>
              <a:rPr sz="1000" b="0">
                <a:solidFill>
                  <a:srgbClr val="6B21D4"/>
                </a:solidFill>
                <a:latin typeface="Aptos"/>
              </a:rPr>
              <a:t>Naveen H</a:t>
            </a:r>
          </a:p>
        </p:txBody>
      </p:sp>
      <p:sp>
        <p:nvSpPr>
          <p:cNvPr id="110" name="Rectangle 109"/>
          <p:cNvSpPr/>
          <p:nvPr/>
        </p:nvSpPr>
        <p:spPr>
          <a:xfrm>
            <a:off x="8778240" y="2889504"/>
            <a:ext cx="2926080" cy="316992"/>
          </a:xfrm>
          <a:prstGeom prst="rect">
            <a:avLst/>
          </a:prstGeom>
          <a:solidFill>
            <a:srgbClr val="F3F0FA"/>
          </a:solidFill>
          <a:ln w="4445">
            <a:solidFill>
              <a:srgbClr val="EEEE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Rectangle 110"/>
          <p:cNvSpPr/>
          <p:nvPr/>
        </p:nvSpPr>
        <p:spPr>
          <a:xfrm>
            <a:off x="8778240" y="2889504"/>
            <a:ext cx="42672" cy="316992"/>
          </a:xfrm>
          <a:prstGeom prst="rect">
            <a:avLst/>
          </a:prstGeom>
          <a:solidFill>
            <a:srgbClr val="6B21D4"/>
          </a:solidFill>
          <a:ln>
            <a:solidFill>
              <a:srgbClr val="6B21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Rectangle 111"/>
          <p:cNvSpPr/>
          <p:nvPr/>
        </p:nvSpPr>
        <p:spPr>
          <a:xfrm>
            <a:off x="8851392" y="2889504"/>
            <a:ext cx="1036320" cy="280416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4572" bIns="4572"/>
          <a:lstStyle/>
          <a:p>
            <a:pPr algn="l"/>
            <a:r>
              <a:rPr sz="1000" b="1">
                <a:solidFill>
                  <a:srgbClr val="111111"/>
                </a:solidFill>
                <a:latin typeface="Aptos"/>
              </a:rPr>
              <a:t>Equipment</a:t>
            </a:r>
          </a:p>
        </p:txBody>
      </p:sp>
      <p:sp>
        <p:nvSpPr>
          <p:cNvPr id="113" name="Rectangle 112"/>
          <p:cNvSpPr/>
          <p:nvPr/>
        </p:nvSpPr>
        <p:spPr>
          <a:xfrm>
            <a:off x="9948672" y="2889504"/>
            <a:ext cx="1524000" cy="280416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4572" bIns="4572"/>
          <a:lstStyle/>
          <a:p>
            <a:pPr algn="l"/>
            <a:r>
              <a:rPr sz="1000" b="0">
                <a:solidFill>
                  <a:srgbClr val="6B21D4"/>
                </a:solidFill>
                <a:latin typeface="Aptos"/>
              </a:rPr>
              <a:t>Brinda S</a:t>
            </a:r>
          </a:p>
        </p:txBody>
      </p:sp>
      <p:sp>
        <p:nvSpPr>
          <p:cNvPr id="114" name="Rectangle 113"/>
          <p:cNvSpPr/>
          <p:nvPr/>
        </p:nvSpPr>
        <p:spPr>
          <a:xfrm>
            <a:off x="8778240" y="3267454"/>
            <a:ext cx="2926080" cy="316992"/>
          </a:xfrm>
          <a:prstGeom prst="rect">
            <a:avLst/>
          </a:prstGeom>
          <a:solidFill>
            <a:srgbClr val="FFFFFF"/>
          </a:solidFill>
          <a:ln w="4445">
            <a:solidFill>
              <a:srgbClr val="EEEE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" name="Rectangle 114"/>
          <p:cNvSpPr/>
          <p:nvPr/>
        </p:nvSpPr>
        <p:spPr>
          <a:xfrm>
            <a:off x="8778240" y="3267454"/>
            <a:ext cx="42672" cy="316992"/>
          </a:xfrm>
          <a:prstGeom prst="rect">
            <a:avLst/>
          </a:prstGeom>
          <a:solidFill>
            <a:srgbClr val="6B21D4"/>
          </a:solidFill>
          <a:ln>
            <a:solidFill>
              <a:srgbClr val="6B21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6" name="Rectangle 115"/>
          <p:cNvSpPr/>
          <p:nvPr/>
        </p:nvSpPr>
        <p:spPr>
          <a:xfrm>
            <a:off x="8851392" y="3267454"/>
            <a:ext cx="1036320" cy="280416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4572" bIns="4572"/>
          <a:lstStyle/>
          <a:p>
            <a:pPr algn="l"/>
            <a:r>
              <a:rPr sz="1000" b="1">
                <a:solidFill>
                  <a:srgbClr val="111111"/>
                </a:solidFill>
                <a:latin typeface="Aptos"/>
              </a:rPr>
              <a:t>Automation</a:t>
            </a:r>
          </a:p>
        </p:txBody>
      </p:sp>
      <p:sp>
        <p:nvSpPr>
          <p:cNvPr id="117" name="Rectangle 116"/>
          <p:cNvSpPr/>
          <p:nvPr/>
        </p:nvSpPr>
        <p:spPr>
          <a:xfrm>
            <a:off x="9948672" y="3267454"/>
            <a:ext cx="1524000" cy="280416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4572" bIns="4572"/>
          <a:lstStyle/>
          <a:p>
            <a:pPr algn="l"/>
            <a:r>
              <a:rPr sz="1000" b="0">
                <a:solidFill>
                  <a:srgbClr val="6B21D4"/>
                </a:solidFill>
                <a:latin typeface="Aptos"/>
              </a:rPr>
              <a:t>Varsha C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8778240" y="3645408"/>
            <a:ext cx="2926080" cy="316992"/>
          </a:xfrm>
          <a:prstGeom prst="rect">
            <a:avLst/>
          </a:prstGeom>
          <a:solidFill>
            <a:srgbClr val="F3F0FA"/>
          </a:solidFill>
          <a:ln w="4445">
            <a:solidFill>
              <a:srgbClr val="EEEE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Rectangle 118"/>
          <p:cNvSpPr/>
          <p:nvPr/>
        </p:nvSpPr>
        <p:spPr>
          <a:xfrm>
            <a:off x="8778240" y="3645408"/>
            <a:ext cx="42672" cy="316992"/>
          </a:xfrm>
          <a:prstGeom prst="rect">
            <a:avLst/>
          </a:prstGeom>
          <a:solidFill>
            <a:srgbClr val="6B21D4"/>
          </a:solidFill>
          <a:ln>
            <a:solidFill>
              <a:srgbClr val="6B21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0" name="Rectangle 119"/>
          <p:cNvSpPr/>
          <p:nvPr/>
        </p:nvSpPr>
        <p:spPr>
          <a:xfrm>
            <a:off x="8851392" y="3645408"/>
            <a:ext cx="1036320" cy="280416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4572" bIns="4572"/>
          <a:lstStyle/>
          <a:p>
            <a:pPr algn="l"/>
            <a:r>
              <a:rPr sz="1000" b="1">
                <a:solidFill>
                  <a:srgbClr val="111111"/>
                </a:solidFill>
                <a:latin typeface="Aptos"/>
              </a:rPr>
              <a:t>Performance</a:t>
            </a:r>
          </a:p>
        </p:txBody>
      </p:sp>
      <p:sp>
        <p:nvSpPr>
          <p:cNvPr id="121" name="Rectangle 120"/>
          <p:cNvSpPr/>
          <p:nvPr/>
        </p:nvSpPr>
        <p:spPr>
          <a:xfrm>
            <a:off x="9948672" y="3645408"/>
            <a:ext cx="1524000" cy="280416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4572" bIns="4572"/>
          <a:lstStyle/>
          <a:p>
            <a:pPr algn="l"/>
            <a:r>
              <a:rPr sz="1000" b="0">
                <a:solidFill>
                  <a:srgbClr val="6B21D4"/>
                </a:solidFill>
                <a:latin typeface="Aptos"/>
              </a:rPr>
              <a:t>Srinivasa R</a:t>
            </a:r>
          </a:p>
        </p:txBody>
      </p:sp>
      <p:sp>
        <p:nvSpPr>
          <p:cNvPr id="122" name="Rectangle 121"/>
          <p:cNvSpPr/>
          <p:nvPr/>
        </p:nvSpPr>
        <p:spPr>
          <a:xfrm>
            <a:off x="8778240" y="4023360"/>
            <a:ext cx="2926080" cy="316992"/>
          </a:xfrm>
          <a:prstGeom prst="rect">
            <a:avLst/>
          </a:prstGeom>
          <a:solidFill>
            <a:srgbClr val="FFFFFF"/>
          </a:solidFill>
          <a:ln w="4445">
            <a:solidFill>
              <a:srgbClr val="EEEE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" name="Rectangle 122"/>
          <p:cNvSpPr/>
          <p:nvPr/>
        </p:nvSpPr>
        <p:spPr>
          <a:xfrm>
            <a:off x="8778240" y="4023360"/>
            <a:ext cx="42672" cy="316992"/>
          </a:xfrm>
          <a:prstGeom prst="rect">
            <a:avLst/>
          </a:prstGeom>
          <a:solidFill>
            <a:srgbClr val="6B21D4"/>
          </a:solidFill>
          <a:ln>
            <a:solidFill>
              <a:srgbClr val="6B21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4" name="Rectangle 123"/>
          <p:cNvSpPr/>
          <p:nvPr/>
        </p:nvSpPr>
        <p:spPr>
          <a:xfrm>
            <a:off x="8851392" y="4023360"/>
            <a:ext cx="1036320" cy="280416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4572" bIns="4572"/>
          <a:lstStyle/>
          <a:p>
            <a:pPr algn="l"/>
            <a:r>
              <a:rPr sz="1000" b="1">
                <a:solidFill>
                  <a:srgbClr val="111111"/>
                </a:solidFill>
                <a:latin typeface="Aptos"/>
              </a:rPr>
              <a:t>Smoke (Prod)</a:t>
            </a:r>
          </a:p>
        </p:txBody>
      </p:sp>
      <p:sp>
        <p:nvSpPr>
          <p:cNvPr id="125" name="Rectangle 124"/>
          <p:cNvSpPr/>
          <p:nvPr/>
        </p:nvSpPr>
        <p:spPr>
          <a:xfrm>
            <a:off x="9948672" y="4023360"/>
            <a:ext cx="1524000" cy="280416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4572" bIns="4572"/>
          <a:lstStyle/>
          <a:p>
            <a:pPr algn="l"/>
            <a:r>
              <a:rPr sz="1000" b="0">
                <a:solidFill>
                  <a:srgbClr val="6B21D4"/>
                </a:solidFill>
                <a:latin typeface="Aptos"/>
              </a:rPr>
              <a:t>Mahesh L</a:t>
            </a:r>
          </a:p>
        </p:txBody>
      </p:sp>
      <p:sp>
        <p:nvSpPr>
          <p:cNvPr id="126" name="Rectangle 125"/>
          <p:cNvSpPr/>
          <p:nvPr/>
        </p:nvSpPr>
        <p:spPr>
          <a:xfrm>
            <a:off x="8778240" y="4401312"/>
            <a:ext cx="2926080" cy="316992"/>
          </a:xfrm>
          <a:prstGeom prst="rect">
            <a:avLst/>
          </a:prstGeom>
          <a:solidFill>
            <a:srgbClr val="F3F0FA"/>
          </a:solidFill>
          <a:ln w="4445">
            <a:solidFill>
              <a:srgbClr val="EEEE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7" name="Rectangle 126"/>
          <p:cNvSpPr/>
          <p:nvPr/>
        </p:nvSpPr>
        <p:spPr>
          <a:xfrm>
            <a:off x="8778240" y="4401312"/>
            <a:ext cx="42672" cy="316992"/>
          </a:xfrm>
          <a:prstGeom prst="rect">
            <a:avLst/>
          </a:prstGeom>
          <a:solidFill>
            <a:srgbClr val="6B21D4"/>
          </a:solidFill>
          <a:ln>
            <a:solidFill>
              <a:srgbClr val="6B21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8" name="Rectangle 127"/>
          <p:cNvSpPr/>
          <p:nvPr/>
        </p:nvSpPr>
        <p:spPr>
          <a:xfrm>
            <a:off x="8851392" y="4401312"/>
            <a:ext cx="1036320" cy="280416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4572" bIns="4572"/>
          <a:lstStyle/>
          <a:p>
            <a:pPr algn="l"/>
            <a:r>
              <a:rPr sz="1000" b="1">
                <a:solidFill>
                  <a:srgbClr val="111111"/>
                </a:solidFill>
                <a:latin typeface="Aptos"/>
              </a:rPr>
              <a:t>Work Package</a:t>
            </a:r>
          </a:p>
        </p:txBody>
      </p:sp>
      <p:sp>
        <p:nvSpPr>
          <p:cNvPr id="129" name="Rectangle 128"/>
          <p:cNvSpPr/>
          <p:nvPr/>
        </p:nvSpPr>
        <p:spPr>
          <a:xfrm>
            <a:off x="9948672" y="4401312"/>
            <a:ext cx="1524000" cy="280416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4572" bIns="4572"/>
          <a:lstStyle/>
          <a:p>
            <a:pPr algn="l"/>
            <a:r>
              <a:rPr sz="1000" b="0">
                <a:solidFill>
                  <a:srgbClr val="6B21D4"/>
                </a:solidFill>
                <a:latin typeface="Aptos"/>
              </a:rPr>
              <a:t>Likhith P</a:t>
            </a:r>
          </a:p>
        </p:txBody>
      </p:sp>
      <p:sp>
        <p:nvSpPr>
          <p:cNvPr id="130" name="Rectangle 129"/>
          <p:cNvSpPr/>
          <p:nvPr/>
        </p:nvSpPr>
        <p:spPr>
          <a:xfrm>
            <a:off x="8778240" y="4779264"/>
            <a:ext cx="2926080" cy="316992"/>
          </a:xfrm>
          <a:prstGeom prst="rect">
            <a:avLst/>
          </a:prstGeom>
          <a:solidFill>
            <a:srgbClr val="FFFFFF"/>
          </a:solidFill>
          <a:ln w="4445">
            <a:solidFill>
              <a:srgbClr val="EEEE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1" name="Rectangle 130"/>
          <p:cNvSpPr/>
          <p:nvPr/>
        </p:nvSpPr>
        <p:spPr>
          <a:xfrm>
            <a:off x="8778240" y="4779264"/>
            <a:ext cx="42672" cy="316992"/>
          </a:xfrm>
          <a:prstGeom prst="rect">
            <a:avLst/>
          </a:prstGeom>
          <a:solidFill>
            <a:srgbClr val="6B21D4"/>
          </a:solidFill>
          <a:ln>
            <a:solidFill>
              <a:srgbClr val="6B21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2" name="Rectangle 131"/>
          <p:cNvSpPr/>
          <p:nvPr/>
        </p:nvSpPr>
        <p:spPr>
          <a:xfrm>
            <a:off x="8851392" y="4779264"/>
            <a:ext cx="1036320" cy="280416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4572" bIns="4572"/>
          <a:lstStyle/>
          <a:p>
            <a:pPr algn="l"/>
            <a:r>
              <a:rPr sz="1000" b="1">
                <a:solidFill>
                  <a:srgbClr val="111111"/>
                </a:solidFill>
                <a:latin typeface="Aptos"/>
              </a:rPr>
              <a:t>DocGen</a:t>
            </a:r>
          </a:p>
        </p:txBody>
      </p:sp>
      <p:sp>
        <p:nvSpPr>
          <p:cNvPr id="133" name="Rectangle 132"/>
          <p:cNvSpPr/>
          <p:nvPr/>
        </p:nvSpPr>
        <p:spPr>
          <a:xfrm>
            <a:off x="9948672" y="4779264"/>
            <a:ext cx="1524000" cy="280416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4572" bIns="4572"/>
          <a:lstStyle/>
          <a:p>
            <a:pPr algn="l"/>
            <a:r>
              <a:rPr sz="1000" b="0">
                <a:solidFill>
                  <a:srgbClr val="6B21D4"/>
                </a:solidFill>
                <a:latin typeface="Aptos"/>
              </a:rPr>
              <a:t>Sandhyarani</a:t>
            </a:r>
          </a:p>
        </p:txBody>
      </p:sp>
      <p:sp>
        <p:nvSpPr>
          <p:cNvPr id="134" name="Rectangle 133"/>
          <p:cNvSpPr/>
          <p:nvPr/>
        </p:nvSpPr>
        <p:spPr>
          <a:xfrm>
            <a:off x="8778240" y="5157216"/>
            <a:ext cx="2926080" cy="316992"/>
          </a:xfrm>
          <a:prstGeom prst="rect">
            <a:avLst/>
          </a:prstGeom>
          <a:solidFill>
            <a:srgbClr val="F3F0FA"/>
          </a:solidFill>
          <a:ln w="4445">
            <a:solidFill>
              <a:srgbClr val="EEEE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5" name="Rectangle 134"/>
          <p:cNvSpPr/>
          <p:nvPr/>
        </p:nvSpPr>
        <p:spPr>
          <a:xfrm>
            <a:off x="8778240" y="5157216"/>
            <a:ext cx="42672" cy="316992"/>
          </a:xfrm>
          <a:prstGeom prst="rect">
            <a:avLst/>
          </a:prstGeom>
          <a:solidFill>
            <a:srgbClr val="6B21D4"/>
          </a:solidFill>
          <a:ln>
            <a:solidFill>
              <a:srgbClr val="6B21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6" name="Rectangle 135"/>
          <p:cNvSpPr/>
          <p:nvPr/>
        </p:nvSpPr>
        <p:spPr>
          <a:xfrm>
            <a:off x="8851392" y="5157216"/>
            <a:ext cx="1036320" cy="280416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4572" bIns="4572"/>
          <a:lstStyle/>
          <a:p>
            <a:pPr algn="l"/>
            <a:r>
              <a:rPr sz="1000" b="1">
                <a:solidFill>
                  <a:srgbClr val="111111"/>
                </a:solidFill>
                <a:latin typeface="Aptos"/>
              </a:rPr>
              <a:t>Service</a:t>
            </a:r>
          </a:p>
        </p:txBody>
      </p:sp>
      <p:sp>
        <p:nvSpPr>
          <p:cNvPr id="137" name="Rectangle 136"/>
          <p:cNvSpPr/>
          <p:nvPr/>
        </p:nvSpPr>
        <p:spPr>
          <a:xfrm>
            <a:off x="9948672" y="5157216"/>
            <a:ext cx="1524000" cy="280416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4572" bIns="4572"/>
          <a:lstStyle/>
          <a:p>
            <a:pPr algn="l"/>
            <a:r>
              <a:rPr sz="1000" b="0">
                <a:solidFill>
                  <a:srgbClr val="6B21D4"/>
                </a:solidFill>
                <a:latin typeface="Aptos"/>
              </a:rPr>
              <a:t>Frank M</a:t>
            </a:r>
          </a:p>
        </p:txBody>
      </p:sp>
      <p:sp>
        <p:nvSpPr>
          <p:cNvPr id="138" name="Rectangle 137"/>
          <p:cNvSpPr/>
          <p:nvPr/>
        </p:nvSpPr>
        <p:spPr>
          <a:xfrm>
            <a:off x="463296" y="6388608"/>
            <a:ext cx="426720" cy="219456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4572" bIns="4572"/>
          <a:lstStyle/>
          <a:p>
            <a:pPr algn="l"/>
            <a:r>
              <a:rPr sz="900" b="0">
                <a:solidFill>
                  <a:srgbClr val="777777"/>
                </a:solidFill>
                <a:latin typeface="Aptos"/>
              </a:rPr>
              <a:t>13</a:t>
            </a:r>
          </a:p>
        </p:txBody>
      </p:sp>
      <p:pic>
        <p:nvPicPr>
          <p:cNvPr id="139" name="Picture 138" descr="trane_real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424160" y="6156960"/>
            <a:ext cx="1463040" cy="633984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9200" y="2682240"/>
            <a:ext cx="3901440" cy="97536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4572" bIns="4572"/>
          <a:lstStyle/>
          <a:p>
            <a:pPr algn="l"/>
            <a:r>
              <a:rPr sz="2400" b="0">
                <a:solidFill>
                  <a:srgbClr val="111111"/>
                </a:solidFill>
                <a:latin typeface="Aptos"/>
              </a:rPr>
              <a:t>Welcome once again to the</a:t>
            </a:r>
          </a:p>
          <a:p>
            <a:pPr algn="l"/>
            <a:r>
              <a:rPr sz="2400" b="0">
                <a:solidFill>
                  <a:srgbClr val="111111"/>
                </a:solidFill>
                <a:latin typeface="Aptos"/>
              </a:rPr>
              <a:t>team, and hope you have a</a:t>
            </a:r>
          </a:p>
          <a:p>
            <a:pPr algn="l"/>
            <a:r>
              <a:rPr sz="2400" b="0">
                <a:solidFill>
                  <a:srgbClr val="111111"/>
                </a:solidFill>
                <a:latin typeface="Aptos"/>
              </a:rPr>
              <a:t>wonderful journey with us!</a:t>
            </a:r>
          </a:p>
        </p:txBody>
      </p:sp>
      <p:sp>
        <p:nvSpPr>
          <p:cNvPr id="6" name="Rectangle 5"/>
          <p:cNvSpPr/>
          <p:nvPr/>
        </p:nvSpPr>
        <p:spPr>
          <a:xfrm>
            <a:off x="463296" y="6388608"/>
            <a:ext cx="426720" cy="219456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4572" bIns="4572"/>
          <a:lstStyle/>
          <a:p>
            <a:pPr algn="l"/>
            <a:r>
              <a:rPr sz="900" b="0">
                <a:solidFill>
                  <a:srgbClr val="777777"/>
                </a:solidFill>
                <a:latin typeface="Aptos"/>
              </a:rPr>
              <a:t>14</a:t>
            </a:r>
          </a:p>
        </p:txBody>
      </p:sp>
      <p:pic>
        <p:nvPicPr>
          <p:cNvPr id="7" name="Picture 6" descr="trane_real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424160" y="6156960"/>
            <a:ext cx="1463040" cy="633984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