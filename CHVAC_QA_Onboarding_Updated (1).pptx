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D53693-15AB-4B33-9CF1-1FDE45C8B252}" v="58" dt="2026-05-07T16:17:56.785"/>
    <p1510:client id="{E1002C20-7C07-45EC-B056-14A9E7F205A7}" v="377" dt="2026-05-07T10:02:25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26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2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29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netis.jira.com/wiki/spaces/TSMT/pages/4088692861/Trane+Select+Assist+TSA" TargetMode="External"/><Relationship Id="rId4" Type="http://schemas.openxmlformats.org/officeDocument/2006/relationships/hyperlink" Target="https://tranetis.jira.com/wiki/spaces/TSMT/pages/4108681299/Equipment+Onboarding" TargetMode="External"/><Relationship Id="rId5" Type="http://schemas.openxmlformats.org/officeDocument/2006/relationships/hyperlink" Target="https://tranetis.jira.com/wiki/spaces/TSMT/pages/4089217110/Data+Maintenance+Center+Manufacturing+Data+Preparation+DMC+MDP" TargetMode="External"/><Relationship Id="rId6" Type="http://schemas.openxmlformats.org/officeDocument/2006/relationships/hyperlink" Target="https://tranetis.jira.com/wiki/spaces/TSMT/pages/4108517505/Jobs+Coordinated+Jobs+COJO" TargetMode="External"/><Relationship Id="rId7" Type="http://schemas.openxmlformats.org/officeDocument/2006/relationships/hyperlink" Target="https://tranetis.jira.com/wiki/spaces/TSMT/pages/4501078104/Contracting+Team" TargetMode="External"/><Relationship Id="rId8" Type="http://schemas.openxmlformats.org/officeDocument/2006/relationships/hyperlink" Target="https://tranetis.jira.com/wiki/spaces/TSMT/pages/4108812330/Trane+Design+Assist+TDA" TargetMode="External"/><Relationship Id="rId9" Type="http://schemas.openxmlformats.org/officeDocument/2006/relationships/hyperlink" Target="https://tranetis.jira.com/wiki/spaces/TSMT/pages/4108812415/Work+Package+Onboarding" TargetMode="External"/><Relationship Id="rId10" Type="http://schemas.openxmlformats.org/officeDocument/2006/relationships/hyperlink" Target="https://tranetis.jira.com/wiki/spaces/TSMT/pages/4501733404/Service" TargetMode="External"/><Relationship Id="rId11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CHVAC QA Core team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deck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65836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94944" y="65836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104241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47472" y="1133856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1133856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517904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94944" y="160934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1993392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" y="2084832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" y="208483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need to 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468880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7472" y="2560320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" y="2560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 Plan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7472" y="2944368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7472" y="3035808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" y="30358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Contact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419856"/>
            <a:ext cx="5943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303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spans USA and India across multiple delivery tracks under the CHVAC IT OTC QA practice.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47472" y="932688"/>
            <a:ext cx="5029200" cy="548640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64008" cy="54864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75488" y="969264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Ramesh Hegde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207008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 – QA Leader  ·  WorkSight QA Lead  ·  Trane-ITC  ·  Offshore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7472" y="1572767"/>
            <a:ext cx="502920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Delivery Tracks</a:t>
            </a:r>
          </a:p>
          <a:p/>
          <a:p>
            <a:r>
              <a:t>WorkSight Projects:</a:t>
            </a:r>
          </a:p>
          <a:p>
            <a:r>
              <a:t>- TSA (Trane Select Assist)</a:t>
            </a:r>
          </a:p>
          <a:p>
            <a:r>
              <a:t>- Equipment (R12)</a:t>
            </a:r>
          </a:p>
          <a:p>
            <a:r>
              <a:t>- DMC / MDP</a:t>
            </a:r>
          </a:p>
          <a:p>
            <a:r>
              <a:t>- Jobs &amp; CoJo</a:t>
            </a:r>
          </a:p>
          <a:p>
            <a:r>
              <a:t>- Contracting (Team 1 &amp; 2)</a:t>
            </a:r>
          </a:p>
          <a:p>
            <a:r>
              <a:t>- Work Package</a:t>
            </a:r>
          </a:p>
          <a:p>
            <a:r>
              <a:t>- Documents (DocGen)</a:t>
            </a:r>
          </a:p>
          <a:p>
            <a:r>
              <a:t>- Service</a:t>
            </a:r>
          </a:p>
          <a:p/>
          <a:p>
            <a:r>
              <a:t>Other Projects:</a:t>
            </a:r>
          </a:p>
          <a:p>
            <a:r>
              <a:t>- TDA (Trane Design Assist)</a:t>
            </a:r>
          </a:p>
        </p:txBody>
      </p:sp>
      <p:sp>
        <p:nvSpPr>
          <p:cNvPr id="13" name="Text 11"/>
          <p:cNvSpPr/>
          <p:nvPr/>
        </p:nvSpPr>
        <p:spPr>
          <a:xfrm>
            <a:off x="5669280" y="5303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at a Glance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80467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724144" y="8046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589520" y="8046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107899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24144" y="10789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589520" y="107899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135331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724144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589520" y="135331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0" y="162763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724144" y="16276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589520" y="162763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1901952"/>
            <a:ext cx="310896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724144" y="19019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Func. Analysts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589520" y="190195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2176272"/>
            <a:ext cx="3108960" cy="256032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724144" y="21762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 / PAs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89520" y="217627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600" b="1">
                <a:solidFill>
                  <a:srgbClr val="193255"/>
                </a:solidFill>
                <a:latin typeface="Aptos"/>
              </a:rPr>
              <a:t>WorkSight QA - Reporting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44805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50" b="0">
                <a:solidFill>
                  <a:srgbClr val="5C6670"/>
                </a:solidFill>
                <a:latin typeface="Aptos"/>
              </a:rPr>
              <a:t>Ramesh Hegde is split into two clear sessions: WorkSight and TDA.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822960"/>
            <a:ext cx="2377440" cy="502920"/>
          </a:xfrm>
          <a:prstGeom prst="roundRect">
            <a:avLst/>
          </a:prstGeom>
          <a:solidFill>
            <a:srgbClr val="FFEDDA"/>
          </a:solidFill>
          <a:ln w="1016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193255"/>
                </a:solidFill>
                <a:latin typeface="Aptos"/>
              </a:rPr>
              <a:t>Ramesh Hegde
Sr. Manager - QA Leader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325880"/>
            <a:ext cx="0" cy="246888"/>
          </a:xfrm>
          <a:prstGeom prst="line">
            <a:avLst/>
          </a:prstGeom>
          <a:ln w="2032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1572768"/>
            <a:ext cx="5120640" cy="0"/>
          </a:xfrm>
          <a:prstGeom prst="line">
            <a:avLst/>
          </a:prstGeom>
          <a:ln w="2032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011680" y="1572768"/>
            <a:ext cx="0" cy="210312"/>
          </a:xfrm>
          <a:prstGeom prst="line">
            <a:avLst/>
          </a:prstGeom>
          <a:ln w="2032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132320" y="1572768"/>
            <a:ext cx="0" cy="210312"/>
          </a:xfrm>
          <a:prstGeom prst="line">
            <a:avLst/>
          </a:prstGeom>
          <a:ln w="2032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1783080"/>
            <a:ext cx="2743200" cy="384048"/>
          </a:xfrm>
          <a:prstGeom prst="round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193255"/>
                </a:solidFill>
                <a:latin typeface="Aptos"/>
              </a:rPr>
              <a:t>WorkSight 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783080"/>
            <a:ext cx="2743200" cy="384048"/>
          </a:xfrm>
          <a:prstGeom prst="roundRect">
            <a:avLst/>
          </a:prstGeom>
          <a:solidFill>
            <a:srgbClr val="E1F6F3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193255"/>
                </a:solidFill>
                <a:latin typeface="Aptos"/>
              </a:rPr>
              <a:t>TDA Session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423160"/>
            <a:ext cx="20574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20" b="1">
                <a:solidFill>
                  <a:srgbClr val="193255"/>
                </a:solidFill>
                <a:latin typeface="Aptos"/>
              </a:rPr>
              <a:t>TSA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697479"/>
            <a:ext cx="20574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610" b="0">
                <a:solidFill>
                  <a:srgbClr val="5C6670"/>
                </a:solidFill>
                <a:latin typeface="Aptos"/>
              </a:rPr>
              <a:t>Varsha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423160"/>
            <a:ext cx="20574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20" b="1">
                <a:solidFill>
                  <a:srgbClr val="193255"/>
                </a:solidFill>
                <a:latin typeface="Aptos"/>
              </a:rPr>
              <a:t>Equipment (R12)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697479"/>
            <a:ext cx="20574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610" b="0">
                <a:solidFill>
                  <a:srgbClr val="5C6670"/>
                </a:solidFill>
                <a:latin typeface="Aptos"/>
              </a:rPr>
              <a:t>Brinda S / Harikrishnan / Aiswarya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953512"/>
            <a:ext cx="20574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20" b="1">
                <a:solidFill>
                  <a:srgbClr val="193255"/>
                </a:solidFill>
                <a:latin typeface="Aptos"/>
              </a:rPr>
              <a:t>DMC / MDP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227832"/>
            <a:ext cx="20574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610" b="0">
                <a:solidFill>
                  <a:srgbClr val="5C6670"/>
                </a:solidFill>
                <a:latin typeface="Aptos"/>
              </a:rPr>
              <a:t>Mahesh 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2953512"/>
            <a:ext cx="20574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20" b="1">
                <a:solidFill>
                  <a:srgbClr val="193255"/>
                </a:solidFill>
                <a:latin typeface="Aptos"/>
              </a:rPr>
              <a:t>Jobs &amp; CoJo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3227832"/>
            <a:ext cx="20574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610" b="0">
                <a:solidFill>
                  <a:srgbClr val="5C6670"/>
                </a:solidFill>
                <a:latin typeface="Aptos"/>
              </a:rPr>
              <a:t>Rashmi 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483863"/>
            <a:ext cx="20574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20" b="1">
                <a:solidFill>
                  <a:srgbClr val="193255"/>
                </a:solidFill>
                <a:latin typeface="Aptos"/>
              </a:rPr>
              <a:t>Contracting Team 1 &amp;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758183"/>
            <a:ext cx="20574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610" b="0">
                <a:solidFill>
                  <a:srgbClr val="5C6670"/>
                </a:solidFill>
                <a:latin typeface="Aptos"/>
              </a:rPr>
              <a:t>Vignesh S / Preethi K / Srinivasa 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3483863"/>
            <a:ext cx="20574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20" b="1">
                <a:solidFill>
                  <a:srgbClr val="193255"/>
                </a:solidFill>
                <a:latin typeface="Aptos"/>
              </a:rPr>
              <a:t>Work Package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3758183"/>
            <a:ext cx="20574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610" b="0">
                <a:solidFill>
                  <a:srgbClr val="5C6670"/>
                </a:solidFill>
                <a:latin typeface="Aptos"/>
              </a:rPr>
              <a:t>Likhith 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014215"/>
            <a:ext cx="20574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20" b="1">
                <a:solidFill>
                  <a:srgbClr val="193255"/>
                </a:solidFill>
                <a:latin typeface="Aptos"/>
              </a:rPr>
              <a:t>Documents (DocGen)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288536"/>
            <a:ext cx="20574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610" b="0">
                <a:solidFill>
                  <a:srgbClr val="5C6670"/>
                </a:solidFill>
                <a:latin typeface="Aptos"/>
              </a:rPr>
              <a:t>Sandhyarani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014215"/>
            <a:ext cx="20574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20" b="1">
                <a:solidFill>
                  <a:srgbClr val="193255"/>
                </a:solidFill>
                <a:latin typeface="Aptos"/>
              </a:rPr>
              <a:t>Service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4288536"/>
            <a:ext cx="20574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610" b="0">
                <a:solidFill>
                  <a:srgbClr val="5C6670"/>
                </a:solidFill>
                <a:latin typeface="Aptos"/>
              </a:rPr>
              <a:t>Frank 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77840" y="2423160"/>
            <a:ext cx="3063240" cy="219456"/>
          </a:xfrm>
          <a:prstGeom prst="roundRect">
            <a:avLst/>
          </a:prstGeom>
          <a:solidFill>
            <a:srgbClr val="168B84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TDA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77840" y="2670048"/>
            <a:ext cx="3063240" cy="1993392"/>
          </a:xfrm>
          <a:prstGeom prst="roundRect">
            <a:avLst/>
          </a:prstGeom>
          <a:solidFill>
            <a:srgbClr val="E1F6F3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750">
                <a:solidFill>
                  <a:srgbClr val="193255"/>
                </a:solidFill>
                <a:latin typeface="Aptos"/>
              </a:defRPr>
            </a:pPr>
            <a:r>
              <a:t>Trane Design Assist</a:t>
            </a:r>
          </a:p>
          <a:p>
            <a:pPr>
              <a:spcAft>
                <a:spcPts val="100"/>
              </a:spcAft>
              <a:defRPr sz="750">
                <a:solidFill>
                  <a:srgbClr val="193255"/>
                </a:solidFill>
                <a:latin typeface="Aptos"/>
              </a:defRPr>
            </a:pPr>
            <a:r>
              <a:t>QA Lead: Naveen H</a:t>
            </a:r>
          </a:p>
          <a:p>
            <a:pPr>
              <a:spcAft>
                <a:spcPts val="100"/>
              </a:spcAft>
              <a:defRPr sz="750">
                <a:solidFill>
                  <a:srgbClr val="193255"/>
                </a:solidFill>
                <a:latin typeface="Aptos"/>
              </a:defRPr>
            </a:pPr>
            <a:r>
              <a:t>Navya B R</a:t>
            </a:r>
          </a:p>
          <a:p>
            <a:pPr>
              <a:spcAft>
                <a:spcPts val="100"/>
              </a:spcAft>
              <a:defRPr sz="750">
                <a:solidFill>
                  <a:srgbClr val="193255"/>
                </a:solidFill>
                <a:latin typeface="Aptos"/>
              </a:defRPr>
            </a:pPr>
            <a:r>
              <a:t>Manoj Kulkarni</a:t>
            </a:r>
          </a:p>
          <a:p>
            <a:pPr>
              <a:spcAft>
                <a:spcPts val="100"/>
              </a:spcAft>
              <a:defRPr sz="750">
                <a:solidFill>
                  <a:srgbClr val="193255"/>
                </a:solidFill>
                <a:latin typeface="Aptos"/>
              </a:defRPr>
            </a:pPr>
            <a:r>
              <a:t>Gurulingappa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48840" y="4572000"/>
            <a:ext cx="4846320" cy="256032"/>
          </a:xfrm>
          <a:prstGeom prst="roundRect">
            <a:avLst/>
          </a:prstGeom>
          <a:solidFill>
            <a:srgbClr val="E5F7EB"/>
          </a:solidFill>
          <a:ln w="10160">
            <a:solidFill>
              <a:srgbClr val="39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193255"/>
                </a:solidFill>
                <a:latin typeface="Aptos"/>
              </a:rPr>
              <a:t>Service is placed under WorkSight only.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5C6670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Track – Teams A &amp; B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 (14 members)</a:t>
            </a:r>
            <a:endParaRPr lang="en-US" sz="950"/>
          </a:p>
        </p:txBody>
      </p:sp>
      <p:sp>
        <p:nvSpPr>
          <p:cNvPr id="4" name="Shape 2"/>
          <p:cNvSpPr/>
          <p:nvPr/>
        </p:nvSpPr>
        <p:spPr>
          <a:xfrm>
            <a:off x="347472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Jaimie Christianson</a:t>
            </a:r>
            <a:endParaRPr lang="en-US" sz="750"/>
          </a:p>
        </p:txBody>
      </p:sp>
      <p:sp>
        <p:nvSpPr>
          <p:cNvPr id="7" name="Text 5"/>
          <p:cNvSpPr/>
          <p:nvPr/>
        </p:nvSpPr>
        <p:spPr>
          <a:xfrm>
            <a:off x="1986808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8" name="Text 6"/>
          <p:cNvSpPr/>
          <p:nvPr/>
        </p:nvSpPr>
        <p:spPr>
          <a:xfrm>
            <a:off x="3446191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" name="Shape 7"/>
          <p:cNvSpPr/>
          <p:nvPr/>
        </p:nvSpPr>
        <p:spPr>
          <a:xfrm>
            <a:off x="347472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47472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02336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Vijay Patti Reddy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1986808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Analyst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3446191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14" name="Shape 12"/>
          <p:cNvSpPr/>
          <p:nvPr/>
        </p:nvSpPr>
        <p:spPr>
          <a:xfrm>
            <a:off x="347472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Pradeesh Kumar</a:t>
            </a:r>
            <a:endParaRPr lang="en-US" sz="750"/>
          </a:p>
        </p:txBody>
      </p:sp>
      <p:sp>
        <p:nvSpPr>
          <p:cNvPr id="17" name="Text 15"/>
          <p:cNvSpPr/>
          <p:nvPr/>
        </p:nvSpPr>
        <p:spPr>
          <a:xfrm>
            <a:off x="1986808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Analyst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3446191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/>
          </a:p>
        </p:txBody>
      </p:sp>
      <p:sp>
        <p:nvSpPr>
          <p:cNvPr id="54" name="Shape 52"/>
          <p:cNvSpPr/>
          <p:nvPr/>
        </p:nvSpPr>
        <p:spPr>
          <a:xfrm>
            <a:off x="347472" y="14538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4538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4538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Brinda S</a:t>
            </a:r>
            <a:endParaRPr lang="en-US" sz="750"/>
          </a:p>
        </p:txBody>
      </p:sp>
      <p:sp>
        <p:nvSpPr>
          <p:cNvPr id="57" name="Text 55"/>
          <p:cNvSpPr/>
          <p:nvPr/>
        </p:nvSpPr>
        <p:spPr>
          <a:xfrm>
            <a:off x="1986808" y="14538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58" name="Text 56"/>
          <p:cNvSpPr/>
          <p:nvPr/>
        </p:nvSpPr>
        <p:spPr>
          <a:xfrm>
            <a:off x="3446191" y="14538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59" name="Shape 57"/>
          <p:cNvSpPr/>
          <p:nvPr/>
        </p:nvSpPr>
        <p:spPr>
          <a:xfrm>
            <a:off x="347472" y="16733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347472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02336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Devendra E</a:t>
            </a:r>
            <a:endParaRPr lang="en-US" sz="750"/>
          </a:p>
        </p:txBody>
      </p:sp>
      <p:sp>
        <p:nvSpPr>
          <p:cNvPr id="62" name="Text 60"/>
          <p:cNvSpPr/>
          <p:nvPr/>
        </p:nvSpPr>
        <p:spPr>
          <a:xfrm>
            <a:off x="1986808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63" name="Text 61"/>
          <p:cNvSpPr/>
          <p:nvPr/>
        </p:nvSpPr>
        <p:spPr>
          <a:xfrm>
            <a:off x="3446191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4" name="Shape 62"/>
          <p:cNvSpPr/>
          <p:nvPr/>
        </p:nvSpPr>
        <p:spPr>
          <a:xfrm>
            <a:off x="347472" y="18928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Praveen Nagaraj</a:t>
            </a:r>
            <a:endParaRPr lang="en-US" sz="750"/>
          </a:p>
        </p:txBody>
      </p:sp>
      <p:sp>
        <p:nvSpPr>
          <p:cNvPr id="67" name="Text 65"/>
          <p:cNvSpPr/>
          <p:nvPr/>
        </p:nvSpPr>
        <p:spPr>
          <a:xfrm>
            <a:off x="1986808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68" name="Text 66"/>
          <p:cNvSpPr/>
          <p:nvPr/>
        </p:nvSpPr>
        <p:spPr>
          <a:xfrm>
            <a:off x="3446191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69" name="Shape 67"/>
          <p:cNvSpPr/>
          <p:nvPr/>
        </p:nvSpPr>
        <p:spPr>
          <a:xfrm>
            <a:off x="347472" y="21122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347472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02336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Jashwanth Sai</a:t>
            </a:r>
            <a:endParaRPr lang="en-US" sz="750"/>
          </a:p>
        </p:txBody>
      </p:sp>
      <p:sp>
        <p:nvSpPr>
          <p:cNvPr id="72" name="Text 70"/>
          <p:cNvSpPr/>
          <p:nvPr/>
        </p:nvSpPr>
        <p:spPr>
          <a:xfrm>
            <a:off x="1986808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Auto</a:t>
            </a:r>
            <a:endParaRPr lang="en-US" sz="700"/>
          </a:p>
        </p:txBody>
      </p:sp>
      <p:sp>
        <p:nvSpPr>
          <p:cNvPr id="73" name="Text 71"/>
          <p:cNvSpPr/>
          <p:nvPr/>
        </p:nvSpPr>
        <p:spPr>
          <a:xfrm>
            <a:off x="3446191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74" name="Text 72"/>
          <p:cNvSpPr/>
          <p:nvPr/>
        </p:nvSpPr>
        <p:spPr>
          <a:xfrm>
            <a:off x="4626864" y="548640"/>
            <a:ext cx="4169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 (17 members)</a:t>
            </a:r>
            <a:endParaRPr lang="en-US" sz="950"/>
          </a:p>
        </p:txBody>
      </p:sp>
      <p:sp>
        <p:nvSpPr>
          <p:cNvPr id="75" name="Shape 73"/>
          <p:cNvSpPr/>
          <p:nvPr/>
        </p:nvSpPr>
        <p:spPr>
          <a:xfrm>
            <a:off x="4626864" y="7680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4626864" y="7680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4681728" y="7680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 White</a:t>
            </a:r>
            <a:endParaRPr lang="en-US" sz="750"/>
          </a:p>
        </p:txBody>
      </p:sp>
      <p:sp>
        <p:nvSpPr>
          <p:cNvPr id="78" name="Text 76"/>
          <p:cNvSpPr/>
          <p:nvPr/>
        </p:nvSpPr>
        <p:spPr>
          <a:xfrm>
            <a:off x="6266200" y="7680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/>
          </a:p>
        </p:txBody>
      </p:sp>
      <p:sp>
        <p:nvSpPr>
          <p:cNvPr id="79" name="Text 77"/>
          <p:cNvSpPr/>
          <p:nvPr/>
        </p:nvSpPr>
        <p:spPr>
          <a:xfrm>
            <a:off x="7725583" y="7680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0" name="Shape 78"/>
          <p:cNvSpPr/>
          <p:nvPr/>
        </p:nvSpPr>
        <p:spPr>
          <a:xfrm>
            <a:off x="4626864" y="987552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626864" y="9875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81728" y="9875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Cassi Key</a:t>
            </a:r>
            <a:endParaRPr lang="en-US" sz="750"/>
          </a:p>
        </p:txBody>
      </p:sp>
      <p:sp>
        <p:nvSpPr>
          <p:cNvPr id="83" name="Text 81"/>
          <p:cNvSpPr/>
          <p:nvPr/>
        </p:nvSpPr>
        <p:spPr>
          <a:xfrm>
            <a:off x="6266200" y="9875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Business</a:t>
            </a:r>
            <a:endParaRPr lang="en-US" sz="700"/>
          </a:p>
        </p:txBody>
      </p:sp>
      <p:sp>
        <p:nvSpPr>
          <p:cNvPr id="84" name="Text 82"/>
          <p:cNvSpPr/>
          <p:nvPr/>
        </p:nvSpPr>
        <p:spPr>
          <a:xfrm>
            <a:off x="7725583" y="9875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85" name="Shape 83"/>
          <p:cNvSpPr/>
          <p:nvPr/>
        </p:nvSpPr>
        <p:spPr>
          <a:xfrm>
            <a:off x="4626864" y="1207008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Shape 84"/>
          <p:cNvSpPr/>
          <p:nvPr/>
        </p:nvSpPr>
        <p:spPr>
          <a:xfrm>
            <a:off x="4626864" y="12070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4681728" y="12070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Harish Chintakuntla</a:t>
            </a:r>
            <a:endParaRPr lang="en-US" sz="750"/>
          </a:p>
        </p:txBody>
      </p:sp>
      <p:sp>
        <p:nvSpPr>
          <p:cNvPr id="88" name="Text 86"/>
          <p:cNvSpPr/>
          <p:nvPr/>
        </p:nvSpPr>
        <p:spPr>
          <a:xfrm>
            <a:off x="6266200" y="12070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89" name="Text 87"/>
          <p:cNvSpPr/>
          <p:nvPr/>
        </p:nvSpPr>
        <p:spPr>
          <a:xfrm>
            <a:off x="7725583" y="12070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90" name="Shape 88"/>
          <p:cNvSpPr/>
          <p:nvPr/>
        </p:nvSpPr>
        <p:spPr>
          <a:xfrm>
            <a:off x="4626864" y="1426464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4626864" y="14264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681728" y="14264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Chirag Gandhi</a:t>
            </a:r>
            <a:endParaRPr lang="en-US" sz="750"/>
          </a:p>
        </p:txBody>
      </p:sp>
      <p:sp>
        <p:nvSpPr>
          <p:cNvPr id="93" name="Text 91"/>
          <p:cNvSpPr/>
          <p:nvPr/>
        </p:nvSpPr>
        <p:spPr>
          <a:xfrm>
            <a:off x="6266200" y="14264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Analyst (R12)</a:t>
            </a:r>
            <a:endParaRPr lang="en-US" sz="700"/>
          </a:p>
        </p:txBody>
      </p:sp>
      <p:sp>
        <p:nvSpPr>
          <p:cNvPr id="94" name="Text 92"/>
          <p:cNvSpPr/>
          <p:nvPr/>
        </p:nvSpPr>
        <p:spPr>
          <a:xfrm>
            <a:off x="7725583" y="14264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25" name="Shape 123"/>
          <p:cNvSpPr/>
          <p:nvPr/>
        </p:nvSpPr>
        <p:spPr>
          <a:xfrm>
            <a:off x="4626864" y="145389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Shape 124"/>
          <p:cNvSpPr/>
          <p:nvPr/>
        </p:nvSpPr>
        <p:spPr>
          <a:xfrm>
            <a:off x="4626864" y="145389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681728" y="145389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Blessing</a:t>
            </a:r>
            <a:endParaRPr lang="en-US" sz="750"/>
          </a:p>
        </p:txBody>
      </p:sp>
      <p:sp>
        <p:nvSpPr>
          <p:cNvPr id="128" name="Text 126"/>
          <p:cNvSpPr/>
          <p:nvPr/>
        </p:nvSpPr>
        <p:spPr>
          <a:xfrm>
            <a:off x="6266200" y="145389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700"/>
          </a:p>
        </p:txBody>
      </p:sp>
      <p:sp>
        <p:nvSpPr>
          <p:cNvPr id="129" name="Text 127"/>
          <p:cNvSpPr/>
          <p:nvPr/>
        </p:nvSpPr>
        <p:spPr>
          <a:xfrm>
            <a:off x="7725583" y="145389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/>
          </a:p>
        </p:txBody>
      </p:sp>
      <p:sp>
        <p:nvSpPr>
          <p:cNvPr id="131" name="Shape 129"/>
          <p:cNvSpPr/>
          <p:nvPr/>
        </p:nvSpPr>
        <p:spPr>
          <a:xfrm>
            <a:off x="4626864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Shape 133"/>
          <p:cNvSpPr/>
          <p:nvPr/>
        </p:nvSpPr>
        <p:spPr>
          <a:xfrm>
            <a:off x="4626864" y="1673352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Shape 134"/>
          <p:cNvSpPr/>
          <p:nvPr/>
        </p:nvSpPr>
        <p:spPr>
          <a:xfrm>
            <a:off x="4626864" y="1673352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Text 135"/>
          <p:cNvSpPr/>
          <p:nvPr/>
        </p:nvSpPr>
        <p:spPr>
          <a:xfrm>
            <a:off x="4681728" y="1673352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Aiswarya H</a:t>
            </a:r>
            <a:endParaRPr lang="en-US" sz="750"/>
          </a:p>
        </p:txBody>
      </p:sp>
      <p:sp>
        <p:nvSpPr>
          <p:cNvPr id="138" name="Text 136"/>
          <p:cNvSpPr/>
          <p:nvPr/>
        </p:nvSpPr>
        <p:spPr>
          <a:xfrm>
            <a:off x="6266200" y="1673352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Lead</a:t>
            </a:r>
            <a:endParaRPr lang="en-US" sz="700"/>
          </a:p>
        </p:txBody>
      </p:sp>
      <p:sp>
        <p:nvSpPr>
          <p:cNvPr id="139" name="Text 137"/>
          <p:cNvSpPr/>
          <p:nvPr/>
        </p:nvSpPr>
        <p:spPr>
          <a:xfrm>
            <a:off x="7725583" y="167335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0" name="Shape 138"/>
          <p:cNvSpPr/>
          <p:nvPr/>
        </p:nvSpPr>
        <p:spPr>
          <a:xfrm>
            <a:off x="4626864" y="1892808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1" name="Shape 139"/>
          <p:cNvSpPr/>
          <p:nvPr/>
        </p:nvSpPr>
        <p:spPr>
          <a:xfrm>
            <a:off x="4626864" y="1892808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681728" y="1892808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Sowmya Shetty</a:t>
            </a:r>
            <a:endParaRPr lang="en-US" sz="750"/>
          </a:p>
        </p:txBody>
      </p:sp>
      <p:sp>
        <p:nvSpPr>
          <p:cNvPr id="143" name="Text 141"/>
          <p:cNvSpPr/>
          <p:nvPr/>
        </p:nvSpPr>
        <p:spPr>
          <a:xfrm>
            <a:off x="6266200" y="1892808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 / R12</a:t>
            </a:r>
            <a:endParaRPr lang="en-US" sz="700"/>
          </a:p>
        </p:txBody>
      </p:sp>
      <p:sp>
        <p:nvSpPr>
          <p:cNvPr id="144" name="Text 142"/>
          <p:cNvSpPr/>
          <p:nvPr/>
        </p:nvSpPr>
        <p:spPr>
          <a:xfrm>
            <a:off x="7725583" y="189280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45" name="Shape 143"/>
          <p:cNvSpPr/>
          <p:nvPr/>
        </p:nvSpPr>
        <p:spPr>
          <a:xfrm>
            <a:off x="4626864" y="2112264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4626864" y="2112264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4681728" y="2112264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Greeshma Balan</a:t>
            </a:r>
            <a:endParaRPr lang="en-US" sz="750"/>
          </a:p>
        </p:txBody>
      </p:sp>
      <p:sp>
        <p:nvSpPr>
          <p:cNvPr id="148" name="Text 146"/>
          <p:cNvSpPr/>
          <p:nvPr/>
        </p:nvSpPr>
        <p:spPr>
          <a:xfrm>
            <a:off x="6266200" y="2112264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49" name="Text 147"/>
          <p:cNvSpPr/>
          <p:nvPr/>
        </p:nvSpPr>
        <p:spPr>
          <a:xfrm>
            <a:off x="7725583" y="2112264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/>
          </a:p>
        </p:txBody>
      </p:sp>
      <p:sp>
        <p:nvSpPr>
          <p:cNvPr id="150" name="Shape 148"/>
          <p:cNvSpPr/>
          <p:nvPr/>
        </p:nvSpPr>
        <p:spPr>
          <a:xfrm>
            <a:off x="4626864" y="2331720"/>
            <a:ext cx="4169664" cy="219456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Shape 149"/>
          <p:cNvSpPr/>
          <p:nvPr/>
        </p:nvSpPr>
        <p:spPr>
          <a:xfrm>
            <a:off x="4626864" y="2331720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2" name="Text 150"/>
          <p:cNvSpPr/>
          <p:nvPr/>
        </p:nvSpPr>
        <p:spPr>
          <a:xfrm>
            <a:off x="4681728" y="2331720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Brahmananda R</a:t>
            </a:r>
            <a:endParaRPr lang="en-US" sz="750"/>
          </a:p>
        </p:txBody>
      </p:sp>
      <p:sp>
        <p:nvSpPr>
          <p:cNvPr id="153" name="Text 151"/>
          <p:cNvSpPr/>
          <p:nvPr/>
        </p:nvSpPr>
        <p:spPr>
          <a:xfrm>
            <a:off x="6266200" y="2331720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/>
          </a:p>
        </p:txBody>
      </p:sp>
      <p:sp>
        <p:nvSpPr>
          <p:cNvPr id="154" name="Text 152"/>
          <p:cNvSpPr/>
          <p:nvPr/>
        </p:nvSpPr>
        <p:spPr>
          <a:xfrm>
            <a:off x="7725583" y="233172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sp>
        <p:nvSpPr>
          <p:cNvPr id="155" name="Shape 153"/>
          <p:cNvSpPr/>
          <p:nvPr/>
        </p:nvSpPr>
        <p:spPr>
          <a:xfrm>
            <a:off x="4626864" y="2551176"/>
            <a:ext cx="4169664" cy="219456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4626864" y="2551176"/>
            <a:ext cx="36576" cy="219456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681728" y="2551176"/>
            <a:ext cx="158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Kavya B N</a:t>
            </a:r>
            <a:endParaRPr lang="en-US" sz="750"/>
          </a:p>
        </p:txBody>
      </p:sp>
      <p:sp>
        <p:nvSpPr>
          <p:cNvPr id="158" name="Text 156"/>
          <p:cNvSpPr/>
          <p:nvPr/>
        </p:nvSpPr>
        <p:spPr>
          <a:xfrm>
            <a:off x="6266200" y="2551176"/>
            <a:ext cx="1459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/>
          </a:p>
        </p:txBody>
      </p:sp>
      <p:sp>
        <p:nvSpPr>
          <p:cNvPr id="159" name="Text 157"/>
          <p:cNvSpPr/>
          <p:nvPr/>
        </p:nvSpPr>
        <p:spPr>
          <a:xfrm>
            <a:off x="7725583" y="2551176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/>
          </a:p>
        </p:txBody>
      </p:sp>
      <p:pic>
        <p:nvPicPr>
          <p:cNvPr id="16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108960"/>
            <a:ext cx="1097280" cy="475488"/>
          </a:xfrm>
          <a:prstGeom prst="rect">
            <a:avLst/>
          </a:prstGeom>
        </p:spPr>
      </p:pic>
      <p:sp>
        <p:nvSpPr>
          <p:cNvPr id="161" name="Text 158"/>
          <p:cNvSpPr/>
          <p:nvPr/>
        </p:nvSpPr>
        <p:spPr>
          <a:xfrm>
            <a:off x="347472" y="32918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600" b="1">
                <a:solidFill>
                  <a:srgbClr val="193255"/>
                </a:solidFill>
                <a:latin typeface="Aptos"/>
              </a:rPr>
              <a:t>DMC / MDP Track - Full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44805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50" b="0">
                <a:solidFill>
                  <a:srgbClr val="5C6670"/>
                </a:solidFill>
                <a:latin typeface="Aptos"/>
              </a:rPr>
              <a:t>Whitespace tightened and former Slide 9 content added here only.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" y="713232"/>
            <a:ext cx="4069080" cy="219456"/>
          </a:xfrm>
          <a:prstGeom prst="roundRect">
            <a:avLst/>
          </a:prstGeom>
          <a:solidFill>
            <a:srgbClr val="2A6FB8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DMC / MDP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713232"/>
            <a:ext cx="4069080" cy="219456"/>
          </a:xfrm>
          <a:prstGeom prst="roundRect">
            <a:avLst/>
          </a:prstGeom>
          <a:solidFill>
            <a:srgbClr val="168B84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Former Slide 9 - WorkSight &amp; R12 Devs / FAs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51560"/>
            <a:ext cx="868680" cy="182880"/>
          </a:xfrm>
          <a:prstGeom prst="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Brian Brockman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1307592" y="1051560"/>
            <a:ext cx="804672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60" b="0">
                <a:solidFill>
                  <a:srgbClr val="193255"/>
                </a:solidFill>
                <a:latin typeface="Aptos"/>
              </a:rPr>
              <a:t>Product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130552" y="1051560"/>
            <a:ext cx="694944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20" b="0">
                <a:solidFill>
                  <a:srgbClr val="5C6670"/>
                </a:solidFill>
                <a:latin typeface="Aptos"/>
              </a:rPr>
              <a:t>Onshore - Trane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051560"/>
            <a:ext cx="868680" cy="182880"/>
          </a:xfrm>
          <a:prstGeom prst="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Bryan Lainhart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1051560"/>
            <a:ext cx="804672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60" b="0">
                <a:solidFill>
                  <a:srgbClr val="193255"/>
                </a:solidFill>
                <a:latin typeface="Aptos"/>
              </a:rPr>
              <a:t>Product Owner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051560"/>
            <a:ext cx="694944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20" b="0">
                <a:solidFill>
                  <a:srgbClr val="5C6670"/>
                </a:solidFill>
                <a:latin typeface="Aptos"/>
              </a:rPr>
              <a:t>Onshore - Trane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39"/>
            <a:ext cx="868680" cy="182880"/>
          </a:xfrm>
          <a:prstGeom prst="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Vipin Saroha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07592" y="1463039"/>
            <a:ext cx="804672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60" b="0">
                <a:solidFill>
                  <a:srgbClr val="193255"/>
                </a:solidFill>
                <a:latin typeface="Aptos"/>
              </a:rPr>
              <a:t>Product Analyst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0552" y="1463039"/>
            <a:ext cx="694944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20" b="0">
                <a:solidFill>
                  <a:srgbClr val="5C6670"/>
                </a:solidFill>
                <a:latin typeface="Aptos"/>
              </a:rPr>
              <a:t>Onshore - Trane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1463039"/>
            <a:ext cx="868680" cy="182880"/>
          </a:xfrm>
          <a:prstGeom prst="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Praveen Gopal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4992" y="1463039"/>
            <a:ext cx="804672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60" b="0">
                <a:solidFill>
                  <a:srgbClr val="193255"/>
                </a:solidFill>
                <a:latin typeface="Aptos"/>
              </a:rPr>
              <a:t>Business 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7952" y="1463039"/>
            <a:ext cx="694944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20" b="0">
                <a:solidFill>
                  <a:srgbClr val="5C6670"/>
                </a:solidFill>
                <a:latin typeface="Aptos"/>
              </a:rPr>
              <a:t>Offshore - Cognizant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874519"/>
            <a:ext cx="868680" cy="182880"/>
          </a:xfrm>
          <a:prstGeom prst="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Snehalata Shidling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07592" y="1874519"/>
            <a:ext cx="804672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60" b="0">
                <a:solidFill>
                  <a:srgbClr val="193255"/>
                </a:solidFill>
                <a:latin typeface="Aptos"/>
              </a:rPr>
              <a:t>Scrum Master / Dev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30552" y="1874519"/>
            <a:ext cx="694944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20" b="0">
                <a:solidFill>
                  <a:srgbClr val="5C6670"/>
                </a:solidFill>
                <a:latin typeface="Aptos"/>
              </a:rPr>
              <a:t>Offshore - Trane-ITC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1874519"/>
            <a:ext cx="868680" cy="182880"/>
          </a:xfrm>
          <a:prstGeom prst="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Mahesh Laddi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1874519"/>
            <a:ext cx="804672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60" b="0">
                <a:solidFill>
                  <a:srgbClr val="193255"/>
                </a:solidFill>
                <a:latin typeface="Aptos"/>
              </a:rPr>
              <a:t>QA - Functional /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7952" y="1874519"/>
            <a:ext cx="694944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20" b="0">
                <a:solidFill>
                  <a:srgbClr val="5C6670"/>
                </a:solidFill>
                <a:latin typeface="Aptos"/>
              </a:rPr>
              <a:t>Offshore -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286000"/>
            <a:ext cx="868680" cy="182880"/>
          </a:xfrm>
          <a:prstGeom prst="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Anusha Gadade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07592" y="2286000"/>
            <a:ext cx="804672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60" b="0">
                <a:solidFill>
                  <a:srgbClr val="193255"/>
                </a:solidFill>
                <a:latin typeface="Aptos"/>
              </a:rPr>
              <a:t>QA - Functional / Automation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30552" y="2286000"/>
            <a:ext cx="694944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20" b="0">
                <a:solidFill>
                  <a:srgbClr val="5C6670"/>
                </a:solidFill>
                <a:latin typeface="Aptos"/>
              </a:rPr>
              <a:t>Offshore - Trane-ITC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2286000"/>
            <a:ext cx="868680" cy="182880"/>
          </a:xfrm>
          <a:prstGeom prst="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Sarala 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64992" y="2286000"/>
            <a:ext cx="804672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60" b="0">
                <a:solidFill>
                  <a:srgbClr val="193255"/>
                </a:solidFill>
                <a:latin typeface="Aptos"/>
              </a:rPr>
              <a:t>QA - Functional / R12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87952" y="2286000"/>
            <a:ext cx="694944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20" b="0">
                <a:solidFill>
                  <a:srgbClr val="5C6670"/>
                </a:solidFill>
                <a:latin typeface="Aptos"/>
              </a:rPr>
              <a:t>Offshore - Trane-ITC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1051560"/>
            <a:ext cx="1188720" cy="182880"/>
          </a:xfrm>
          <a:prstGeom prst="rect">
            <a:avLst/>
          </a:prstGeom>
          <a:solidFill>
            <a:srgbClr val="E1F6F3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Albin Xavier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16752" y="1051560"/>
            <a:ext cx="114300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80" b="0">
                <a:solidFill>
                  <a:srgbClr val="193255"/>
                </a:solidFill>
                <a:latin typeface="Aptos"/>
              </a:rPr>
              <a:t>WorkSight FA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87184" y="1051560"/>
            <a:ext cx="141732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50" b="0">
                <a:solidFill>
                  <a:srgbClr val="5C6670"/>
                </a:solidFill>
                <a:latin typeface="Aptos"/>
              </a:rPr>
              <a:t>Onshore - Cognizant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1435607"/>
            <a:ext cx="1188720" cy="182880"/>
          </a:xfrm>
          <a:prstGeom prst="rect">
            <a:avLst/>
          </a:prstGeom>
          <a:solidFill>
            <a:srgbClr val="E1F6F3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Narayan Kapali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16752" y="1435607"/>
            <a:ext cx="114300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80" b="0">
                <a:solidFill>
                  <a:srgbClr val="193255"/>
                </a:solidFill>
                <a:latin typeface="Aptos"/>
              </a:rPr>
              <a:t>WorkSight FA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87184" y="1435607"/>
            <a:ext cx="141732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50" b="0">
                <a:solidFill>
                  <a:srgbClr val="5C6670"/>
                </a:solidFill>
                <a:latin typeface="Aptos"/>
              </a:rPr>
              <a:t>Onshore - Cognizant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1819655"/>
            <a:ext cx="1188720" cy="182880"/>
          </a:xfrm>
          <a:prstGeom prst="rect">
            <a:avLst/>
          </a:prstGeom>
          <a:solidFill>
            <a:srgbClr val="E1F6F3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Sachin Salvi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16752" y="1819655"/>
            <a:ext cx="114300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80" b="0">
                <a:solidFill>
                  <a:srgbClr val="193255"/>
                </a:solidFill>
                <a:latin typeface="Aptos"/>
              </a:rPr>
              <a:t>R12 FA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87184" y="1819655"/>
            <a:ext cx="141732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50" b="0">
                <a:solidFill>
                  <a:srgbClr val="5C6670"/>
                </a:solidFill>
                <a:latin typeface="Aptos"/>
              </a:rPr>
              <a:t>Onshore - Contractor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00600" y="2203704"/>
            <a:ext cx="1188720" cy="182880"/>
          </a:xfrm>
          <a:prstGeom prst="rect">
            <a:avLst/>
          </a:prstGeom>
          <a:solidFill>
            <a:srgbClr val="E1F6F3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Elizabeth Garcia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16752" y="2203704"/>
            <a:ext cx="114300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80" b="0">
                <a:solidFill>
                  <a:srgbClr val="193255"/>
                </a:solidFill>
                <a:latin typeface="Aptos"/>
              </a:rPr>
              <a:t>R12 FA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87184" y="2203704"/>
            <a:ext cx="141732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50" b="0">
                <a:solidFill>
                  <a:srgbClr val="5C6670"/>
                </a:solidFill>
                <a:latin typeface="Aptos"/>
              </a:rPr>
              <a:t>Onshore - Trane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00600" y="2587752"/>
            <a:ext cx="1188720" cy="182880"/>
          </a:xfrm>
          <a:prstGeom prst="rect">
            <a:avLst/>
          </a:prstGeom>
          <a:solidFill>
            <a:srgbClr val="E1F6F3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Krishna Kumar 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6752" y="2587752"/>
            <a:ext cx="114300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80" b="0">
                <a:solidFill>
                  <a:srgbClr val="193255"/>
                </a:solidFill>
                <a:latin typeface="Aptos"/>
              </a:rPr>
              <a:t>R12 FA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87184" y="2587752"/>
            <a:ext cx="1417320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50" b="0">
                <a:solidFill>
                  <a:srgbClr val="5C6670"/>
                </a:solidFill>
                <a:latin typeface="Aptos"/>
              </a:rPr>
              <a:t>Onshore - Contractor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063240"/>
            <a:ext cx="7909560" cy="219456"/>
          </a:xfrm>
          <a:prstGeom prst="roundRect">
            <a:avLst/>
          </a:prstGeom>
          <a:solidFill>
            <a:srgbClr val="E67E22"/>
          </a:solidFill>
          <a:ln w="1016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Coverage Summary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3310128"/>
            <a:ext cx="7909560" cy="758952"/>
          </a:xfrm>
          <a:prstGeom prst="roundRect">
            <a:avLst/>
          </a:prstGeom>
          <a:solidFill>
            <a:srgbClr val="FFEDDA"/>
          </a:solidFill>
          <a:ln w="1016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700">
                <a:solidFill>
                  <a:srgbClr val="193255"/>
                </a:solidFill>
                <a:latin typeface="Aptos"/>
              </a:defRPr>
            </a:pPr>
            <a:r>
              <a:t>PO / BA / Scrum ownership shown in the top section.</a:t>
            </a:r>
          </a:p>
          <a:p>
            <a:pPr>
              <a:spcAft>
                <a:spcPts val="100"/>
              </a:spcAft>
              <a:defRPr sz="700">
                <a:solidFill>
                  <a:srgbClr val="193255"/>
                </a:solidFill>
                <a:latin typeface="Aptos"/>
              </a:defRPr>
            </a:pPr>
            <a:r>
              <a:t>QA coverage is grouped with DMC / MDP responsibilities.</a:t>
            </a:r>
          </a:p>
          <a:p>
            <a:pPr>
              <a:spcAft>
                <a:spcPts val="100"/>
              </a:spcAft>
              <a:defRPr sz="700">
                <a:solidFill>
                  <a:srgbClr val="193255"/>
                </a:solidFill>
                <a:latin typeface="Aptos"/>
              </a:defRPr>
            </a:pPr>
            <a:r>
              <a:t>WorkSight and R12 FA names from Slide 9 are now included on this slide.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5C6670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&amp; Contracting – QA 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47472" y="502920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Teams 1 &amp; 2 </a:t>
            </a:r>
            <a:endParaRPr lang="en-US" sz="900" b="1" dirty="0">
              <a:solidFill>
                <a:srgbClr val="7030A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347472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02336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Vignesh Sheshababu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86808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 · T1,2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446191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Cognizant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26864" y="74980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626864" y="74980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81728" y="74980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Preeti Khajji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266200" y="74980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25583" y="74980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47472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47472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02336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Srinivasa 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986808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Func/Auto/Perf · T2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446191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26864" y="987552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626864" y="98755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681728" y="98755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Jinu Joy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266200" y="98755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Func/Auto · T2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725583" y="98755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347472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7472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02336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Kumar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986808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46191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4626864" y="1225296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26864" y="122529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681728" y="122529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Rakshita 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66200" y="122529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725583" y="122529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347472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336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Yana Zapanti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86808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446191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26864" y="1463040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626864" y="146304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681728" y="146304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Chatterjee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266200" y="146304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725583" y="146304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47472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347472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02336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Vijitha 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986808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446191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4626864" y="1700784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626864" y="170078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681728" y="170078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Kumari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266200" y="170078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25583" y="170078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47472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347472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02336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Anusha Patnana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986808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446191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626864" y="1938528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4626864" y="193852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681728" y="193852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D 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6266200" y="193852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725583" y="193852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47472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347472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02336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Pramad Manohara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986808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T2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3446191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Trane-ITC-C2H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4626864" y="2176272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4626864" y="2176272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4681728" y="2176272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Sudar Subramanian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266200" y="2176272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725583" y="2176272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347472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347472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402336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Vibin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986808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Auto · T1,2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446191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4626864" y="2414016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8"/>
          <p:cNvSpPr/>
          <p:nvPr/>
        </p:nvSpPr>
        <p:spPr>
          <a:xfrm>
            <a:off x="4626864" y="2414016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Text 79"/>
          <p:cNvSpPr/>
          <p:nvPr/>
        </p:nvSpPr>
        <p:spPr>
          <a:xfrm>
            <a:off x="4681728" y="2414016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Sivakumar R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6266200" y="2414016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7725583" y="241401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47472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Shape 83"/>
          <p:cNvSpPr/>
          <p:nvPr/>
        </p:nvSpPr>
        <p:spPr>
          <a:xfrm>
            <a:off x="347472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02336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Shalini N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986808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3446191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4626864" y="2651760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4626864" y="2651760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4681728" y="2651760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Subhashini S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66200" y="2651760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725583" y="26517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347472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3"/>
          <p:cNvSpPr/>
          <p:nvPr/>
        </p:nvSpPr>
        <p:spPr>
          <a:xfrm>
            <a:off x="347472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02336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Rangesh R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1986808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446191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626864" y="2889504"/>
            <a:ext cx="4169664" cy="237744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4626864" y="2889504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681728" y="2889504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Lakshmi P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266200" y="2889504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7725583" y="2889504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47472" y="3127248"/>
            <a:ext cx="4169664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5" name="Shape 103"/>
          <p:cNvSpPr/>
          <p:nvPr/>
        </p:nvSpPr>
        <p:spPr>
          <a:xfrm>
            <a:off x="347472" y="3127248"/>
            <a:ext cx="36576" cy="237744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02336" y="3127248"/>
            <a:ext cx="158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Ankur Bhattacharjee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986808" y="3127248"/>
            <a:ext cx="14593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Func · T1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3446191" y="312724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Trane-ITC</a:t>
            </a:r>
            <a:endParaRPr lang="en-US" sz="650" dirty="0"/>
          </a:p>
        </p:txBody>
      </p:sp>
      <p:pic>
        <p:nvPicPr>
          <p:cNvPr id="10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110" name="Text 10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1" name="Shape 138">
            <a:extLst>
              <a:ext uri="{FF2B5EF4-FFF2-40B4-BE49-F238E27FC236}">
                <a16:creationId xmlns:a16="http://schemas.microsoft.com/office/drawing/2014/main" id="{867533B2-76B0-CA7A-CBCC-CC47C666F0A1}"/>
              </a:ext>
            </a:extLst>
          </p:cNvPr>
          <p:cNvSpPr/>
          <p:nvPr/>
        </p:nvSpPr>
        <p:spPr>
          <a:xfrm>
            <a:off x="2452309" y="3648456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39">
            <a:extLst>
              <a:ext uri="{FF2B5EF4-FFF2-40B4-BE49-F238E27FC236}">
                <a16:creationId xmlns:a16="http://schemas.microsoft.com/office/drawing/2014/main" id="{644364E0-6BAC-BA44-E108-8C2DB008A033}"/>
              </a:ext>
            </a:extLst>
          </p:cNvPr>
          <p:cNvSpPr/>
          <p:nvPr/>
        </p:nvSpPr>
        <p:spPr>
          <a:xfrm>
            <a:off x="2452309" y="3648456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40">
            <a:extLst>
              <a:ext uri="{FF2B5EF4-FFF2-40B4-BE49-F238E27FC236}">
                <a16:creationId xmlns:a16="http://schemas.microsoft.com/office/drawing/2014/main" id="{15E7DD2A-C233-4D0D-4FD5-77955C57B118}"/>
              </a:ext>
            </a:extLst>
          </p:cNvPr>
          <p:cNvSpPr/>
          <p:nvPr/>
        </p:nvSpPr>
        <p:spPr>
          <a:xfrm>
            <a:off x="2507173" y="3648456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Murcia</a:t>
            </a:r>
            <a:endParaRPr lang="en-US" sz="750" dirty="0"/>
          </a:p>
        </p:txBody>
      </p:sp>
      <p:sp>
        <p:nvSpPr>
          <p:cNvPr id="114" name="Text 141">
            <a:extLst>
              <a:ext uri="{FF2B5EF4-FFF2-40B4-BE49-F238E27FC236}">
                <a16:creationId xmlns:a16="http://schemas.microsoft.com/office/drawing/2014/main" id="{11D10F93-08C3-D807-6099-D55FDEC3A1F6}"/>
              </a:ext>
            </a:extLst>
          </p:cNvPr>
          <p:cNvSpPr/>
          <p:nvPr/>
        </p:nvSpPr>
        <p:spPr>
          <a:xfrm>
            <a:off x="4091645" y="3648456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Scrum Master</a:t>
            </a:r>
            <a:endParaRPr lang="en-US" sz="700" dirty="0"/>
          </a:p>
        </p:txBody>
      </p:sp>
      <p:sp>
        <p:nvSpPr>
          <p:cNvPr id="115" name="Text 142">
            <a:extLst>
              <a:ext uri="{FF2B5EF4-FFF2-40B4-BE49-F238E27FC236}">
                <a16:creationId xmlns:a16="http://schemas.microsoft.com/office/drawing/2014/main" id="{2468DEA5-FA6B-B367-F1F7-BFF3F3F4B514}"/>
              </a:ext>
            </a:extLst>
          </p:cNvPr>
          <p:cNvSpPr/>
          <p:nvPr/>
        </p:nvSpPr>
        <p:spPr>
          <a:xfrm>
            <a:off x="5551028" y="364845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Contractor</a:t>
            </a:r>
            <a:endParaRPr lang="en-US" sz="650" dirty="0"/>
          </a:p>
        </p:txBody>
      </p:sp>
      <p:sp>
        <p:nvSpPr>
          <p:cNvPr id="116" name="Shape 143">
            <a:extLst>
              <a:ext uri="{FF2B5EF4-FFF2-40B4-BE49-F238E27FC236}">
                <a16:creationId xmlns:a16="http://schemas.microsoft.com/office/drawing/2014/main" id="{AB2342D9-0366-7A1F-FDA7-B5EDD9949C75}"/>
              </a:ext>
            </a:extLst>
          </p:cNvPr>
          <p:cNvSpPr/>
          <p:nvPr/>
        </p:nvSpPr>
        <p:spPr>
          <a:xfrm>
            <a:off x="2452309" y="3849624"/>
            <a:ext cx="4169664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Shape 144">
            <a:extLst>
              <a:ext uri="{FF2B5EF4-FFF2-40B4-BE49-F238E27FC236}">
                <a16:creationId xmlns:a16="http://schemas.microsoft.com/office/drawing/2014/main" id="{E31CEC15-3473-9B95-7632-D85A58D042E6}"/>
              </a:ext>
            </a:extLst>
          </p:cNvPr>
          <p:cNvSpPr/>
          <p:nvPr/>
        </p:nvSpPr>
        <p:spPr>
          <a:xfrm>
            <a:off x="2452309" y="3849624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8" name="Text 145">
            <a:extLst>
              <a:ext uri="{FF2B5EF4-FFF2-40B4-BE49-F238E27FC236}">
                <a16:creationId xmlns:a16="http://schemas.microsoft.com/office/drawing/2014/main" id="{3FA3DA98-C763-9463-617E-749E2DE3DD27}"/>
              </a:ext>
            </a:extLst>
          </p:cNvPr>
          <p:cNvSpPr/>
          <p:nvPr/>
        </p:nvSpPr>
        <p:spPr>
          <a:xfrm>
            <a:off x="2507173" y="3849624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Yohalakshmi J</a:t>
            </a:r>
            <a:endParaRPr lang="en-US" sz="750" dirty="0"/>
          </a:p>
        </p:txBody>
      </p:sp>
      <p:sp>
        <p:nvSpPr>
          <p:cNvPr id="119" name="Text 146">
            <a:extLst>
              <a:ext uri="{FF2B5EF4-FFF2-40B4-BE49-F238E27FC236}">
                <a16:creationId xmlns:a16="http://schemas.microsoft.com/office/drawing/2014/main" id="{3469FDE8-1848-A2F2-9138-0946886EF27B}"/>
              </a:ext>
            </a:extLst>
          </p:cNvPr>
          <p:cNvSpPr/>
          <p:nvPr/>
        </p:nvSpPr>
        <p:spPr>
          <a:xfrm>
            <a:off x="4091645" y="3849624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Functional</a:t>
            </a:r>
            <a:endParaRPr lang="en-US" sz="700" dirty="0"/>
          </a:p>
        </p:txBody>
      </p:sp>
      <p:sp>
        <p:nvSpPr>
          <p:cNvPr id="120" name="Text 147">
            <a:extLst>
              <a:ext uri="{FF2B5EF4-FFF2-40B4-BE49-F238E27FC236}">
                <a16:creationId xmlns:a16="http://schemas.microsoft.com/office/drawing/2014/main" id="{929B2146-8121-4D79-7B8B-11DFF02E5BCF}"/>
              </a:ext>
            </a:extLst>
          </p:cNvPr>
          <p:cNvSpPr/>
          <p:nvPr/>
        </p:nvSpPr>
        <p:spPr>
          <a:xfrm>
            <a:off x="5551028" y="384962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1" name="Shape 148">
            <a:extLst>
              <a:ext uri="{FF2B5EF4-FFF2-40B4-BE49-F238E27FC236}">
                <a16:creationId xmlns:a16="http://schemas.microsoft.com/office/drawing/2014/main" id="{3BBE816B-0629-8A26-118D-24E2090FBF4F}"/>
              </a:ext>
            </a:extLst>
          </p:cNvPr>
          <p:cNvSpPr/>
          <p:nvPr/>
        </p:nvSpPr>
        <p:spPr>
          <a:xfrm>
            <a:off x="2452309" y="4050792"/>
            <a:ext cx="4169664" cy="201168"/>
          </a:xfrm>
          <a:prstGeom prst="rect">
            <a:avLst/>
          </a:prstGeom>
          <a:solidFill>
            <a:srgbClr val="FFFFFF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49">
            <a:extLst>
              <a:ext uri="{FF2B5EF4-FFF2-40B4-BE49-F238E27FC236}">
                <a16:creationId xmlns:a16="http://schemas.microsoft.com/office/drawing/2014/main" id="{552CD430-DA4C-E65A-2366-B8E503582AD2}"/>
              </a:ext>
            </a:extLst>
          </p:cNvPr>
          <p:cNvSpPr/>
          <p:nvPr/>
        </p:nvSpPr>
        <p:spPr>
          <a:xfrm>
            <a:off x="2452309" y="4050792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3" name="Text 150">
            <a:extLst>
              <a:ext uri="{FF2B5EF4-FFF2-40B4-BE49-F238E27FC236}">
                <a16:creationId xmlns:a16="http://schemas.microsoft.com/office/drawing/2014/main" id="{74EFB674-22FC-BC98-9335-E736B1E9D2A0}"/>
              </a:ext>
            </a:extLst>
          </p:cNvPr>
          <p:cNvSpPr/>
          <p:nvPr/>
        </p:nvSpPr>
        <p:spPr>
          <a:xfrm>
            <a:off x="2507173" y="4050792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Vivek Patil</a:t>
            </a:r>
            <a:endParaRPr lang="en-US" sz="750" dirty="0"/>
          </a:p>
        </p:txBody>
      </p:sp>
      <p:sp>
        <p:nvSpPr>
          <p:cNvPr id="124" name="Text 151">
            <a:extLst>
              <a:ext uri="{FF2B5EF4-FFF2-40B4-BE49-F238E27FC236}">
                <a16:creationId xmlns:a16="http://schemas.microsoft.com/office/drawing/2014/main" id="{CF4DD83F-3C00-5209-4DC2-70EFC58DF100}"/>
              </a:ext>
            </a:extLst>
          </p:cNvPr>
          <p:cNvSpPr/>
          <p:nvPr/>
        </p:nvSpPr>
        <p:spPr>
          <a:xfrm>
            <a:off x="4091645" y="4050792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– Automation</a:t>
            </a:r>
            <a:endParaRPr lang="en-US" sz="700" dirty="0"/>
          </a:p>
        </p:txBody>
      </p:sp>
      <p:sp>
        <p:nvSpPr>
          <p:cNvPr id="125" name="Text 152">
            <a:extLst>
              <a:ext uri="{FF2B5EF4-FFF2-40B4-BE49-F238E27FC236}">
                <a16:creationId xmlns:a16="http://schemas.microsoft.com/office/drawing/2014/main" id="{EF21A035-C4EC-10A5-A2BB-68A31597E6FC}"/>
              </a:ext>
            </a:extLst>
          </p:cNvPr>
          <p:cNvSpPr/>
          <p:nvPr/>
        </p:nvSpPr>
        <p:spPr>
          <a:xfrm>
            <a:off x="5551028" y="405079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· Cognizant</a:t>
            </a:r>
            <a:endParaRPr lang="en-US" sz="650" dirty="0"/>
          </a:p>
        </p:txBody>
      </p:sp>
      <p:sp>
        <p:nvSpPr>
          <p:cNvPr id="126" name="Shape 153">
            <a:extLst>
              <a:ext uri="{FF2B5EF4-FFF2-40B4-BE49-F238E27FC236}">
                <a16:creationId xmlns:a16="http://schemas.microsoft.com/office/drawing/2014/main" id="{0D57628C-B8DC-794B-DDBA-74D7FE67A969}"/>
              </a:ext>
            </a:extLst>
          </p:cNvPr>
          <p:cNvSpPr/>
          <p:nvPr/>
        </p:nvSpPr>
        <p:spPr>
          <a:xfrm>
            <a:off x="2488885" y="4251960"/>
            <a:ext cx="4133088" cy="201168"/>
          </a:xfrm>
          <a:prstGeom prst="rect">
            <a:avLst/>
          </a:prstGeom>
          <a:solidFill>
            <a:srgbClr val="F3F0FA"/>
          </a:solidFill>
          <a:ln w="381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Shape 154">
            <a:extLst>
              <a:ext uri="{FF2B5EF4-FFF2-40B4-BE49-F238E27FC236}">
                <a16:creationId xmlns:a16="http://schemas.microsoft.com/office/drawing/2014/main" id="{0E83DAD4-3CE4-6447-6DD3-7C2B561CFF91}"/>
              </a:ext>
            </a:extLst>
          </p:cNvPr>
          <p:cNvSpPr/>
          <p:nvPr/>
        </p:nvSpPr>
        <p:spPr>
          <a:xfrm>
            <a:off x="2452309" y="4251960"/>
            <a:ext cx="36576" cy="20116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Text 155">
            <a:extLst>
              <a:ext uri="{FF2B5EF4-FFF2-40B4-BE49-F238E27FC236}">
                <a16:creationId xmlns:a16="http://schemas.microsoft.com/office/drawing/2014/main" id="{89E7CF45-ACAD-A0FC-94A2-B2599B0FC779}"/>
              </a:ext>
            </a:extLst>
          </p:cNvPr>
          <p:cNvSpPr/>
          <p:nvPr/>
        </p:nvSpPr>
        <p:spPr>
          <a:xfrm>
            <a:off x="2507173" y="4251960"/>
            <a:ext cx="1584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Amelia Mann</a:t>
            </a:r>
            <a:endParaRPr lang="en-US" sz="750" dirty="0"/>
          </a:p>
        </p:txBody>
      </p:sp>
      <p:sp>
        <p:nvSpPr>
          <p:cNvPr id="129" name="Text 156">
            <a:extLst>
              <a:ext uri="{FF2B5EF4-FFF2-40B4-BE49-F238E27FC236}">
                <a16:creationId xmlns:a16="http://schemas.microsoft.com/office/drawing/2014/main" id="{E13D2A14-251B-9F61-D5D5-D28CFFBBD821}"/>
              </a:ext>
            </a:extLst>
          </p:cNvPr>
          <p:cNvSpPr/>
          <p:nvPr/>
        </p:nvSpPr>
        <p:spPr>
          <a:xfrm>
            <a:off x="4091645" y="4251960"/>
            <a:ext cx="1459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700" dirty="0"/>
          </a:p>
        </p:txBody>
      </p:sp>
      <p:sp>
        <p:nvSpPr>
          <p:cNvPr id="130" name="Text 157">
            <a:extLst>
              <a:ext uri="{FF2B5EF4-FFF2-40B4-BE49-F238E27FC236}">
                <a16:creationId xmlns:a16="http://schemas.microsoft.com/office/drawing/2014/main" id="{6076CDB1-506B-79EF-A91C-1102FF0ABA21}"/>
              </a:ext>
            </a:extLst>
          </p:cNvPr>
          <p:cNvSpPr/>
          <p:nvPr/>
        </p:nvSpPr>
        <p:spPr>
          <a:xfrm>
            <a:off x="5551028" y="425196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 · Trane</a:t>
            </a:r>
            <a:endParaRPr lang="en-US" sz="6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E28A5AD-726F-E401-56B0-FBF3982030D2}"/>
              </a:ext>
            </a:extLst>
          </p:cNvPr>
          <p:cNvSpPr txBox="1"/>
          <p:nvPr/>
        </p:nvSpPr>
        <p:spPr>
          <a:xfrm>
            <a:off x="2340864" y="336499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Teams </a:t>
            </a:r>
            <a:endParaRPr lang="en-US" sz="900" b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600" b="1">
                <a:solidFill>
                  <a:srgbClr val="193255"/>
                </a:solidFill>
                <a:latin typeface="Aptos"/>
              </a:rPr>
              <a:t>S&amp;C Contracting - POs, BAs, Developers &amp; Scrum (T1 &amp; T2)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44805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50" b="0">
                <a:solidFill>
                  <a:srgbClr val="5C6670"/>
                </a:solidFill>
                <a:latin typeface="Aptos"/>
              </a:rPr>
              <a:t>Grouped by role to remove large gaps and make the slide easier to scan.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" y="713232"/>
            <a:ext cx="4069080" cy="219456"/>
          </a:xfrm>
          <a:prstGeom prst="roundRect">
            <a:avLst/>
          </a:prstGeom>
          <a:solidFill>
            <a:srgbClr val="2A6FB8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PO / BA / 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960120"/>
            <a:ext cx="4069080" cy="1581912"/>
          </a:xfrm>
          <a:prstGeom prst="round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Nikki Johann - Product Owner T2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Bethany Bornheimer - Product Owner T2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Iza Czapnik - IT Product Owner T1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Joe Christian - Business Analyst T2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Rufeeda Khan - Business Analyst T2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Varun Ved - Business Analyst T2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Arvind Gupta - Product Analyst T2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Vishnuraj Jayaraj - Product Analyst T2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713232"/>
            <a:ext cx="4069080" cy="219456"/>
          </a:xfrm>
          <a:prstGeom prst="roundRect">
            <a:avLst/>
          </a:prstGeom>
          <a:solidFill>
            <a:srgbClr val="7058AE"/>
          </a:solidFill>
          <a:ln w="10160">
            <a:solidFill>
              <a:srgbClr val="705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Scrum / PMO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960120"/>
            <a:ext cx="4069080" cy="941832"/>
          </a:xfrm>
          <a:prstGeom prst="roundRect">
            <a:avLst/>
          </a:prstGeom>
          <a:solidFill>
            <a:srgbClr val="EFEAFC"/>
          </a:solidFill>
          <a:ln w="10160">
            <a:solidFill>
              <a:srgbClr val="705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OConnor, Andrew - Scrum Master T2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Diana Blidarescu - Scrum Master T1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Anne Kelly - PMO T1,2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Daniel Brenner - Scrum Master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057400"/>
            <a:ext cx="4069080" cy="219456"/>
          </a:xfrm>
          <a:prstGeom prst="roundRect">
            <a:avLst/>
          </a:prstGeom>
          <a:solidFill>
            <a:srgbClr val="399A5C"/>
          </a:solidFill>
          <a:ln w="10160">
            <a:solidFill>
              <a:srgbClr val="39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Developers / Middleware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304288"/>
            <a:ext cx="4069080" cy="621792"/>
          </a:xfrm>
          <a:prstGeom prst="roundRect">
            <a:avLst/>
          </a:prstGeom>
          <a:solidFill>
            <a:srgbClr val="E5F7EB"/>
          </a:solidFill>
          <a:ln w="10160">
            <a:solidFill>
              <a:srgbClr val="39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Ashish Verma - Fusion Middleware T1,2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Lavanya Nagarajan - Fusion Middleware T1,2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3154680"/>
            <a:ext cx="5120640" cy="219456"/>
          </a:xfrm>
          <a:prstGeom prst="roundRect">
            <a:avLst/>
          </a:prstGeom>
          <a:solidFill>
            <a:srgbClr val="168B84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Tax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3401568"/>
            <a:ext cx="5120640" cy="987552"/>
          </a:xfrm>
          <a:prstGeom prst="roundRect">
            <a:avLst/>
          </a:prstGeom>
          <a:solidFill>
            <a:srgbClr val="E1F6F3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Corinne Kreuger - PO / BA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Sathish Kumar E - Product Analyst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Tushar Joshi - Product Analyst</a:t>
            </a:r>
          </a:p>
          <a:p>
            <a:pPr>
              <a:spcAft>
                <a:spcPts val="100"/>
              </a:spcAft>
              <a:defRPr sz="660">
                <a:solidFill>
                  <a:srgbClr val="193255"/>
                </a:solidFill>
                <a:latin typeface="Aptos"/>
              </a:defRPr>
            </a:pPr>
            <a:r>
              <a:t>Daniel Brenner - Scrum Master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5C6670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600" b="1">
                <a:solidFill>
                  <a:srgbClr val="193255"/>
                </a:solidFill>
                <a:latin typeface="Aptos"/>
              </a:rPr>
              <a:t>S&amp;C Contracting - Team 1 content 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44805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50" b="0">
                <a:solidFill>
                  <a:srgbClr val="5C6670"/>
                </a:solidFill>
                <a:latin typeface="Aptos"/>
              </a:rPr>
              <a:t>Detailed names from this slide are now placed on Slide 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77440" y="1828800"/>
            <a:ext cx="4389120" cy="566928"/>
          </a:xfrm>
          <a:prstGeom prst="roundRect">
            <a:avLst/>
          </a:prstGeom>
          <a:solidFill>
            <a:srgbClr val="E67E22"/>
          </a:solidFill>
          <a:ln w="1016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Moved to Slide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2651760"/>
            <a:ext cx="6126480" cy="365760"/>
          </a:xfrm>
          <a:prstGeom prst="roundRect">
            <a:avLst/>
          </a:prstGeom>
          <a:solidFill>
            <a:srgbClr val="FFEDDA"/>
          </a:solidFill>
          <a:ln w="1016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193255"/>
                </a:solidFill>
                <a:latin typeface="Aptos"/>
              </a:rPr>
              <a:t>This editable marker keeps the original slide numbering while avoiding duplicate content.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5C667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600" b="1">
                <a:solidFill>
                  <a:srgbClr val="193255"/>
                </a:solidFill>
                <a:latin typeface="Aptos"/>
              </a:rPr>
              <a:t>Other Teams - WorkPackage, TSA, TDA, Jobs CoJo, Documents,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44805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50" b="0">
                <a:solidFill>
                  <a:srgbClr val="5C6670"/>
                </a:solidFill>
                <a:latin typeface="Aptos"/>
              </a:rPr>
              <a:t>Rearranged into equal cards to reduce clutter.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" y="713232"/>
            <a:ext cx="2743200" cy="219456"/>
          </a:xfrm>
          <a:prstGeom prst="roundRect">
            <a:avLst/>
          </a:prstGeom>
          <a:solidFill>
            <a:srgbClr val="2A6FB8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WorkPackage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960120"/>
            <a:ext cx="2743200" cy="1444752"/>
          </a:xfrm>
          <a:prstGeom prst="round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Likhith Pateel - QA Lead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Sudha Malbhage - QA Functional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Nitesh Achari - QA Functional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Pradeep K Battula - QA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73552" y="713232"/>
            <a:ext cx="2743200" cy="219456"/>
          </a:xfrm>
          <a:prstGeom prst="roundRect">
            <a:avLst/>
          </a:prstGeom>
          <a:solidFill>
            <a:srgbClr val="168B84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TSA 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3552" y="960120"/>
            <a:ext cx="2743200" cy="1444752"/>
          </a:xfrm>
          <a:prstGeom prst="roundRect">
            <a:avLst/>
          </a:prstGeom>
          <a:solidFill>
            <a:srgbClr val="E1F6F3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Varsha Chitray - QA Lead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Prarthana - QA Functional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Sandhyarani Mothukuri - QA Functional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Aastha Tripathi - QA Func/Auto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Rislow Chad - PA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Christopher Brown / Kristen Dale - PO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713232"/>
            <a:ext cx="2743200" cy="219456"/>
          </a:xfrm>
          <a:prstGeom prst="roundRect">
            <a:avLst/>
          </a:prstGeom>
          <a:solidFill>
            <a:srgbClr val="7058AE"/>
          </a:solidFill>
          <a:ln w="10160">
            <a:solidFill>
              <a:srgbClr val="705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TDA QA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960120"/>
            <a:ext cx="2743200" cy="1444752"/>
          </a:xfrm>
          <a:prstGeom prst="roundRect">
            <a:avLst/>
          </a:prstGeom>
          <a:solidFill>
            <a:srgbClr val="EFEAFC"/>
          </a:solidFill>
          <a:ln w="10160">
            <a:solidFill>
              <a:srgbClr val="705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Naveen H - QA Lead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Navya B R - QA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Manoj Kulkarni - QA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Gurulingappa - QA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Drew Rauvola - Application Owner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Abby Hoolver - Business Owner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" y="2743200"/>
            <a:ext cx="2743200" cy="219456"/>
          </a:xfrm>
          <a:prstGeom prst="roundRect">
            <a:avLst/>
          </a:prstGeom>
          <a:solidFill>
            <a:srgbClr val="E67E22"/>
          </a:solidFill>
          <a:ln w="1016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Jobs CoJo QA &amp; Key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2990088"/>
            <a:ext cx="2743200" cy="1444752"/>
          </a:xfrm>
          <a:prstGeom prst="roundRect">
            <a:avLst/>
          </a:prstGeom>
          <a:solidFill>
            <a:srgbClr val="FFEDDA"/>
          </a:solidFill>
          <a:ln w="1016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Rashmi Ranganath - QA Lead/Scrum Master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Chethana B - QA Functional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Matt Parish - Product Owner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Hasan Al Quasem - IT Product Analyst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2743200"/>
            <a:ext cx="2743200" cy="219456"/>
          </a:xfrm>
          <a:prstGeom prst="roundRect">
            <a:avLst/>
          </a:prstGeom>
          <a:solidFill>
            <a:srgbClr val="399A5C"/>
          </a:solidFill>
          <a:ln w="10160">
            <a:solidFill>
              <a:srgbClr val="39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Documents / DocGen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2990088"/>
            <a:ext cx="2743200" cy="1444752"/>
          </a:xfrm>
          <a:prstGeom prst="roundRect">
            <a:avLst/>
          </a:prstGeom>
          <a:solidFill>
            <a:srgbClr val="E5F7EB"/>
          </a:solidFill>
          <a:ln w="10160">
            <a:solidFill>
              <a:srgbClr val="39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Sandhyarani M - QA Func/Perf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Angela Puent - Product Owner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Brett Meddaugh - Architect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Chandana Gowda - Developer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743200"/>
            <a:ext cx="2743200" cy="219456"/>
          </a:xfrm>
          <a:prstGeom prst="roundRect">
            <a:avLst/>
          </a:prstGeom>
          <a:solidFill>
            <a:srgbClr val="2A6FB8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2990088"/>
            <a:ext cx="2743200" cy="1444752"/>
          </a:xfrm>
          <a:prstGeom prst="round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Kreidermacher, Tara - Scrum Master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Pruner, Kenneth - Project Manager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5C667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09728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6B2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we do – Projects &amp; Applications</a:t>
            </a:r>
            <a:endParaRPr lang="en-US" sz="2000"/>
          </a:p>
        </p:txBody>
      </p:sp>
      <p:sp>
        <p:nvSpPr>
          <p:cNvPr id="3" name="Text 1"/>
          <p:cNvSpPr/>
          <p:nvPr/>
        </p:nvSpPr>
        <p:spPr>
          <a:xfrm>
            <a:off x="347472" y="51206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types: Smoke · System · Regression · Automation · Performance · QA PoC</a:t>
            </a:r>
            <a:endParaRPr lang="en-US" sz="950"/>
          </a:p>
        </p:txBody>
      </p:sp>
      <p:sp>
        <p:nvSpPr>
          <p:cNvPr id="4" name="Shape 2">
            <a:hlinkClick r:id="rId3"/>
          </p:cNvPr>
          <p:cNvSpPr/>
          <p:nvPr/>
        </p:nvSpPr>
        <p:spPr>
          <a:xfrm>
            <a:off x="347472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47472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38912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Trane Select Assist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Varsha Chitray</a:t>
            </a:r>
            <a:endParaRPr lang="en-US" sz="900" dirty="0"/>
          </a:p>
        </p:txBody>
      </p:sp>
      <p:sp>
        <p:nvSpPr>
          <p:cNvPr id="9" name="Shape 7">
            <a:hlinkClick r:id="rId4"/>
          </p:cNvPr>
          <p:cNvSpPr/>
          <p:nvPr/>
        </p:nvSpPr>
        <p:spPr>
          <a:xfrm>
            <a:off x="3127248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3127248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18688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18688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Brinda S </a:t>
            </a:r>
            <a:endParaRPr lang="en-US" sz="900" dirty="0"/>
          </a:p>
        </p:txBody>
      </p:sp>
      <p:sp>
        <p:nvSpPr>
          <p:cNvPr id="14" name="Shape 12">
            <a:hlinkClick r:id="rId5"/>
          </p:cNvPr>
          <p:cNvSpPr/>
          <p:nvPr/>
        </p:nvSpPr>
        <p:spPr>
          <a:xfrm>
            <a:off x="5861304" y="768096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07024" y="768096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98464" y="8412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DMC / MDP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5998464" y="1225296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Mahesh Laddi &amp; Anusha G</a:t>
            </a:r>
            <a:endParaRPr lang="en-US" sz="900"/>
          </a:p>
        </p:txBody>
      </p:sp>
      <p:sp>
        <p:nvSpPr>
          <p:cNvPr id="19" name="Shape 17">
            <a:hlinkClick r:id="rId6"/>
          </p:cNvPr>
          <p:cNvSpPr/>
          <p:nvPr/>
        </p:nvSpPr>
        <p:spPr>
          <a:xfrm>
            <a:off x="347472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47472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38912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&amp; CoJo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438912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Rashmi Ranganath</a:t>
            </a:r>
            <a:endParaRPr lang="en-US" sz="900"/>
          </a:p>
        </p:txBody>
      </p:sp>
      <p:sp>
        <p:nvSpPr>
          <p:cNvPr id="24" name="Shape 22">
            <a:hlinkClick r:id="rId7"/>
          </p:cNvPr>
          <p:cNvSpPr/>
          <p:nvPr/>
        </p:nvSpPr>
        <p:spPr>
          <a:xfrm>
            <a:off x="3127248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127248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18688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Team 1,2 (Tax)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218688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Vignesh </a:t>
            </a:r>
            <a:r>
              <a:rPr lang="en-US" sz="90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Sheshababu</a:t>
            </a: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/Preeti k/Srinivas R</a:t>
            </a:r>
            <a:endParaRPr lang="en-US" sz="900"/>
          </a:p>
        </p:txBody>
      </p:sp>
      <p:sp>
        <p:nvSpPr>
          <p:cNvPr id="29" name="Shape 27">
            <a:hlinkClick r:id="rId8"/>
          </p:cNvPr>
          <p:cNvSpPr/>
          <p:nvPr/>
        </p:nvSpPr>
        <p:spPr>
          <a:xfrm>
            <a:off x="5907024" y="1746504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907024" y="1746504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998464" y="181965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5998464" y="2203704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Naveen H</a:t>
            </a:r>
            <a:endParaRPr lang="en-US" sz="900"/>
          </a:p>
        </p:txBody>
      </p:sp>
      <p:sp>
        <p:nvSpPr>
          <p:cNvPr id="34" name="Shape 32">
            <a:hlinkClick r:id="rId9"/>
          </p:cNvPr>
          <p:cNvSpPr/>
          <p:nvPr/>
        </p:nvSpPr>
        <p:spPr>
          <a:xfrm>
            <a:off x="347472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47472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38912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438912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Likhith Pateel</a:t>
            </a:r>
            <a:endParaRPr lang="en-US" sz="900"/>
          </a:p>
        </p:txBody>
      </p:sp>
      <p:sp>
        <p:nvSpPr>
          <p:cNvPr id="39" name="Shape 37"/>
          <p:cNvSpPr/>
          <p:nvPr/>
        </p:nvSpPr>
        <p:spPr>
          <a:xfrm>
            <a:off x="3127248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3127248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18688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/ DocGen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3218688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Sandhyarani M</a:t>
            </a:r>
            <a:endParaRPr lang="en-US" sz="900"/>
          </a:p>
        </p:txBody>
      </p:sp>
      <p:sp>
        <p:nvSpPr>
          <p:cNvPr id="44" name="Shape 42">
            <a:hlinkClick r:id="rId10"/>
          </p:cNvPr>
          <p:cNvSpPr/>
          <p:nvPr/>
        </p:nvSpPr>
        <p:spPr>
          <a:xfrm>
            <a:off x="5907024" y="2724912"/>
            <a:ext cx="2651760" cy="868680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5907024" y="2724912"/>
            <a:ext cx="50292" cy="868680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998464" y="2798064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998464" y="3182112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PoC: Frank Murcia</a:t>
            </a:r>
            <a:endParaRPr lang="en-US" sz="90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600" b="1">
                <a:solidFill>
                  <a:srgbClr val="193255"/>
                </a:solidFill>
                <a:latin typeface="Aptos"/>
              </a:rPr>
              <a:t>The things you need - Checklist &amp; Application URLs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44805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50" b="0">
                <a:solidFill>
                  <a:srgbClr val="5C6670"/>
                </a:solidFill>
                <a:latin typeface="Aptos"/>
              </a:rPr>
              <a:t>Checklist and URL sections are aligned to a consistent grid.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" y="694944"/>
            <a:ext cx="4069080" cy="219456"/>
          </a:xfrm>
          <a:prstGeom prst="roundRect">
            <a:avLst/>
          </a:prstGeom>
          <a:solidFill>
            <a:srgbClr val="2A6FB8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What you need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87552"/>
            <a:ext cx="1508760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Laptop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8528" y="987552"/>
            <a:ext cx="2395728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FST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71016"/>
            <a:ext cx="1508760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VPN</a:t>
            </a:r>
          </a:p>
        </p:txBody>
      </p:sp>
      <p:sp>
        <p:nvSpPr>
          <p:cNvPr id="8" name="Rectangle 7"/>
          <p:cNvSpPr/>
          <p:nvPr/>
        </p:nvSpPr>
        <p:spPr>
          <a:xfrm>
            <a:off x="1938528" y="1271016"/>
            <a:ext cx="2395728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FST Team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54480"/>
            <a:ext cx="1508760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Headphones / Mouse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8528" y="1554480"/>
            <a:ext cx="2395728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FST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37943"/>
            <a:ext cx="1508760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Administrator 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8528" y="1837943"/>
            <a:ext cx="2395728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ServiceNow Request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121408"/>
            <a:ext cx="1508760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Jira Access / Confluence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38528" y="2121408"/>
            <a:ext cx="2395728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Contact QA Lead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04872"/>
            <a:ext cx="1508760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Java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8528" y="2404872"/>
            <a:ext cx="2395728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ServiceNow - Computer Software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688336"/>
            <a:ext cx="1508760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Eclipse 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38528" y="2688336"/>
            <a:ext cx="2395728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ServiceNow - Computer Software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71800"/>
            <a:ext cx="1508760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Git Bash / GitHub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8528" y="2971800"/>
            <a:ext cx="2395728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ServiceNow - KB0040682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4"/>
            <a:ext cx="1508760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Add to DL's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38528" y="3255264"/>
            <a:ext cx="2395728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ServiceNow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38728"/>
            <a:ext cx="1508760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Add to MS Teams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38528" y="3538728"/>
            <a:ext cx="2395728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MS Teams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822191"/>
            <a:ext cx="1508760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Server / DB Access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38528" y="3822191"/>
            <a:ext cx="2395728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ServiceNow Request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105656"/>
            <a:ext cx="1508760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20" b="1">
                <a:solidFill>
                  <a:srgbClr val="193255"/>
                </a:solidFill>
                <a:latin typeface="Aptos"/>
              </a:rPr>
              <a:t>App URLs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38528" y="4105656"/>
            <a:ext cx="2395728" cy="210312"/>
          </a:xfrm>
          <a:prstGeom prst="rect">
            <a:avLst/>
          </a:prstGeom>
          <a:solidFill>
            <a:srgbClr val="E2EEFB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00" b="0">
                <a:solidFill>
                  <a:srgbClr val="193255"/>
                </a:solidFill>
                <a:latin typeface="Aptos"/>
              </a:rPr>
              <a:t>See right column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45152" y="694944"/>
            <a:ext cx="4160520" cy="219456"/>
          </a:xfrm>
          <a:prstGeom prst="roundRect">
            <a:avLst/>
          </a:prstGeom>
          <a:solidFill>
            <a:srgbClr val="168B84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Application URLs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987552"/>
            <a:ext cx="3977639" cy="173736"/>
          </a:xfrm>
          <a:prstGeom prst="rect">
            <a:avLst/>
          </a:prstGeom>
          <a:solidFill>
            <a:srgbClr val="168B84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40" b="1">
                <a:solidFill>
                  <a:srgbClr val="FFFFFF"/>
                </a:solidFill>
                <a:latin typeface="Aptos"/>
              </a:rPr>
              <a:t>TSA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73168" y="1188720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Dev: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552" y="1188720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dev.traneselectassist.com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73168" y="1389888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Test: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59552" y="1389888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test.traneselectassist.com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73168" y="1591056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Prod: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9552" y="1591056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traneselectassist.com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60" y="1865376"/>
            <a:ext cx="3977639" cy="173736"/>
          </a:xfrm>
          <a:prstGeom prst="rect">
            <a:avLst/>
          </a:prstGeom>
          <a:solidFill>
            <a:srgbClr val="168B84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40" b="1">
                <a:solidFill>
                  <a:srgbClr val="FFFFFF"/>
                </a:solidFill>
                <a:latin typeface="Aptos"/>
              </a:rPr>
              <a:t>TSMT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73168" y="2066544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Dev: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59552" y="2066544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devsalestools.trane.com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73168" y="2267712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Test: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59552" y="2267712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uatsalestools.trane.com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73168" y="2468880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Prod: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59552" y="2468880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salestools.trane.com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2743200"/>
            <a:ext cx="3977639" cy="173736"/>
          </a:xfrm>
          <a:prstGeom prst="rect">
            <a:avLst/>
          </a:prstGeom>
          <a:solidFill>
            <a:srgbClr val="168B84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40" b="1">
                <a:solidFill>
                  <a:srgbClr val="FFFFFF"/>
                </a:solidFill>
                <a:latin typeface="Aptos"/>
              </a:rPr>
              <a:t>MDP/DMC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73168" y="2944368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Dev: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59552" y="2944368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devdmc.trane.com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73168" y="3145536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Test: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59552" y="3145536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uatdmc.trane.com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73168" y="3346704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Prod: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59552" y="3346704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dmc.trane.com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09160" y="3621024"/>
            <a:ext cx="3977639" cy="173736"/>
          </a:xfrm>
          <a:prstGeom prst="rect">
            <a:avLst/>
          </a:prstGeom>
          <a:solidFill>
            <a:srgbClr val="168B84"/>
          </a:solidFill>
          <a:ln w="10160">
            <a:solidFill>
              <a:srgbClr val="168B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640" b="1">
                <a:solidFill>
                  <a:srgbClr val="FFFFFF"/>
                </a:solidFill>
                <a:latin typeface="Aptos"/>
              </a:rPr>
              <a:t>Portals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73168" y="3822192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ServiceNow: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59552" y="3822192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tranetechnologies.service-now.com/sp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73168" y="4023360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Confluence: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59552" y="4023360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tranetis.jira.com/wiki/spaces/TOPSS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73168" y="4224528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GitHub: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59552" y="4224528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github.com/enterprises/tranetechnologies/sso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73168" y="4425696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HR Portal: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59552" y="4425696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tranetechnologies.service-now.com/hrportal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73168" y="4626864"/>
            <a:ext cx="74980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70" b="1">
                <a:solidFill>
                  <a:srgbClr val="193255"/>
                </a:solidFill>
                <a:latin typeface="Aptos"/>
              </a:rPr>
              <a:t>Citrix: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59552" y="4626864"/>
            <a:ext cx="3081528" cy="182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540" b="0">
                <a:solidFill>
                  <a:srgbClr val="193255"/>
                </a:solidFill>
                <a:latin typeface="Aptos"/>
              </a:rPr>
              <a:t>tranecitrix.corp.global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5C6670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472" y="109728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600" b="1">
                <a:solidFill>
                  <a:srgbClr val="193255"/>
                </a:solidFill>
                <a:latin typeface="Aptos"/>
              </a:rPr>
              <a:t>Things to do - KT Plan - Points of Contact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448056"/>
            <a:ext cx="8449056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50" b="0">
                <a:solidFill>
                  <a:srgbClr val="5C6670"/>
                </a:solidFill>
                <a:latin typeface="Aptos"/>
              </a:rPr>
              <a:t>Sections aligned and Equipment point of contact updated.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" y="713232"/>
            <a:ext cx="3246120" cy="219456"/>
          </a:xfrm>
          <a:prstGeom prst="roundRect">
            <a:avLst/>
          </a:prstGeom>
          <a:solidFill>
            <a:srgbClr val="2A6FB8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Onboarding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960120"/>
            <a:ext cx="3246120" cy="1124712"/>
          </a:xfrm>
          <a:prstGeom prst="roundRect">
            <a:avLst/>
          </a:prstGeom>
          <a:solidFill>
            <a:srgbClr val="E2EEFB"/>
          </a:solidFill>
          <a:ln w="10160">
            <a:solidFill>
              <a:srgbClr val="2A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1. Mandatory certifications - HR Portal / LMS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2. Goal setting - HR Portal / Talent Mgmt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3. Complete People Profile - SuccessFactors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4. Update TOPSSQA Site - sharepoint.com/sites/topss.com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5. Apply leave - HR Portal / Leave Mgmt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2331720"/>
            <a:ext cx="3246120" cy="219456"/>
          </a:xfrm>
          <a:prstGeom prst="roundRect">
            <a:avLst/>
          </a:prstGeom>
          <a:solidFill>
            <a:srgbClr val="399A5C"/>
          </a:solidFill>
          <a:ln w="10160">
            <a:solidFill>
              <a:srgbClr val="39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ServiceNow Requests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2578608"/>
            <a:ext cx="3246120" cy="1353312"/>
          </a:xfrm>
          <a:prstGeom prst="roundRect">
            <a:avLst/>
          </a:prstGeom>
          <a:solidFill>
            <a:srgbClr val="E5F7EB"/>
          </a:solidFill>
          <a:ln w="10160">
            <a:solidFill>
              <a:srgbClr val="39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Software: Computer Software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Admin ID / Server: Access Request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GitHub: KB0040682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TOSCA License: RITM0731045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TOSCA Access: RITM0731066</a:t>
            </a:r>
          </a:p>
          <a:p>
            <a:pPr>
              <a:spcAft>
                <a:spcPts val="100"/>
              </a:spcAft>
              <a:defRPr sz="600">
                <a:solidFill>
                  <a:srgbClr val="193255"/>
                </a:solidFill>
                <a:latin typeface="Aptos"/>
              </a:defRPr>
            </a:pPr>
            <a:r>
              <a:t>MDP/DMC: Options 1,5,8,9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2191" y="713232"/>
            <a:ext cx="2331720" cy="219456"/>
          </a:xfrm>
          <a:prstGeom prst="roundRect">
            <a:avLst/>
          </a:prstGeom>
          <a:solidFill>
            <a:srgbClr val="7058AE"/>
          </a:solidFill>
          <a:ln w="10160">
            <a:solidFill>
              <a:srgbClr val="705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KT 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960120"/>
            <a:ext cx="2331720" cy="3319272"/>
          </a:xfrm>
          <a:prstGeom prst="roundRect">
            <a:avLst/>
          </a:prstGeom>
          <a:solidFill>
            <a:srgbClr val="EFEAFC"/>
          </a:solidFill>
          <a:ln w="10160">
            <a:solidFill>
              <a:srgbClr val="705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TSA - Varsha Chitray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Jobs &amp; CoJo - Rashmi Ranganath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Contracting / Tax - Vignesh S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MDP/DMC - Mahesh Laddi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TDA - Naveen H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Performance - Srinivasa R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Selenium (TestNG) - Varsha Chitray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Selenium (Hybrid) - Deepak Chhabria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TOSCA Auto - Team Lead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Work Package - Likhith Pateel</a:t>
            </a:r>
          </a:p>
          <a:p>
            <a:pPr>
              <a:spcAft>
                <a:spcPts val="100"/>
              </a:spcAft>
              <a:defRPr sz="565">
                <a:solidFill>
                  <a:srgbClr val="193255"/>
                </a:solidFill>
                <a:latin typeface="Aptos"/>
              </a:defRPr>
            </a:pPr>
            <a:r>
              <a:t>DocGen - Sandhyarani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82512" y="713232"/>
            <a:ext cx="2423160" cy="219456"/>
          </a:xfrm>
          <a:prstGeom prst="roundRect">
            <a:avLst/>
          </a:prstGeom>
          <a:solidFill>
            <a:srgbClr val="E67E22"/>
          </a:solidFill>
          <a:ln w="1016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Points of Contact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960120"/>
            <a:ext cx="2423160" cy="3319272"/>
          </a:xfrm>
          <a:prstGeom prst="roundRect">
            <a:avLst/>
          </a:prstGeom>
          <a:solidFill>
            <a:srgbClr val="FFEDDA"/>
          </a:solidFill>
          <a:ln w="1016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45720" tIns="36576" bIns="18288"/>
          <a:lstStyle/>
          <a:p>
            <a:pPr algn="l"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TSA - Varsha C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Contracting Team 1 &amp; 2 - Vignesh S / Preeti K / Srinivas R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Jobs &amp; CoJo - Rashmi R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MDP/DMC - Mahesh L / Anusha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TDA - Naveen H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Equipment - Brinda S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Automation - Varsha C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Performance - Srinivasa R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Smoke (Prod) - Mahesh L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Work Package - Likhith P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DocGen - Sandhyarani</a:t>
            </a:r>
          </a:p>
          <a:p>
            <a:pPr>
              <a:spcAft>
                <a:spcPts val="100"/>
              </a:spcAft>
              <a:defRPr sz="545">
                <a:solidFill>
                  <a:srgbClr val="193255"/>
                </a:solidFill>
                <a:latin typeface="Aptos"/>
              </a:defRPr>
            </a:pPr>
            <a:r>
              <a:t>Service - Frank 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5C6670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4592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once again to the team, and hope you have a wonderful journey with us!</a:t>
            </a:r>
            <a:endParaRPr lang="en-US" sz="22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47472" y="48006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4842</TotalTime>
  <Words>1665</Words>
  <Application>Microsoft Office PowerPoint</Application>
  <PresentationFormat>On-screen Show (16:9)</PresentationFormat>
  <Paragraphs>567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Khajji, Preeti</cp:lastModifiedBy>
  <cp:revision>3</cp:revision>
  <dcterms:created xsi:type="dcterms:W3CDTF">2026-05-04T01:27:56Z</dcterms:created>
  <dcterms:modified xsi:type="dcterms:W3CDTF">2026-05-07T16:17:56Z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62845b5-9b70-49d7-b944-decf2d49c436_Enabled">
    <vt:lpwstr>true</vt:lpwstr>
  </property>
  <property fmtid="{D5CDD505-2E9C-101B-9397-08002B2CF9AE}" pid="3" name="MSIP_Label_962845b5-9b70-49d7-b944-decf2d49c436_SetDate">
    <vt:lpwstr>2026-05-04T08:21:12Z</vt:lpwstr>
  </property>
  <property fmtid="{D5CDD505-2E9C-101B-9397-08002B2CF9AE}" pid="4" name="MSIP_Label_962845b5-9b70-49d7-b944-decf2d49c436_Method">
    <vt:lpwstr>Privileged</vt:lpwstr>
  </property>
  <property fmtid="{D5CDD505-2E9C-101B-9397-08002B2CF9AE}" pid="5" name="MSIP_Label_962845b5-9b70-49d7-b944-decf2d49c436_Name">
    <vt:lpwstr>Public</vt:lpwstr>
  </property>
  <property fmtid="{D5CDD505-2E9C-101B-9397-08002B2CF9AE}" pid="6" name="MSIP_Label_962845b5-9b70-49d7-b944-decf2d49c436_SiteId">
    <vt:lpwstr>abf9983b-ca77-4f20-9633-ca9c5a847041</vt:lpwstr>
  </property>
  <property fmtid="{D5CDD505-2E9C-101B-9397-08002B2CF9AE}" pid="7" name="MSIP_Label_962845b5-9b70-49d7-b944-decf2d49c436_ActionId">
    <vt:lpwstr>edce9420-56e3-4e81-bfa9-cf37c5adab1c</vt:lpwstr>
  </property>
  <property fmtid="{D5CDD505-2E9C-101B-9397-08002B2CF9AE}" pid="8" name="MSIP_Label_962845b5-9b70-49d7-b944-decf2d49c436_ContentBits">
    <vt:lpwstr>0</vt:lpwstr>
  </property>
  <property fmtid="{D5CDD505-2E9C-101B-9397-08002B2CF9AE}" pid="9" name="MSIP_Label_962845b5-9b70-49d7-b944-decf2d49c436_Tag">
    <vt:lpwstr>10, 0, 1, 1</vt:lpwstr>
  </property>
</Properties>
</file>