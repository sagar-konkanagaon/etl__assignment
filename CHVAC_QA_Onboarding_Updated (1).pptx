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965960"/>
            <a:ext cx="2743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800" b="0">
                <a:solidFill>
                  <a:srgbClr val="111111"/>
                </a:solidFill>
                <a:latin typeface="Aptos"/>
              </a:rPr>
              <a:t>Welcome to CHVAC</a:t>
            </a:r>
          </a:p>
          <a:p>
            <a:pPr algn="l"/>
            <a:r>
              <a:rPr sz="1800" b="0">
                <a:solidFill>
                  <a:srgbClr val="111111"/>
                </a:solidFill>
                <a:latin typeface="Aptos"/>
              </a:rPr>
              <a:t>QA Core team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4709160" y="164592"/>
            <a:ext cx="1645920" cy="4407408"/>
          </a:xfrm>
          <a:prstGeom prst="line">
            <a:avLst/>
          </a:prstGeom>
          <a:ln w="22860">
            <a:solidFill>
              <a:srgbClr val="6B2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5166360" y="164592"/>
            <a:ext cx="1645920" cy="4407408"/>
          </a:xfrm>
          <a:prstGeom prst="line">
            <a:avLst/>
          </a:prstGeom>
          <a:ln w="22860">
            <a:solidFill>
              <a:srgbClr val="6B2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5623560" y="164592"/>
            <a:ext cx="1645920" cy="4407408"/>
          </a:xfrm>
          <a:prstGeom prst="line">
            <a:avLst/>
          </a:prstGeom>
          <a:ln w="22860">
            <a:solidFill>
              <a:srgbClr val="6B2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1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274320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Welcome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2971800" y="777240"/>
            <a:ext cx="164592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3273552" y="777240"/>
            <a:ext cx="29260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About the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26080" y="978408"/>
            <a:ext cx="329184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2971800" y="1161288"/>
            <a:ext cx="164592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3273552" y="1161288"/>
            <a:ext cx="29260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The work we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26080" y="1362456"/>
            <a:ext cx="329184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971800" y="1545336"/>
            <a:ext cx="164592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545336"/>
            <a:ext cx="29260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The things you need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1746504"/>
            <a:ext cx="329184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971800" y="1929384"/>
            <a:ext cx="164592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3552" y="1929384"/>
            <a:ext cx="29260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The things you need to 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130552"/>
            <a:ext cx="329184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971800" y="2313432"/>
            <a:ext cx="164592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73552" y="2313432"/>
            <a:ext cx="29260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KT 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2514600"/>
            <a:ext cx="329184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971800" y="2697479"/>
            <a:ext cx="164592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00" b="1">
                <a:solidFill>
                  <a:srgbClr val="6B21D4"/>
                </a:solidFill>
                <a:latin typeface="Aptos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73552" y="2697479"/>
            <a:ext cx="29260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00" b="0">
                <a:solidFill>
                  <a:srgbClr val="111111"/>
                </a:solidFill>
                <a:latin typeface="Aptos"/>
              </a:rPr>
              <a:t>Points of Contact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2898648"/>
            <a:ext cx="329184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2</a:t>
            </a:r>
          </a:p>
        </p:txBody>
      </p:sp>
      <p:pic>
        <p:nvPicPr>
          <p:cNvPr id="22" name="Picture 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About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512064"/>
            <a:ext cx="493776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830" b="0">
                <a:solidFill>
                  <a:srgbClr val="111111"/>
                </a:solidFill>
                <a:latin typeface="Aptos"/>
              </a:rPr>
              <a:t>Our team spans USA and India across multiple delivery tracks under the CHVAC IT</a:t>
            </a:r>
          </a:p>
          <a:p>
            <a:pPr algn="l"/>
            <a:r>
              <a:rPr sz="830" b="0">
                <a:solidFill>
                  <a:srgbClr val="111111"/>
                </a:solidFill>
                <a:latin typeface="Aptos"/>
              </a:rPr>
              <a:t>OTC QA practice.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960120"/>
            <a:ext cx="5074920" cy="548640"/>
          </a:xfrm>
          <a:prstGeom prst="rect">
            <a:avLst/>
          </a:prstGeom>
          <a:solidFill>
            <a:srgbClr val="EDE7F6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96696"/>
            <a:ext cx="480060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300" b="1">
                <a:solidFill>
                  <a:srgbClr val="111111"/>
                </a:solidFill>
                <a:latin typeface="Aptos"/>
              </a:rPr>
              <a:t>Ramesh Hegde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4800600" cy="1463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Sr. Manager – QA Leader  ·  WorkSight QA Lead  ·  Trane-ITC  ·  Offshore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627632"/>
            <a:ext cx="49377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50" b="1">
                <a:solidFill>
                  <a:srgbClr val="111111"/>
                </a:solidFill>
                <a:latin typeface="Aptos"/>
              </a:rPr>
              <a:t>Delivery Tracks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56231"/>
            <a:ext cx="4846320" cy="10515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620" b="0">
                <a:solidFill>
                  <a:srgbClr val="111111"/>
                </a:solidFill>
                <a:latin typeface="Aptos"/>
              </a:rPr>
              <a:t>• Equipment (Team A &amp; B)</a:t>
            </a:r>
          </a:p>
          <a:p>
            <a:pPr algn="l"/>
            <a:r>
              <a:rPr sz="620" b="0">
                <a:solidFill>
                  <a:srgbClr val="111111"/>
                </a:solidFill>
                <a:latin typeface="Aptos"/>
              </a:rPr>
              <a:t>• DMC / MDP</a:t>
            </a:r>
          </a:p>
          <a:p>
            <a:pPr algn="l"/>
            <a:r>
              <a:rPr sz="620" b="0">
                <a:solidFill>
                  <a:srgbClr val="111111"/>
                </a:solidFill>
                <a:latin typeface="Aptos"/>
              </a:rPr>
              <a:t>• S&amp;C Contracting (Teams 1 &amp; 2)</a:t>
            </a:r>
          </a:p>
          <a:p>
            <a:pPr algn="l"/>
            <a:r>
              <a:rPr sz="620" b="0">
                <a:solidFill>
                  <a:srgbClr val="111111"/>
                </a:solidFill>
                <a:latin typeface="Aptos"/>
              </a:rPr>
              <a:t>• WorkSight – TSA, WorkPackage, Jobs CoJo, Documents, Service</a:t>
            </a:r>
          </a:p>
          <a:p>
            <a:pPr algn="l"/>
            <a:r>
              <a:rPr sz="620" b="0">
                <a:solidFill>
                  <a:srgbClr val="111111"/>
                </a:solidFill>
                <a:latin typeface="Aptos"/>
              </a:rPr>
              <a:t>• Other Projects – TDA (Trane Design Assist)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87568" y="685800"/>
            <a:ext cx="31089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50" b="1">
                <a:solidFill>
                  <a:srgbClr val="4A148C"/>
                </a:solidFill>
                <a:latin typeface="Aptos"/>
              </a:rPr>
              <a:t>Team at a Glance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7568" y="969264"/>
            <a:ext cx="310896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97296" y="987552"/>
            <a:ext cx="17373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1">
                <a:solidFill>
                  <a:srgbClr val="111111"/>
                </a:solidFill>
                <a:latin typeface="Aptos"/>
              </a:rPr>
              <a:t>Quality Analysts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987552"/>
            <a:ext cx="5029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6B21D4"/>
                </a:solidFill>
                <a:latin typeface="Aptos"/>
              </a:rPr>
              <a:t>25+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87568" y="1243584"/>
            <a:ext cx="3108960" cy="246888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97296" y="1261872"/>
            <a:ext cx="17373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1">
                <a:solidFill>
                  <a:srgbClr val="111111"/>
                </a:solidFill>
                <a:latin typeface="Aptos"/>
              </a:rPr>
              <a:t>Developers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261872"/>
            <a:ext cx="5029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6B21D4"/>
                </a:solidFill>
                <a:latin typeface="Aptos"/>
              </a:rPr>
              <a:t>30+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87568" y="1517904"/>
            <a:ext cx="310896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97296" y="1536192"/>
            <a:ext cx="17373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1">
                <a:solidFill>
                  <a:srgbClr val="111111"/>
                </a:solidFill>
                <a:latin typeface="Aptos"/>
              </a:rPr>
              <a:t>Product Owners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1000" y="1536192"/>
            <a:ext cx="5029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6B21D4"/>
                </a:solidFill>
                <a:latin typeface="Aptos"/>
              </a:rPr>
              <a:t>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87568" y="1792224"/>
            <a:ext cx="3108960" cy="246888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97296" y="1810512"/>
            <a:ext cx="17373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1">
                <a:solidFill>
                  <a:srgbClr val="111111"/>
                </a:solidFill>
                <a:latin typeface="Aptos"/>
              </a:rPr>
              <a:t>Scrum Masters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1810512"/>
            <a:ext cx="5029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87568" y="2066543"/>
            <a:ext cx="310896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97296" y="2084831"/>
            <a:ext cx="17373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1">
                <a:solidFill>
                  <a:srgbClr val="111111"/>
                </a:solidFill>
                <a:latin typeface="Aptos"/>
              </a:rPr>
              <a:t>Func. Analysts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01000" y="2084831"/>
            <a:ext cx="5029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6B21D4"/>
                </a:solidFill>
                <a:latin typeface="Aptos"/>
              </a:rPr>
              <a:t>10+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87568" y="2340864"/>
            <a:ext cx="3108960" cy="246888"/>
          </a:xfrm>
          <a:prstGeom prst="rect">
            <a:avLst/>
          </a:prstGeom>
          <a:solidFill>
            <a:srgbClr val="F3F0FA"/>
          </a:solidFill>
          <a:ln w="635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97296" y="2359152"/>
            <a:ext cx="17373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1">
                <a:solidFill>
                  <a:srgbClr val="111111"/>
                </a:solidFill>
                <a:latin typeface="Aptos"/>
              </a:rPr>
              <a:t>BAs / PAs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2359152"/>
            <a:ext cx="50292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6B21D4"/>
                </a:solidFill>
                <a:latin typeface="Aptos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3</a:t>
            </a:r>
          </a:p>
        </p:txBody>
      </p:sp>
      <p:pic>
        <p:nvPicPr>
          <p:cNvPr id="29" name="Picture 2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457200"/>
            <a:ext cx="7315200" cy="1463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600" b="0">
                <a:solidFill>
                  <a:srgbClr val="777777"/>
                </a:solidFill>
                <a:latin typeface="Aptos"/>
              </a:rPr>
              <a:t>Ramesh Hegde leads WorkSight and TDA sessions. QA leads and sub-items shown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6120" y="822960"/>
            <a:ext cx="2651760" cy="256032"/>
          </a:xfrm>
          <a:prstGeom prst="rect">
            <a:avLst/>
          </a:prstGeom>
          <a:solidFill>
            <a:srgbClr val="4A148C"/>
          </a:solidFill>
          <a:ln w="635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850" b="1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234440" y="1417320"/>
            <a:ext cx="1143000" cy="34747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1417320"/>
            <a:ext cx="36576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71016" y="1426464"/>
            <a:ext cx="10972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600" b="0">
                <a:solidFill>
                  <a:srgbClr val="111111"/>
                </a:solidFill>
                <a:latin typeface="Aptos"/>
              </a:rPr>
              <a:t>WorkSight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1271016" y="1600200"/>
            <a:ext cx="1097280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50" b="1">
                <a:solidFill>
                  <a:srgbClr val="4A148C"/>
                </a:solidFill>
                <a:latin typeface="Aptos"/>
              </a:rPr>
              <a:t>Projects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1271016" y="1728216"/>
            <a:ext cx="1097280" cy="274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37960" y="1417320"/>
            <a:ext cx="1143000" cy="34747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37960" y="1417320"/>
            <a:ext cx="36576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74536" y="1426464"/>
            <a:ext cx="10972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600" b="0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74536" y="1600200"/>
            <a:ext cx="1097280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50" b="1">
                <a:solidFill>
                  <a:srgbClr val="4A148C"/>
                </a:solidFill>
                <a:latin typeface="Aptos"/>
              </a:rPr>
              <a:t>Naveen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74536" y="1728216"/>
            <a:ext cx="1097280" cy="274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90" b="0">
                <a:solidFill>
                  <a:srgbClr val="777777"/>
                </a:solidFill>
                <a:latin typeface="Aptos"/>
              </a:rPr>
              <a:t>QA / Dev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1078992"/>
            <a:ext cx="0" cy="182880"/>
          </a:xfrm>
          <a:prstGeom prst="line">
            <a:avLst/>
          </a:prstGeom>
          <a:ln w="1016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10512" y="1261872"/>
            <a:ext cx="5303520" cy="0"/>
          </a:xfrm>
          <a:prstGeom prst="line">
            <a:avLst/>
          </a:prstGeom>
          <a:ln w="1016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10512" y="1261872"/>
            <a:ext cx="0" cy="155448"/>
          </a:xfrm>
          <a:prstGeom prst="line">
            <a:avLst/>
          </a:prstGeom>
          <a:ln w="1016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114032" y="1261872"/>
            <a:ext cx="0" cy="155448"/>
          </a:xfrm>
          <a:prstGeom prst="line">
            <a:avLst/>
          </a:prstGeom>
          <a:ln w="1016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20040" y="2194560"/>
            <a:ext cx="932688" cy="107899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2194560"/>
            <a:ext cx="36576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6615" y="2203703"/>
            <a:ext cx="88696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Trane</a:t>
            </a:r>
          </a:p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Select Assist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6615" y="2377440"/>
            <a:ext cx="886968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470" b="1">
                <a:solidFill>
                  <a:srgbClr val="4A148C"/>
                </a:solidFill>
                <a:latin typeface="Aptos"/>
              </a:rPr>
              <a:t>Varsha 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5" y="2505456"/>
            <a:ext cx="886968" cy="7589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Functional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Auto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Dev (Trane)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PO – Drew 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89888" y="2194560"/>
            <a:ext cx="932688" cy="107899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89888" y="2194560"/>
            <a:ext cx="36576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6464" y="2203703"/>
            <a:ext cx="88696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Equipment</a:t>
            </a:r>
          </a:p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(R12)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26464" y="2377440"/>
            <a:ext cx="886968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470" b="1">
                <a:solidFill>
                  <a:srgbClr val="4A148C"/>
                </a:solidFill>
                <a:latin typeface="Aptos"/>
              </a:rPr>
              <a:t>Brinda 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26464" y="2505456"/>
            <a:ext cx="886968" cy="7589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Func/R12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Auto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Dev – Oracle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PO – Cami 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59736" y="2194560"/>
            <a:ext cx="932688" cy="107899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59736" y="2194560"/>
            <a:ext cx="36576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96312" y="2203703"/>
            <a:ext cx="88696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96312" y="2377440"/>
            <a:ext cx="886968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470" b="1">
                <a:solidFill>
                  <a:srgbClr val="4A148C"/>
                </a:solidFill>
                <a:latin typeface="Aptos"/>
              </a:rPr>
              <a:t>Mahesh 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96312" y="2505456"/>
            <a:ext cx="886968" cy="7589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Func/Auto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Dev – TL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PO – Brian B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Scrum – Sneha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29584" y="2194560"/>
            <a:ext cx="932688" cy="107899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29584" y="2194560"/>
            <a:ext cx="36576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566160" y="2203703"/>
            <a:ext cx="88696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Jobs &amp;</a:t>
            </a:r>
          </a:p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CoJo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2377440"/>
            <a:ext cx="886968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470" b="1">
                <a:solidFill>
                  <a:srgbClr val="4A148C"/>
                </a:solidFill>
                <a:latin typeface="Aptos"/>
              </a:rPr>
              <a:t>Rashmi 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66160" y="2505456"/>
            <a:ext cx="886968" cy="7589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Functional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Dev – Srikanth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Scrum – Ajay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99431" y="2194560"/>
            <a:ext cx="932688" cy="107899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99431" y="2194560"/>
            <a:ext cx="36576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36007" y="2203703"/>
            <a:ext cx="88696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Pricing</a:t>
            </a:r>
          </a:p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Contracting</a:t>
            </a:r>
          </a:p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(Tax)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36007" y="2377440"/>
            <a:ext cx="886968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470" b="1">
                <a:solidFill>
                  <a:srgbClr val="4A148C"/>
                </a:solidFill>
                <a:latin typeface="Aptos"/>
              </a:rPr>
              <a:t>Vignesh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36007" y="2505456"/>
            <a:ext cx="886968" cy="7589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Func/Auto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Perf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Dev – T1&amp;2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Tax Team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79" y="2194560"/>
            <a:ext cx="932688" cy="107899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79" y="2194560"/>
            <a:ext cx="36576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705855" y="2203703"/>
            <a:ext cx="88696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Work</a:t>
            </a:r>
          </a:p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Package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05855" y="2377440"/>
            <a:ext cx="886968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470" b="1">
                <a:solidFill>
                  <a:srgbClr val="4A148C"/>
                </a:solidFill>
                <a:latin typeface="Aptos"/>
              </a:rPr>
              <a:t>Likhith 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05855" y="2505456"/>
            <a:ext cx="886968" cy="7589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Func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Auto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Dev Team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PO – Kristen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39127" y="2194560"/>
            <a:ext cx="932688" cy="107899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739127" y="2194560"/>
            <a:ext cx="36576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775703" y="2203703"/>
            <a:ext cx="88696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Documents</a:t>
            </a:r>
          </a:p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(DocGen)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5703" y="2377440"/>
            <a:ext cx="886968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470" b="1">
                <a:solidFill>
                  <a:srgbClr val="4A148C"/>
                </a:solidFill>
                <a:latin typeface="Aptos"/>
              </a:rPr>
              <a:t>Sandhyarani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75703" y="2505456"/>
            <a:ext cx="886968" cy="7589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– Func/Perf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Dev – Chandana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PO – Angela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Architect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808975" y="2194560"/>
            <a:ext cx="932688" cy="1078992"/>
          </a:xfrm>
          <a:prstGeom prst="rect">
            <a:avLst/>
          </a:prstGeom>
          <a:solidFill>
            <a:srgbClr val="F3F0FA"/>
          </a:solidFill>
          <a:ln w="6985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808975" y="2194560"/>
            <a:ext cx="36576" cy="10789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45551" y="2203703"/>
            <a:ext cx="886968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520" b="0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845551" y="2377440"/>
            <a:ext cx="886968" cy="137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" rIns="4572" tIns="4572" bIns="4572"/>
          <a:lstStyle/>
          <a:p>
            <a:pPr algn="ctr"/>
            <a:r>
              <a:rPr sz="470" b="1">
                <a:solidFill>
                  <a:srgbClr val="4A148C"/>
                </a:solidFill>
                <a:latin typeface="Aptos"/>
              </a:rPr>
              <a:t>Frank 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45551" y="2505456"/>
            <a:ext cx="886968" cy="7589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" rIns="4572" tIns="4572" bIns="4572"/>
          <a:lstStyle/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QA / Scrum</a:t>
            </a:r>
          </a:p>
          <a:p>
            <a:pPr algn="ctr"/>
            <a:r>
              <a:rPr sz="409" b="0">
                <a:solidFill>
                  <a:srgbClr val="777777"/>
                </a:solidFill>
                <a:latin typeface="Aptos"/>
              </a:rPr>
              <a:t>Service Team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4</a:t>
            </a:r>
          </a:p>
        </p:txBody>
      </p:sp>
      <p:pic>
        <p:nvPicPr>
          <p:cNvPr id="60" name="Picture 59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Equipment Track – Teams A &amp; B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530352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Team A (14 members)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758952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758952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" y="758952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Jaimie Christianson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975104" y="758952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8144" y="758952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946403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946403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" y="946403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Vijay Patti Reddy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75104" y="946403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Functional Analyst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8144" y="946403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1133856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1133856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" y="1133856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Pradeesh Kumar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5104" y="1133856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38144" y="1133856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1321307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1321307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" y="1321307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Saranya Manian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75104" y="1321307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Dev – Front End TL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38144" y="1321307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1508760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1508760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3192" y="1508760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Ukesh Kumar 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75104" y="1508760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Dev – Back End TL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38144" y="1508760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1696212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" y="1696212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3192" y="1696212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Sowmya Yedduri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75104" y="1696212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Full Stack (Invest.)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38144" y="1696212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1883664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7472" y="1883664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" y="1883664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Akanksha Tiwari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75104" y="1883664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38144" y="1883664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2071115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7472" y="2071115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3192" y="2071115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Aatish Bansal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75104" y="2071115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38144" y="2071115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2258568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7472" y="2258568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93192" y="2258568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Abhijith Krishnan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75104" y="2258568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38144" y="2258568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2446020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7472" y="2446020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3192" y="2446020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Nitis S 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75104" y="2446020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38144" y="2446020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" y="2633472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7472" y="2633472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2" y="2633472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Brinda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75104" y="2633472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38144" y="2633472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7472" y="2820924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7472" y="2820924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93192" y="2820924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Devendra 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975104" y="2820924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438144" y="2820924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47472" y="3008376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47472" y="3008376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3192" y="3008376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Praveen Nagaraj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975104" y="3008376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38144" y="3008376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47472" y="3195828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47472" y="3195828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3192" y="3195828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59" b="1">
                <a:solidFill>
                  <a:srgbClr val="111111"/>
                </a:solidFill>
                <a:latin typeface="Aptos"/>
              </a:rPr>
              <a:t>Jashwanth Sai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975104" y="3195828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38144" y="3195828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17720" y="530352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Team B (17 members)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617720" y="758952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617720" y="758952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663440" y="758952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Cami White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45352" y="758952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08392" y="758952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17720" y="937259"/>
            <a:ext cx="4160520" cy="1783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17720" y="937259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663440" y="937259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Cassi Key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45352" y="937259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PO Business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08392" y="937259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17720" y="1115568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617720" y="1115568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663440" y="1115568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Harish Chintakuntla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45352" y="1115568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08392" y="1115568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617720" y="1293876"/>
            <a:ext cx="4160520" cy="1783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617720" y="1293876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663440" y="1293876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Chirag Gandhi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45352" y="1293876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08392" y="1293876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617720" y="1472184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17720" y="1472184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663440" y="1472184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Sundararajan 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45352" y="1472184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Func Analyst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08392" y="1472184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17720" y="1650492"/>
            <a:ext cx="4160520" cy="1783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617720" y="1650492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663440" y="1650492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Karim Mohammed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45352" y="1650492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Func Analyst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708392" y="1650492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617720" y="1828800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17720" y="1828800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663440" y="1828800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Arnab Chakroborty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45352" y="1828800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Dev – Oracle TL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708392" y="1828800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17720" y="2007107"/>
            <a:ext cx="4160520" cy="1783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617720" y="2007107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3440" y="2007107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Chirantan Nandi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45352" y="2007107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Dev – Oracle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708392" y="2007107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617720" y="2185416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17720" y="2185416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663440" y="2185416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Rajvarma Naidu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45352" y="2185416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708392" y="2185416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617720" y="2363724"/>
            <a:ext cx="4160520" cy="1783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17720" y="2363724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663440" y="2363724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Jack Mullen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245352" y="2363724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Full Stack Dev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708392" y="2363724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617720" y="2542032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617720" y="2542032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663440" y="2542032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Blessing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245352" y="2542032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708392" y="2542032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617720" y="2720340"/>
            <a:ext cx="4160520" cy="1783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617720" y="2720340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663440" y="2720340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Deepak Chhabria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245352" y="2720340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708392" y="2720340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4617720" y="2898648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617720" y="2898648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663440" y="2898648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Aiswarya 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245352" y="2898648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708392" y="2898648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617720" y="3076956"/>
            <a:ext cx="4160520" cy="1783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617720" y="3076956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3440" y="3076956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Sowmya Shetty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245352" y="3076956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708392" y="3076956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4617720" y="3255264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617720" y="3255264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663440" y="3255264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Greeshma Balan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245352" y="3255264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708392" y="3255264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617720" y="3433572"/>
            <a:ext cx="4160520" cy="17830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17720" y="3433572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63440" y="3433572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Brahmananda R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245352" y="3433572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708392" y="3433572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617720" y="3611880"/>
            <a:ext cx="4160520" cy="17830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617720" y="3611880"/>
            <a:ext cx="32004" cy="1783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663440" y="3611880"/>
            <a:ext cx="1581912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34" b="1">
                <a:solidFill>
                  <a:srgbClr val="111111"/>
                </a:solidFill>
                <a:latin typeface="Aptos"/>
              </a:rPr>
              <a:t>Kavya B N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3611880"/>
            <a:ext cx="1463040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708392" y="3611880"/>
            <a:ext cx="1042415" cy="1783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55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5</a:t>
            </a:r>
          </a:p>
        </p:txBody>
      </p:sp>
      <p:pic>
        <p:nvPicPr>
          <p:cNvPr id="161" name="Picture 160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658368"/>
            <a:ext cx="4160520" cy="21031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7472" y="658368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3192" y="658368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Brian Brockman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75104" y="658368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438144" y="658368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868680"/>
            <a:ext cx="4160520" cy="21031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868680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3192" y="868680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Bryan Lainhart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75104" y="868680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8144" y="868680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078992"/>
            <a:ext cx="4160520" cy="21031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1078992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3192" y="1078992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Vipin Saroha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5104" y="1078992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38144" y="1078992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1289304"/>
            <a:ext cx="4160520" cy="21031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1289304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" y="1289304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Praveen Gopal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75104" y="1289304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Business Analyst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38144" y="1289304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1499616"/>
            <a:ext cx="4160520" cy="21031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" y="1499616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" y="1499616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Snehalata Shidling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75104" y="1499616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Scrum Master / 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38144" y="1499616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1709928"/>
            <a:ext cx="4160520" cy="21031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1709928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" y="1709928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Irfan Khan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75104" y="1709928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Dev – Tech Lead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38144" y="1709928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1920240"/>
            <a:ext cx="4160520" cy="21031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7472" y="1920240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3192" y="1920240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Vrushali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75104" y="1920240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38144" y="1920240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658368"/>
            <a:ext cx="4160520" cy="21031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17720" y="658368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658368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Kanika Gupta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5352" y="658368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08392" y="658368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868680"/>
            <a:ext cx="4160520" cy="21031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17720" y="868680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63440" y="868680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Shivaraj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45352" y="868680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08392" y="868680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17720" y="1078992"/>
            <a:ext cx="4160520" cy="21031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617720" y="1078992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663440" y="1078992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Brock Hansen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45352" y="1078992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Dev – Intern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08392" y="1078992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1289304"/>
            <a:ext cx="4160520" cy="21031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617720" y="1289304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63440" y="1289304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Ethan Wateski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5352" y="1289304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Dev – Intern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08392" y="1289304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617720" y="1499616"/>
            <a:ext cx="4160520" cy="21031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617720" y="1499616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63440" y="1499616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45352" y="1499616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08392" y="1499616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17720" y="1709928"/>
            <a:ext cx="4160520" cy="21031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617720" y="1709928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63440" y="1709928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Anusha Gadade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5352" y="1709928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08392" y="1709928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17720" y="1920240"/>
            <a:ext cx="4160520" cy="21031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17720" y="1920240"/>
            <a:ext cx="32004" cy="21031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63440" y="1920240"/>
            <a:ext cx="1581912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70" b="1">
                <a:solidFill>
                  <a:srgbClr val="111111"/>
                </a:solidFill>
                <a:latin typeface="Aptos"/>
              </a:rPr>
              <a:t>Sarala 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1920240"/>
            <a:ext cx="14630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08392" y="1920240"/>
            <a:ext cx="1042415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47472" y="2423160"/>
            <a:ext cx="841248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72" y="2679192"/>
            <a:ext cx="4160520" cy="18288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47472" y="267919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93192" y="267919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975104" y="267919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438144" y="267919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47472" y="2862072"/>
            <a:ext cx="4160520" cy="18288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47472" y="286207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3192" y="286207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975104" y="286207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438144" y="286207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47472" y="3044952"/>
            <a:ext cx="4160520" cy="18288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47472" y="304495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3192" y="304495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975104" y="304495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438144" y="304495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47472" y="3227832"/>
            <a:ext cx="4160520" cy="18288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47472" y="322783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3192" y="322783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975104" y="322783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38144" y="322783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47472" y="3410712"/>
            <a:ext cx="4160520" cy="18288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47472" y="341071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93192" y="341071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975104" y="341071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438144" y="341071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617720" y="2679192"/>
            <a:ext cx="4160520" cy="18288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617720" y="267919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663440" y="267919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Suresh 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245352" y="267919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708392" y="267919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17720" y="2862072"/>
            <a:ext cx="4160520" cy="18288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617720" y="286207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63440" y="286207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Bharathi N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86207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708392" y="286207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617720" y="3044952"/>
            <a:ext cx="4160520" cy="18288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617720" y="304495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663440" y="304495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Nagarajan 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245352" y="304495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08392" y="304495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617720" y="3227832"/>
            <a:ext cx="4160520" cy="18288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617720" y="322783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663440" y="322783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Periadurai 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245352" y="322783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708392" y="322783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617720" y="3410712"/>
            <a:ext cx="4160520" cy="18288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617720" y="3410712"/>
            <a:ext cx="32004" cy="18288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3440" y="3410712"/>
            <a:ext cx="1581912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09" b="1">
                <a:solidFill>
                  <a:srgbClr val="111111"/>
                </a:solidFill>
                <a:latin typeface="Aptos"/>
              </a:rPr>
              <a:t>Jayesh Dey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45352" y="3410712"/>
            <a:ext cx="14630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708392" y="3410712"/>
            <a:ext cx="1042415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6</a:t>
            </a:r>
          </a:p>
        </p:txBody>
      </p:sp>
      <p:pic>
        <p:nvPicPr>
          <p:cNvPr id="125" name="Picture 124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Service &amp; Contracting – QA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502920"/>
            <a:ext cx="841248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Contracting Teams 1 &amp; 2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731520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731520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" y="731520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Vignesh Sheshababu</a:t>
            </a:r>
          </a:p>
        </p:txBody>
      </p:sp>
      <p:sp>
        <p:nvSpPr>
          <p:cNvPr id="7" name="Rectangle 6"/>
          <p:cNvSpPr/>
          <p:nvPr/>
        </p:nvSpPr>
        <p:spPr>
          <a:xfrm>
            <a:off x="1975104" y="731520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Lead · T1,2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8144" y="731520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918972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918972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" y="918972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Preeti Khajji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75104" y="918972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8144" y="918972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1106424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1106424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" y="1106424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Srinivasa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5104" y="1106424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Func/Auto/Perf · 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38144" y="1106424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1293876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1293876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" y="1293876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Jinu Joy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75104" y="1293876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38144" y="1293876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1481328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1481328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93192" y="1481328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Ajay Kumar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75104" y="1481328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38144" y="1481328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1668780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" y="1668780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3192" y="1668780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Rakshita 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75104" y="1668780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38144" y="1668780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1856232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7472" y="1856232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" y="1856232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Yana Zapanti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75104" y="1856232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38144" y="1856232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2043684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7472" y="2043684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93192" y="2043684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Amrit Chatterjee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75104" y="2043684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38144" y="2043684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2231136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7472" y="2231136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93192" y="2231136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Vijitha 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975104" y="2231136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38144" y="2231136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2418588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7472" y="2418588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3192" y="2418588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Pragati Kumari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975104" y="2418588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38144" y="2418588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" y="2606039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47472" y="2606039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93192" y="2606039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Anusha Patnana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975104" y="2606039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38144" y="2606039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617720" y="731520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617720" y="731520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663440" y="731520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Pavan D 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45352" y="731520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08392" y="731520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617720" y="918972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17720" y="918972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663440" y="918972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Pramad Manohara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45352" y="918972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08392" y="918972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17720" y="1106424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17720" y="1106424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663440" y="1106424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Sudar Subramanian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45352" y="1106424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08392" y="1106424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617720" y="1293876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17720" y="1293876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663440" y="1293876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Vibin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5352" y="1293876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708392" y="1293876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617720" y="1481328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17720" y="1481328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663440" y="1481328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Sivakumar 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45352" y="1481328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708392" y="1481328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617720" y="1668780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17720" y="1668780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663440" y="1668780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Shalini 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245352" y="1668780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08392" y="1668780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17720" y="1856232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17720" y="1856232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663440" y="1856232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Subhashini 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245352" y="1856232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708392" y="1856232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17720" y="2043684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17720" y="2043684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63440" y="2043684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Rangesh 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45352" y="2043684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708392" y="2043684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617720" y="2231136"/>
            <a:ext cx="4160520" cy="18745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617720" y="2231136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663440" y="2231136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Lakshmi P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245352" y="2231136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708392" y="2231136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617720" y="2418588"/>
            <a:ext cx="4160520" cy="18745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617720" y="2418588"/>
            <a:ext cx="32004" cy="18745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663440" y="2418588"/>
            <a:ext cx="1581912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Ankur Bhattacharjee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418588"/>
            <a:ext cx="1463040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708392" y="2418588"/>
            <a:ext cx="1042415" cy="18745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514600" y="3520440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Service Teams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514600" y="3749039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14600" y="3749039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560320" y="3749039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Frank Murcia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42231" y="3749039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/ Scrum Master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05271" y="3749039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514600" y="3922776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514600" y="392277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560320" y="392277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Yohalakshmi J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42231" y="392277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605271" y="392277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514600" y="4096511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514600" y="4096511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560320" y="4096511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Vivek Patil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142231" y="4096511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605271" y="4096511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514600" y="4270248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514600" y="427024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2560320" y="427024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Amelia Mann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142231" y="427024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605271" y="427024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514600" y="4443983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14600" y="4443983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560320" y="4443983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Kevin Efurd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142231" y="4443983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Dev Tech Lead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605271" y="4443983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514600" y="4617720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514600" y="461772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560320" y="461772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Jessica Ly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142231" y="461772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0">
                <a:solidFill>
                  <a:srgbClr val="6B21D4"/>
                </a:solidFill>
                <a:latin typeface="Aptos"/>
              </a:rPr>
              <a:t>Dev Tech Lead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5605271" y="461772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7</a:t>
            </a:r>
          </a:p>
        </p:txBody>
      </p:sp>
      <p:pic>
        <p:nvPicPr>
          <p:cNvPr id="141" name="Picture 140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S&amp;C Contracting – POs, BAs, Developers &amp; Scrum (T1 &amp; 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640080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7472" y="640080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3192" y="640080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Nikki Johann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75104" y="640080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3438144" y="640080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809244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809244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3192" y="809244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Bethany Bornheimer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75104" y="809244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8144" y="809244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78407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78407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3192" y="978407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Iza Czapnik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5104" y="978407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IT Product Owner · T1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38144" y="978407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1147572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1147572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" y="1147572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Joe Christian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75104" y="1147572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38144" y="1147572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1316736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" y="1316736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" y="1316736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Rufeeda Khan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75104" y="1316736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38144" y="1316736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1485900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1485900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" y="1485900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Varun 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75104" y="1485900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38144" y="1485900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1655063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7472" y="1655063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3192" y="1655063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Arvind Gupta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75104" y="1655063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38144" y="1655063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" y="1824228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7472" y="1824228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2" y="1824228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Vishnuraj Jayaraj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75104" y="1824228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38144" y="1824228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1993391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472" y="1993391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3192" y="1993391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75104" y="1993391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Scrum Master · T2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38144" y="1993391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2162556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47472" y="2162556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3192" y="2162556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Diana Blidarescu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75104" y="2162556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Scrum Master · T1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38144" y="2162556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Slalom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" y="2331720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" y="2331720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3192" y="2331720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Ashish Verma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75104" y="2331720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38144" y="2331720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7472" y="2500884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7472" y="2500884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93192" y="2500884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Lavanya Nagarajan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75104" y="2500884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38144" y="2500884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617720" y="640080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617720" y="640080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663440" y="640080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Hannah O'Connor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5352" y="640080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08392" y="640080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17720" y="809244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17720" y="809244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663440" y="809244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Anne Kelly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809244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708392" y="809244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978407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17720" y="978407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63440" y="978407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Prabakaran 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45352" y="978407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Tech Lead · T2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08392" y="978407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17720" y="1147572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617720" y="1147572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3440" y="1147572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John Jeyasingh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45352" y="1147572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Offshore Lead · T2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08392" y="1147572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617720" y="1316736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617720" y="1316736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63440" y="1316736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Rishad 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45352" y="1316736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08392" y="1316736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617720" y="1485900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17720" y="1485900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63440" y="1485900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Pratiksha Kalamkar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245352" y="1485900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08392" y="1485900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1655063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617720" y="1655063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63440" y="1655063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Pradnya Khutwad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45352" y="1655063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708392" y="1655063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17720" y="1824228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617720" y="1824228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663440" y="1824228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Dhanasekara P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245352" y="1824228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708392" y="1824228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617720" y="1993391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617720" y="1993391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663440" y="1993391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Praveen Ponnada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245352" y="1993391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708392" y="1993391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617720" y="2162556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617720" y="2162556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663440" y="2162556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Kirupa Selvam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45352" y="2162556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08392" y="2162556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617720" y="2331720"/>
            <a:ext cx="4160520" cy="16916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617720" y="2331720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663440" y="2331720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Keerthana 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245352" y="2331720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708392" y="2331720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617720" y="2500884"/>
            <a:ext cx="4160520" cy="16916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617720" y="2500884"/>
            <a:ext cx="32004" cy="1691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663440" y="2500884"/>
            <a:ext cx="1581912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Sowmya V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245352" y="2500884"/>
            <a:ext cx="1463040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 Full Stack · T2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08392" y="2500884"/>
            <a:ext cx="1042415" cy="1691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43200" y="3913632"/>
            <a:ext cx="34747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Tax Team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743200" y="4133087"/>
            <a:ext cx="3474720" cy="1645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743200" y="4133087"/>
            <a:ext cx="32004" cy="1645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788920" y="4133087"/>
            <a:ext cx="1234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Corinne Kreuger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023360" y="4133087"/>
            <a:ext cx="1234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PO / BA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257800" y="4133087"/>
            <a:ext cx="91440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743200" y="4297679"/>
            <a:ext cx="3474720" cy="1645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743200" y="4297679"/>
            <a:ext cx="32004" cy="1645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788920" y="4297679"/>
            <a:ext cx="1234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Sathish Kumar 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023360" y="4297679"/>
            <a:ext cx="1234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257800" y="4297679"/>
            <a:ext cx="91440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2743200" y="4462272"/>
            <a:ext cx="3474720" cy="164592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743200" y="4462272"/>
            <a:ext cx="32004" cy="1645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788920" y="4462272"/>
            <a:ext cx="1234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Tushar Joshi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023360" y="4462272"/>
            <a:ext cx="1234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5257800" y="4462272"/>
            <a:ext cx="91440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743200" y="4626864"/>
            <a:ext cx="3474720" cy="164592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743200" y="4626864"/>
            <a:ext cx="32004" cy="16459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788920" y="4626864"/>
            <a:ext cx="1234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023360" y="4626864"/>
            <a:ext cx="1234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257800" y="4626864"/>
            <a:ext cx="91440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8</a:t>
            </a:r>
          </a:p>
        </p:txBody>
      </p:sp>
      <p:pic>
        <p:nvPicPr>
          <p:cNvPr id="145" name="Picture 144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621792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7472" y="62179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3192" y="62179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975104" y="62179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" name="Rectangle 6"/>
          <p:cNvSpPr/>
          <p:nvPr/>
        </p:nvSpPr>
        <p:spPr>
          <a:xfrm>
            <a:off x="3438144" y="62179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795528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79552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3192" y="79552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75104" y="79552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8144" y="79552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69264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6926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93192" y="96926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5104" y="96926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38144" y="96926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1143000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114300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" y="114300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75104" y="114300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38144" y="114300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1316736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" y="131673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" y="131673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75104" y="131673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38144" y="131673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1490472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149047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3192" y="149047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Suresh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75104" y="149047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38144" y="149047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1664208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7472" y="166420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93192" y="166420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Bharathi 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75104" y="166420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38144" y="166420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" y="1837944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47472" y="183794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2" y="183794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Nagarajan 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975104" y="183794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 Lead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38144" y="183794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2011680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472" y="201168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3192" y="201168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Periadurai 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75104" y="201168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38144" y="201168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2185416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47472" y="218541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3192" y="218541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Jayesh Dey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75104" y="218541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38144" y="218541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" y="2359152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" y="235915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3192" y="23591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Venkat 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75104" y="23591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38144" y="23591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47472" y="2532888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7472" y="253288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93192" y="253288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Bharathi 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75104" y="253288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38144" y="253288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47472" y="2706624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47472" y="270662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93192" y="270662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Karthik 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975104" y="270662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38144" y="270662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72" y="2880360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47472" y="288036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93192" y="288036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Rishabh Soti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75104" y="288036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438144" y="288036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621792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17720" y="62179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663440" y="62179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Vinay Thorat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45352" y="62179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08392" y="62179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17720" y="795528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617720" y="79552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663440" y="79552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Manoj J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45352" y="79552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08392" y="79552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617720" y="969264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617720" y="96926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663440" y="96926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Kalyan Paladugu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45352" y="96926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708392" y="96926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617720" y="1143000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17720" y="114300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663440" y="114300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Yamuna 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245352" y="114300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WorkSight Dev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708392" y="114300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1316736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617720" y="131673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663440" y="131673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Chinna B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45352" y="131673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708392" y="131673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17720" y="1490472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617720" y="149047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663440" y="149047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Siva Chilamakuri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245352" y="149047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708392" y="149047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617720" y="1664208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617720" y="166420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663440" y="166420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Sourabh B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245352" y="166420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R12 Dev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708392" y="166420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617720" y="1837944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617720" y="183794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663440" y="183794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Rohan Kollipara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45352" y="183794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08392" y="183794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617720" y="2011680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617720" y="201168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663440" y="201168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Raghu Maity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245352" y="201168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708392" y="201168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617720" y="2185416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617720" y="218541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663440" y="218541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Satheesh Kutuva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245352" y="218541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08392" y="218541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617720" y="2359152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17720" y="235915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63440" y="235915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Soumen Ghosh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245352" y="235915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708392" y="235915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617720" y="2532888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617720" y="253288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663440" y="253288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Santhosh R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245352" y="253288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Dev – R12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708392" y="253288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617720" y="2706624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617720" y="270662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4663440" y="270662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70" b="1">
                <a:solidFill>
                  <a:srgbClr val="111111"/>
                </a:solidFill>
                <a:latin typeface="Aptos"/>
              </a:rPr>
              <a:t>Sharanappa S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270662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3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708392" y="270662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0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9</a:t>
            </a:r>
          </a:p>
        </p:txBody>
      </p:sp>
      <p:pic>
        <p:nvPicPr>
          <p:cNvPr id="139" name="Picture 13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621792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WorkPackage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822960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82296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3192" y="82296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Likhith Pateel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975104" y="82296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8144" y="82296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996696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99669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" y="99669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Sudha Malbhage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75104" y="99669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38144" y="99669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1170432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117043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" y="117043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Nitesh Achari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75104" y="117043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38144" y="117043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1344168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134416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" y="134416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Pradeep K Battula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75104" y="134416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38144" y="134416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1691640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TSA QA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1892808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" y="189280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93192" y="189280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Varsha Chitray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75104" y="189280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38144" y="189280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2066544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" y="206654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3192" y="206654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Prarthana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75104" y="206654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38144" y="206654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2240280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" y="224028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3192" y="224028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Sagar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975104" y="224028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38144" y="224028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2414016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7472" y="241401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3192" y="241401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Aastha Tripathi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75104" y="241401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– Func/Auto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38144" y="241401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2788920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TDA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" y="2990088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" y="299008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2" y="299008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Naveen 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75104" y="299008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38144" y="299008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" y="3163824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" y="316382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93192" y="316382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Navya B 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75104" y="316382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38144" y="316382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" y="3337560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" y="333756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93192" y="333756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Manoj Kulkarni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75104" y="333756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438144" y="333756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47472" y="3511296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47472" y="351129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3192" y="351129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Gurulingappa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975104" y="351129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38144" y="351129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17720" y="621792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Jobs CoJo QA &amp; Key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617720" y="822960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17720" y="82296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663440" y="82296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Rashmi Ranganath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45352" y="82296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08392" y="82296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17720" y="996696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17720" y="99669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663440" y="99669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Chethana 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45352" y="99669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708392" y="99669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17720" y="1170432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617720" y="117043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663440" y="117043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Ajay Shankar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45352" y="117043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708392" y="117043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17720" y="1344168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617720" y="134416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663440" y="134416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Shrideepa Sharath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45352" y="134416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708392" y="134416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617720" y="1517904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617720" y="1517904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3440" y="1517904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Matt Parish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45352" y="1517904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08392" y="1517904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17720" y="1691640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617720" y="169164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663440" y="169164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Hasan Al Quasem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245352" y="169164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IT Prod Analyst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708392" y="169164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617720" y="2176272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Documents / DocGen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617720" y="2377440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617720" y="2377440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663440" y="2377440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Sandhyarani M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245352" y="2377440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QA – Func/Perf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708392" y="2377440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4617720" y="2551176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617720" y="255117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663440" y="255117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Angela Puent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245352" y="255117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708392" y="255117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617720" y="2724912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617720" y="272491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663440" y="272491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Brett Meddaugh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245352" y="272491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Architect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08392" y="272491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617720" y="2898648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617720" y="2898648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663440" y="2898648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Chandana Gowda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245352" y="2898648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708392" y="2898648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617720" y="3310128"/>
            <a:ext cx="41605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Service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617720" y="3511296"/>
            <a:ext cx="4160520" cy="17373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617720" y="3511296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3440" y="3511296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Kreidermacher, Tara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45352" y="3511296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708392" y="3511296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617720" y="3685032"/>
            <a:ext cx="4160520" cy="17373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617720" y="3685032"/>
            <a:ext cx="32004" cy="17373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663440" y="3685032"/>
            <a:ext cx="158191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80" b="1">
                <a:solidFill>
                  <a:srgbClr val="111111"/>
                </a:solidFill>
                <a:latin typeface="Aptos"/>
              </a:rPr>
              <a:t>Pruner, Kenneth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245352" y="3685032"/>
            <a:ext cx="146304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40" b="0">
                <a:solidFill>
                  <a:srgbClr val="6B21D4"/>
                </a:solidFill>
                <a:latin typeface="Aptos"/>
              </a:rPr>
              <a:t>Project Manager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7708392" y="3685032"/>
            <a:ext cx="1042415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4572" bIns="4572"/>
          <a:lstStyle/>
          <a:p>
            <a:pPr algn="l"/>
            <a:r>
              <a:rPr sz="3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10</a:t>
            </a:r>
          </a:p>
        </p:txBody>
      </p:sp>
      <p:pic>
        <p:nvPicPr>
          <p:cNvPr id="130" name="Picture 129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The work we do – Projects &amp;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512064"/>
            <a:ext cx="8229600" cy="1463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Testing types: Smoke · System · Regression · Automation · Performance · QA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868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78407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52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 Varsha Chitray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868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37560" y="978407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252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8192" y="868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978407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52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 Mahesh Laddi &amp; Anusha G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DMC / MDP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2011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121408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95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 Rashmi Ranganath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2011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2121408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Contracting Team 1,2 (Tax)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2395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 Vignesh Sheshababu/Preeti k/Srinivas R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S&amp;C – T2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08192" y="2011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121408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395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 Naveen H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3154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64408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538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 Likhith Pateel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27832" y="3154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37560" y="3264408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Documents / DocGen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37560" y="3538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 Sandhyarani M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3154680"/>
            <a:ext cx="2606040" cy="86868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264408"/>
            <a:ext cx="23774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2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3538728"/>
            <a:ext cx="237744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PoC: Frank Murcia</a:t>
            </a:r>
          </a:p>
          <a:p>
            <a:pPr algn="l"/>
            <a:r>
              <a:rPr sz="570" b="0">
                <a:solidFill>
                  <a:srgbClr val="6B21D4"/>
                </a:solidFill>
                <a:latin typeface="Aptos"/>
              </a:rPr>
              <a:t>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11</a:t>
            </a:r>
          </a:p>
        </p:txBody>
      </p:sp>
      <p:pic>
        <p:nvPicPr>
          <p:cNvPr id="32" name="Picture 3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The things you need – Checklist &amp; Application URLs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502920"/>
            <a:ext cx="429768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What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" y="749808"/>
            <a:ext cx="429768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74980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74980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Laptop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74980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1024127"/>
            <a:ext cx="429768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024127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024127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VPN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1024127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1298448"/>
            <a:ext cx="429768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29844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129844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Headphones / Mouse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129844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1572767"/>
            <a:ext cx="429768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1572767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1572767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Administrator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1572767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1847088"/>
            <a:ext cx="429768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184708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184708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Jira Access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0" y="184708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Contact QA Lead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2121408"/>
            <a:ext cx="429768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212140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12140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Java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0" y="212140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2395727"/>
            <a:ext cx="429768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2395727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2395727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Eclipse 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28800" y="2395727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2670048"/>
            <a:ext cx="429768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267004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267004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Git Bash /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0" y="267004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ServiceNow – KB0040682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2944368"/>
            <a:ext cx="429768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294436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294436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TOSCA License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294436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3218687"/>
            <a:ext cx="429768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7472" y="3218687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3218687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TOSCA Access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28800" y="3218687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3493008"/>
            <a:ext cx="429768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7472" y="349300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1480" y="349300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Server / DB Access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28800" y="349300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3767328"/>
            <a:ext cx="429768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47472" y="376732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11480" y="376732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Jenkins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0" y="376732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build.webtopss.com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" y="4041648"/>
            <a:ext cx="4297680" cy="219456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7472" y="404164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11480" y="404164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App URLs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28800" y="404164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See right column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" y="4315968"/>
            <a:ext cx="4297680" cy="219456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47472" y="4315968"/>
            <a:ext cx="32004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1480" y="4315968"/>
            <a:ext cx="13258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90" b="1">
                <a:solidFill>
                  <a:srgbClr val="111111"/>
                </a:solidFill>
                <a:latin typeface="Aptos"/>
              </a:rPr>
              <a:t>MDP/DMC URLs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28800" y="4315968"/>
            <a:ext cx="265176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46320" y="502920"/>
            <a:ext cx="39319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Application URLs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46320" y="749808"/>
            <a:ext cx="393192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60" b="1">
                <a:solidFill>
                  <a:srgbClr val="4A148C"/>
                </a:solidFill>
                <a:latin typeface="Aptos"/>
              </a:rPr>
              <a:t>TSA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46320" y="960120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846320" y="960120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901184" y="960120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0" y="960120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dev.traneselectassist.com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846320" y="1152144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846320" y="1152144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1184" y="1152144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0" y="1152144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test.traneselectassist.com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846320" y="1344168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846320" y="1344168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901184" y="1344168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0" y="1344168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traneselectassist.com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846320" y="1536192"/>
            <a:ext cx="393192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60" b="1">
                <a:solidFill>
                  <a:srgbClr val="4A148C"/>
                </a:solidFill>
                <a:latin typeface="Aptos"/>
              </a:rPr>
              <a:t>TSMT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846320" y="1746504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846320" y="1746504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901184" y="1746504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0" y="1746504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devsalestools.trane.com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46320" y="1938528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846320" y="1938528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901184" y="1938528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69280" y="1938528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uatsalestools.trane.com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46320" y="2130552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846320" y="2130552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901184" y="2130552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280" y="2130552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salestools.trane.com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846320" y="2322576"/>
            <a:ext cx="393192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60" b="1">
                <a:solidFill>
                  <a:srgbClr val="4A148C"/>
                </a:solidFill>
                <a:latin typeface="Aptos"/>
              </a:rPr>
              <a:t>MDP/DMC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846320" y="2532888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846320" y="2532888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901184" y="2532888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669280" y="2532888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devdmc.trane.com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846320" y="2724912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846320" y="2724912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901184" y="2724912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669280" y="2724912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uatdmc.trane.com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846320" y="2916936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46320" y="2916936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901184" y="2916936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669280" y="2916936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dmc.trane.com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846320" y="3108960"/>
            <a:ext cx="393192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60" b="1">
                <a:solidFill>
                  <a:srgbClr val="4A148C"/>
                </a:solidFill>
                <a:latin typeface="Aptos"/>
              </a:rPr>
              <a:t>Portals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846320" y="3319272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846320" y="3319272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901184" y="3319272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ServiceNow: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669280" y="3319272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846320" y="3511296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4846320" y="3511296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901184" y="3511296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Confluence: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69280" y="3511296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846320" y="3703320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846320" y="3703320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901184" y="3703320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69280" y="3703320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846320" y="3895344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846320" y="3895344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901184" y="3895344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HR Portal: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280" y="3895344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846320" y="4087368"/>
            <a:ext cx="3931920" cy="19202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846320" y="4087368"/>
            <a:ext cx="32004" cy="19202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901184" y="4087368"/>
            <a:ext cx="713232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00" b="1">
                <a:solidFill>
                  <a:srgbClr val="111111"/>
                </a:solidFill>
                <a:latin typeface="Aptos"/>
              </a:rPr>
              <a:t>Citrix: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669280" y="4087368"/>
            <a:ext cx="29718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9" b="0">
                <a:solidFill>
                  <a:srgbClr val="777777"/>
                </a:solidFill>
                <a:latin typeface="Aptos"/>
              </a:rPr>
              <a:t>tranecitrix.corp.global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12</a:t>
            </a:r>
          </a:p>
        </p:txBody>
      </p:sp>
      <p:pic>
        <p:nvPicPr>
          <p:cNvPr id="122" name="Picture 1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47472" y="118872"/>
            <a:ext cx="8449056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000" b="1">
                <a:solidFill>
                  <a:srgbClr val="6B21D4"/>
                </a:solidFill>
                <a:latin typeface="Aptos"/>
              </a:rPr>
              <a:t>Things to do · KT Plan · Points of Contact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502920"/>
            <a:ext cx="292608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Onboarding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77240"/>
            <a:ext cx="201168" cy="201168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77240"/>
            <a:ext cx="26517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620" b="1">
                <a:solidFill>
                  <a:srgbClr val="111111"/>
                </a:solidFill>
                <a:latin typeface="Aptos"/>
              </a:rPr>
              <a:t>Mandatory certifications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960120"/>
            <a:ext cx="2651760" cy="1463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40" b="0">
                <a:solidFill>
                  <a:srgbClr val="777777"/>
                </a:solidFill>
                <a:latin typeface="Aptos"/>
              </a:rPr>
              <a:t>HR Portal → LMS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07007"/>
            <a:ext cx="201168" cy="201168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207007"/>
            <a:ext cx="26517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620" b="1">
                <a:solidFill>
                  <a:srgbClr val="111111"/>
                </a:solidFill>
                <a:latin typeface="Aptos"/>
              </a:rPr>
              <a:t>Goal 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89887"/>
            <a:ext cx="2651760" cy="1463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40" b="0">
                <a:solidFill>
                  <a:srgbClr val="777777"/>
                </a:solidFill>
                <a:latin typeface="Aptos"/>
              </a:rPr>
              <a:t>HR Portal → Talent Mgmt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36776"/>
            <a:ext cx="201168" cy="201168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636776"/>
            <a:ext cx="26517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620" b="1">
                <a:solidFill>
                  <a:srgbClr val="111111"/>
                </a:solidFill>
                <a:latin typeface="Aptos"/>
              </a:rPr>
              <a:t>Complete People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819656"/>
            <a:ext cx="2651760" cy="1463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40" b="0">
                <a:solidFill>
                  <a:srgbClr val="777777"/>
                </a:solidFill>
                <a:latin typeface="Aptos"/>
              </a:rPr>
              <a:t>SuccessFactors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066543"/>
            <a:ext cx="201168" cy="201168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066543"/>
            <a:ext cx="26517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620" b="1">
                <a:solidFill>
                  <a:srgbClr val="111111"/>
                </a:solidFill>
                <a:latin typeface="Aptos"/>
              </a:rPr>
              <a:t>Update TOPSSQA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49424"/>
            <a:ext cx="2651760" cy="1463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40" b="0">
                <a:solidFill>
                  <a:srgbClr val="777777"/>
                </a:solidFill>
                <a:latin typeface="Aptos"/>
              </a:rPr>
              <a:t>sharepoint.com/sites/topss.com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96312"/>
            <a:ext cx="201168" cy="201168"/>
          </a:xfrm>
          <a:prstGeom prst="rect">
            <a:avLst/>
          </a:prstGeom>
          <a:solidFill>
            <a:srgbClr val="6B21D4"/>
          </a:solidFill>
          <a:ln w="635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7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2496312"/>
            <a:ext cx="265176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620" b="1">
                <a:solidFill>
                  <a:srgbClr val="111111"/>
                </a:solidFill>
                <a:latin typeface="Aptos"/>
              </a:rPr>
              <a:t>Apply leave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679192"/>
            <a:ext cx="2651760" cy="14630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40" b="0">
                <a:solidFill>
                  <a:srgbClr val="777777"/>
                </a:solidFill>
                <a:latin typeface="Aptos"/>
              </a:rPr>
              <a:t>HR Portal → Leave 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3063240"/>
            <a:ext cx="329184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ServiceNow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291840"/>
            <a:ext cx="3429000" cy="20116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291840"/>
            <a:ext cx="32004" cy="20116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3291840"/>
            <a:ext cx="11430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20" b="1">
                <a:solidFill>
                  <a:srgbClr val="111111"/>
                </a:solidFill>
                <a:latin typeface="Aptos"/>
              </a:rPr>
              <a:t>Software: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291840"/>
            <a:ext cx="20574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80" b="0">
                <a:solidFill>
                  <a:srgbClr val="777777"/>
                </a:solidFill>
                <a:latin typeface="Aptos"/>
              </a:rPr>
              <a:t>ServiceNow → Computer Software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3511296"/>
            <a:ext cx="3429000" cy="20116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3511296"/>
            <a:ext cx="32004" cy="20116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3511296"/>
            <a:ext cx="11430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20" b="1">
                <a:solidFill>
                  <a:srgbClr val="111111"/>
                </a:solidFill>
                <a:latin typeface="Aptos"/>
              </a:rPr>
              <a:t>Admin ID / Server: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00200" y="3511296"/>
            <a:ext cx="20574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80" b="0">
                <a:solidFill>
                  <a:srgbClr val="777777"/>
                </a:solidFill>
                <a:latin typeface="Aptos"/>
              </a:rPr>
              <a:t>ServiceNow → Access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" y="3730752"/>
            <a:ext cx="3429000" cy="20116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3730752"/>
            <a:ext cx="32004" cy="20116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3730752"/>
            <a:ext cx="11430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2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00200" y="3730752"/>
            <a:ext cx="20574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80" b="0">
                <a:solidFill>
                  <a:srgbClr val="777777"/>
                </a:solidFill>
                <a:latin typeface="Aptos"/>
              </a:rPr>
              <a:t>KB0040682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3950208"/>
            <a:ext cx="3429000" cy="20116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3950208"/>
            <a:ext cx="32004" cy="20116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1480" y="3950208"/>
            <a:ext cx="11430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20" b="1">
                <a:solidFill>
                  <a:srgbClr val="111111"/>
                </a:solidFill>
                <a:latin typeface="Aptos"/>
              </a:rPr>
              <a:t>TOSCA License: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3950208"/>
            <a:ext cx="20574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8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4169664"/>
            <a:ext cx="3429000" cy="201168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" y="4169664"/>
            <a:ext cx="32004" cy="20116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4169664"/>
            <a:ext cx="11430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20" b="1">
                <a:solidFill>
                  <a:srgbClr val="111111"/>
                </a:solidFill>
                <a:latin typeface="Aptos"/>
              </a:rPr>
              <a:t>TOSCA Access: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00200" y="4169664"/>
            <a:ext cx="20574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8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" y="4389120"/>
            <a:ext cx="3429000" cy="201168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7472" y="4389120"/>
            <a:ext cx="32004" cy="20116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389120"/>
            <a:ext cx="11430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520" b="1">
                <a:solidFill>
                  <a:srgbClr val="111111"/>
                </a:solidFill>
                <a:latin typeface="Aptos"/>
              </a:rPr>
              <a:t>MDP/DMC: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00200" y="4389120"/>
            <a:ext cx="2057400" cy="1737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80" b="0">
                <a:solidFill>
                  <a:srgbClr val="777777"/>
                </a:solidFill>
                <a:latin typeface="Aptos"/>
              </a:rPr>
              <a:t>Options 1,5,8,9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931920" y="502920"/>
            <a:ext cx="233172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KT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31920" y="749808"/>
            <a:ext cx="2331720" cy="27432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931920" y="749808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986784" y="74980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74920" y="74980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931920" y="1078992"/>
            <a:ext cx="2331720" cy="27432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931920" y="1078992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86784" y="107899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74920" y="107899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Rashmi Ranganath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31920" y="1408176"/>
            <a:ext cx="2331720" cy="27432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931920" y="1408176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86784" y="140817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Contracting/Tax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74920" y="140817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Vignesh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31920" y="1737360"/>
            <a:ext cx="2331720" cy="27432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931920" y="1737360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986784" y="173736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74920" y="173736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31920" y="2066543"/>
            <a:ext cx="2331720" cy="27432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31920" y="2066543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86784" y="2066543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74920" y="2066543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31920" y="2395727"/>
            <a:ext cx="2331720" cy="27432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931920" y="2395727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86784" y="2395727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74920" y="2395727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931920" y="2724912"/>
            <a:ext cx="2331720" cy="27432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931920" y="2724912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86784" y="272491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Selenium (TestNG)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74920" y="272491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931920" y="3054096"/>
            <a:ext cx="2331720" cy="27432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931920" y="3054096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986784" y="305409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Selenium (Hybrid)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74920" y="305409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Deepak Chhabria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931920" y="3383279"/>
            <a:ext cx="2331720" cy="27432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931920" y="3383279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986784" y="3383279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TOSCA Auto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74920" y="3383279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Team Lead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931920" y="3712463"/>
            <a:ext cx="2331720" cy="274320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931920" y="3712463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986784" y="3712463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74920" y="3712463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Likhith Pateel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931920" y="4041648"/>
            <a:ext cx="2331720" cy="274320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31920" y="4041648"/>
            <a:ext cx="32004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986784" y="404164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5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74920" y="404164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0">
                <a:solidFill>
                  <a:srgbClr val="6B21D4"/>
                </a:solidFill>
                <a:latin typeface="Aptos"/>
              </a:rPr>
              <a:t>Sandhyarani 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583680" y="502920"/>
            <a:ext cx="2194560" cy="182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19" b="1">
                <a:solidFill>
                  <a:srgbClr val="4A148C"/>
                </a:solidFill>
                <a:latin typeface="Aptos"/>
              </a:rPr>
              <a:t>Points of Contact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83680" y="749808"/>
            <a:ext cx="21945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83680" y="749808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638544" y="749808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461504" y="749808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583680" y="1033271"/>
            <a:ext cx="21945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583680" y="1033271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638544" y="1033271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Contracting T1 &amp; T2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461504" y="1033271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Vignesh S/Preeti k/Srinivas 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583680" y="1316736"/>
            <a:ext cx="21945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583680" y="1316736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638544" y="1316736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461504" y="1316736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Rashmi 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83680" y="1600200"/>
            <a:ext cx="21945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583680" y="1600200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638544" y="1600200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461504" y="1600200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Mahesh L/Anusha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583680" y="1883664"/>
            <a:ext cx="21945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583680" y="1883664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638544" y="1883664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461504" y="1883664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583680" y="2167128"/>
            <a:ext cx="21945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583680" y="2167128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638544" y="2167128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Equipment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461504" y="2167128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Brinda 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583680" y="2450591"/>
            <a:ext cx="21945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583680" y="2450591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638544" y="2450591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Automation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7461504" y="2450591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83680" y="2734056"/>
            <a:ext cx="21945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583680" y="2734056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638544" y="2734056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461504" y="2734056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583680" y="3017520"/>
            <a:ext cx="21945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583680" y="3017520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638544" y="3017520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Smoke (Prod)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461504" y="3017520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Mahesh 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583680" y="3300984"/>
            <a:ext cx="21945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583680" y="3300984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638544" y="3300984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461504" y="3300984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Likhith P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83680" y="3584448"/>
            <a:ext cx="2194560" cy="237744"/>
          </a:xfrm>
          <a:prstGeom prst="rect">
            <a:avLst/>
          </a:prstGeom>
          <a:solidFill>
            <a:srgbClr val="FFFFFF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583680" y="3584448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638544" y="3584448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461504" y="3584448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Sandhyarani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583680" y="3867912"/>
            <a:ext cx="2194560" cy="237744"/>
          </a:xfrm>
          <a:prstGeom prst="rect">
            <a:avLst/>
          </a:prstGeom>
          <a:solidFill>
            <a:srgbClr val="F3F0FA"/>
          </a:solidFill>
          <a:ln w="4445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583680" y="3867912"/>
            <a:ext cx="32004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6638544" y="3867912"/>
            <a:ext cx="77724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42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461504" y="3867912"/>
            <a:ext cx="1143000" cy="2103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390" b="0">
                <a:solidFill>
                  <a:srgbClr val="6B21D4"/>
                </a:solidFill>
                <a:latin typeface="Aptos"/>
              </a:rPr>
              <a:t>Frank 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13</a:t>
            </a:r>
          </a:p>
        </p:txBody>
      </p:sp>
      <p:pic>
        <p:nvPicPr>
          <p:cNvPr id="139" name="Picture 138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011680"/>
            <a:ext cx="292608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Welcome once again to the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team, and hope you have a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wonderful journey with us!</a:t>
            </a:r>
          </a:p>
        </p:txBody>
      </p:sp>
      <p:cxnSp>
        <p:nvCxnSpPr>
          <p:cNvPr id="3" name="Connector 2"/>
          <p:cNvCxnSpPr/>
          <p:nvPr/>
        </p:nvCxnSpPr>
        <p:spPr>
          <a:xfrm flipV="1">
            <a:off x="4754880" y="137160"/>
            <a:ext cx="1691640" cy="4572000"/>
          </a:xfrm>
          <a:prstGeom prst="line">
            <a:avLst/>
          </a:prstGeom>
          <a:ln w="22860">
            <a:solidFill>
              <a:srgbClr val="6B2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5166360" y="137160"/>
            <a:ext cx="1691640" cy="4572000"/>
          </a:xfrm>
          <a:prstGeom prst="line">
            <a:avLst/>
          </a:prstGeom>
          <a:ln w="22860">
            <a:solidFill>
              <a:srgbClr val="6B2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5577840" y="137160"/>
            <a:ext cx="1691639" cy="4572000"/>
          </a:xfrm>
          <a:prstGeom prst="line">
            <a:avLst/>
          </a:prstGeom>
          <a:ln w="22860">
            <a:solidFill>
              <a:srgbClr val="6B21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47472" y="4791456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4617720"/>
            <a:ext cx="1097280" cy="4754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